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4" r:id="rId9"/>
    <p:sldId id="265" r:id="rId10"/>
    <p:sldId id="263"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9228"/>
  </p:normalViewPr>
  <p:slideViewPr>
    <p:cSldViewPr snapToGrid="0" snapToObjects="1">
      <p:cViewPr varScale="1">
        <p:scale>
          <a:sx n="98" d="100"/>
          <a:sy n="98" d="100"/>
        </p:scale>
        <p:origin x="15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17495B-ABCA-3F47-8112-25D0B08533D1}" type="datetimeFigureOut">
              <a:rPr lang="en-US" smtClean="0"/>
              <a:t>1/4/22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C7C4D5-BEEB-F94C-8585-BA65B8C125AF}" type="slidenum">
              <a:rPr lang="en-US" smtClean="0"/>
              <a:t>‹#›</a:t>
            </a:fld>
            <a:endParaRPr lang="en-US"/>
          </a:p>
        </p:txBody>
      </p:sp>
    </p:spTree>
    <p:extLst>
      <p:ext uri="{BB962C8B-B14F-4D97-AF65-F5344CB8AC3E}">
        <p14:creationId xmlns:p14="http://schemas.microsoft.com/office/powerpoint/2010/main" val="3709170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7C4D5-BEEB-F94C-8585-BA65B8C125AF}" type="slidenum">
              <a:rPr lang="en-US" smtClean="0"/>
              <a:t>1</a:t>
            </a:fld>
            <a:endParaRPr lang="en-US"/>
          </a:p>
        </p:txBody>
      </p:sp>
    </p:spTree>
    <p:extLst>
      <p:ext uri="{BB962C8B-B14F-4D97-AF65-F5344CB8AC3E}">
        <p14:creationId xmlns:p14="http://schemas.microsoft.com/office/powerpoint/2010/main" val="599354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common that we like to combine variables in order to simplify the analysis. For example, if we have measurements of weight and height of some individuals, we can combine these two variables into one variable, the body mass index (BMI). The BMI is calculated based on a person’s body weight in kilograms divided by the square of the body height in meters. For example, of we like to predict the cholesterol level based on a person’s weight and height by using linear regression. However, remember that it could be problematic in linear regression if there is too strong correlation between the explanatory variables, which is called multicollinearity. Also, the more explanatory variables we have in our model, the more measurement we need to do. Thus, the sample size generally needs to be bigger for models including more explanatory variables. This is one of the reasons why it makes sense to combine weight and height into just one variable, the body mass index. We can then predict the cholesterol level with just one variable that contains information on both weight and height. </a:t>
            </a:r>
          </a:p>
        </p:txBody>
      </p:sp>
      <p:sp>
        <p:nvSpPr>
          <p:cNvPr id="4" name="Slide Number Placeholder 3"/>
          <p:cNvSpPr>
            <a:spLocks noGrp="1"/>
          </p:cNvSpPr>
          <p:nvPr>
            <p:ph type="sldNum" sz="quarter" idx="5"/>
          </p:nvPr>
        </p:nvSpPr>
        <p:spPr/>
        <p:txBody>
          <a:bodyPr/>
          <a:lstStyle/>
          <a:p>
            <a:fld id="{55C7C4D5-BEEB-F94C-8585-BA65B8C125AF}" type="slidenum">
              <a:rPr lang="en-US" smtClean="0"/>
              <a:t>2</a:t>
            </a:fld>
            <a:endParaRPr lang="en-US"/>
          </a:p>
        </p:txBody>
      </p:sp>
    </p:spTree>
    <p:extLst>
      <p:ext uri="{BB962C8B-B14F-4D97-AF65-F5344CB8AC3E}">
        <p14:creationId xmlns:p14="http://schemas.microsoft.com/office/powerpoint/2010/main" val="3895217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we measure the upper and lower blood pressure of six individuals. Person number 1 has a diastolic blood pressure of 78 and a systolic blood pressure of 126, person number 2 has a diastolic blood pressure of 80 and a systolic blood pressure of 128 and so on. </a:t>
            </a:r>
          </a:p>
          <a:p>
            <a:endParaRPr lang="en-US" dirty="0"/>
          </a:p>
          <a:p>
            <a:r>
              <a:rPr lang="en-US" dirty="0"/>
              <a:t>For this dataset, there seems to be a strong positive correlation between the upper and lower blood pressure. If a person has a high systolic blood pressure, it is likely that the person also has a high diastolic blood pressure. </a:t>
            </a:r>
          </a:p>
          <a:p>
            <a:r>
              <a:rPr lang="en-US" dirty="0"/>
              <a:t>Note that, PCA will be more useful when the variables are strongly correlated, because the combined variable will contain more information of the variables compared to the variables show a weak correlation to each other. </a:t>
            </a:r>
          </a:p>
        </p:txBody>
      </p:sp>
      <p:sp>
        <p:nvSpPr>
          <p:cNvPr id="4" name="Slide Number Placeholder 3"/>
          <p:cNvSpPr>
            <a:spLocks noGrp="1"/>
          </p:cNvSpPr>
          <p:nvPr>
            <p:ph type="sldNum" sz="quarter" idx="5"/>
          </p:nvPr>
        </p:nvSpPr>
        <p:spPr/>
        <p:txBody>
          <a:bodyPr/>
          <a:lstStyle/>
          <a:p>
            <a:fld id="{55C7C4D5-BEEB-F94C-8585-BA65B8C125AF}" type="slidenum">
              <a:rPr lang="en-US" smtClean="0"/>
              <a:t>3</a:t>
            </a:fld>
            <a:endParaRPr lang="en-US"/>
          </a:p>
        </p:txBody>
      </p:sp>
    </p:spTree>
    <p:extLst>
      <p:ext uri="{BB962C8B-B14F-4D97-AF65-F5344CB8AC3E}">
        <p14:creationId xmlns:p14="http://schemas.microsoft.com/office/powerpoint/2010/main" val="4137525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that we like to combine the upper and lower blood pressure into 1 variable that we simply just call blood pressure (BP). How to combine these two variables in the best way? We could use the following equation to combine the two variables.</a:t>
            </a:r>
          </a:p>
          <a:p>
            <a:r>
              <a:rPr lang="en-US" dirty="0"/>
              <a:t>For example, if we set alpha 1 is 0.8 and alpha 2 is 0.6 then we put more weight on the diastolic blood pressure than on the systolic blood pressure. This means that the combined variable will be based on more information from the diastolic blood pressure.</a:t>
            </a:r>
          </a:p>
        </p:txBody>
      </p:sp>
      <p:sp>
        <p:nvSpPr>
          <p:cNvPr id="4" name="Slide Number Placeholder 3"/>
          <p:cNvSpPr>
            <a:spLocks noGrp="1"/>
          </p:cNvSpPr>
          <p:nvPr>
            <p:ph type="sldNum" sz="quarter" idx="5"/>
          </p:nvPr>
        </p:nvSpPr>
        <p:spPr/>
        <p:txBody>
          <a:bodyPr/>
          <a:lstStyle/>
          <a:p>
            <a:fld id="{55C7C4D5-BEEB-F94C-8585-BA65B8C125AF}" type="slidenum">
              <a:rPr lang="en-US" smtClean="0"/>
              <a:t>4</a:t>
            </a:fld>
            <a:endParaRPr lang="en-US"/>
          </a:p>
        </p:txBody>
      </p:sp>
    </p:spTree>
    <p:extLst>
      <p:ext uri="{BB962C8B-B14F-4D97-AF65-F5344CB8AC3E}">
        <p14:creationId xmlns:p14="http://schemas.microsoft.com/office/powerpoint/2010/main" val="509635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want to combine the two variables by calculating the mean of the measurements for each individual. For example, to calculate the combined blood pressure for person number 1, we add the diastolic and systolic blood pressure and divide by 2 since we have 2 variables in this case.</a:t>
            </a:r>
          </a:p>
        </p:txBody>
      </p:sp>
      <p:sp>
        <p:nvSpPr>
          <p:cNvPr id="4" name="Slide Number Placeholder 3"/>
          <p:cNvSpPr>
            <a:spLocks noGrp="1"/>
          </p:cNvSpPr>
          <p:nvPr>
            <p:ph type="sldNum" sz="quarter" idx="5"/>
          </p:nvPr>
        </p:nvSpPr>
        <p:spPr/>
        <p:txBody>
          <a:bodyPr/>
          <a:lstStyle/>
          <a:p>
            <a:fld id="{55C7C4D5-BEEB-F94C-8585-BA65B8C125AF}" type="slidenum">
              <a:rPr lang="en-US" smtClean="0"/>
              <a:t>5</a:t>
            </a:fld>
            <a:endParaRPr lang="en-US"/>
          </a:p>
        </p:txBody>
      </p:sp>
    </p:spTree>
    <p:extLst>
      <p:ext uri="{BB962C8B-B14F-4D97-AF65-F5344CB8AC3E}">
        <p14:creationId xmlns:p14="http://schemas.microsoft.com/office/powerpoint/2010/main" val="2254362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reformulate this equation by multiplying by ½ before we add the numbers. Thus, when we combine the two variables by using the mean, this can be seen that we use the weights 0.5 for our linear combination. When we use this method, we put equal weights on the two variables when we combine them.</a:t>
            </a:r>
          </a:p>
        </p:txBody>
      </p:sp>
      <p:sp>
        <p:nvSpPr>
          <p:cNvPr id="4" name="Slide Number Placeholder 3"/>
          <p:cNvSpPr>
            <a:spLocks noGrp="1"/>
          </p:cNvSpPr>
          <p:nvPr>
            <p:ph type="sldNum" sz="quarter" idx="5"/>
          </p:nvPr>
        </p:nvSpPr>
        <p:spPr/>
        <p:txBody>
          <a:bodyPr/>
          <a:lstStyle/>
          <a:p>
            <a:fld id="{55C7C4D5-BEEB-F94C-8585-BA65B8C125AF}" type="slidenum">
              <a:rPr lang="en-US" smtClean="0"/>
              <a:t>6</a:t>
            </a:fld>
            <a:endParaRPr lang="en-US"/>
          </a:p>
        </p:txBody>
      </p:sp>
    </p:spTree>
    <p:extLst>
      <p:ext uri="{BB962C8B-B14F-4D97-AF65-F5344CB8AC3E}">
        <p14:creationId xmlns:p14="http://schemas.microsoft.com/office/powerpoint/2010/main" val="144028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way to combine the variables is to simply sum the two measurements for each person. By using the sum, these values represent our combined variable. When we sum the values, we also use the same basic formula as we used when we combined the variables based on the mean.</a:t>
            </a:r>
          </a:p>
        </p:txBody>
      </p:sp>
      <p:sp>
        <p:nvSpPr>
          <p:cNvPr id="4" name="Slide Number Placeholder 3"/>
          <p:cNvSpPr>
            <a:spLocks noGrp="1"/>
          </p:cNvSpPr>
          <p:nvPr>
            <p:ph type="sldNum" sz="quarter" idx="5"/>
          </p:nvPr>
        </p:nvSpPr>
        <p:spPr/>
        <p:txBody>
          <a:bodyPr/>
          <a:lstStyle/>
          <a:p>
            <a:fld id="{55C7C4D5-BEEB-F94C-8585-BA65B8C125AF}" type="slidenum">
              <a:rPr lang="en-US" smtClean="0"/>
              <a:t>7</a:t>
            </a:fld>
            <a:endParaRPr lang="en-US"/>
          </a:p>
        </p:txBody>
      </p:sp>
    </p:spTree>
    <p:extLst>
      <p:ext uri="{BB962C8B-B14F-4D97-AF65-F5344CB8AC3E}">
        <p14:creationId xmlns:p14="http://schemas.microsoft.com/office/powerpoint/2010/main" val="1677659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example, PCA would combine the diastolic blood pressure and the systolic blood pressure in a way so that the combined variables has as much variability as possible. In other words, it will combine the two variables so that we maximize the variance of the combined variable. Therefore, PCA tries to find the optimal values for alpha one and alpha two that maximize the variance of the linear combination. Since one can make the variance larger by simply selecting larger values for the weights, the basic PCA therefore uses the following constraint, where the squared alpha values should sum up to 1</a:t>
            </a:r>
          </a:p>
        </p:txBody>
      </p:sp>
      <p:sp>
        <p:nvSpPr>
          <p:cNvPr id="4" name="Slide Number Placeholder 3"/>
          <p:cNvSpPr>
            <a:spLocks noGrp="1"/>
          </p:cNvSpPr>
          <p:nvPr>
            <p:ph type="sldNum" sz="quarter" idx="5"/>
          </p:nvPr>
        </p:nvSpPr>
        <p:spPr/>
        <p:txBody>
          <a:bodyPr/>
          <a:lstStyle/>
          <a:p>
            <a:fld id="{55C7C4D5-BEEB-F94C-8585-BA65B8C125AF}" type="slidenum">
              <a:rPr lang="en-US" smtClean="0"/>
              <a:t>8</a:t>
            </a:fld>
            <a:endParaRPr lang="en-US"/>
          </a:p>
        </p:txBody>
      </p:sp>
    </p:spTree>
    <p:extLst>
      <p:ext uri="{BB962C8B-B14F-4D97-AF65-F5344CB8AC3E}">
        <p14:creationId xmlns:p14="http://schemas.microsoft.com/office/powerpoint/2010/main" val="4183787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example, we want to combine only 2 variables, which means that the square of alpha one plus the square of alpha two should be equal to 1.</a:t>
            </a:r>
          </a:p>
        </p:txBody>
      </p:sp>
      <p:sp>
        <p:nvSpPr>
          <p:cNvPr id="4" name="Slide Number Placeholder 3"/>
          <p:cNvSpPr>
            <a:spLocks noGrp="1"/>
          </p:cNvSpPr>
          <p:nvPr>
            <p:ph type="sldNum" sz="quarter" idx="5"/>
          </p:nvPr>
        </p:nvSpPr>
        <p:spPr/>
        <p:txBody>
          <a:bodyPr/>
          <a:lstStyle/>
          <a:p>
            <a:fld id="{55C7C4D5-BEEB-F94C-8585-BA65B8C125AF}" type="slidenum">
              <a:rPr lang="en-US" smtClean="0"/>
              <a:t>9</a:t>
            </a:fld>
            <a:endParaRPr lang="en-US"/>
          </a:p>
        </p:txBody>
      </p:sp>
    </p:spTree>
    <p:extLst>
      <p:ext uri="{BB962C8B-B14F-4D97-AF65-F5344CB8AC3E}">
        <p14:creationId xmlns:p14="http://schemas.microsoft.com/office/powerpoint/2010/main" val="1599811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use these weights in order to combine the two variables, by using the linear combination of the two variables with the weights 0.8 and 0.6, the first person has a combined blood pressure of 138. Next we calculate the variance of this combined variable. Therefore, we need to calculate the mean. Remember that the sample variance is calculated as the sum of the squared difference between the individual values and the mean, divided by the sample size minus 1. In this case, the variance of the combined variables is 12.74</a:t>
            </a:r>
          </a:p>
        </p:txBody>
      </p:sp>
      <p:sp>
        <p:nvSpPr>
          <p:cNvPr id="4" name="Slide Number Placeholder 3"/>
          <p:cNvSpPr>
            <a:spLocks noGrp="1"/>
          </p:cNvSpPr>
          <p:nvPr>
            <p:ph type="sldNum" sz="quarter" idx="5"/>
          </p:nvPr>
        </p:nvSpPr>
        <p:spPr/>
        <p:txBody>
          <a:bodyPr/>
          <a:lstStyle/>
          <a:p>
            <a:fld id="{55C7C4D5-BEEB-F94C-8585-BA65B8C125AF}" type="slidenum">
              <a:rPr lang="en-US" smtClean="0"/>
              <a:t>10</a:t>
            </a:fld>
            <a:endParaRPr lang="en-US"/>
          </a:p>
        </p:txBody>
      </p:sp>
    </p:spTree>
    <p:extLst>
      <p:ext uri="{BB962C8B-B14F-4D97-AF65-F5344CB8AC3E}">
        <p14:creationId xmlns:p14="http://schemas.microsoft.com/office/powerpoint/2010/main" val="2559220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try different weights for the linear combination to see which combination that results in the maximum variance of the combined variable. If we flip the values of the weights, so that we put more weight on the systolic pressure, the variance is reduced to 11.8. This indicate that we should put more weight on the diastolic blood pressure to maximize the variance. Let’s put a lot of weight on the diastolic pressure with the weights 0.98 and 0.2. the sum of these squared weights is approximately equal to 1. By putting too much weight on the diastolic pressure, we reduce the variance of the combined variable to 10.4. Finally, we test to put a lot of weight on the systolic blood pressure instead. These weights result in the lowest variance of the combined variable out of all weights we have tried so far.</a:t>
            </a:r>
          </a:p>
          <a:p>
            <a:r>
              <a:rPr lang="en-US" dirty="0"/>
              <a:t>So why is it so important to maximize the variance? We can see variance as information. Thus, when we combine variables, we like to keep as much information as possible in the combined variable.</a:t>
            </a:r>
          </a:p>
          <a:p>
            <a:endParaRPr lang="en-US" dirty="0"/>
          </a:p>
        </p:txBody>
      </p:sp>
      <p:sp>
        <p:nvSpPr>
          <p:cNvPr id="4" name="Slide Number Placeholder 3"/>
          <p:cNvSpPr>
            <a:spLocks noGrp="1"/>
          </p:cNvSpPr>
          <p:nvPr>
            <p:ph type="sldNum" sz="quarter" idx="5"/>
          </p:nvPr>
        </p:nvSpPr>
        <p:spPr/>
        <p:txBody>
          <a:bodyPr/>
          <a:lstStyle/>
          <a:p>
            <a:fld id="{55C7C4D5-BEEB-F94C-8585-BA65B8C125AF}" type="slidenum">
              <a:rPr lang="en-US" smtClean="0"/>
              <a:t>11</a:t>
            </a:fld>
            <a:endParaRPr lang="en-US"/>
          </a:p>
        </p:txBody>
      </p:sp>
    </p:spTree>
    <p:extLst>
      <p:ext uri="{BB962C8B-B14F-4D97-AF65-F5344CB8AC3E}">
        <p14:creationId xmlns:p14="http://schemas.microsoft.com/office/powerpoint/2010/main" val="1886625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PCA would first compute the following covariance matrix. This covariance matrix has been computed on the following data. Then it would compute the two eigenvectors of the covariance matrix. The eigenvector with the largest eigenvalue holds the values of the weights, which in this case are -0.8 and -0.6. The values in the first eigenvector are used as weights to combine the two variables. Although the weights are negative in this case, we will get the same variance as if they would have been positive as in the previous example.</a:t>
            </a:r>
          </a:p>
          <a:p>
            <a:endParaRPr lang="en-US" dirty="0"/>
          </a:p>
          <a:p>
            <a:endParaRPr lang="en-US" dirty="0"/>
          </a:p>
          <a:p>
            <a:r>
              <a:rPr lang="en-US" dirty="0"/>
              <a:t>12:27</a:t>
            </a:r>
          </a:p>
        </p:txBody>
      </p:sp>
      <p:sp>
        <p:nvSpPr>
          <p:cNvPr id="4" name="Slide Number Placeholder 3"/>
          <p:cNvSpPr>
            <a:spLocks noGrp="1"/>
          </p:cNvSpPr>
          <p:nvPr>
            <p:ph type="sldNum" sz="quarter" idx="5"/>
          </p:nvPr>
        </p:nvSpPr>
        <p:spPr/>
        <p:txBody>
          <a:bodyPr/>
          <a:lstStyle/>
          <a:p>
            <a:fld id="{55C7C4D5-BEEB-F94C-8585-BA65B8C125AF}" type="slidenum">
              <a:rPr lang="en-US" smtClean="0"/>
              <a:t>12</a:t>
            </a:fld>
            <a:endParaRPr lang="en-US"/>
          </a:p>
        </p:txBody>
      </p:sp>
    </p:spTree>
    <p:extLst>
      <p:ext uri="{BB962C8B-B14F-4D97-AF65-F5344CB8AC3E}">
        <p14:creationId xmlns:p14="http://schemas.microsoft.com/office/powerpoint/2010/main" val="245344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a look at some examples where PCA is used to analyze biological data.</a:t>
            </a:r>
          </a:p>
          <a:p>
            <a:r>
              <a:rPr lang="en-US" dirty="0"/>
              <a:t>PCA can be used to reduce the number of dimensions or variables in our dataset for further types of analysis. We see how to reduce the following 4 variables into just 2 variables.</a:t>
            </a:r>
          </a:p>
          <a:p>
            <a:r>
              <a:rPr lang="en-US" dirty="0"/>
              <a:t>The dataset measured the diastolic and systolic blood pressure of 6 individuals as well as their body weight in kilos and body height in centimeters. For example, we could use PCA to combine 4 variables of the last row into 2 variables. If the diastolic and systolic blood pressure show a strong correlation, we could combine them into just 1 variable we call blood pressure and if weight and height show a strong correlation, we could combine them into a variable that we call body size. If we would use these variables to predict, for example, the cholesterol level with linear regression, we could use only two explanatory variables, the blood pressure and the body size.</a:t>
            </a:r>
          </a:p>
          <a:p>
            <a:endParaRPr lang="en-US" dirty="0"/>
          </a:p>
        </p:txBody>
      </p:sp>
      <p:sp>
        <p:nvSpPr>
          <p:cNvPr id="4" name="Slide Number Placeholder 3"/>
          <p:cNvSpPr>
            <a:spLocks noGrp="1"/>
          </p:cNvSpPr>
          <p:nvPr>
            <p:ph type="sldNum" sz="quarter" idx="5"/>
          </p:nvPr>
        </p:nvSpPr>
        <p:spPr/>
        <p:txBody>
          <a:bodyPr/>
          <a:lstStyle/>
          <a:p>
            <a:fld id="{55C7C4D5-BEEB-F94C-8585-BA65B8C125AF}" type="slidenum">
              <a:rPr lang="en-US" smtClean="0"/>
              <a:t>13</a:t>
            </a:fld>
            <a:endParaRPr lang="en-US"/>
          </a:p>
        </p:txBody>
      </p:sp>
    </p:spTree>
    <p:extLst>
      <p:ext uri="{BB962C8B-B14F-4D97-AF65-F5344CB8AC3E}">
        <p14:creationId xmlns:p14="http://schemas.microsoft.com/office/powerpoint/2010/main" val="409118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that we have measured many clinical variables on many individuals. We like to identify people that have a similar health profile, which means that they have about the same values of the clinical variables that have been measured. For example, the health profile of person number 1 more similar to the health profile of person number 2 compared to person number 3? When we have many variables, it is very difficult to manually identify person with a similar health profile. </a:t>
            </a:r>
          </a:p>
          <a:p>
            <a:r>
              <a:rPr lang="en-US" dirty="0"/>
              <a:t>If we combine all the variables into just 2 variables, that are called PC1 and PC2, it will be lot of easier to identify 2 individuals who have a similar health profile since we need to study 2 variables instead of many variables. When we combine variables with PCA, we will get these kinds of scores that are centered around 0, which explains why about half of values are negative.</a:t>
            </a:r>
          </a:p>
          <a:p>
            <a:r>
              <a:rPr lang="en-US" dirty="0"/>
              <a:t>If we combine all variables into just 2 variables, we can see that these 2 people have similar health profile, they have similar principal components, whereas person 3 and person 4 also have similar health profile but different from person 1 and person 2</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5C7C4D5-BEEB-F94C-8585-BA65B8C125AF}" type="slidenum">
              <a:rPr lang="en-US" smtClean="0"/>
              <a:t>14</a:t>
            </a:fld>
            <a:endParaRPr lang="en-US"/>
          </a:p>
        </p:txBody>
      </p:sp>
    </p:spTree>
    <p:extLst>
      <p:ext uri="{BB962C8B-B14F-4D97-AF65-F5344CB8AC3E}">
        <p14:creationId xmlns:p14="http://schemas.microsoft.com/office/powerpoint/2010/main" val="691903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plot these principal components scores in a two-dimensional plot like this, each point will represent the combined healthy profile of each individual. Since these two individuals are close in this plot, this suggests that these 2 individuals have a similar health profile relative to the other variables. </a:t>
            </a:r>
          </a:p>
          <a:p>
            <a:r>
              <a:rPr lang="en-US" dirty="0"/>
              <a:t>We have identified 7 individuals that seem to have a distinct health profile compared to the other individuals. </a:t>
            </a:r>
          </a:p>
        </p:txBody>
      </p:sp>
      <p:sp>
        <p:nvSpPr>
          <p:cNvPr id="4" name="Slide Number Placeholder 3"/>
          <p:cNvSpPr>
            <a:spLocks noGrp="1"/>
          </p:cNvSpPr>
          <p:nvPr>
            <p:ph type="sldNum" sz="quarter" idx="5"/>
          </p:nvPr>
        </p:nvSpPr>
        <p:spPr/>
        <p:txBody>
          <a:bodyPr/>
          <a:lstStyle/>
          <a:p>
            <a:fld id="{55C7C4D5-BEEB-F94C-8585-BA65B8C125AF}" type="slidenum">
              <a:rPr lang="en-US" smtClean="0"/>
              <a:t>15</a:t>
            </a:fld>
            <a:endParaRPr lang="en-US"/>
          </a:p>
        </p:txBody>
      </p:sp>
    </p:spTree>
    <p:extLst>
      <p:ext uri="{BB962C8B-B14F-4D97-AF65-F5344CB8AC3E}">
        <p14:creationId xmlns:p14="http://schemas.microsoft.com/office/powerpoint/2010/main" val="21164290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that PC1 is mainly associated with the health whereas PC2 is associated with variables that generally differ between men and women.</a:t>
            </a:r>
          </a:p>
        </p:txBody>
      </p:sp>
      <p:sp>
        <p:nvSpPr>
          <p:cNvPr id="4" name="Slide Number Placeholder 3"/>
          <p:cNvSpPr>
            <a:spLocks noGrp="1"/>
          </p:cNvSpPr>
          <p:nvPr>
            <p:ph type="sldNum" sz="quarter" idx="5"/>
          </p:nvPr>
        </p:nvSpPr>
        <p:spPr/>
        <p:txBody>
          <a:bodyPr/>
          <a:lstStyle/>
          <a:p>
            <a:fld id="{55C7C4D5-BEEB-F94C-8585-BA65B8C125AF}" type="slidenum">
              <a:rPr lang="en-US" smtClean="0"/>
              <a:t>16</a:t>
            </a:fld>
            <a:endParaRPr lang="en-US"/>
          </a:p>
        </p:txBody>
      </p:sp>
    </p:spTree>
    <p:extLst>
      <p:ext uri="{BB962C8B-B14F-4D97-AF65-F5344CB8AC3E}">
        <p14:creationId xmlns:p14="http://schemas.microsoft.com/office/powerpoint/2010/main" val="605750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PC2 is associated with variables that differ mainly between men and women</a:t>
            </a:r>
          </a:p>
        </p:txBody>
      </p:sp>
      <p:sp>
        <p:nvSpPr>
          <p:cNvPr id="4" name="Slide Number Placeholder 3"/>
          <p:cNvSpPr>
            <a:spLocks noGrp="1"/>
          </p:cNvSpPr>
          <p:nvPr>
            <p:ph type="sldNum" sz="quarter" idx="5"/>
          </p:nvPr>
        </p:nvSpPr>
        <p:spPr/>
        <p:txBody>
          <a:bodyPr/>
          <a:lstStyle/>
          <a:p>
            <a:fld id="{55C7C4D5-BEEB-F94C-8585-BA65B8C125AF}" type="slidenum">
              <a:rPr lang="en-US" smtClean="0"/>
              <a:t>17</a:t>
            </a:fld>
            <a:endParaRPr lang="en-US"/>
          </a:p>
        </p:txBody>
      </p:sp>
    </p:spTree>
    <p:extLst>
      <p:ext uri="{BB962C8B-B14F-4D97-AF65-F5344CB8AC3E}">
        <p14:creationId xmlns:p14="http://schemas.microsoft.com/office/powerpoint/2010/main" val="1900394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where PCA is commonly used in biology is when we have measured the gene expression of all the genes. We have information on the gene expression of thousands of genes from a certain cell type extracted from each individual. For example, in this case we have information of the expression of thousands of genes for each of six persons. We see that Gene 3 is not expressed in none of the samples from the 6 individuals whereas Gene 4 is highly expressed. Since we have thousands of genes, it would be very difficult to identify 2 persons with a similar gene expression. In other words, it will be difficult to identify two persons with a similar gene expression profile. However, if we combine the expression of all genes into just 2 variables, PC1 and PC2, it will become a lot easier to identify persons with a similar gene expression profile.</a:t>
            </a:r>
          </a:p>
          <a:p>
            <a:r>
              <a:rPr lang="en-US" dirty="0"/>
              <a:t>We see that the principal component scores for person number 1 and 2 are similar, which suggest that these two people have similar gene expression profile. If we plot these scores in a 2-dimentional plot, it becomes even easier to identify 2 individuals similar scores</a:t>
            </a:r>
          </a:p>
        </p:txBody>
      </p:sp>
      <p:sp>
        <p:nvSpPr>
          <p:cNvPr id="4" name="Slide Number Placeholder 3"/>
          <p:cNvSpPr>
            <a:spLocks noGrp="1"/>
          </p:cNvSpPr>
          <p:nvPr>
            <p:ph type="sldNum" sz="quarter" idx="5"/>
          </p:nvPr>
        </p:nvSpPr>
        <p:spPr/>
        <p:txBody>
          <a:bodyPr/>
          <a:lstStyle/>
          <a:p>
            <a:fld id="{55C7C4D5-BEEB-F94C-8585-BA65B8C125AF}" type="slidenum">
              <a:rPr lang="en-US" smtClean="0"/>
              <a:t>18</a:t>
            </a:fld>
            <a:endParaRPr lang="en-US"/>
          </a:p>
        </p:txBody>
      </p:sp>
    </p:spTree>
    <p:extLst>
      <p:ext uri="{BB962C8B-B14F-4D97-AF65-F5344CB8AC3E}">
        <p14:creationId xmlns:p14="http://schemas.microsoft.com/office/powerpoint/2010/main" val="1403848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4 people have similar scores for PC1, but they are separated if we study PC2</a:t>
            </a:r>
          </a:p>
        </p:txBody>
      </p:sp>
      <p:sp>
        <p:nvSpPr>
          <p:cNvPr id="4" name="Slide Number Placeholder 3"/>
          <p:cNvSpPr>
            <a:spLocks noGrp="1"/>
          </p:cNvSpPr>
          <p:nvPr>
            <p:ph type="sldNum" sz="quarter" idx="5"/>
          </p:nvPr>
        </p:nvSpPr>
        <p:spPr/>
        <p:txBody>
          <a:bodyPr/>
          <a:lstStyle/>
          <a:p>
            <a:fld id="{55C7C4D5-BEEB-F94C-8585-BA65B8C125AF}" type="slidenum">
              <a:rPr lang="en-US" smtClean="0"/>
              <a:t>19</a:t>
            </a:fld>
            <a:endParaRPr lang="en-US"/>
          </a:p>
        </p:txBody>
      </p:sp>
    </p:spTree>
    <p:extLst>
      <p:ext uri="{BB962C8B-B14F-4D97-AF65-F5344CB8AC3E}">
        <p14:creationId xmlns:p14="http://schemas.microsoft.com/office/powerpoint/2010/main" val="15637536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example, we have data from single-cell RNA-seq, where the gene expression of each extracted cell has been measured from just 1 person. For example, row 1 shows the expression of all the genes in cell 1 whereas row 2 shows the expression of all genes in cell 2. Gene 4 column is not expressed in the first 6 cells. The aim of these types of studies is usually to identify cells that have similar gene expression as such cells might represent a unique cell type or cells that undergo a certain biological process. However, this kind of dataset has thousands of columns and rows. To manually identify a group of cells that have similar gene expression profile would be almost impossible. If we reduce the number of columns to just 2, it will be easier to identify cells with a similar gene expression profile.</a:t>
            </a:r>
          </a:p>
        </p:txBody>
      </p:sp>
      <p:sp>
        <p:nvSpPr>
          <p:cNvPr id="4" name="Slide Number Placeholder 3"/>
          <p:cNvSpPr>
            <a:spLocks noGrp="1"/>
          </p:cNvSpPr>
          <p:nvPr>
            <p:ph type="sldNum" sz="quarter" idx="5"/>
          </p:nvPr>
        </p:nvSpPr>
        <p:spPr/>
        <p:txBody>
          <a:bodyPr/>
          <a:lstStyle/>
          <a:p>
            <a:fld id="{55C7C4D5-BEEB-F94C-8585-BA65B8C125AF}" type="slidenum">
              <a:rPr lang="en-US" smtClean="0"/>
              <a:t>20</a:t>
            </a:fld>
            <a:endParaRPr lang="en-US"/>
          </a:p>
        </p:txBody>
      </p:sp>
    </p:spTree>
    <p:extLst>
      <p:ext uri="{BB962C8B-B14F-4D97-AF65-F5344CB8AC3E}">
        <p14:creationId xmlns:p14="http://schemas.microsoft.com/office/powerpoint/2010/main" val="30014704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plot these 2 principal components in a two-dimensional plot, will be easy to identify cells with similar gene expressions.</a:t>
            </a:r>
          </a:p>
        </p:txBody>
      </p:sp>
      <p:sp>
        <p:nvSpPr>
          <p:cNvPr id="4" name="Slide Number Placeholder 3"/>
          <p:cNvSpPr>
            <a:spLocks noGrp="1"/>
          </p:cNvSpPr>
          <p:nvPr>
            <p:ph type="sldNum" sz="quarter" idx="5"/>
          </p:nvPr>
        </p:nvSpPr>
        <p:spPr/>
        <p:txBody>
          <a:bodyPr/>
          <a:lstStyle/>
          <a:p>
            <a:fld id="{55C7C4D5-BEEB-F94C-8585-BA65B8C125AF}" type="slidenum">
              <a:rPr lang="en-US" smtClean="0"/>
              <a:t>21</a:t>
            </a:fld>
            <a:endParaRPr lang="en-US"/>
          </a:p>
        </p:txBody>
      </p:sp>
    </p:spTree>
    <p:extLst>
      <p:ext uri="{BB962C8B-B14F-4D97-AF65-F5344CB8AC3E}">
        <p14:creationId xmlns:p14="http://schemas.microsoft.com/office/powerpoint/2010/main" val="1255208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5C7C4D5-BEEB-F94C-8585-BA65B8C125AF}" type="slidenum">
              <a:rPr lang="en-US" smtClean="0"/>
              <a:t>22</a:t>
            </a:fld>
            <a:endParaRPr lang="en-US"/>
          </a:p>
        </p:txBody>
      </p:sp>
    </p:spTree>
    <p:extLst>
      <p:ext uri="{BB962C8B-B14F-4D97-AF65-F5344CB8AC3E}">
        <p14:creationId xmlns:p14="http://schemas.microsoft.com/office/powerpoint/2010/main" val="811377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0E5C-9D8C-2D4D-909F-A9DACE771F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DB9B5A-12C5-AE4B-B608-7447F5688E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6E278-2420-2E44-B049-B5115D167A06}"/>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5CCEF893-3785-4F43-AE0A-68C759777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80EFE-5E18-6944-8713-76AF685785C3}"/>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3704593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9FF0-F7A5-2B43-8F1D-270C8B7EC1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99A9D6-6F95-F74D-B0A5-7B6744E4C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075AF-FC07-F24C-B077-CE719F862F91}"/>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4EFB9F5A-953B-9548-902D-77D2158BA8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78EC52-D61B-4345-8A2D-95DCB4746578}"/>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2328289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76088-86A3-A642-BF13-8AC77E47C9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BC3524-0162-AB40-8D24-699ACD5D70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E2D09C-4FB3-1443-8362-6F7C84C590B9}"/>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624B3E73-F185-E24A-8008-D9DD692DAC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4D6E1-ED07-9841-B2C6-EB9D2BD765C4}"/>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266331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2067-9CF1-2E45-BC3C-2F4F4AFFC4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0D8139-7AD4-AD45-A99F-E3D72BE6DE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A64E4C-730A-B64E-A29C-00524C1082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A08245-1F00-B544-8629-286DC11CA391}"/>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6" name="Footer Placeholder 5">
            <a:extLst>
              <a:ext uri="{FF2B5EF4-FFF2-40B4-BE49-F238E27FC236}">
                <a16:creationId xmlns:a16="http://schemas.microsoft.com/office/drawing/2014/main" id="{156F0669-8093-8E4F-A287-CE3D09BC1B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CDE0E3-C4F0-F64B-B55C-F17C9C6E98A2}"/>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1262366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0C0F1-F7C6-5843-B3F3-5CCDE0CCBA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A4FA35-DDA5-8243-8A56-8C328894E7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F40A1E-7A90-3D49-92E0-03367A3222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53D802-625A-1C4F-9ABA-2470541B5B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E7F465-4B10-BF4F-9550-D65BFF8FD7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835245-F93E-FC4C-91D5-4E33FFCF6FD3}"/>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8" name="Footer Placeholder 7">
            <a:extLst>
              <a:ext uri="{FF2B5EF4-FFF2-40B4-BE49-F238E27FC236}">
                <a16:creationId xmlns:a16="http://schemas.microsoft.com/office/drawing/2014/main" id="{CC44581B-2D76-104F-BC9F-BC39C5167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3F4DD6-D53B-7142-ACA5-F1CB47EBC7F2}"/>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2871428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2FB27-8CDF-F048-8CBC-5410AB4374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E753E3-3795-A547-9D44-D09ECEF85D09}"/>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4" name="Footer Placeholder 3">
            <a:extLst>
              <a:ext uri="{FF2B5EF4-FFF2-40B4-BE49-F238E27FC236}">
                <a16:creationId xmlns:a16="http://schemas.microsoft.com/office/drawing/2014/main" id="{CA0C1DAB-A3A2-0E4B-B1E6-177FCB9557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8E3480-F473-BA4A-8321-4534974DA536}"/>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1519106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77380E-6B02-EE44-85FD-02DDC42AB6E8}"/>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3" name="Footer Placeholder 2">
            <a:extLst>
              <a:ext uri="{FF2B5EF4-FFF2-40B4-BE49-F238E27FC236}">
                <a16:creationId xmlns:a16="http://schemas.microsoft.com/office/drawing/2014/main" id="{E5B55AF2-E5E7-E544-B94B-A76B7D7D95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F57688-2542-D046-948F-12CB824608EE}"/>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3392227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64B05-D05D-8040-980F-164EC6143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BD2637-565D-9145-BADD-CAB5E3BBDF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C1C23C-4C85-EA46-BD41-0CAA745672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BA7A3E-FCC9-2F46-B317-F0A399948AB0}"/>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6" name="Footer Placeholder 5">
            <a:extLst>
              <a:ext uri="{FF2B5EF4-FFF2-40B4-BE49-F238E27FC236}">
                <a16:creationId xmlns:a16="http://schemas.microsoft.com/office/drawing/2014/main" id="{C808BE20-4C5A-0444-9C49-21EDEE832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37EEC4-4B48-5F47-8253-BE1FD0820F4B}"/>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3099271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C4795-E97C-0C43-9509-1579E2573D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D9AFF7-29CD-FE48-8122-D268F326A6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F12BBF-C740-524D-987E-E6E38914A1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4F80E2-EC18-2E46-9139-D80A8251A1AC}"/>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6" name="Footer Placeholder 5">
            <a:extLst>
              <a:ext uri="{FF2B5EF4-FFF2-40B4-BE49-F238E27FC236}">
                <a16:creationId xmlns:a16="http://schemas.microsoft.com/office/drawing/2014/main" id="{BBC12A17-3919-6242-B7BB-47D5669C6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2C793-0231-2643-BEEA-5C9EB6356B45}"/>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1203771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FCA37-1762-1B46-BA0D-38BEAF0B02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0BA2CF-8C63-0943-8A89-189EB63D7E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4C1D3F-B4A1-3149-9D4C-66D643AC1AA9}"/>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836E1F23-2F5A-8547-B958-6E3C0D6456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131AB0-D55D-A743-9878-99012343E345}"/>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1041986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8DD806-6395-0940-AE4C-CB893C7042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6B03D0-EAA0-E64F-B5AF-3410AA8583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63CB4-9EBA-504D-BCF6-60F2E1FA04A4}"/>
              </a:ext>
            </a:extLst>
          </p:cNvPr>
          <p:cNvSpPr>
            <a:spLocks noGrp="1"/>
          </p:cNvSpPr>
          <p:nvPr>
            <p:ph type="dt" sz="half" idx="10"/>
          </p:nvPr>
        </p:nvSpPr>
        <p:spPr/>
        <p:txBody>
          <a:body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B2B79CC9-206F-8746-B7F2-54A05ED7C0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B38A1-D025-F64F-BF53-DC114C274CEF}"/>
              </a:ext>
            </a:extLst>
          </p:cNvPr>
          <p:cNvSpPr>
            <a:spLocks noGrp="1"/>
          </p:cNvSpPr>
          <p:nvPr>
            <p:ph type="sldNum" sz="quarter" idx="12"/>
          </p:nvPr>
        </p:nvSpPr>
        <p:spPr/>
        <p:txBody>
          <a:bodyPr/>
          <a:lstStyle/>
          <a:p>
            <a:fld id="{2497D439-049B-D34E-A776-B7670A8937EB}" type="slidenum">
              <a:rPr lang="en-US" smtClean="0"/>
              <a:t>‹#›</a:t>
            </a:fld>
            <a:endParaRPr lang="en-US"/>
          </a:p>
        </p:txBody>
      </p:sp>
    </p:spTree>
    <p:extLst>
      <p:ext uri="{BB962C8B-B14F-4D97-AF65-F5344CB8AC3E}">
        <p14:creationId xmlns:p14="http://schemas.microsoft.com/office/powerpoint/2010/main" val="252195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CC7ED5-02C9-6B41-87FF-37A70DA9FD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FE7AB7-AF74-A646-B019-D57ADFA98A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EA8205-84FD-ED4E-923F-F4865969F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DF0E9-5937-3F40-B4F7-C304D29F0535}" type="datetimeFigureOut">
              <a:rPr lang="en-US" smtClean="0"/>
              <a:t>1/4/22</a:t>
            </a:fld>
            <a:endParaRPr lang="en-US"/>
          </a:p>
        </p:txBody>
      </p:sp>
      <p:sp>
        <p:nvSpPr>
          <p:cNvPr id="5" name="Footer Placeholder 4">
            <a:extLst>
              <a:ext uri="{FF2B5EF4-FFF2-40B4-BE49-F238E27FC236}">
                <a16:creationId xmlns:a16="http://schemas.microsoft.com/office/drawing/2014/main" id="{9144D7B2-D7C7-2149-B6D6-1E6F2CB558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6C9464-C644-3846-B3D0-66788E46AF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7D439-049B-D34E-A776-B7670A8937EB}" type="slidenum">
              <a:rPr lang="en-US" smtClean="0"/>
              <a:t>‹#›</a:t>
            </a:fld>
            <a:endParaRPr lang="en-US"/>
          </a:p>
        </p:txBody>
      </p:sp>
    </p:spTree>
    <p:extLst>
      <p:ext uri="{BB962C8B-B14F-4D97-AF65-F5344CB8AC3E}">
        <p14:creationId xmlns:p14="http://schemas.microsoft.com/office/powerpoint/2010/main" val="4279823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7A944-7ECC-B649-8508-28F7CC8E4BC1}"/>
              </a:ext>
            </a:extLst>
          </p:cNvPr>
          <p:cNvSpPr>
            <a:spLocks noGrp="1"/>
          </p:cNvSpPr>
          <p:nvPr>
            <p:ph type="ctrTitle"/>
          </p:nvPr>
        </p:nvSpPr>
        <p:spPr>
          <a:xfrm>
            <a:off x="1524000" y="-31830"/>
            <a:ext cx="9144000" cy="1872205"/>
          </a:xfrm>
        </p:spPr>
        <p:txBody>
          <a:bodyPr/>
          <a:lstStyle/>
          <a:p>
            <a:r>
              <a:rPr lang="en-US" dirty="0"/>
              <a:t>The basics of PCA</a:t>
            </a:r>
          </a:p>
        </p:txBody>
      </p:sp>
      <p:sp>
        <p:nvSpPr>
          <p:cNvPr id="3" name="Subtitle 2">
            <a:extLst>
              <a:ext uri="{FF2B5EF4-FFF2-40B4-BE49-F238E27FC236}">
                <a16:creationId xmlns:a16="http://schemas.microsoft.com/office/drawing/2014/main" id="{27CADEE7-022F-EB43-B0E1-F237CA922B96}"/>
              </a:ext>
            </a:extLst>
          </p:cNvPr>
          <p:cNvSpPr>
            <a:spLocks noGrp="1"/>
          </p:cNvSpPr>
          <p:nvPr>
            <p:ph type="subTitle" idx="1"/>
          </p:nvPr>
        </p:nvSpPr>
        <p:spPr>
          <a:xfrm>
            <a:off x="2715064" y="2461846"/>
            <a:ext cx="7952935" cy="2795954"/>
          </a:xfrm>
        </p:spPr>
        <p:txBody>
          <a:bodyPr>
            <a:normAutofit/>
          </a:bodyPr>
          <a:lstStyle/>
          <a:p>
            <a:pPr marL="342900" indent="-342900" algn="l">
              <a:lnSpc>
                <a:spcPct val="150000"/>
              </a:lnSpc>
              <a:buFont typeface="Arial" panose="020B0604020202020204" pitchFamily="34" charset="0"/>
              <a:buChar char="•"/>
            </a:pPr>
            <a:r>
              <a:rPr lang="en-US" sz="3200" dirty="0"/>
              <a:t>Combining variables</a:t>
            </a:r>
          </a:p>
          <a:p>
            <a:pPr marL="342900" indent="-342900" algn="l">
              <a:lnSpc>
                <a:spcPct val="150000"/>
              </a:lnSpc>
              <a:buFont typeface="Arial" panose="020B0604020202020204" pitchFamily="34" charset="0"/>
              <a:buChar char="•"/>
            </a:pPr>
            <a:r>
              <a:rPr lang="en-US" sz="3200" dirty="0"/>
              <a:t>PCA –basics</a:t>
            </a:r>
          </a:p>
          <a:p>
            <a:pPr marL="342900" indent="-342900" algn="l">
              <a:lnSpc>
                <a:spcPct val="150000"/>
              </a:lnSpc>
              <a:buFont typeface="Arial" panose="020B0604020202020204" pitchFamily="34" charset="0"/>
              <a:buChar char="•"/>
            </a:pPr>
            <a:r>
              <a:rPr lang="en-US" sz="3200" dirty="0"/>
              <a:t>Its applications</a:t>
            </a:r>
          </a:p>
        </p:txBody>
      </p:sp>
    </p:spTree>
    <p:extLst>
      <p:ext uri="{BB962C8B-B14F-4D97-AF65-F5344CB8AC3E}">
        <p14:creationId xmlns:p14="http://schemas.microsoft.com/office/powerpoint/2010/main" val="3960824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Combining variables</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5" name="Picture 4" descr="Diagram&#10;&#10;Description automatically generated with medium confidence">
            <a:extLst>
              <a:ext uri="{FF2B5EF4-FFF2-40B4-BE49-F238E27FC236}">
                <a16:creationId xmlns:a16="http://schemas.microsoft.com/office/drawing/2014/main" id="{EB45387D-75EF-F44A-A97F-34883CA6716A}"/>
              </a:ext>
            </a:extLst>
          </p:cNvPr>
          <p:cNvPicPr>
            <a:picLocks noChangeAspect="1"/>
          </p:cNvPicPr>
          <p:nvPr/>
        </p:nvPicPr>
        <p:blipFill>
          <a:blip r:embed="rId3"/>
          <a:stretch>
            <a:fillRect/>
          </a:stretch>
        </p:blipFill>
        <p:spPr>
          <a:xfrm>
            <a:off x="1225611" y="2426818"/>
            <a:ext cx="3355848" cy="3657600"/>
          </a:xfrm>
          <a:prstGeom prst="rect">
            <a:avLst/>
          </a:prstGeom>
        </p:spPr>
      </p:pic>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Picture 8" descr="Text, letter&#10;&#10;Description automatically generated">
            <a:extLst>
              <a:ext uri="{FF2B5EF4-FFF2-40B4-BE49-F238E27FC236}">
                <a16:creationId xmlns:a16="http://schemas.microsoft.com/office/drawing/2014/main" id="{A36E55F2-D54E-F24E-B7F5-318DA051CA23}"/>
              </a:ext>
            </a:extLst>
          </p:cNvPr>
          <p:cNvPicPr>
            <a:picLocks noChangeAspect="1"/>
          </p:cNvPicPr>
          <p:nvPr/>
        </p:nvPicPr>
        <p:blipFill>
          <a:blip r:embed="rId4"/>
          <a:stretch>
            <a:fillRect/>
          </a:stretch>
        </p:blipFill>
        <p:spPr>
          <a:xfrm>
            <a:off x="6980306" y="2579878"/>
            <a:ext cx="4259780" cy="1799756"/>
          </a:xfrm>
          <a:prstGeom prst="rect">
            <a:avLst/>
          </a:prstGeom>
        </p:spPr>
      </p:pic>
      <p:sp>
        <p:nvSpPr>
          <p:cNvPr id="11" name="TextBox 10">
            <a:extLst>
              <a:ext uri="{FF2B5EF4-FFF2-40B4-BE49-F238E27FC236}">
                <a16:creationId xmlns:a16="http://schemas.microsoft.com/office/drawing/2014/main" id="{445BFA26-7503-DB42-855D-9F6BC142D293}"/>
              </a:ext>
            </a:extLst>
          </p:cNvPr>
          <p:cNvSpPr txBox="1"/>
          <p:nvPr/>
        </p:nvSpPr>
        <p:spPr>
          <a:xfrm>
            <a:off x="6075724" y="4851840"/>
            <a:ext cx="5610482" cy="461665"/>
          </a:xfrm>
          <a:prstGeom prst="rect">
            <a:avLst/>
          </a:prstGeom>
          <a:noFill/>
        </p:spPr>
        <p:txBody>
          <a:bodyPr wrap="square" rtlCol="0">
            <a:spAutoFit/>
          </a:bodyPr>
          <a:lstStyle/>
          <a:p>
            <a:pPr algn="ctr"/>
            <a:r>
              <a:rPr lang="en-US" sz="2400" dirty="0"/>
              <a:t>Cholesterol = Weight + Height</a:t>
            </a:r>
          </a:p>
        </p:txBody>
      </p:sp>
      <p:sp>
        <p:nvSpPr>
          <p:cNvPr id="12" name="TextBox 11">
            <a:extLst>
              <a:ext uri="{FF2B5EF4-FFF2-40B4-BE49-F238E27FC236}">
                <a16:creationId xmlns:a16="http://schemas.microsoft.com/office/drawing/2014/main" id="{B1F781B5-C9F5-0A4F-AC06-F9B43BE54E0B}"/>
              </a:ext>
            </a:extLst>
          </p:cNvPr>
          <p:cNvSpPr txBox="1"/>
          <p:nvPr/>
        </p:nvSpPr>
        <p:spPr>
          <a:xfrm>
            <a:off x="6980306" y="5785711"/>
            <a:ext cx="4090960" cy="461665"/>
          </a:xfrm>
          <a:prstGeom prst="rect">
            <a:avLst/>
          </a:prstGeom>
          <a:noFill/>
        </p:spPr>
        <p:txBody>
          <a:bodyPr wrap="square" rtlCol="0">
            <a:spAutoFit/>
          </a:bodyPr>
          <a:lstStyle/>
          <a:p>
            <a:r>
              <a:rPr lang="en-US" sz="2400" dirty="0"/>
              <a:t>Cholesterol = BMI</a:t>
            </a:r>
          </a:p>
        </p:txBody>
      </p:sp>
    </p:spTree>
    <p:extLst>
      <p:ext uri="{BB962C8B-B14F-4D97-AF65-F5344CB8AC3E}">
        <p14:creationId xmlns:p14="http://schemas.microsoft.com/office/powerpoint/2010/main" val="3979388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Combining variables</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4" name="Picture 3" descr="Chart, scatter chart&#10;&#10;Description automatically generated">
            <a:extLst>
              <a:ext uri="{FF2B5EF4-FFF2-40B4-BE49-F238E27FC236}">
                <a16:creationId xmlns:a16="http://schemas.microsoft.com/office/drawing/2014/main" id="{87DD30A0-1D61-294D-9A21-A6FFD9DA7911}"/>
              </a:ext>
            </a:extLst>
          </p:cNvPr>
          <p:cNvPicPr>
            <a:picLocks noChangeAspect="1"/>
          </p:cNvPicPr>
          <p:nvPr/>
        </p:nvPicPr>
        <p:blipFill>
          <a:blip r:embed="rId3"/>
          <a:stretch>
            <a:fillRect/>
          </a:stretch>
        </p:blipFill>
        <p:spPr>
          <a:xfrm>
            <a:off x="396882" y="2843881"/>
            <a:ext cx="4835453" cy="3403495"/>
          </a:xfrm>
          <a:prstGeom prst="rect">
            <a:avLst/>
          </a:prstGeom>
        </p:spPr>
      </p:pic>
      <p:graphicFrame>
        <p:nvGraphicFramePr>
          <p:cNvPr id="6" name="Table 5">
            <a:extLst>
              <a:ext uri="{FF2B5EF4-FFF2-40B4-BE49-F238E27FC236}">
                <a16:creationId xmlns:a16="http://schemas.microsoft.com/office/drawing/2014/main" id="{702DFBF3-2AFC-904A-AA16-93390398CA1F}"/>
              </a:ext>
            </a:extLst>
          </p:cNvPr>
          <p:cNvGraphicFramePr>
            <a:graphicFrameLocks noGrp="1"/>
          </p:cNvGraphicFramePr>
          <p:nvPr>
            <p:extLst>
              <p:ext uri="{D42A27DB-BD31-4B8C-83A1-F6EECF244321}">
                <p14:modId xmlns:p14="http://schemas.microsoft.com/office/powerpoint/2010/main" val="4119803979"/>
              </p:ext>
            </p:extLst>
          </p:nvPr>
        </p:nvGraphicFramePr>
        <p:xfrm>
          <a:off x="7486648" y="2793368"/>
          <a:ext cx="3303212" cy="3454010"/>
        </p:xfrm>
        <a:graphic>
          <a:graphicData uri="http://schemas.openxmlformats.org/drawingml/2006/table">
            <a:tbl>
              <a:tblPr>
                <a:tableStyleId>{5C22544A-7EE6-4342-B048-85BDC9FD1C3A}</a:tableStyleId>
              </a:tblPr>
              <a:tblGrid>
                <a:gridCol w="1651606">
                  <a:extLst>
                    <a:ext uri="{9D8B030D-6E8A-4147-A177-3AD203B41FA5}">
                      <a16:colId xmlns:a16="http://schemas.microsoft.com/office/drawing/2014/main" val="2265760592"/>
                    </a:ext>
                  </a:extLst>
                </a:gridCol>
                <a:gridCol w="1651606">
                  <a:extLst>
                    <a:ext uri="{9D8B030D-6E8A-4147-A177-3AD203B41FA5}">
                      <a16:colId xmlns:a16="http://schemas.microsoft.com/office/drawing/2014/main" val="3176740269"/>
                    </a:ext>
                  </a:extLst>
                </a:gridCol>
              </a:tblGrid>
              <a:tr h="493430">
                <a:tc>
                  <a:txBody>
                    <a:bodyPr/>
                    <a:lstStyle/>
                    <a:p>
                      <a:pPr algn="ctr" fontAlgn="b"/>
                      <a:r>
                        <a:rPr lang="en-CA" sz="1400" b="1" u="none" strike="noStrike" dirty="0">
                          <a:effectLst/>
                        </a:rPr>
                        <a:t>Diastolic BP</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Systolic BP</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6927854"/>
                  </a:ext>
                </a:extLst>
              </a:tr>
              <a:tr h="493430">
                <a:tc>
                  <a:txBody>
                    <a:bodyPr/>
                    <a:lstStyle/>
                    <a:p>
                      <a:pPr algn="ctr" fontAlgn="b"/>
                      <a:r>
                        <a:rPr lang="en-CA" sz="1400" u="none" strike="noStrike" dirty="0">
                          <a:effectLst/>
                        </a:rPr>
                        <a:t>78</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126</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41935101"/>
                  </a:ext>
                </a:extLst>
              </a:tr>
              <a:tr h="493430">
                <a:tc>
                  <a:txBody>
                    <a:bodyPr/>
                    <a:lstStyle/>
                    <a:p>
                      <a:pPr algn="ctr" fontAlgn="b"/>
                      <a:r>
                        <a:rPr lang="en-CA" sz="1400" u="none" strike="noStrike" dirty="0">
                          <a:effectLst/>
                        </a:rPr>
                        <a:t>80</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128</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65380859"/>
                  </a:ext>
                </a:extLst>
              </a:tr>
              <a:tr h="493430">
                <a:tc>
                  <a:txBody>
                    <a:bodyPr/>
                    <a:lstStyle/>
                    <a:p>
                      <a:pPr algn="ctr" fontAlgn="b"/>
                      <a:r>
                        <a:rPr lang="en-CA" sz="1400" u="none" strike="noStrike">
                          <a:effectLst/>
                        </a:rPr>
                        <a:t>81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127</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17325620"/>
                  </a:ext>
                </a:extLst>
              </a:tr>
              <a:tr h="493430">
                <a:tc>
                  <a:txBody>
                    <a:bodyPr/>
                    <a:lstStyle/>
                    <a:p>
                      <a:pPr algn="ctr" fontAlgn="b"/>
                      <a:r>
                        <a:rPr lang="en-CA" sz="1400" u="none" strike="noStrike">
                          <a:effectLst/>
                        </a:rPr>
                        <a:t>82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130</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40743815"/>
                  </a:ext>
                </a:extLst>
              </a:tr>
              <a:tr h="493430">
                <a:tc>
                  <a:txBody>
                    <a:bodyPr/>
                    <a:lstStyle/>
                    <a:p>
                      <a:pPr algn="ctr" fontAlgn="b"/>
                      <a:r>
                        <a:rPr lang="en-CA" sz="1400" u="none" strike="noStrike">
                          <a:effectLst/>
                        </a:rPr>
                        <a:t>84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130</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92033817"/>
                  </a:ext>
                </a:extLst>
              </a:tr>
              <a:tr h="493430">
                <a:tc>
                  <a:txBody>
                    <a:bodyPr/>
                    <a:lstStyle/>
                    <a:p>
                      <a:pPr algn="ctr" fontAlgn="b"/>
                      <a:r>
                        <a:rPr lang="en-CA" sz="1400" u="none" strike="noStrike">
                          <a:effectLst/>
                        </a:rPr>
                        <a:t>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132</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0308053"/>
                  </a:ext>
                </a:extLst>
              </a:tr>
            </a:tbl>
          </a:graphicData>
        </a:graphic>
      </p:graphicFrame>
    </p:spTree>
    <p:extLst>
      <p:ext uri="{BB962C8B-B14F-4D97-AF65-F5344CB8AC3E}">
        <p14:creationId xmlns:p14="http://schemas.microsoft.com/office/powerpoint/2010/main" val="3117539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Combining variables</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graphicFrame>
        <p:nvGraphicFramePr>
          <p:cNvPr id="9" name="Table 8">
            <a:extLst>
              <a:ext uri="{FF2B5EF4-FFF2-40B4-BE49-F238E27FC236}">
                <a16:creationId xmlns:a16="http://schemas.microsoft.com/office/drawing/2014/main" id="{975E07A7-119F-B241-ADBE-05E98F62F22F}"/>
              </a:ext>
            </a:extLst>
          </p:cNvPr>
          <p:cNvGraphicFramePr>
            <a:graphicFrameLocks noGrp="1"/>
          </p:cNvGraphicFramePr>
          <p:nvPr>
            <p:extLst>
              <p:ext uri="{D42A27DB-BD31-4B8C-83A1-F6EECF244321}">
                <p14:modId xmlns:p14="http://schemas.microsoft.com/office/powerpoint/2010/main" val="2662842971"/>
              </p:ext>
            </p:extLst>
          </p:nvPr>
        </p:nvGraphicFramePr>
        <p:xfrm>
          <a:off x="1402140" y="2940148"/>
          <a:ext cx="3634094" cy="2926084"/>
        </p:xfrm>
        <a:graphic>
          <a:graphicData uri="http://schemas.openxmlformats.org/drawingml/2006/table">
            <a:tbl>
              <a:tblPr>
                <a:tableStyleId>{5C22544A-7EE6-4342-B048-85BDC9FD1C3A}</a:tableStyleId>
              </a:tblPr>
              <a:tblGrid>
                <a:gridCol w="1817047">
                  <a:extLst>
                    <a:ext uri="{9D8B030D-6E8A-4147-A177-3AD203B41FA5}">
                      <a16:colId xmlns:a16="http://schemas.microsoft.com/office/drawing/2014/main" val="2265760592"/>
                    </a:ext>
                  </a:extLst>
                </a:gridCol>
                <a:gridCol w="1817047">
                  <a:extLst>
                    <a:ext uri="{9D8B030D-6E8A-4147-A177-3AD203B41FA5}">
                      <a16:colId xmlns:a16="http://schemas.microsoft.com/office/drawing/2014/main" val="3176740269"/>
                    </a:ext>
                  </a:extLst>
                </a:gridCol>
              </a:tblGrid>
              <a:tr h="418012">
                <a:tc>
                  <a:txBody>
                    <a:bodyPr/>
                    <a:lstStyle/>
                    <a:p>
                      <a:pPr algn="ctr" fontAlgn="b"/>
                      <a:r>
                        <a:rPr lang="en-CA" sz="1400" b="1" u="none" strike="noStrike" dirty="0">
                          <a:effectLst/>
                        </a:rPr>
                        <a:t>Diastolic BP</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Systolic BP</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6927854"/>
                  </a:ext>
                </a:extLst>
              </a:tr>
              <a:tr h="418012">
                <a:tc>
                  <a:txBody>
                    <a:bodyPr/>
                    <a:lstStyle/>
                    <a:p>
                      <a:pPr algn="ctr" fontAlgn="b"/>
                      <a:r>
                        <a:rPr lang="en-CA" sz="1400" u="none" strike="noStrike" dirty="0">
                          <a:effectLst/>
                        </a:rPr>
                        <a:t>78</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126</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41935101"/>
                  </a:ext>
                </a:extLst>
              </a:tr>
              <a:tr h="418012">
                <a:tc>
                  <a:txBody>
                    <a:bodyPr/>
                    <a:lstStyle/>
                    <a:p>
                      <a:pPr algn="ctr" fontAlgn="b"/>
                      <a:r>
                        <a:rPr lang="en-CA" sz="1400" u="none" strike="noStrike" dirty="0">
                          <a:effectLst/>
                        </a:rPr>
                        <a:t>80</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128</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65380859"/>
                  </a:ext>
                </a:extLst>
              </a:tr>
              <a:tr h="418012">
                <a:tc>
                  <a:txBody>
                    <a:bodyPr/>
                    <a:lstStyle/>
                    <a:p>
                      <a:pPr algn="ctr" fontAlgn="b"/>
                      <a:r>
                        <a:rPr lang="en-CA" sz="1400" u="none" strike="noStrike" dirty="0">
                          <a:effectLst/>
                        </a:rPr>
                        <a:t>81</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127</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17325620"/>
                  </a:ext>
                </a:extLst>
              </a:tr>
              <a:tr h="418012">
                <a:tc>
                  <a:txBody>
                    <a:bodyPr/>
                    <a:lstStyle/>
                    <a:p>
                      <a:pPr algn="ctr" fontAlgn="b"/>
                      <a:r>
                        <a:rPr lang="en-CA" sz="1400" u="none" strike="noStrike">
                          <a:effectLst/>
                        </a:rPr>
                        <a:t>82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130</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40743815"/>
                  </a:ext>
                </a:extLst>
              </a:tr>
              <a:tr h="418012">
                <a:tc>
                  <a:txBody>
                    <a:bodyPr/>
                    <a:lstStyle/>
                    <a:p>
                      <a:pPr algn="ctr" fontAlgn="b"/>
                      <a:r>
                        <a:rPr lang="en-CA" sz="1400" u="none" strike="noStrike">
                          <a:effectLst/>
                        </a:rPr>
                        <a:t>84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130</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92033817"/>
                  </a:ext>
                </a:extLst>
              </a:tr>
              <a:tr h="418012">
                <a:tc>
                  <a:txBody>
                    <a:bodyPr/>
                    <a:lstStyle/>
                    <a:p>
                      <a:pPr algn="ctr" fontAlgn="b"/>
                      <a:r>
                        <a:rPr lang="en-CA" sz="1400" u="none" strike="noStrike">
                          <a:effectLst/>
                        </a:rPr>
                        <a:t>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132</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0308053"/>
                  </a:ext>
                </a:extLst>
              </a:tr>
            </a:tbl>
          </a:graphicData>
        </a:graphic>
      </p:graphicFrame>
      <p:pic>
        <p:nvPicPr>
          <p:cNvPr id="5" name="Picture 4" descr="A picture containing clock&#10;&#10;Description automatically generated">
            <a:extLst>
              <a:ext uri="{FF2B5EF4-FFF2-40B4-BE49-F238E27FC236}">
                <a16:creationId xmlns:a16="http://schemas.microsoft.com/office/drawing/2014/main" id="{4C4CB7C7-3A7C-7E4B-8299-7019F998DC6F}"/>
              </a:ext>
            </a:extLst>
          </p:cNvPr>
          <p:cNvPicPr>
            <a:picLocks noChangeAspect="1"/>
          </p:cNvPicPr>
          <p:nvPr/>
        </p:nvPicPr>
        <p:blipFill>
          <a:blip r:embed="rId3"/>
          <a:stretch>
            <a:fillRect/>
          </a:stretch>
        </p:blipFill>
        <p:spPr>
          <a:xfrm>
            <a:off x="6956865" y="2718386"/>
            <a:ext cx="3708400" cy="749300"/>
          </a:xfrm>
          <a:prstGeom prst="rect">
            <a:avLst/>
          </a:prstGeom>
        </p:spPr>
      </p:pic>
      <p:sp>
        <p:nvSpPr>
          <p:cNvPr id="7" name="TextBox 6">
            <a:extLst>
              <a:ext uri="{FF2B5EF4-FFF2-40B4-BE49-F238E27FC236}">
                <a16:creationId xmlns:a16="http://schemas.microsoft.com/office/drawing/2014/main" id="{8CF123EC-B7DA-D24F-AEED-7A76ECB9C122}"/>
              </a:ext>
            </a:extLst>
          </p:cNvPr>
          <p:cNvSpPr txBox="1"/>
          <p:nvPr/>
        </p:nvSpPr>
        <p:spPr>
          <a:xfrm>
            <a:off x="6766560" y="3812345"/>
            <a:ext cx="3600601" cy="923330"/>
          </a:xfrm>
          <a:prstGeom prst="rect">
            <a:avLst/>
          </a:prstGeom>
          <a:noFill/>
        </p:spPr>
        <p:txBody>
          <a:bodyPr wrap="none" rtlCol="0">
            <a:spAutoFit/>
          </a:bodyPr>
          <a:lstStyle/>
          <a:p>
            <a:r>
              <a:rPr lang="en-US" dirty="0"/>
              <a:t>X1 and X2: two variables to combine</a:t>
            </a:r>
          </a:p>
          <a:p>
            <a:r>
              <a:rPr lang="en-US" dirty="0"/>
              <a:t>Y: the combined variable</a:t>
            </a:r>
          </a:p>
          <a:p>
            <a:endParaRPr 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161FC6B-8621-A44C-AA0F-7CA7ABD05661}"/>
                  </a:ext>
                </a:extLst>
              </p:cNvPr>
              <p:cNvSpPr txBox="1"/>
              <p:nvPr/>
            </p:nvSpPr>
            <p:spPr>
              <a:xfrm rot="10800000" flipV="1">
                <a:off x="6696295" y="4448297"/>
                <a:ext cx="285566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𝛼</m:t>
                      </m:r>
                      <m:r>
                        <a:rPr lang="en-CA" b="0" i="0" smtClean="0">
                          <a:latin typeface="Cambria Math" panose="02040503050406030204" pitchFamily="18" charset="0"/>
                          <a:ea typeface="Cambria Math" panose="02040503050406030204" pitchFamily="18" charset="0"/>
                        </a:rPr>
                        <m:t>1, </m:t>
                      </m:r>
                      <m:r>
                        <a:rPr lang="en-US" i="1" smtClean="0">
                          <a:latin typeface="Cambria Math" panose="02040503050406030204" pitchFamily="18" charset="0"/>
                          <a:ea typeface="Cambria Math" panose="02040503050406030204" pitchFamily="18" charset="0"/>
                        </a:rPr>
                        <m:t>𝛼</m:t>
                      </m:r>
                      <m:r>
                        <a:rPr lang="en-CA" b="0" i="0" smtClean="0">
                          <a:latin typeface="Cambria Math" panose="02040503050406030204" pitchFamily="18" charset="0"/>
                          <a:ea typeface="Cambria Math" panose="02040503050406030204" pitchFamily="18" charset="0"/>
                        </a:rPr>
                        <m:t>2:</m:t>
                      </m:r>
                      <m:r>
                        <m:rPr>
                          <m:sty m:val="p"/>
                        </m:rPr>
                        <a:rPr lang="en-CA" b="0" i="0" smtClean="0">
                          <a:latin typeface="Cambria Math" panose="02040503050406030204" pitchFamily="18" charset="0"/>
                          <a:ea typeface="Cambria Math" panose="02040503050406030204" pitchFamily="18" charset="0"/>
                        </a:rPr>
                        <m:t>weights</m:t>
                      </m:r>
                      <m:r>
                        <a:rPr lang="en-CA" b="0" i="0" smtClean="0">
                          <a:latin typeface="Cambria Math" panose="02040503050406030204" pitchFamily="18" charset="0"/>
                          <a:ea typeface="Cambria Math" panose="02040503050406030204" pitchFamily="18" charset="0"/>
                        </a:rPr>
                        <m:t> (</m:t>
                      </m:r>
                      <m:r>
                        <m:rPr>
                          <m:sty m:val="p"/>
                        </m:rPr>
                        <a:rPr lang="en-CA" b="0" i="0" smtClean="0">
                          <a:latin typeface="Cambria Math" panose="02040503050406030204" pitchFamily="18" charset="0"/>
                          <a:ea typeface="Cambria Math" panose="02040503050406030204" pitchFamily="18" charset="0"/>
                        </a:rPr>
                        <m:t>loadings</m:t>
                      </m:r>
                      <m:r>
                        <a:rPr lang="en-CA" b="0" i="0"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4161FC6B-8621-A44C-AA0F-7CA7ABD05661}"/>
                  </a:ext>
                </a:extLst>
              </p:cNvPr>
              <p:cNvSpPr txBox="1">
                <a:spLocks noRot="1" noChangeAspect="1" noMove="1" noResize="1" noEditPoints="1" noAdjustHandles="1" noChangeArrowheads="1" noChangeShapeType="1" noTextEdit="1"/>
              </p:cNvSpPr>
              <p:nvPr/>
            </p:nvSpPr>
            <p:spPr>
              <a:xfrm rot="10800000" flipV="1">
                <a:off x="6696295" y="4448297"/>
                <a:ext cx="2855663" cy="276999"/>
              </a:xfrm>
              <a:prstGeom prst="rect">
                <a:avLst/>
              </a:prstGeom>
              <a:blipFill>
                <a:blip r:embed="rId4"/>
                <a:stretch>
                  <a:fillRect t="-9091" b="-40909"/>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40F3B76-0319-0E4C-9ACC-06C6E5CFD078}"/>
              </a:ext>
            </a:extLst>
          </p:cNvPr>
          <p:cNvSpPr txBox="1"/>
          <p:nvPr/>
        </p:nvSpPr>
        <p:spPr>
          <a:xfrm>
            <a:off x="6956865" y="5155401"/>
            <a:ext cx="4156607" cy="523220"/>
          </a:xfrm>
          <a:prstGeom prst="rect">
            <a:avLst/>
          </a:prstGeom>
          <a:noFill/>
        </p:spPr>
        <p:txBody>
          <a:bodyPr wrap="square" rtlCol="0">
            <a:spAutoFit/>
          </a:bodyPr>
          <a:lstStyle/>
          <a:p>
            <a:r>
              <a:rPr lang="en-US" sz="2800" dirty="0"/>
              <a:t>BP = 0.8 DBP + 0.6 SBP</a:t>
            </a:r>
          </a:p>
        </p:txBody>
      </p:sp>
    </p:spTree>
    <p:extLst>
      <p:ext uri="{BB962C8B-B14F-4D97-AF65-F5344CB8AC3E}">
        <p14:creationId xmlns:p14="http://schemas.microsoft.com/office/powerpoint/2010/main" val="2058188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Combining variables</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graphicFrame>
        <p:nvGraphicFramePr>
          <p:cNvPr id="9" name="Table 8">
            <a:extLst>
              <a:ext uri="{FF2B5EF4-FFF2-40B4-BE49-F238E27FC236}">
                <a16:creationId xmlns:a16="http://schemas.microsoft.com/office/drawing/2014/main" id="{975E07A7-119F-B241-ADBE-05E98F62F22F}"/>
              </a:ext>
            </a:extLst>
          </p:cNvPr>
          <p:cNvGraphicFramePr>
            <a:graphicFrameLocks noGrp="1"/>
          </p:cNvGraphicFramePr>
          <p:nvPr/>
        </p:nvGraphicFramePr>
        <p:xfrm>
          <a:off x="1402140" y="2940148"/>
          <a:ext cx="3634094" cy="2926084"/>
        </p:xfrm>
        <a:graphic>
          <a:graphicData uri="http://schemas.openxmlformats.org/drawingml/2006/table">
            <a:tbl>
              <a:tblPr>
                <a:tableStyleId>{5C22544A-7EE6-4342-B048-85BDC9FD1C3A}</a:tableStyleId>
              </a:tblPr>
              <a:tblGrid>
                <a:gridCol w="1817047">
                  <a:extLst>
                    <a:ext uri="{9D8B030D-6E8A-4147-A177-3AD203B41FA5}">
                      <a16:colId xmlns:a16="http://schemas.microsoft.com/office/drawing/2014/main" val="2265760592"/>
                    </a:ext>
                  </a:extLst>
                </a:gridCol>
                <a:gridCol w="1817047">
                  <a:extLst>
                    <a:ext uri="{9D8B030D-6E8A-4147-A177-3AD203B41FA5}">
                      <a16:colId xmlns:a16="http://schemas.microsoft.com/office/drawing/2014/main" val="3176740269"/>
                    </a:ext>
                  </a:extLst>
                </a:gridCol>
              </a:tblGrid>
              <a:tr h="418012">
                <a:tc>
                  <a:txBody>
                    <a:bodyPr/>
                    <a:lstStyle/>
                    <a:p>
                      <a:pPr algn="ctr" fontAlgn="b"/>
                      <a:r>
                        <a:rPr lang="en-CA" sz="1400" b="1" u="none" strike="noStrike" dirty="0">
                          <a:effectLst/>
                        </a:rPr>
                        <a:t>Diastolic BP</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Systolic BP</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6927854"/>
                  </a:ext>
                </a:extLst>
              </a:tr>
              <a:tr h="418012">
                <a:tc>
                  <a:txBody>
                    <a:bodyPr/>
                    <a:lstStyle/>
                    <a:p>
                      <a:pPr algn="ctr" fontAlgn="b"/>
                      <a:r>
                        <a:rPr lang="en-CA" sz="1400" u="none" strike="noStrike" dirty="0">
                          <a:effectLst/>
                        </a:rPr>
                        <a:t>78</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126</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41935101"/>
                  </a:ext>
                </a:extLst>
              </a:tr>
              <a:tr h="418012">
                <a:tc>
                  <a:txBody>
                    <a:bodyPr/>
                    <a:lstStyle/>
                    <a:p>
                      <a:pPr algn="ctr" fontAlgn="b"/>
                      <a:r>
                        <a:rPr lang="en-CA" sz="1400" u="none" strike="noStrike" dirty="0">
                          <a:effectLst/>
                        </a:rPr>
                        <a:t>80</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128</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65380859"/>
                  </a:ext>
                </a:extLst>
              </a:tr>
              <a:tr h="418012">
                <a:tc>
                  <a:txBody>
                    <a:bodyPr/>
                    <a:lstStyle/>
                    <a:p>
                      <a:pPr algn="ctr" fontAlgn="b"/>
                      <a:r>
                        <a:rPr lang="en-CA" sz="1400" u="none" strike="noStrike" dirty="0">
                          <a:effectLst/>
                        </a:rPr>
                        <a:t>81</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127</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17325620"/>
                  </a:ext>
                </a:extLst>
              </a:tr>
              <a:tr h="418012">
                <a:tc>
                  <a:txBody>
                    <a:bodyPr/>
                    <a:lstStyle/>
                    <a:p>
                      <a:pPr algn="ctr" fontAlgn="b"/>
                      <a:r>
                        <a:rPr lang="en-CA" sz="1400" u="none" strike="noStrike">
                          <a:effectLst/>
                        </a:rPr>
                        <a:t>82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130</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40743815"/>
                  </a:ext>
                </a:extLst>
              </a:tr>
              <a:tr h="418012">
                <a:tc>
                  <a:txBody>
                    <a:bodyPr/>
                    <a:lstStyle/>
                    <a:p>
                      <a:pPr algn="ctr" fontAlgn="b"/>
                      <a:r>
                        <a:rPr lang="en-CA" sz="1400" u="none" strike="noStrike">
                          <a:effectLst/>
                        </a:rPr>
                        <a:t>84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130</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92033817"/>
                  </a:ext>
                </a:extLst>
              </a:tr>
              <a:tr h="418012">
                <a:tc>
                  <a:txBody>
                    <a:bodyPr/>
                    <a:lstStyle/>
                    <a:p>
                      <a:pPr algn="ctr" fontAlgn="b"/>
                      <a:r>
                        <a:rPr lang="en-CA" sz="1400" u="none" strike="noStrike">
                          <a:effectLst/>
                        </a:rPr>
                        <a:t>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132</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0308053"/>
                  </a:ext>
                </a:extLst>
              </a:tr>
            </a:tbl>
          </a:graphicData>
        </a:graphic>
      </p:graphicFrame>
      <p:pic>
        <p:nvPicPr>
          <p:cNvPr id="4" name="Picture 3" descr="Text&#10;&#10;Description automatically generated with medium confidence">
            <a:extLst>
              <a:ext uri="{FF2B5EF4-FFF2-40B4-BE49-F238E27FC236}">
                <a16:creationId xmlns:a16="http://schemas.microsoft.com/office/drawing/2014/main" id="{0DE81CCB-E6F0-1B47-9F1F-0675C993DCB5}"/>
              </a:ext>
            </a:extLst>
          </p:cNvPr>
          <p:cNvPicPr>
            <a:picLocks noChangeAspect="1"/>
          </p:cNvPicPr>
          <p:nvPr/>
        </p:nvPicPr>
        <p:blipFill>
          <a:blip r:embed="rId3"/>
          <a:stretch>
            <a:fillRect/>
          </a:stretch>
        </p:blipFill>
        <p:spPr>
          <a:xfrm>
            <a:off x="6821756" y="2641698"/>
            <a:ext cx="4203700" cy="596900"/>
          </a:xfrm>
          <a:prstGeom prst="rect">
            <a:avLst/>
          </a:prstGeom>
        </p:spPr>
      </p:pic>
      <p:pic>
        <p:nvPicPr>
          <p:cNvPr id="13" name="Picture 12" descr="Text&#10;&#10;Description automatically generated with medium confidence">
            <a:extLst>
              <a:ext uri="{FF2B5EF4-FFF2-40B4-BE49-F238E27FC236}">
                <a16:creationId xmlns:a16="http://schemas.microsoft.com/office/drawing/2014/main" id="{8C64A8D8-A4E8-2D40-93E5-AEF420F34063}"/>
              </a:ext>
            </a:extLst>
          </p:cNvPr>
          <p:cNvPicPr>
            <a:picLocks noChangeAspect="1"/>
          </p:cNvPicPr>
          <p:nvPr/>
        </p:nvPicPr>
        <p:blipFill>
          <a:blip r:embed="rId4"/>
          <a:stretch>
            <a:fillRect/>
          </a:stretch>
        </p:blipFill>
        <p:spPr>
          <a:xfrm>
            <a:off x="6495620" y="3429000"/>
            <a:ext cx="5321300" cy="1181100"/>
          </a:xfrm>
          <a:prstGeom prst="rect">
            <a:avLst/>
          </a:prstGeom>
        </p:spPr>
      </p:pic>
      <p:sp>
        <p:nvSpPr>
          <p:cNvPr id="14" name="TextBox 13">
            <a:extLst>
              <a:ext uri="{FF2B5EF4-FFF2-40B4-BE49-F238E27FC236}">
                <a16:creationId xmlns:a16="http://schemas.microsoft.com/office/drawing/2014/main" id="{DD18A4CC-2BE8-994B-A85C-691449197A15}"/>
              </a:ext>
            </a:extLst>
          </p:cNvPr>
          <p:cNvSpPr txBox="1"/>
          <p:nvPr/>
        </p:nvSpPr>
        <p:spPr>
          <a:xfrm>
            <a:off x="9805182" y="4867422"/>
            <a:ext cx="2011736" cy="584775"/>
          </a:xfrm>
          <a:prstGeom prst="rect">
            <a:avLst/>
          </a:prstGeom>
          <a:noFill/>
        </p:spPr>
        <p:txBody>
          <a:bodyPr wrap="square" rtlCol="0">
            <a:spAutoFit/>
          </a:bodyPr>
          <a:lstStyle/>
          <a:p>
            <a:r>
              <a:rPr lang="en-US" sz="3200" dirty="0">
                <a:solidFill>
                  <a:schemeClr val="tx1">
                    <a:lumMod val="75000"/>
                    <a:lumOff val="25000"/>
                  </a:schemeClr>
                </a:solidFill>
              </a:rPr>
              <a:t>= 102</a:t>
            </a:r>
          </a:p>
        </p:txBody>
      </p:sp>
    </p:spTree>
    <p:extLst>
      <p:ext uri="{BB962C8B-B14F-4D97-AF65-F5344CB8AC3E}">
        <p14:creationId xmlns:p14="http://schemas.microsoft.com/office/powerpoint/2010/main" val="1864735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Combining variables</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4" name="Picture 3" descr="Text&#10;&#10;Description automatically generated with medium confidence">
            <a:extLst>
              <a:ext uri="{FF2B5EF4-FFF2-40B4-BE49-F238E27FC236}">
                <a16:creationId xmlns:a16="http://schemas.microsoft.com/office/drawing/2014/main" id="{0DE81CCB-E6F0-1B47-9F1F-0675C993DCB5}"/>
              </a:ext>
            </a:extLst>
          </p:cNvPr>
          <p:cNvPicPr>
            <a:picLocks noChangeAspect="1"/>
          </p:cNvPicPr>
          <p:nvPr/>
        </p:nvPicPr>
        <p:blipFill>
          <a:blip r:embed="rId3"/>
          <a:stretch>
            <a:fillRect/>
          </a:stretch>
        </p:blipFill>
        <p:spPr>
          <a:xfrm>
            <a:off x="6821756" y="2641698"/>
            <a:ext cx="4203700" cy="596900"/>
          </a:xfrm>
          <a:prstGeom prst="rect">
            <a:avLst/>
          </a:prstGeom>
        </p:spPr>
      </p:pic>
      <p:pic>
        <p:nvPicPr>
          <p:cNvPr id="5" name="Picture 4" descr="Text&#10;&#10;Description automatically generated with low confidence">
            <a:extLst>
              <a:ext uri="{FF2B5EF4-FFF2-40B4-BE49-F238E27FC236}">
                <a16:creationId xmlns:a16="http://schemas.microsoft.com/office/drawing/2014/main" id="{99BB9364-71CC-2245-B42B-B12E71163793}"/>
              </a:ext>
            </a:extLst>
          </p:cNvPr>
          <p:cNvPicPr>
            <a:picLocks noChangeAspect="1"/>
          </p:cNvPicPr>
          <p:nvPr/>
        </p:nvPicPr>
        <p:blipFill>
          <a:blip r:embed="rId4"/>
          <a:stretch>
            <a:fillRect/>
          </a:stretch>
        </p:blipFill>
        <p:spPr>
          <a:xfrm>
            <a:off x="6821756" y="3238598"/>
            <a:ext cx="3505200" cy="1231900"/>
          </a:xfrm>
          <a:prstGeom prst="rect">
            <a:avLst/>
          </a:prstGeom>
        </p:spPr>
      </p:pic>
      <p:pic>
        <p:nvPicPr>
          <p:cNvPr id="7" name="Picture 6" descr="Text&#10;&#10;Description automatically generated with low confidence">
            <a:extLst>
              <a:ext uri="{FF2B5EF4-FFF2-40B4-BE49-F238E27FC236}">
                <a16:creationId xmlns:a16="http://schemas.microsoft.com/office/drawing/2014/main" id="{9F56635C-F91D-2241-82F4-DD397B4889F6}"/>
              </a:ext>
            </a:extLst>
          </p:cNvPr>
          <p:cNvPicPr>
            <a:picLocks noChangeAspect="1"/>
          </p:cNvPicPr>
          <p:nvPr/>
        </p:nvPicPr>
        <p:blipFill>
          <a:blip r:embed="rId5"/>
          <a:stretch>
            <a:fillRect/>
          </a:stretch>
        </p:blipFill>
        <p:spPr>
          <a:xfrm>
            <a:off x="6817788" y="4403190"/>
            <a:ext cx="4013200" cy="1104900"/>
          </a:xfrm>
          <a:prstGeom prst="rect">
            <a:avLst/>
          </a:prstGeom>
        </p:spPr>
      </p:pic>
      <p:graphicFrame>
        <p:nvGraphicFramePr>
          <p:cNvPr id="8" name="Table 7">
            <a:extLst>
              <a:ext uri="{FF2B5EF4-FFF2-40B4-BE49-F238E27FC236}">
                <a16:creationId xmlns:a16="http://schemas.microsoft.com/office/drawing/2014/main" id="{622E57C3-BA4A-F549-AE03-EFE7EEB7D874}"/>
              </a:ext>
            </a:extLst>
          </p:cNvPr>
          <p:cNvGraphicFramePr>
            <a:graphicFrameLocks noGrp="1"/>
          </p:cNvGraphicFramePr>
          <p:nvPr>
            <p:extLst>
              <p:ext uri="{D42A27DB-BD31-4B8C-83A1-F6EECF244321}">
                <p14:modId xmlns:p14="http://schemas.microsoft.com/office/powerpoint/2010/main" val="3350938493"/>
              </p:ext>
            </p:extLst>
          </p:nvPr>
        </p:nvGraphicFramePr>
        <p:xfrm>
          <a:off x="1406781" y="2799470"/>
          <a:ext cx="3657540" cy="3319977"/>
        </p:xfrm>
        <a:graphic>
          <a:graphicData uri="http://schemas.openxmlformats.org/drawingml/2006/table">
            <a:tbl>
              <a:tblPr>
                <a:tableStyleId>{5C22544A-7EE6-4342-B048-85BDC9FD1C3A}</a:tableStyleId>
              </a:tblPr>
              <a:tblGrid>
                <a:gridCol w="1219180">
                  <a:extLst>
                    <a:ext uri="{9D8B030D-6E8A-4147-A177-3AD203B41FA5}">
                      <a16:colId xmlns:a16="http://schemas.microsoft.com/office/drawing/2014/main" val="313366648"/>
                    </a:ext>
                  </a:extLst>
                </a:gridCol>
                <a:gridCol w="1219180">
                  <a:extLst>
                    <a:ext uri="{9D8B030D-6E8A-4147-A177-3AD203B41FA5}">
                      <a16:colId xmlns:a16="http://schemas.microsoft.com/office/drawing/2014/main" val="1244544744"/>
                    </a:ext>
                  </a:extLst>
                </a:gridCol>
                <a:gridCol w="1219180">
                  <a:extLst>
                    <a:ext uri="{9D8B030D-6E8A-4147-A177-3AD203B41FA5}">
                      <a16:colId xmlns:a16="http://schemas.microsoft.com/office/drawing/2014/main" val="2814806069"/>
                    </a:ext>
                  </a:extLst>
                </a:gridCol>
              </a:tblGrid>
              <a:tr h="468776">
                <a:tc>
                  <a:txBody>
                    <a:bodyPr/>
                    <a:lstStyle/>
                    <a:p>
                      <a:pPr algn="ctr" fontAlgn="b"/>
                      <a:r>
                        <a:rPr lang="en-CA" sz="1400" b="1" u="none" strike="noStrike" dirty="0">
                          <a:effectLst/>
                        </a:rPr>
                        <a:t>Diastolic BP</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Systolic BP</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Mean BP</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33567437"/>
                  </a:ext>
                </a:extLst>
              </a:tr>
              <a:tr h="468776">
                <a:tc>
                  <a:txBody>
                    <a:bodyPr/>
                    <a:lstStyle/>
                    <a:p>
                      <a:pPr algn="ctr" fontAlgn="b"/>
                      <a:r>
                        <a:rPr lang="en-CA" sz="1400" u="none" strike="noStrike">
                          <a:effectLst/>
                        </a:rPr>
                        <a:t>78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126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63665269"/>
                  </a:ext>
                </a:extLst>
              </a:tr>
              <a:tr h="468776">
                <a:tc>
                  <a:txBody>
                    <a:bodyPr/>
                    <a:lstStyle/>
                    <a:p>
                      <a:pPr algn="ctr" fontAlgn="b"/>
                      <a:r>
                        <a:rPr lang="en-CA" sz="1400" u="none" strike="noStrike">
                          <a:effectLst/>
                        </a:rPr>
                        <a:t>80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128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104</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68508801"/>
                  </a:ext>
                </a:extLst>
              </a:tr>
              <a:tr h="507321">
                <a:tc>
                  <a:txBody>
                    <a:bodyPr/>
                    <a:lstStyle/>
                    <a:p>
                      <a:pPr algn="ctr" fontAlgn="b"/>
                      <a:r>
                        <a:rPr lang="en-CA" sz="1400" u="none" strike="noStrike">
                          <a:effectLst/>
                        </a:rPr>
                        <a:t>81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127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104</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77867052"/>
                  </a:ext>
                </a:extLst>
              </a:tr>
              <a:tr h="468776">
                <a:tc>
                  <a:txBody>
                    <a:bodyPr/>
                    <a:lstStyle/>
                    <a:p>
                      <a:pPr algn="ctr" fontAlgn="b"/>
                      <a:r>
                        <a:rPr lang="en-CA" sz="1400" u="none" strike="noStrike">
                          <a:effectLst/>
                        </a:rPr>
                        <a:t>82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106</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26010148"/>
                  </a:ext>
                </a:extLst>
              </a:tr>
              <a:tr h="468776">
                <a:tc>
                  <a:txBody>
                    <a:bodyPr/>
                    <a:lstStyle/>
                    <a:p>
                      <a:pPr algn="ctr" fontAlgn="b"/>
                      <a:r>
                        <a:rPr lang="en-CA" sz="1400" u="none" strike="noStrike">
                          <a:effectLst/>
                        </a:rPr>
                        <a:t>84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107</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48362103"/>
                  </a:ext>
                </a:extLst>
              </a:tr>
              <a:tr h="468776">
                <a:tc>
                  <a:txBody>
                    <a:bodyPr/>
                    <a:lstStyle/>
                    <a:p>
                      <a:pPr algn="ctr" fontAlgn="b"/>
                      <a:r>
                        <a:rPr lang="en-CA" sz="1400" u="none" strike="noStrike">
                          <a:effectLst/>
                        </a:rPr>
                        <a:t>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109</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08986318"/>
                  </a:ext>
                </a:extLst>
              </a:tr>
            </a:tbl>
          </a:graphicData>
        </a:graphic>
      </p:graphicFrame>
    </p:spTree>
    <p:extLst>
      <p:ext uri="{BB962C8B-B14F-4D97-AF65-F5344CB8AC3E}">
        <p14:creationId xmlns:p14="http://schemas.microsoft.com/office/powerpoint/2010/main" val="38523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Combining variables</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4" name="Picture 3" descr="Text&#10;&#10;Description automatically generated with medium confidence">
            <a:extLst>
              <a:ext uri="{FF2B5EF4-FFF2-40B4-BE49-F238E27FC236}">
                <a16:creationId xmlns:a16="http://schemas.microsoft.com/office/drawing/2014/main" id="{0DE81CCB-E6F0-1B47-9F1F-0675C993DCB5}"/>
              </a:ext>
            </a:extLst>
          </p:cNvPr>
          <p:cNvPicPr>
            <a:picLocks noChangeAspect="1"/>
          </p:cNvPicPr>
          <p:nvPr/>
        </p:nvPicPr>
        <p:blipFill>
          <a:blip r:embed="rId3"/>
          <a:stretch>
            <a:fillRect/>
          </a:stretch>
        </p:blipFill>
        <p:spPr>
          <a:xfrm>
            <a:off x="6821756" y="2641698"/>
            <a:ext cx="4203700" cy="596900"/>
          </a:xfrm>
          <a:prstGeom prst="rect">
            <a:avLst/>
          </a:prstGeom>
        </p:spPr>
      </p:pic>
      <p:graphicFrame>
        <p:nvGraphicFramePr>
          <p:cNvPr id="3" name="Table 2">
            <a:extLst>
              <a:ext uri="{FF2B5EF4-FFF2-40B4-BE49-F238E27FC236}">
                <a16:creationId xmlns:a16="http://schemas.microsoft.com/office/drawing/2014/main" id="{583F6562-9406-2A4A-86C7-EEEDCEFD6DD0}"/>
              </a:ext>
            </a:extLst>
          </p:cNvPr>
          <p:cNvGraphicFramePr>
            <a:graphicFrameLocks noGrp="1"/>
          </p:cNvGraphicFramePr>
          <p:nvPr>
            <p:extLst>
              <p:ext uri="{D42A27DB-BD31-4B8C-83A1-F6EECF244321}">
                <p14:modId xmlns:p14="http://schemas.microsoft.com/office/powerpoint/2010/main" val="2248397662"/>
              </p:ext>
            </p:extLst>
          </p:nvPr>
        </p:nvGraphicFramePr>
        <p:xfrm>
          <a:off x="1055087" y="2841674"/>
          <a:ext cx="3840439" cy="2970441"/>
        </p:xfrm>
        <a:graphic>
          <a:graphicData uri="http://schemas.openxmlformats.org/drawingml/2006/table">
            <a:tbl>
              <a:tblPr>
                <a:tableStyleId>{5C22544A-7EE6-4342-B048-85BDC9FD1C3A}</a:tableStyleId>
              </a:tblPr>
              <a:tblGrid>
                <a:gridCol w="900322">
                  <a:extLst>
                    <a:ext uri="{9D8B030D-6E8A-4147-A177-3AD203B41FA5}">
                      <a16:colId xmlns:a16="http://schemas.microsoft.com/office/drawing/2014/main" val="3065689365"/>
                    </a:ext>
                  </a:extLst>
                </a:gridCol>
                <a:gridCol w="928239">
                  <a:extLst>
                    <a:ext uri="{9D8B030D-6E8A-4147-A177-3AD203B41FA5}">
                      <a16:colId xmlns:a16="http://schemas.microsoft.com/office/drawing/2014/main" val="2052622113"/>
                    </a:ext>
                  </a:extLst>
                </a:gridCol>
                <a:gridCol w="1005939">
                  <a:extLst>
                    <a:ext uri="{9D8B030D-6E8A-4147-A177-3AD203B41FA5}">
                      <a16:colId xmlns:a16="http://schemas.microsoft.com/office/drawing/2014/main" val="1962859749"/>
                    </a:ext>
                  </a:extLst>
                </a:gridCol>
                <a:gridCol w="1005939">
                  <a:extLst>
                    <a:ext uri="{9D8B030D-6E8A-4147-A177-3AD203B41FA5}">
                      <a16:colId xmlns:a16="http://schemas.microsoft.com/office/drawing/2014/main" val="646335273"/>
                    </a:ext>
                  </a:extLst>
                </a:gridCol>
              </a:tblGrid>
              <a:tr h="438321">
                <a:tc>
                  <a:txBody>
                    <a:bodyPr/>
                    <a:lstStyle/>
                    <a:p>
                      <a:pPr algn="l" fontAlgn="b"/>
                      <a:r>
                        <a:rPr lang="en-CA" sz="1400" b="1" u="none" strike="noStrike">
                          <a:effectLst/>
                        </a:rPr>
                        <a:t>Diastolic BP</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Systolic BP</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Mean BP</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Sum BP</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57621060"/>
                  </a:ext>
                </a:extLst>
              </a:tr>
              <a:tr h="422020">
                <a:tc>
                  <a:txBody>
                    <a:bodyPr/>
                    <a:lstStyle/>
                    <a:p>
                      <a:pPr algn="ctr" fontAlgn="b"/>
                      <a:r>
                        <a:rPr lang="en-CA" sz="1400" u="none" strike="noStrike">
                          <a:effectLst/>
                        </a:rPr>
                        <a:t>78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126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204</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04984664"/>
                  </a:ext>
                </a:extLst>
              </a:tr>
              <a:tr h="422020">
                <a:tc>
                  <a:txBody>
                    <a:bodyPr/>
                    <a:lstStyle/>
                    <a:p>
                      <a:pPr algn="ctr" fontAlgn="b"/>
                      <a:r>
                        <a:rPr lang="en-CA" sz="1400" u="none" strike="noStrike">
                          <a:effectLst/>
                        </a:rPr>
                        <a:t>80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128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208</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95554182"/>
                  </a:ext>
                </a:extLst>
              </a:tr>
              <a:tr h="422020">
                <a:tc>
                  <a:txBody>
                    <a:bodyPr/>
                    <a:lstStyle/>
                    <a:p>
                      <a:pPr algn="ctr" fontAlgn="b"/>
                      <a:r>
                        <a:rPr lang="en-CA" sz="1400" u="none" strike="noStrike">
                          <a:effectLst/>
                        </a:rPr>
                        <a:t>81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127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208</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3878339"/>
                  </a:ext>
                </a:extLst>
              </a:tr>
              <a:tr h="422020">
                <a:tc>
                  <a:txBody>
                    <a:bodyPr/>
                    <a:lstStyle/>
                    <a:p>
                      <a:pPr algn="ctr" fontAlgn="b"/>
                      <a:r>
                        <a:rPr lang="en-CA" sz="1400" u="none" strike="noStrike">
                          <a:effectLst/>
                        </a:rPr>
                        <a:t>82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212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78291175"/>
                  </a:ext>
                </a:extLst>
              </a:tr>
              <a:tr h="422020">
                <a:tc>
                  <a:txBody>
                    <a:bodyPr/>
                    <a:lstStyle/>
                    <a:p>
                      <a:pPr algn="ctr" fontAlgn="b"/>
                      <a:r>
                        <a:rPr lang="en-CA" sz="1400" u="none" strike="noStrike">
                          <a:effectLst/>
                        </a:rPr>
                        <a:t>84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214</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53118815"/>
                  </a:ext>
                </a:extLst>
              </a:tr>
              <a:tr h="422020">
                <a:tc>
                  <a:txBody>
                    <a:bodyPr/>
                    <a:lstStyle/>
                    <a:p>
                      <a:pPr algn="ctr" fontAlgn="b"/>
                      <a:r>
                        <a:rPr lang="en-CA" sz="1400" u="none" strike="noStrike">
                          <a:effectLst/>
                        </a:rPr>
                        <a:t>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109</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218</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31134489"/>
                  </a:ext>
                </a:extLst>
              </a:tr>
            </a:tbl>
          </a:graphicData>
        </a:graphic>
      </p:graphicFrame>
      <p:pic>
        <p:nvPicPr>
          <p:cNvPr id="10" name="Picture 9">
            <a:extLst>
              <a:ext uri="{FF2B5EF4-FFF2-40B4-BE49-F238E27FC236}">
                <a16:creationId xmlns:a16="http://schemas.microsoft.com/office/drawing/2014/main" id="{8E345EEA-17DA-5C42-B6B4-1919FCF5F65B}"/>
              </a:ext>
            </a:extLst>
          </p:cNvPr>
          <p:cNvPicPr>
            <a:picLocks noChangeAspect="1"/>
          </p:cNvPicPr>
          <p:nvPr/>
        </p:nvPicPr>
        <p:blipFill>
          <a:blip r:embed="rId4"/>
          <a:stretch>
            <a:fillRect/>
          </a:stretch>
        </p:blipFill>
        <p:spPr>
          <a:xfrm>
            <a:off x="6821757" y="3546019"/>
            <a:ext cx="4203685" cy="422506"/>
          </a:xfrm>
          <a:prstGeom prst="rect">
            <a:avLst/>
          </a:prstGeom>
        </p:spPr>
      </p:pic>
      <p:sp>
        <p:nvSpPr>
          <p:cNvPr id="12" name="TextBox 11">
            <a:extLst>
              <a:ext uri="{FF2B5EF4-FFF2-40B4-BE49-F238E27FC236}">
                <a16:creationId xmlns:a16="http://schemas.microsoft.com/office/drawing/2014/main" id="{2E74089E-A8CE-F94F-B2D4-B260C7E66E78}"/>
              </a:ext>
            </a:extLst>
          </p:cNvPr>
          <p:cNvSpPr txBox="1"/>
          <p:nvPr/>
        </p:nvSpPr>
        <p:spPr>
          <a:xfrm>
            <a:off x="6821756" y="4557713"/>
            <a:ext cx="5013920" cy="1200329"/>
          </a:xfrm>
          <a:prstGeom prst="rect">
            <a:avLst/>
          </a:prstGeom>
          <a:noFill/>
        </p:spPr>
        <p:txBody>
          <a:bodyPr wrap="square" rtlCol="0">
            <a:spAutoFit/>
          </a:bodyPr>
          <a:lstStyle/>
          <a:p>
            <a:r>
              <a:rPr lang="en-US" sz="2400" b="1" dirty="0"/>
              <a:t>Conclusion</a:t>
            </a:r>
            <a:r>
              <a:rPr lang="en-US" sz="2400" dirty="0"/>
              <a:t>: The difference between two methods is the values used for the weights.</a:t>
            </a:r>
          </a:p>
        </p:txBody>
      </p:sp>
    </p:spTree>
    <p:extLst>
      <p:ext uri="{BB962C8B-B14F-4D97-AF65-F5344CB8AC3E}">
        <p14:creationId xmlns:p14="http://schemas.microsoft.com/office/powerpoint/2010/main" val="664802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662795" y="-3745097"/>
            <a:ext cx="1354979" cy="10750169"/>
          </a:xfrm>
          <a:prstGeom prst="downArrow">
            <a:avLst>
              <a:gd name="adj1" fmla="val 100000"/>
              <a:gd name="adj2" fmla="val 22582"/>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D49C0F-F924-2F4B-837F-BC01AC7B0563}"/>
              </a:ext>
            </a:extLst>
          </p:cNvPr>
          <p:cNvSpPr>
            <a:spLocks noGrp="1"/>
          </p:cNvSpPr>
          <p:nvPr>
            <p:ph type="title"/>
          </p:nvPr>
        </p:nvSpPr>
        <p:spPr>
          <a:xfrm>
            <a:off x="1203403" y="1153191"/>
            <a:ext cx="10023398" cy="857894"/>
          </a:xfrm>
        </p:spPr>
        <p:txBody>
          <a:bodyPr vert="horz" lIns="91440" tIns="45720" rIns="91440" bIns="45720" rtlCol="0" anchor="ctr">
            <a:normAutofit/>
          </a:bodyPr>
          <a:lstStyle/>
          <a:p>
            <a:r>
              <a:rPr lang="en-US" sz="4000" b="1" kern="1200">
                <a:solidFill>
                  <a:srgbClr val="FFFFFF"/>
                </a:solidFill>
                <a:latin typeface="+mj-lt"/>
                <a:ea typeface="+mj-ea"/>
                <a:cs typeface="+mj-cs"/>
              </a:rPr>
              <a:t>PCA</a:t>
            </a:r>
          </a:p>
        </p:txBody>
      </p:sp>
      <p:sp>
        <p:nvSpPr>
          <p:cNvPr id="4" name="TextBox 3">
            <a:extLst>
              <a:ext uri="{FF2B5EF4-FFF2-40B4-BE49-F238E27FC236}">
                <a16:creationId xmlns:a16="http://schemas.microsoft.com/office/drawing/2014/main" id="{45522133-6232-0E46-973C-306E6BD33631}"/>
              </a:ext>
            </a:extLst>
          </p:cNvPr>
          <p:cNvSpPr txBox="1"/>
          <p:nvPr/>
        </p:nvSpPr>
        <p:spPr>
          <a:xfrm>
            <a:off x="1286930" y="2644726"/>
            <a:ext cx="10257369" cy="3137737"/>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dirty="0"/>
              <a:t>Principal component analysis (PCA) is a method to find the linear combination that accounts for as much variability as possible</a:t>
            </a:r>
          </a:p>
        </p:txBody>
      </p:sp>
      <p:pic>
        <p:nvPicPr>
          <p:cNvPr id="5" name="Picture 4" descr="Text&#10;&#10;Description automatically generated with medium confidence">
            <a:extLst>
              <a:ext uri="{FF2B5EF4-FFF2-40B4-BE49-F238E27FC236}">
                <a16:creationId xmlns:a16="http://schemas.microsoft.com/office/drawing/2014/main" id="{E9452573-F609-EC4B-9B47-488F18AFF245}"/>
              </a:ext>
            </a:extLst>
          </p:cNvPr>
          <p:cNvPicPr>
            <a:picLocks noChangeAspect="1"/>
          </p:cNvPicPr>
          <p:nvPr/>
        </p:nvPicPr>
        <p:blipFill>
          <a:blip r:embed="rId3"/>
          <a:stretch>
            <a:fillRect/>
          </a:stretch>
        </p:blipFill>
        <p:spPr>
          <a:xfrm>
            <a:off x="3069765" y="3652785"/>
            <a:ext cx="5961693" cy="849541"/>
          </a:xfrm>
          <a:prstGeom prst="rect">
            <a:avLst/>
          </a:prstGeom>
        </p:spPr>
      </p:pic>
      <p:sp>
        <p:nvSpPr>
          <p:cNvPr id="6" name="TextBox 5">
            <a:extLst>
              <a:ext uri="{FF2B5EF4-FFF2-40B4-BE49-F238E27FC236}">
                <a16:creationId xmlns:a16="http://schemas.microsoft.com/office/drawing/2014/main" id="{1E3726A4-86E8-2D45-A03F-335F83AC9831}"/>
              </a:ext>
            </a:extLst>
          </p:cNvPr>
          <p:cNvSpPr txBox="1"/>
          <p:nvPr/>
        </p:nvSpPr>
        <p:spPr>
          <a:xfrm>
            <a:off x="5209632" y="4726896"/>
            <a:ext cx="2485395" cy="461665"/>
          </a:xfrm>
          <a:prstGeom prst="rect">
            <a:avLst/>
          </a:prstGeom>
          <a:noFill/>
        </p:spPr>
        <p:txBody>
          <a:bodyPr wrap="square" rtlCol="0">
            <a:spAutoFit/>
          </a:bodyPr>
          <a:lstStyle/>
          <a:p>
            <a:r>
              <a:rPr lang="en-US" sz="2400" dirty="0"/>
              <a:t>Constraint:</a:t>
            </a:r>
          </a:p>
        </p:txBody>
      </p:sp>
      <p:sp>
        <p:nvSpPr>
          <p:cNvPr id="7" name="TextBox 6">
            <a:extLst>
              <a:ext uri="{FF2B5EF4-FFF2-40B4-BE49-F238E27FC236}">
                <a16:creationId xmlns:a16="http://schemas.microsoft.com/office/drawing/2014/main" id="{EDC61236-7B3B-8241-A280-0990E35EE7BF}"/>
              </a:ext>
            </a:extLst>
          </p:cNvPr>
          <p:cNvSpPr txBox="1"/>
          <p:nvPr/>
        </p:nvSpPr>
        <p:spPr>
          <a:xfrm>
            <a:off x="4656406" y="6091311"/>
            <a:ext cx="184731" cy="369332"/>
          </a:xfrm>
          <a:prstGeom prst="rect">
            <a:avLst/>
          </a:prstGeom>
          <a:noFill/>
        </p:spPr>
        <p:txBody>
          <a:bodyPr wrap="none" rtlCol="0">
            <a:spAutoFit/>
          </a:bodyPr>
          <a:lstStyle/>
          <a:p>
            <a:endParaRPr lang="en-US" dirty="0"/>
          </a:p>
        </p:txBody>
      </p:sp>
      <p:pic>
        <p:nvPicPr>
          <p:cNvPr id="11" name="Picture 10" descr="Chart, scatter chart&#10;&#10;Description automatically generated">
            <a:extLst>
              <a:ext uri="{FF2B5EF4-FFF2-40B4-BE49-F238E27FC236}">
                <a16:creationId xmlns:a16="http://schemas.microsoft.com/office/drawing/2014/main" id="{F7952D72-17F0-9547-AB8F-E46520C53E7C}"/>
              </a:ext>
            </a:extLst>
          </p:cNvPr>
          <p:cNvPicPr>
            <a:picLocks noChangeAspect="1"/>
          </p:cNvPicPr>
          <p:nvPr/>
        </p:nvPicPr>
        <p:blipFill>
          <a:blip r:embed="rId4"/>
          <a:stretch>
            <a:fillRect/>
          </a:stretch>
        </p:blipFill>
        <p:spPr>
          <a:xfrm>
            <a:off x="3707805" y="5413131"/>
            <a:ext cx="4776389" cy="863528"/>
          </a:xfrm>
          <a:prstGeom prst="rect">
            <a:avLst/>
          </a:prstGeom>
        </p:spPr>
      </p:pic>
    </p:spTree>
    <p:extLst>
      <p:ext uri="{BB962C8B-B14F-4D97-AF65-F5344CB8AC3E}">
        <p14:creationId xmlns:p14="http://schemas.microsoft.com/office/powerpoint/2010/main" val="3587351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662795" y="-3745097"/>
            <a:ext cx="1354979" cy="10750169"/>
          </a:xfrm>
          <a:prstGeom prst="downArrow">
            <a:avLst>
              <a:gd name="adj1" fmla="val 100000"/>
              <a:gd name="adj2" fmla="val 22582"/>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D49C0F-F924-2F4B-837F-BC01AC7B0563}"/>
              </a:ext>
            </a:extLst>
          </p:cNvPr>
          <p:cNvSpPr>
            <a:spLocks noGrp="1"/>
          </p:cNvSpPr>
          <p:nvPr>
            <p:ph type="title"/>
          </p:nvPr>
        </p:nvSpPr>
        <p:spPr>
          <a:xfrm>
            <a:off x="1203403" y="1153191"/>
            <a:ext cx="10023398" cy="857894"/>
          </a:xfrm>
        </p:spPr>
        <p:txBody>
          <a:bodyPr vert="horz" lIns="91440" tIns="45720" rIns="91440" bIns="45720" rtlCol="0" anchor="ctr">
            <a:normAutofit/>
          </a:bodyPr>
          <a:lstStyle/>
          <a:p>
            <a:r>
              <a:rPr lang="en-US" sz="4000" b="1" kern="1200" dirty="0">
                <a:solidFill>
                  <a:srgbClr val="FFFFFF"/>
                </a:solidFill>
                <a:latin typeface="+mj-lt"/>
                <a:ea typeface="+mj-ea"/>
                <a:cs typeface="+mj-cs"/>
              </a:rPr>
              <a:t>PCA</a:t>
            </a:r>
          </a:p>
        </p:txBody>
      </p:sp>
      <p:sp>
        <p:nvSpPr>
          <p:cNvPr id="4" name="TextBox 3">
            <a:extLst>
              <a:ext uri="{FF2B5EF4-FFF2-40B4-BE49-F238E27FC236}">
                <a16:creationId xmlns:a16="http://schemas.microsoft.com/office/drawing/2014/main" id="{45522133-6232-0E46-973C-306E6BD33631}"/>
              </a:ext>
            </a:extLst>
          </p:cNvPr>
          <p:cNvSpPr txBox="1"/>
          <p:nvPr/>
        </p:nvSpPr>
        <p:spPr>
          <a:xfrm>
            <a:off x="1286930" y="2644726"/>
            <a:ext cx="10257369" cy="3137737"/>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2400" dirty="0"/>
          </a:p>
        </p:txBody>
      </p:sp>
      <p:pic>
        <p:nvPicPr>
          <p:cNvPr id="5" name="Picture 4" descr="Text&#10;&#10;Description automatically generated with medium confidence">
            <a:extLst>
              <a:ext uri="{FF2B5EF4-FFF2-40B4-BE49-F238E27FC236}">
                <a16:creationId xmlns:a16="http://schemas.microsoft.com/office/drawing/2014/main" id="{E9452573-F609-EC4B-9B47-488F18AFF245}"/>
              </a:ext>
            </a:extLst>
          </p:cNvPr>
          <p:cNvPicPr>
            <a:picLocks noChangeAspect="1"/>
          </p:cNvPicPr>
          <p:nvPr/>
        </p:nvPicPr>
        <p:blipFill>
          <a:blip r:embed="rId3"/>
          <a:stretch>
            <a:fillRect/>
          </a:stretch>
        </p:blipFill>
        <p:spPr>
          <a:xfrm>
            <a:off x="3066079" y="2737238"/>
            <a:ext cx="6059840" cy="863527"/>
          </a:xfrm>
          <a:prstGeom prst="rect">
            <a:avLst/>
          </a:prstGeom>
        </p:spPr>
      </p:pic>
      <p:sp>
        <p:nvSpPr>
          <p:cNvPr id="6" name="TextBox 5">
            <a:extLst>
              <a:ext uri="{FF2B5EF4-FFF2-40B4-BE49-F238E27FC236}">
                <a16:creationId xmlns:a16="http://schemas.microsoft.com/office/drawing/2014/main" id="{1E3726A4-86E8-2D45-A03F-335F83AC9831}"/>
              </a:ext>
            </a:extLst>
          </p:cNvPr>
          <p:cNvSpPr txBox="1"/>
          <p:nvPr/>
        </p:nvSpPr>
        <p:spPr>
          <a:xfrm>
            <a:off x="5114926" y="3938014"/>
            <a:ext cx="2580102" cy="461665"/>
          </a:xfrm>
          <a:prstGeom prst="rect">
            <a:avLst/>
          </a:prstGeom>
          <a:noFill/>
        </p:spPr>
        <p:txBody>
          <a:bodyPr wrap="square" rtlCol="0">
            <a:spAutoFit/>
          </a:bodyPr>
          <a:lstStyle/>
          <a:p>
            <a:r>
              <a:rPr lang="en-US" sz="2400" dirty="0"/>
              <a:t>Constraint:</a:t>
            </a:r>
          </a:p>
        </p:txBody>
      </p:sp>
      <p:sp>
        <p:nvSpPr>
          <p:cNvPr id="7" name="TextBox 6">
            <a:extLst>
              <a:ext uri="{FF2B5EF4-FFF2-40B4-BE49-F238E27FC236}">
                <a16:creationId xmlns:a16="http://schemas.microsoft.com/office/drawing/2014/main" id="{EDC61236-7B3B-8241-A280-0990E35EE7BF}"/>
              </a:ext>
            </a:extLst>
          </p:cNvPr>
          <p:cNvSpPr txBox="1"/>
          <p:nvPr/>
        </p:nvSpPr>
        <p:spPr>
          <a:xfrm>
            <a:off x="4656406" y="6091311"/>
            <a:ext cx="184731" cy="369332"/>
          </a:xfrm>
          <a:prstGeom prst="rect">
            <a:avLst/>
          </a:prstGeom>
          <a:noFill/>
        </p:spPr>
        <p:txBody>
          <a:bodyPr wrap="none" rtlCol="0">
            <a:spAutoFit/>
          </a:bodyPr>
          <a:lstStyle/>
          <a:p>
            <a:endParaRPr lang="en-US" dirty="0"/>
          </a:p>
        </p:txBody>
      </p:sp>
      <p:pic>
        <p:nvPicPr>
          <p:cNvPr id="8" name="Picture 7" descr="A picture containing text&#10;&#10;Description automatically generated">
            <a:extLst>
              <a:ext uri="{FF2B5EF4-FFF2-40B4-BE49-F238E27FC236}">
                <a16:creationId xmlns:a16="http://schemas.microsoft.com/office/drawing/2014/main" id="{8602381E-43FA-B74E-B5FA-EAD481A0CD66}"/>
              </a:ext>
            </a:extLst>
          </p:cNvPr>
          <p:cNvPicPr>
            <a:picLocks noChangeAspect="1"/>
          </p:cNvPicPr>
          <p:nvPr/>
        </p:nvPicPr>
        <p:blipFill>
          <a:blip r:embed="rId4"/>
          <a:stretch>
            <a:fillRect/>
          </a:stretch>
        </p:blipFill>
        <p:spPr>
          <a:xfrm>
            <a:off x="4656406" y="4736927"/>
            <a:ext cx="2552700" cy="762000"/>
          </a:xfrm>
          <a:prstGeom prst="rect">
            <a:avLst/>
          </a:prstGeom>
        </p:spPr>
      </p:pic>
    </p:spTree>
    <p:extLst>
      <p:ext uri="{BB962C8B-B14F-4D97-AF65-F5344CB8AC3E}">
        <p14:creationId xmlns:p14="http://schemas.microsoft.com/office/powerpoint/2010/main" val="1574082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48F2B7A-4703-0146-A745-480DDA28EB16}"/>
              </a:ext>
            </a:extLst>
          </p:cNvPr>
          <p:cNvSpPr txBox="1"/>
          <p:nvPr/>
        </p:nvSpPr>
        <p:spPr>
          <a:xfrm>
            <a:off x="6406469" y="2793365"/>
            <a:ext cx="4144298" cy="461666"/>
          </a:xfrm>
          <a:prstGeom prst="rect">
            <a:avLst/>
          </a:prstGeom>
          <a:noFill/>
        </p:spPr>
        <p:txBody>
          <a:bodyPr wrap="square">
            <a:spAutoFit/>
          </a:bodyPr>
          <a:lstStyle/>
          <a:p>
            <a:r>
              <a:rPr lang="en-US" sz="2400" dirty="0"/>
              <a:t>BP = 0.8 DBP + 0.6 SBP</a:t>
            </a:r>
          </a:p>
        </p:txBody>
      </p:sp>
      <p:graphicFrame>
        <p:nvGraphicFramePr>
          <p:cNvPr id="13" name="Table 12">
            <a:extLst>
              <a:ext uri="{FF2B5EF4-FFF2-40B4-BE49-F238E27FC236}">
                <a16:creationId xmlns:a16="http://schemas.microsoft.com/office/drawing/2014/main" id="{552434EE-5222-E142-91F3-260C4908BF87}"/>
              </a:ext>
            </a:extLst>
          </p:cNvPr>
          <p:cNvGraphicFramePr>
            <a:graphicFrameLocks noGrp="1"/>
          </p:cNvGraphicFramePr>
          <p:nvPr>
            <p:extLst>
              <p:ext uri="{D42A27DB-BD31-4B8C-83A1-F6EECF244321}">
                <p14:modId xmlns:p14="http://schemas.microsoft.com/office/powerpoint/2010/main" val="2049686775"/>
              </p:ext>
            </p:extLst>
          </p:nvPr>
        </p:nvGraphicFramePr>
        <p:xfrm>
          <a:off x="1012878" y="2793364"/>
          <a:ext cx="3812319" cy="3072864"/>
        </p:xfrm>
        <a:graphic>
          <a:graphicData uri="http://schemas.openxmlformats.org/drawingml/2006/table">
            <a:tbl>
              <a:tblPr>
                <a:tableStyleId>{5C22544A-7EE6-4342-B048-85BDC9FD1C3A}</a:tableStyleId>
              </a:tblPr>
              <a:tblGrid>
                <a:gridCol w="1270773">
                  <a:extLst>
                    <a:ext uri="{9D8B030D-6E8A-4147-A177-3AD203B41FA5}">
                      <a16:colId xmlns:a16="http://schemas.microsoft.com/office/drawing/2014/main" val="4050026162"/>
                    </a:ext>
                  </a:extLst>
                </a:gridCol>
                <a:gridCol w="1270773">
                  <a:extLst>
                    <a:ext uri="{9D8B030D-6E8A-4147-A177-3AD203B41FA5}">
                      <a16:colId xmlns:a16="http://schemas.microsoft.com/office/drawing/2014/main" val="1274084034"/>
                    </a:ext>
                  </a:extLst>
                </a:gridCol>
                <a:gridCol w="1270773">
                  <a:extLst>
                    <a:ext uri="{9D8B030D-6E8A-4147-A177-3AD203B41FA5}">
                      <a16:colId xmlns:a16="http://schemas.microsoft.com/office/drawing/2014/main" val="3249288711"/>
                    </a:ext>
                  </a:extLst>
                </a:gridCol>
              </a:tblGrid>
              <a:tr h="384108">
                <a:tc>
                  <a:txBody>
                    <a:bodyPr/>
                    <a:lstStyle/>
                    <a:p>
                      <a:pPr algn="ctr" fontAlgn="b"/>
                      <a:r>
                        <a:rPr lang="en-CA" sz="1600" b="1" u="none" strike="noStrike" dirty="0">
                          <a:effectLst/>
                        </a:rPr>
                        <a:t>Diastolic 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Systolic 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 BP</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77162869"/>
                  </a:ext>
                </a:extLst>
              </a:tr>
              <a:tr h="384108">
                <a:tc>
                  <a:txBody>
                    <a:bodyPr/>
                    <a:lstStyle/>
                    <a:p>
                      <a:pPr algn="ctr" fontAlgn="b"/>
                      <a:r>
                        <a:rPr lang="en-CA" sz="1600" u="none" strike="noStrike" dirty="0">
                          <a:effectLst/>
                        </a:rPr>
                        <a:t>78</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126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138</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29385854"/>
                  </a:ext>
                </a:extLst>
              </a:tr>
              <a:tr h="384108">
                <a:tc>
                  <a:txBody>
                    <a:bodyPr/>
                    <a:lstStyle/>
                    <a:p>
                      <a:pPr algn="ctr" fontAlgn="b"/>
                      <a:r>
                        <a:rPr lang="en-CA" sz="1600" u="none" strike="noStrike">
                          <a:effectLst/>
                        </a:rPr>
                        <a:t>80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128</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140.8</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98346900"/>
                  </a:ext>
                </a:extLst>
              </a:tr>
              <a:tr h="384108">
                <a:tc>
                  <a:txBody>
                    <a:bodyPr/>
                    <a:lstStyle/>
                    <a:p>
                      <a:pPr algn="ctr" fontAlgn="b"/>
                      <a:r>
                        <a:rPr lang="en-CA" sz="1600" u="none" strike="noStrike">
                          <a:effectLst/>
                        </a:rPr>
                        <a:t>81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127</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141</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24181707"/>
                  </a:ext>
                </a:extLst>
              </a:tr>
              <a:tr h="384108">
                <a:tc>
                  <a:txBody>
                    <a:bodyPr/>
                    <a:lstStyle/>
                    <a:p>
                      <a:pPr algn="ctr" fontAlgn="b"/>
                      <a:r>
                        <a:rPr lang="en-CA" sz="1600" u="none" strike="noStrike">
                          <a:effectLst/>
                        </a:rPr>
                        <a:t>82</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130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143.6</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69659332"/>
                  </a:ext>
                </a:extLst>
              </a:tr>
              <a:tr h="384108">
                <a:tc>
                  <a:txBody>
                    <a:bodyPr/>
                    <a:lstStyle/>
                    <a:p>
                      <a:pPr algn="ctr" fontAlgn="b"/>
                      <a:r>
                        <a:rPr lang="en-CA" sz="1600" u="none" strike="noStrike">
                          <a:effectLst/>
                        </a:rPr>
                        <a:t>84</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130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145.2</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36867167"/>
                  </a:ext>
                </a:extLst>
              </a:tr>
              <a:tr h="384108">
                <a:tc>
                  <a:txBody>
                    <a:bodyPr/>
                    <a:lstStyle/>
                    <a:p>
                      <a:pPr algn="ctr" fontAlgn="b"/>
                      <a:r>
                        <a:rPr lang="en-CA" sz="1600" u="none" strike="noStrike">
                          <a:effectLst/>
                        </a:rPr>
                        <a:t>86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132</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148</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74844227"/>
                  </a:ext>
                </a:extLst>
              </a:tr>
              <a:tr h="384108">
                <a:tc>
                  <a:txBody>
                    <a:bodyPr/>
                    <a:lstStyle/>
                    <a:p>
                      <a:pPr algn="ctr" fontAlgn="b"/>
                      <a:r>
                        <a:rPr lang="en-CA" sz="1600" u="none" strike="noStrike">
                          <a:effectLst/>
                        </a:rPr>
                        <a:t> </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Mean = </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142.8</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94158498"/>
                  </a:ext>
                </a:extLst>
              </a:tr>
            </a:tbl>
          </a:graphicData>
        </a:graphic>
      </p:graphicFrame>
      <p:pic>
        <p:nvPicPr>
          <p:cNvPr id="15" name="Picture 14">
            <a:extLst>
              <a:ext uri="{FF2B5EF4-FFF2-40B4-BE49-F238E27FC236}">
                <a16:creationId xmlns:a16="http://schemas.microsoft.com/office/drawing/2014/main" id="{B7A39434-2F5E-274A-BB2E-CF902E7251EE}"/>
              </a:ext>
            </a:extLst>
          </p:cNvPr>
          <p:cNvPicPr>
            <a:picLocks noChangeAspect="1"/>
          </p:cNvPicPr>
          <p:nvPr/>
        </p:nvPicPr>
        <p:blipFill>
          <a:blip r:embed="rId3"/>
          <a:stretch>
            <a:fillRect/>
          </a:stretch>
        </p:blipFill>
        <p:spPr>
          <a:xfrm>
            <a:off x="6406468" y="3832742"/>
            <a:ext cx="5680749" cy="477374"/>
          </a:xfrm>
          <a:prstGeom prst="rect">
            <a:avLst/>
          </a:prstGeom>
        </p:spPr>
      </p:pic>
    </p:spTree>
    <p:extLst>
      <p:ext uri="{BB962C8B-B14F-4D97-AF65-F5344CB8AC3E}">
        <p14:creationId xmlns:p14="http://schemas.microsoft.com/office/powerpoint/2010/main" val="2194874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5D552B66-826E-C348-A3A3-5A80089B3890}"/>
              </a:ext>
            </a:extLst>
          </p:cNvPr>
          <p:cNvGraphicFramePr>
            <a:graphicFrameLocks noGrp="1"/>
          </p:cNvGraphicFramePr>
          <p:nvPr>
            <p:extLst>
              <p:ext uri="{D42A27DB-BD31-4B8C-83A1-F6EECF244321}">
                <p14:modId xmlns:p14="http://schemas.microsoft.com/office/powerpoint/2010/main" val="550922138"/>
              </p:ext>
            </p:extLst>
          </p:nvPr>
        </p:nvGraphicFramePr>
        <p:xfrm>
          <a:off x="1125426" y="2855742"/>
          <a:ext cx="4185807" cy="2954214"/>
        </p:xfrm>
        <a:graphic>
          <a:graphicData uri="http://schemas.openxmlformats.org/drawingml/2006/table">
            <a:tbl>
              <a:tblPr>
                <a:tableStyleId>{5C22544A-7EE6-4342-B048-85BDC9FD1C3A}</a:tableStyleId>
              </a:tblPr>
              <a:tblGrid>
                <a:gridCol w="1395269">
                  <a:extLst>
                    <a:ext uri="{9D8B030D-6E8A-4147-A177-3AD203B41FA5}">
                      <a16:colId xmlns:a16="http://schemas.microsoft.com/office/drawing/2014/main" val="3265572873"/>
                    </a:ext>
                  </a:extLst>
                </a:gridCol>
                <a:gridCol w="1395269">
                  <a:extLst>
                    <a:ext uri="{9D8B030D-6E8A-4147-A177-3AD203B41FA5}">
                      <a16:colId xmlns:a16="http://schemas.microsoft.com/office/drawing/2014/main" val="2089826772"/>
                    </a:ext>
                  </a:extLst>
                </a:gridCol>
                <a:gridCol w="1395269">
                  <a:extLst>
                    <a:ext uri="{9D8B030D-6E8A-4147-A177-3AD203B41FA5}">
                      <a16:colId xmlns:a16="http://schemas.microsoft.com/office/drawing/2014/main" val="1830490229"/>
                    </a:ext>
                  </a:extLst>
                </a:gridCol>
              </a:tblGrid>
              <a:tr h="592962">
                <a:tc>
                  <a:txBody>
                    <a:bodyPr/>
                    <a:lstStyle/>
                    <a:p>
                      <a:pPr algn="ctr" fontAlgn="b"/>
                      <a:r>
                        <a:rPr lang="en-CA" sz="2000" b="1" u="none" strike="noStrike" dirty="0">
                          <a:effectLst/>
                        </a:rPr>
                        <a:t>Alpha1</a:t>
                      </a:r>
                      <a:endParaRPr lang="en-CA"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b="1" u="none" strike="noStrike">
                          <a:effectLst/>
                        </a:rPr>
                        <a:t>Alpha2</a:t>
                      </a:r>
                      <a:endParaRPr lang="en-CA" sz="2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b="1" u="none" strike="noStrike" dirty="0">
                          <a:effectLst/>
                        </a:rPr>
                        <a:t>var(Y)</a:t>
                      </a:r>
                      <a:endParaRPr lang="en-CA" sz="20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40921540"/>
                  </a:ext>
                </a:extLst>
              </a:tr>
              <a:tr h="592962">
                <a:tc>
                  <a:txBody>
                    <a:bodyPr/>
                    <a:lstStyle/>
                    <a:p>
                      <a:pPr algn="ctr" fontAlgn="b"/>
                      <a:r>
                        <a:rPr lang="en-CA" sz="2000" u="none" strike="noStrike" dirty="0">
                          <a:effectLst/>
                        </a:rPr>
                        <a:t>0.8</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a:effectLst/>
                        </a:rPr>
                        <a:t>0.6</a:t>
                      </a:r>
                      <a:endParaRPr lang="en-CA"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a:effectLst/>
                        </a:rPr>
                        <a:t>12.74</a:t>
                      </a:r>
                      <a:endParaRPr lang="en-CA"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00842735"/>
                  </a:ext>
                </a:extLst>
              </a:tr>
              <a:tr h="582366">
                <a:tc>
                  <a:txBody>
                    <a:bodyPr/>
                    <a:lstStyle/>
                    <a:p>
                      <a:pPr algn="ctr" fontAlgn="b"/>
                      <a:r>
                        <a:rPr lang="en-CA" sz="2000" u="none" strike="noStrike" dirty="0">
                          <a:effectLst/>
                        </a:rPr>
                        <a:t>0.6</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dirty="0">
                          <a:effectLst/>
                        </a:rPr>
                        <a:t>0.8</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a:effectLst/>
                        </a:rPr>
                        <a:t>11.8</a:t>
                      </a:r>
                      <a:endParaRPr lang="en-CA"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55959259"/>
                  </a:ext>
                </a:extLst>
              </a:tr>
              <a:tr h="592962">
                <a:tc>
                  <a:txBody>
                    <a:bodyPr/>
                    <a:lstStyle/>
                    <a:p>
                      <a:pPr algn="ctr" fontAlgn="b"/>
                      <a:r>
                        <a:rPr lang="en-CA" sz="2000" u="none" strike="noStrike">
                          <a:effectLst/>
                        </a:rPr>
                        <a:t>0.98</a:t>
                      </a:r>
                      <a:endParaRPr lang="en-CA"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dirty="0">
                          <a:effectLst/>
                        </a:rPr>
                        <a:t>0.2</a:t>
                      </a:r>
                      <a:endParaRPr lang="en-CA"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a:effectLst/>
                        </a:rPr>
                        <a:t>10.4</a:t>
                      </a:r>
                      <a:endParaRPr lang="en-CA"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72155656"/>
                  </a:ext>
                </a:extLst>
              </a:tr>
              <a:tr h="592962">
                <a:tc>
                  <a:txBody>
                    <a:bodyPr/>
                    <a:lstStyle/>
                    <a:p>
                      <a:pPr algn="ctr" fontAlgn="b"/>
                      <a:r>
                        <a:rPr lang="en-CA" sz="2000" u="none" strike="noStrike">
                          <a:effectLst/>
                        </a:rPr>
                        <a:t>0.2</a:t>
                      </a:r>
                      <a:endParaRPr lang="en-CA"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a:effectLst/>
                        </a:rPr>
                        <a:t>0.98</a:t>
                      </a:r>
                      <a:endParaRPr lang="en-CA"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2000" u="none" strike="noStrike" dirty="0">
                          <a:effectLst/>
                        </a:rPr>
                        <a:t>7.4</a:t>
                      </a:r>
                      <a:endParaRPr lang="en-CA" sz="2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48192487"/>
                  </a:ext>
                </a:extLst>
              </a:tr>
            </a:tbl>
          </a:graphicData>
        </a:graphic>
      </p:graphicFrame>
      <p:pic>
        <p:nvPicPr>
          <p:cNvPr id="14" name="Picture 13" descr="Text&#10;&#10;Description automatically generated with medium confidence">
            <a:extLst>
              <a:ext uri="{FF2B5EF4-FFF2-40B4-BE49-F238E27FC236}">
                <a16:creationId xmlns:a16="http://schemas.microsoft.com/office/drawing/2014/main" id="{28666F73-790A-FD40-B6D6-9D9D4E3011AF}"/>
              </a:ext>
            </a:extLst>
          </p:cNvPr>
          <p:cNvPicPr>
            <a:picLocks noChangeAspect="1"/>
          </p:cNvPicPr>
          <p:nvPr/>
        </p:nvPicPr>
        <p:blipFill>
          <a:blip r:embed="rId3"/>
          <a:stretch>
            <a:fillRect/>
          </a:stretch>
        </p:blipFill>
        <p:spPr>
          <a:xfrm>
            <a:off x="6666732" y="2741214"/>
            <a:ext cx="4826570" cy="687786"/>
          </a:xfrm>
          <a:prstGeom prst="rect">
            <a:avLst/>
          </a:prstGeom>
        </p:spPr>
      </p:pic>
      <p:sp>
        <p:nvSpPr>
          <p:cNvPr id="11" name="TextBox 10">
            <a:extLst>
              <a:ext uri="{FF2B5EF4-FFF2-40B4-BE49-F238E27FC236}">
                <a16:creationId xmlns:a16="http://schemas.microsoft.com/office/drawing/2014/main" id="{D9A854C4-BF2D-5548-B42A-3EDE3BA6C7F9}"/>
              </a:ext>
            </a:extLst>
          </p:cNvPr>
          <p:cNvSpPr txBox="1"/>
          <p:nvPr/>
        </p:nvSpPr>
        <p:spPr>
          <a:xfrm>
            <a:off x="6666731" y="4045584"/>
            <a:ext cx="5019457" cy="1631216"/>
          </a:xfrm>
          <a:prstGeom prst="rect">
            <a:avLst/>
          </a:prstGeom>
          <a:noFill/>
        </p:spPr>
        <p:txBody>
          <a:bodyPr wrap="square" rtlCol="0">
            <a:spAutoFit/>
          </a:bodyPr>
          <a:lstStyle/>
          <a:p>
            <a:r>
              <a:rPr lang="en-US" sz="2000" b="1" dirty="0"/>
              <a:t>Conclusion</a:t>
            </a:r>
            <a:r>
              <a:rPr lang="en-US" sz="2000" dirty="0"/>
              <a:t>: We would select the weights 0.8 and 0.6 when we combine the diastolic and systolic blood pressures because these weights generate maximal variance of the combined variables.</a:t>
            </a:r>
            <a:r>
              <a:rPr lang="en-US" dirty="0"/>
              <a:t>	 </a:t>
            </a:r>
          </a:p>
        </p:txBody>
      </p:sp>
    </p:spTree>
    <p:extLst>
      <p:ext uri="{BB962C8B-B14F-4D97-AF65-F5344CB8AC3E}">
        <p14:creationId xmlns:p14="http://schemas.microsoft.com/office/powerpoint/2010/main" val="2758415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0BB27BD1-7526-0247-AA7E-ED8711469260}"/>
              </a:ext>
            </a:extLst>
          </p:cNvPr>
          <p:cNvGraphicFramePr>
            <a:graphicFrameLocks noGrp="1"/>
          </p:cNvGraphicFramePr>
          <p:nvPr>
            <p:extLst>
              <p:ext uri="{D42A27DB-BD31-4B8C-83A1-F6EECF244321}">
                <p14:modId xmlns:p14="http://schemas.microsoft.com/office/powerpoint/2010/main" val="373106417"/>
              </p:ext>
            </p:extLst>
          </p:nvPr>
        </p:nvGraphicFramePr>
        <p:xfrm>
          <a:off x="1228726" y="2940147"/>
          <a:ext cx="3244762" cy="3038621"/>
        </p:xfrm>
        <a:graphic>
          <a:graphicData uri="http://schemas.openxmlformats.org/drawingml/2006/table">
            <a:tbl>
              <a:tblPr>
                <a:tableStyleId>{5C22544A-7EE6-4342-B048-85BDC9FD1C3A}</a:tableStyleId>
              </a:tblPr>
              <a:tblGrid>
                <a:gridCol w="1622381">
                  <a:extLst>
                    <a:ext uri="{9D8B030D-6E8A-4147-A177-3AD203B41FA5}">
                      <a16:colId xmlns:a16="http://schemas.microsoft.com/office/drawing/2014/main" val="4059092514"/>
                    </a:ext>
                  </a:extLst>
                </a:gridCol>
                <a:gridCol w="1622381">
                  <a:extLst>
                    <a:ext uri="{9D8B030D-6E8A-4147-A177-3AD203B41FA5}">
                      <a16:colId xmlns:a16="http://schemas.microsoft.com/office/drawing/2014/main" val="1450058491"/>
                    </a:ext>
                  </a:extLst>
                </a:gridCol>
              </a:tblGrid>
              <a:tr h="582977">
                <a:tc>
                  <a:txBody>
                    <a:bodyPr/>
                    <a:lstStyle/>
                    <a:p>
                      <a:pPr algn="ctr" fontAlgn="b"/>
                      <a:r>
                        <a:rPr lang="en-CA" sz="1600" b="1" u="none" strike="noStrike" dirty="0">
                          <a:effectLst/>
                        </a:rPr>
                        <a:t>Diastolic 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Systolic BP</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37635931"/>
                  </a:ext>
                </a:extLst>
              </a:tr>
              <a:tr h="409274">
                <a:tc>
                  <a:txBody>
                    <a:bodyPr/>
                    <a:lstStyle/>
                    <a:p>
                      <a:pPr algn="ctr" fontAlgn="b"/>
                      <a:r>
                        <a:rPr lang="en-CA" sz="1600" u="none" strike="noStrike" dirty="0">
                          <a:effectLst/>
                        </a:rPr>
                        <a:t>78</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126</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68166028"/>
                  </a:ext>
                </a:extLst>
              </a:tr>
              <a:tr h="409274">
                <a:tc>
                  <a:txBody>
                    <a:bodyPr/>
                    <a:lstStyle/>
                    <a:p>
                      <a:pPr algn="ctr" fontAlgn="b"/>
                      <a:r>
                        <a:rPr lang="en-CA" sz="1600" u="none" strike="noStrike" dirty="0">
                          <a:effectLst/>
                        </a:rPr>
                        <a:t>80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128</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47073079"/>
                  </a:ext>
                </a:extLst>
              </a:tr>
              <a:tr h="409274">
                <a:tc>
                  <a:txBody>
                    <a:bodyPr/>
                    <a:lstStyle/>
                    <a:p>
                      <a:pPr algn="ctr" fontAlgn="b"/>
                      <a:r>
                        <a:rPr lang="en-CA" sz="1600" u="none" strike="noStrike" dirty="0">
                          <a:effectLst/>
                        </a:rPr>
                        <a:t>81</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127</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82992744"/>
                  </a:ext>
                </a:extLst>
              </a:tr>
              <a:tr h="409274">
                <a:tc>
                  <a:txBody>
                    <a:bodyPr/>
                    <a:lstStyle/>
                    <a:p>
                      <a:pPr algn="ctr" fontAlgn="b"/>
                      <a:r>
                        <a:rPr lang="en-CA" sz="1600" u="none" strike="noStrike" dirty="0">
                          <a:effectLst/>
                        </a:rPr>
                        <a:t>82</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130</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01516937"/>
                  </a:ext>
                </a:extLst>
              </a:tr>
              <a:tr h="409274">
                <a:tc>
                  <a:txBody>
                    <a:bodyPr/>
                    <a:lstStyle/>
                    <a:p>
                      <a:pPr algn="ctr" fontAlgn="b"/>
                      <a:r>
                        <a:rPr lang="en-CA" sz="1600" u="none" strike="noStrike" dirty="0">
                          <a:effectLst/>
                        </a:rPr>
                        <a:t>84</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130</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41218942"/>
                  </a:ext>
                </a:extLst>
              </a:tr>
              <a:tr h="409274">
                <a:tc>
                  <a:txBody>
                    <a:bodyPr/>
                    <a:lstStyle/>
                    <a:p>
                      <a:pPr algn="ctr" fontAlgn="b"/>
                      <a:r>
                        <a:rPr lang="en-CA" sz="1600" u="none" strike="noStrike">
                          <a:effectLst/>
                        </a:rPr>
                        <a:t>86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132</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92113737"/>
                  </a:ext>
                </a:extLst>
              </a:tr>
            </a:tbl>
          </a:graphicData>
        </a:graphic>
      </p:graphicFrame>
      <p:pic>
        <p:nvPicPr>
          <p:cNvPr id="5" name="Picture 4" descr="Diagram&#10;&#10;Description automatically generated">
            <a:extLst>
              <a:ext uri="{FF2B5EF4-FFF2-40B4-BE49-F238E27FC236}">
                <a16:creationId xmlns:a16="http://schemas.microsoft.com/office/drawing/2014/main" id="{47A4AF1E-160B-3B42-9348-CBF5719EAC4E}"/>
              </a:ext>
            </a:extLst>
          </p:cNvPr>
          <p:cNvPicPr>
            <a:picLocks noChangeAspect="1"/>
          </p:cNvPicPr>
          <p:nvPr/>
        </p:nvPicPr>
        <p:blipFill>
          <a:blip r:embed="rId3"/>
          <a:stretch>
            <a:fillRect/>
          </a:stretch>
        </p:blipFill>
        <p:spPr>
          <a:xfrm>
            <a:off x="6845299" y="2924003"/>
            <a:ext cx="4598986" cy="3003266"/>
          </a:xfrm>
          <a:prstGeom prst="rect">
            <a:avLst/>
          </a:prstGeom>
        </p:spPr>
      </p:pic>
    </p:spTree>
    <p:extLst>
      <p:ext uri="{BB962C8B-B14F-4D97-AF65-F5344CB8AC3E}">
        <p14:creationId xmlns:p14="http://schemas.microsoft.com/office/powerpoint/2010/main" val="3030131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7A7E31E5-B399-5F42-AEC5-79CEAF89A2EB}"/>
              </a:ext>
            </a:extLst>
          </p:cNvPr>
          <p:cNvGraphicFramePr>
            <a:graphicFrameLocks noGrp="1"/>
          </p:cNvGraphicFramePr>
          <p:nvPr>
            <p:extLst>
              <p:ext uri="{D42A27DB-BD31-4B8C-83A1-F6EECF244321}">
                <p14:modId xmlns:p14="http://schemas.microsoft.com/office/powerpoint/2010/main" val="2125498478"/>
              </p:ext>
            </p:extLst>
          </p:nvPr>
        </p:nvGraphicFramePr>
        <p:xfrm>
          <a:off x="747715" y="2700996"/>
          <a:ext cx="4924388" cy="3546376"/>
        </p:xfrm>
        <a:graphic>
          <a:graphicData uri="http://schemas.openxmlformats.org/drawingml/2006/table">
            <a:tbl>
              <a:tblPr>
                <a:tableStyleId>{5C22544A-7EE6-4342-B048-85BDC9FD1C3A}</a:tableStyleId>
              </a:tblPr>
              <a:tblGrid>
                <a:gridCol w="1231097">
                  <a:extLst>
                    <a:ext uri="{9D8B030D-6E8A-4147-A177-3AD203B41FA5}">
                      <a16:colId xmlns:a16="http://schemas.microsoft.com/office/drawing/2014/main" val="3822748011"/>
                    </a:ext>
                  </a:extLst>
                </a:gridCol>
                <a:gridCol w="1231097">
                  <a:extLst>
                    <a:ext uri="{9D8B030D-6E8A-4147-A177-3AD203B41FA5}">
                      <a16:colId xmlns:a16="http://schemas.microsoft.com/office/drawing/2014/main" val="353994641"/>
                    </a:ext>
                  </a:extLst>
                </a:gridCol>
                <a:gridCol w="1231097">
                  <a:extLst>
                    <a:ext uri="{9D8B030D-6E8A-4147-A177-3AD203B41FA5}">
                      <a16:colId xmlns:a16="http://schemas.microsoft.com/office/drawing/2014/main" val="3310621218"/>
                    </a:ext>
                  </a:extLst>
                </a:gridCol>
                <a:gridCol w="1231097">
                  <a:extLst>
                    <a:ext uri="{9D8B030D-6E8A-4147-A177-3AD203B41FA5}">
                      <a16:colId xmlns:a16="http://schemas.microsoft.com/office/drawing/2014/main" val="4151756985"/>
                    </a:ext>
                  </a:extLst>
                </a:gridCol>
              </a:tblGrid>
              <a:tr h="443297">
                <a:tc>
                  <a:txBody>
                    <a:bodyPr/>
                    <a:lstStyle/>
                    <a:p>
                      <a:pPr algn="ctr" fontAlgn="b"/>
                      <a:r>
                        <a:rPr lang="en-CA" sz="1600" b="1" u="none" strike="noStrike" dirty="0">
                          <a:effectLst/>
                        </a:rPr>
                        <a:t>Diastolic BP</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a:effectLst/>
                        </a:rPr>
                        <a:t>Systolic BP</a:t>
                      </a:r>
                      <a:endParaRPr lang="en-CA" sz="16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a:effectLst/>
                        </a:rPr>
                        <a:t>Weight</a:t>
                      </a:r>
                      <a:endParaRPr lang="en-CA" sz="16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Height</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48194190"/>
                  </a:ext>
                </a:extLst>
              </a:tr>
              <a:tr h="443297">
                <a:tc>
                  <a:txBody>
                    <a:bodyPr/>
                    <a:lstStyle/>
                    <a:p>
                      <a:pPr algn="ctr" fontAlgn="b"/>
                      <a:r>
                        <a:rPr lang="en-CA" sz="1600" u="none" strike="noStrike" dirty="0">
                          <a:effectLst/>
                        </a:rPr>
                        <a:t>78</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126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67</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170</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57596934"/>
                  </a:ext>
                </a:extLst>
              </a:tr>
              <a:tr h="443297">
                <a:tc>
                  <a:txBody>
                    <a:bodyPr/>
                    <a:lstStyle/>
                    <a:p>
                      <a:pPr algn="ctr" fontAlgn="b"/>
                      <a:r>
                        <a:rPr lang="en-CA" sz="1600" u="none" strike="noStrike">
                          <a:effectLst/>
                        </a:rPr>
                        <a:t>80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128</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77</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177</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1891691"/>
                  </a:ext>
                </a:extLst>
              </a:tr>
              <a:tr h="443297">
                <a:tc>
                  <a:txBody>
                    <a:bodyPr/>
                    <a:lstStyle/>
                    <a:p>
                      <a:pPr algn="ctr" fontAlgn="b"/>
                      <a:r>
                        <a:rPr lang="en-CA" sz="1600" u="none" strike="noStrike">
                          <a:effectLst/>
                        </a:rPr>
                        <a:t>81</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127</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89</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183</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236314"/>
                  </a:ext>
                </a:extLst>
              </a:tr>
              <a:tr h="443297">
                <a:tc>
                  <a:txBody>
                    <a:bodyPr/>
                    <a:lstStyle/>
                    <a:p>
                      <a:pPr algn="ctr" fontAlgn="b"/>
                      <a:r>
                        <a:rPr lang="en-CA" sz="1600" u="none" strike="noStrike">
                          <a:effectLst/>
                        </a:rPr>
                        <a:t>82</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130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90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187</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0996075"/>
                  </a:ext>
                </a:extLst>
              </a:tr>
              <a:tr h="443297">
                <a:tc>
                  <a:txBody>
                    <a:bodyPr/>
                    <a:lstStyle/>
                    <a:p>
                      <a:pPr algn="ctr" fontAlgn="b"/>
                      <a:r>
                        <a:rPr lang="en-CA" sz="1600" u="none" strike="noStrike">
                          <a:effectLst/>
                        </a:rPr>
                        <a:t>84</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130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50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165</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9644210"/>
                  </a:ext>
                </a:extLst>
              </a:tr>
              <a:tr h="443297">
                <a:tc>
                  <a:txBody>
                    <a:bodyPr/>
                    <a:lstStyle/>
                    <a:p>
                      <a:pPr algn="ctr" fontAlgn="b"/>
                      <a:r>
                        <a:rPr lang="en-CA" sz="1600" u="none" strike="noStrike">
                          <a:effectLst/>
                        </a:rPr>
                        <a:t>86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132</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55</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164</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672651"/>
                  </a:ext>
                </a:extLst>
              </a:tr>
              <a:tr h="443297">
                <a:tc gridSpan="2">
                  <a:txBody>
                    <a:bodyPr/>
                    <a:lstStyle/>
                    <a:p>
                      <a:pPr algn="ctr" fontAlgn="b"/>
                      <a:r>
                        <a:rPr lang="en-CA" sz="1600" b="1" u="none" strike="noStrike">
                          <a:effectLst/>
                        </a:rPr>
                        <a:t>BP</a:t>
                      </a:r>
                      <a:endParaRPr lang="en-CA" sz="1600" b="1"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gridSpan="2">
                  <a:txBody>
                    <a:bodyPr/>
                    <a:lstStyle/>
                    <a:p>
                      <a:pPr algn="ctr" fontAlgn="b"/>
                      <a:r>
                        <a:rPr lang="en-CA" sz="1600" b="1" u="none" strike="noStrike" dirty="0">
                          <a:effectLst/>
                        </a:rPr>
                        <a:t>BS</a:t>
                      </a:r>
                      <a:endParaRPr lang="en-CA" sz="16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extLst>
                  <a:ext uri="{0D108BD9-81ED-4DB2-BD59-A6C34878D82A}">
                    <a16:rowId xmlns:a16="http://schemas.microsoft.com/office/drawing/2014/main" val="2637814084"/>
                  </a:ext>
                </a:extLst>
              </a:tr>
            </a:tbl>
          </a:graphicData>
        </a:graphic>
      </p:graphicFrame>
      <p:sp>
        <p:nvSpPr>
          <p:cNvPr id="11" name="TextBox 10">
            <a:extLst>
              <a:ext uri="{FF2B5EF4-FFF2-40B4-BE49-F238E27FC236}">
                <a16:creationId xmlns:a16="http://schemas.microsoft.com/office/drawing/2014/main" id="{BF6A5998-8EF9-F948-8A2F-A8DDF630A3A4}"/>
              </a:ext>
            </a:extLst>
          </p:cNvPr>
          <p:cNvSpPr txBox="1"/>
          <p:nvPr/>
        </p:nvSpPr>
        <p:spPr>
          <a:xfrm rot="10800000" flipV="1">
            <a:off x="6907238" y="2843379"/>
            <a:ext cx="4290614" cy="1477328"/>
          </a:xfrm>
          <a:prstGeom prst="rect">
            <a:avLst/>
          </a:prstGeom>
          <a:noFill/>
        </p:spPr>
        <p:txBody>
          <a:bodyPr wrap="square">
            <a:spAutoFit/>
          </a:bodyPr>
          <a:lstStyle/>
          <a:p>
            <a:endParaRPr lang="en-US" dirty="0"/>
          </a:p>
          <a:p>
            <a:endParaRPr lang="en-US" dirty="0"/>
          </a:p>
          <a:p>
            <a:endParaRPr lang="en-US" dirty="0"/>
          </a:p>
          <a:p>
            <a:r>
              <a:rPr lang="en-US" sz="3600" dirty="0"/>
              <a:t>Cholesterol = BP + BS</a:t>
            </a:r>
          </a:p>
        </p:txBody>
      </p: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1</a:t>
            </a:r>
          </a:p>
        </p:txBody>
      </p:sp>
    </p:spTree>
    <p:extLst>
      <p:ext uri="{BB962C8B-B14F-4D97-AF65-F5344CB8AC3E}">
        <p14:creationId xmlns:p14="http://schemas.microsoft.com/office/powerpoint/2010/main" val="752441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2</a:t>
            </a:r>
          </a:p>
        </p:txBody>
      </p:sp>
      <p:graphicFrame>
        <p:nvGraphicFramePr>
          <p:cNvPr id="3" name="Table 2">
            <a:extLst>
              <a:ext uri="{FF2B5EF4-FFF2-40B4-BE49-F238E27FC236}">
                <a16:creationId xmlns:a16="http://schemas.microsoft.com/office/drawing/2014/main" id="{BDA9B065-4A08-DC43-9606-CCD86E2CF8C0}"/>
              </a:ext>
            </a:extLst>
          </p:cNvPr>
          <p:cNvGraphicFramePr>
            <a:graphicFrameLocks noGrp="1"/>
          </p:cNvGraphicFramePr>
          <p:nvPr>
            <p:extLst>
              <p:ext uri="{D42A27DB-BD31-4B8C-83A1-F6EECF244321}">
                <p14:modId xmlns:p14="http://schemas.microsoft.com/office/powerpoint/2010/main" val="1948215937"/>
              </p:ext>
            </p:extLst>
          </p:nvPr>
        </p:nvGraphicFramePr>
        <p:xfrm>
          <a:off x="396882" y="2702559"/>
          <a:ext cx="5303792" cy="3283904"/>
        </p:xfrm>
        <a:graphic>
          <a:graphicData uri="http://schemas.openxmlformats.org/drawingml/2006/table">
            <a:tbl>
              <a:tblPr>
                <a:tableStyleId>{5C22544A-7EE6-4342-B048-85BDC9FD1C3A}</a:tableStyleId>
              </a:tblPr>
              <a:tblGrid>
                <a:gridCol w="662974">
                  <a:extLst>
                    <a:ext uri="{9D8B030D-6E8A-4147-A177-3AD203B41FA5}">
                      <a16:colId xmlns:a16="http://schemas.microsoft.com/office/drawing/2014/main" val="3159790719"/>
                    </a:ext>
                  </a:extLst>
                </a:gridCol>
                <a:gridCol w="662974">
                  <a:extLst>
                    <a:ext uri="{9D8B030D-6E8A-4147-A177-3AD203B41FA5}">
                      <a16:colId xmlns:a16="http://schemas.microsoft.com/office/drawing/2014/main" val="2433861232"/>
                    </a:ext>
                  </a:extLst>
                </a:gridCol>
                <a:gridCol w="662974">
                  <a:extLst>
                    <a:ext uri="{9D8B030D-6E8A-4147-A177-3AD203B41FA5}">
                      <a16:colId xmlns:a16="http://schemas.microsoft.com/office/drawing/2014/main" val="2613035951"/>
                    </a:ext>
                  </a:extLst>
                </a:gridCol>
                <a:gridCol w="662974">
                  <a:extLst>
                    <a:ext uri="{9D8B030D-6E8A-4147-A177-3AD203B41FA5}">
                      <a16:colId xmlns:a16="http://schemas.microsoft.com/office/drawing/2014/main" val="20625246"/>
                    </a:ext>
                  </a:extLst>
                </a:gridCol>
                <a:gridCol w="662974">
                  <a:extLst>
                    <a:ext uri="{9D8B030D-6E8A-4147-A177-3AD203B41FA5}">
                      <a16:colId xmlns:a16="http://schemas.microsoft.com/office/drawing/2014/main" val="735701588"/>
                    </a:ext>
                  </a:extLst>
                </a:gridCol>
                <a:gridCol w="662974">
                  <a:extLst>
                    <a:ext uri="{9D8B030D-6E8A-4147-A177-3AD203B41FA5}">
                      <a16:colId xmlns:a16="http://schemas.microsoft.com/office/drawing/2014/main" val="3140267339"/>
                    </a:ext>
                  </a:extLst>
                </a:gridCol>
                <a:gridCol w="662974">
                  <a:extLst>
                    <a:ext uri="{9D8B030D-6E8A-4147-A177-3AD203B41FA5}">
                      <a16:colId xmlns:a16="http://schemas.microsoft.com/office/drawing/2014/main" val="2337094346"/>
                    </a:ext>
                  </a:extLst>
                </a:gridCol>
                <a:gridCol w="662974">
                  <a:extLst>
                    <a:ext uri="{9D8B030D-6E8A-4147-A177-3AD203B41FA5}">
                      <a16:colId xmlns:a16="http://schemas.microsoft.com/office/drawing/2014/main" val="1145273353"/>
                    </a:ext>
                  </a:extLst>
                </a:gridCol>
              </a:tblGrid>
              <a:tr h="410488">
                <a:tc>
                  <a:txBody>
                    <a:bodyPr/>
                    <a:lstStyle/>
                    <a:p>
                      <a:pPr algn="ctr" fontAlgn="b"/>
                      <a:r>
                        <a:rPr lang="en-CA" sz="1400" b="1" u="none" strike="noStrike" dirty="0">
                          <a:effectLst/>
                        </a:rPr>
                        <a:t>Person</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DBP</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SBP</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BMI</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Chol.</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Pulse</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a:effectLst/>
                        </a:rPr>
                        <a:t>Temp</a:t>
                      </a:r>
                      <a:endParaRPr lang="en-CA" sz="1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71416499"/>
                  </a:ext>
                </a:extLst>
              </a:tr>
              <a:tr h="410488">
                <a:tc>
                  <a:txBody>
                    <a:bodyPr/>
                    <a:lstStyle/>
                    <a:p>
                      <a:pPr algn="ctr" fontAlgn="b"/>
                      <a:r>
                        <a:rPr lang="en-CA" sz="1400" b="1" u="none" strike="noStrike" dirty="0">
                          <a:effectLst/>
                        </a:rPr>
                        <a:t>1</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78</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126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55</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37.4</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07304480"/>
                  </a:ext>
                </a:extLst>
              </a:tr>
              <a:tr h="410488">
                <a:tc>
                  <a:txBody>
                    <a:bodyPr/>
                    <a:lstStyle/>
                    <a:p>
                      <a:pPr algn="ctr" fontAlgn="b"/>
                      <a:r>
                        <a:rPr lang="en-CA" sz="1400" b="1" u="none" strike="noStrike" dirty="0">
                          <a:effectLst/>
                        </a:rPr>
                        <a:t>2</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80</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128</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27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177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56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37.8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96676472"/>
                  </a:ext>
                </a:extLst>
              </a:tr>
              <a:tr h="410488">
                <a:tc>
                  <a:txBody>
                    <a:bodyPr/>
                    <a:lstStyle/>
                    <a:p>
                      <a:pPr algn="ctr" fontAlgn="b"/>
                      <a:r>
                        <a:rPr lang="en-CA" sz="1400" b="1" u="none" strike="noStrike" dirty="0">
                          <a:effectLst/>
                        </a:rPr>
                        <a:t>3</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81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127</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23</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183</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60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36.8</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1319473"/>
                  </a:ext>
                </a:extLst>
              </a:tr>
              <a:tr h="410488">
                <a:tc>
                  <a:txBody>
                    <a:bodyPr/>
                    <a:lstStyle/>
                    <a:p>
                      <a:pPr algn="ctr" fontAlgn="b"/>
                      <a:r>
                        <a:rPr lang="en-CA" sz="1400" b="1" u="none" strike="noStrike" dirty="0">
                          <a:effectLst/>
                        </a:rPr>
                        <a:t>4</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82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30</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187</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61</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36.4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45407644"/>
                  </a:ext>
                </a:extLst>
              </a:tr>
              <a:tr h="410488">
                <a:tc>
                  <a:txBody>
                    <a:bodyPr/>
                    <a:lstStyle/>
                    <a:p>
                      <a:pPr algn="ctr" fontAlgn="b"/>
                      <a:r>
                        <a:rPr lang="en-CA" sz="1400" b="1" u="none" strike="noStrike" dirty="0">
                          <a:effectLst/>
                        </a:rPr>
                        <a:t>5</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84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28</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165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62</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36.9</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24947348"/>
                  </a:ext>
                </a:extLst>
              </a:tr>
              <a:tr h="410488">
                <a:tc>
                  <a:txBody>
                    <a:bodyPr/>
                    <a:lstStyle/>
                    <a:p>
                      <a:pPr algn="ctr" fontAlgn="b"/>
                      <a:r>
                        <a:rPr lang="en-CA" sz="1400" b="1" u="none" strike="noStrike" dirty="0">
                          <a:effectLst/>
                        </a:rPr>
                        <a:t>6</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86</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132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35</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164</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70</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37</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30910707"/>
                  </a:ext>
                </a:extLst>
              </a:tr>
              <a:tr h="410488">
                <a:tc>
                  <a:txBody>
                    <a:bodyPr/>
                    <a:lstStyle/>
                    <a:p>
                      <a:pPr algn="ctr" fontAlgn="b"/>
                      <a:r>
                        <a:rPr lang="en-CA" sz="1400" b="1" u="none" strike="noStrike" dirty="0">
                          <a:effectLst/>
                        </a:rPr>
                        <a:t>…</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02112724"/>
                  </a:ext>
                </a:extLst>
              </a:tr>
            </a:tbl>
          </a:graphicData>
        </a:graphic>
      </p:graphicFrame>
      <p:graphicFrame>
        <p:nvGraphicFramePr>
          <p:cNvPr id="5" name="Table 4">
            <a:extLst>
              <a:ext uri="{FF2B5EF4-FFF2-40B4-BE49-F238E27FC236}">
                <a16:creationId xmlns:a16="http://schemas.microsoft.com/office/drawing/2014/main" id="{BD98683D-F72C-434C-AD6B-D192F30B81F8}"/>
              </a:ext>
            </a:extLst>
          </p:cNvPr>
          <p:cNvGraphicFramePr>
            <a:graphicFrameLocks noGrp="1"/>
          </p:cNvGraphicFramePr>
          <p:nvPr>
            <p:extLst>
              <p:ext uri="{D42A27DB-BD31-4B8C-83A1-F6EECF244321}">
                <p14:modId xmlns:p14="http://schemas.microsoft.com/office/powerpoint/2010/main" val="892630264"/>
              </p:ext>
            </p:extLst>
          </p:nvPr>
        </p:nvGraphicFramePr>
        <p:xfrm>
          <a:off x="7427793" y="3428999"/>
          <a:ext cx="3221434" cy="2557464"/>
        </p:xfrm>
        <a:graphic>
          <a:graphicData uri="http://schemas.openxmlformats.org/drawingml/2006/table">
            <a:tbl>
              <a:tblPr>
                <a:tableStyleId>{5C22544A-7EE6-4342-B048-85BDC9FD1C3A}</a:tableStyleId>
              </a:tblPr>
              <a:tblGrid>
                <a:gridCol w="1024484">
                  <a:extLst>
                    <a:ext uri="{9D8B030D-6E8A-4147-A177-3AD203B41FA5}">
                      <a16:colId xmlns:a16="http://schemas.microsoft.com/office/drawing/2014/main" val="2882256567"/>
                    </a:ext>
                  </a:extLst>
                </a:gridCol>
                <a:gridCol w="1024484">
                  <a:extLst>
                    <a:ext uri="{9D8B030D-6E8A-4147-A177-3AD203B41FA5}">
                      <a16:colId xmlns:a16="http://schemas.microsoft.com/office/drawing/2014/main" val="1669001049"/>
                    </a:ext>
                  </a:extLst>
                </a:gridCol>
                <a:gridCol w="1172466">
                  <a:extLst>
                    <a:ext uri="{9D8B030D-6E8A-4147-A177-3AD203B41FA5}">
                      <a16:colId xmlns:a16="http://schemas.microsoft.com/office/drawing/2014/main" val="2113622743"/>
                    </a:ext>
                  </a:extLst>
                </a:gridCol>
              </a:tblGrid>
              <a:tr h="319683">
                <a:tc>
                  <a:txBody>
                    <a:bodyPr/>
                    <a:lstStyle/>
                    <a:p>
                      <a:pPr algn="ctr" fontAlgn="b"/>
                      <a:r>
                        <a:rPr lang="en-CA" sz="1400" b="1" u="none" strike="noStrike" dirty="0">
                          <a:effectLst/>
                        </a:rPr>
                        <a:t>Person</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PC1</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b="1" u="none" strike="noStrike" dirty="0">
                          <a:effectLst/>
                        </a:rPr>
                        <a:t>PC2</a:t>
                      </a:r>
                      <a:endParaRPr lang="en-CA" sz="14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11967376"/>
                  </a:ext>
                </a:extLst>
              </a:tr>
              <a:tr h="319683">
                <a:tc>
                  <a:txBody>
                    <a:bodyPr/>
                    <a:lstStyle/>
                    <a:p>
                      <a:pPr algn="ctr" fontAlgn="b"/>
                      <a:r>
                        <a:rPr lang="en-CA" sz="1400" b="1" u="none" strike="noStrike" dirty="0">
                          <a:effectLst/>
                        </a:rPr>
                        <a:t>1</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3.4</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4.5</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49892198"/>
                  </a:ext>
                </a:extLst>
              </a:tr>
              <a:tr h="319683">
                <a:tc>
                  <a:txBody>
                    <a:bodyPr/>
                    <a:lstStyle/>
                    <a:p>
                      <a:pPr algn="ctr" fontAlgn="b"/>
                      <a:r>
                        <a:rPr lang="en-CA" sz="1400" b="1" u="none" strike="noStrike" dirty="0">
                          <a:effectLst/>
                        </a:rPr>
                        <a:t>2</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3.7</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4.4</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29370071"/>
                  </a:ext>
                </a:extLst>
              </a:tr>
              <a:tr h="319683">
                <a:tc>
                  <a:txBody>
                    <a:bodyPr/>
                    <a:lstStyle/>
                    <a:p>
                      <a:pPr algn="ctr" fontAlgn="b"/>
                      <a:r>
                        <a:rPr lang="en-CA" sz="1400" b="1" u="none" strike="noStrike" dirty="0">
                          <a:effectLst/>
                        </a:rPr>
                        <a:t>3</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-21.2</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-15.2</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8943582"/>
                  </a:ext>
                </a:extLst>
              </a:tr>
              <a:tr h="319683">
                <a:tc>
                  <a:txBody>
                    <a:bodyPr/>
                    <a:lstStyle/>
                    <a:p>
                      <a:pPr algn="ctr" fontAlgn="b"/>
                      <a:r>
                        <a:rPr lang="en-CA" sz="1400" b="1" u="none" strike="noStrike" dirty="0">
                          <a:effectLst/>
                        </a:rPr>
                        <a:t>4</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-20.2</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-16.5</a:t>
                      </a:r>
                      <a:endParaRPr lang="en-CA"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52630838"/>
                  </a:ext>
                </a:extLst>
              </a:tr>
              <a:tr h="319683">
                <a:tc>
                  <a:txBody>
                    <a:bodyPr/>
                    <a:lstStyle/>
                    <a:p>
                      <a:pPr algn="ctr" fontAlgn="b"/>
                      <a:r>
                        <a:rPr lang="en-CA" sz="1400" b="1" u="none" strike="noStrike" dirty="0">
                          <a:effectLst/>
                        </a:rPr>
                        <a:t>5</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-8.2</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-8.9</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22455731"/>
                  </a:ext>
                </a:extLst>
              </a:tr>
              <a:tr h="319683">
                <a:tc>
                  <a:txBody>
                    <a:bodyPr/>
                    <a:lstStyle/>
                    <a:p>
                      <a:pPr algn="ctr" fontAlgn="b"/>
                      <a:r>
                        <a:rPr lang="en-CA" sz="1400" b="1" u="none" strike="noStrike" dirty="0">
                          <a:effectLst/>
                        </a:rPr>
                        <a:t>6</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-0.2</a:t>
                      </a:r>
                      <a:endParaRPr lang="en-CA"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10.2</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90126004"/>
                  </a:ext>
                </a:extLst>
              </a:tr>
              <a:tr h="319683">
                <a:tc>
                  <a:txBody>
                    <a:bodyPr/>
                    <a:lstStyle/>
                    <a:p>
                      <a:pPr algn="ctr" fontAlgn="b"/>
                      <a:r>
                        <a:rPr lang="en-CA" sz="1400" b="1" u="none" strike="noStrike" dirty="0">
                          <a:effectLst/>
                        </a:rPr>
                        <a:t>…</a:t>
                      </a:r>
                      <a:endParaRPr lang="en-CA" sz="1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a:effectLst/>
                        </a:rPr>
                        <a:t>…</a:t>
                      </a:r>
                      <a:endParaRPr lang="en-CA"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400" u="none" strike="noStrike" dirty="0">
                          <a:effectLst/>
                        </a:rPr>
                        <a:t>…</a:t>
                      </a:r>
                      <a:endParaRPr lang="en-CA"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28342671"/>
                  </a:ext>
                </a:extLst>
              </a:tr>
            </a:tbl>
          </a:graphicData>
        </a:graphic>
      </p:graphicFrame>
      <p:sp>
        <p:nvSpPr>
          <p:cNvPr id="6" name="TextBox 5">
            <a:extLst>
              <a:ext uri="{FF2B5EF4-FFF2-40B4-BE49-F238E27FC236}">
                <a16:creationId xmlns:a16="http://schemas.microsoft.com/office/drawing/2014/main" id="{163CA752-469E-3B46-859C-8CC02664A965}"/>
              </a:ext>
            </a:extLst>
          </p:cNvPr>
          <p:cNvSpPr txBox="1"/>
          <p:nvPr/>
        </p:nvSpPr>
        <p:spPr>
          <a:xfrm>
            <a:off x="7666896" y="2668361"/>
            <a:ext cx="2871828" cy="400110"/>
          </a:xfrm>
          <a:prstGeom prst="rect">
            <a:avLst/>
          </a:prstGeom>
          <a:noFill/>
        </p:spPr>
        <p:txBody>
          <a:bodyPr wrap="square" rtlCol="0">
            <a:spAutoFit/>
          </a:bodyPr>
          <a:lstStyle/>
          <a:p>
            <a:r>
              <a:rPr lang="en-US" sz="2000" dirty="0"/>
              <a:t>Combine into 2 variables</a:t>
            </a:r>
          </a:p>
        </p:txBody>
      </p:sp>
    </p:spTree>
    <p:extLst>
      <p:ext uri="{BB962C8B-B14F-4D97-AF65-F5344CB8AC3E}">
        <p14:creationId xmlns:p14="http://schemas.microsoft.com/office/powerpoint/2010/main" val="3144674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2</a:t>
            </a:r>
          </a:p>
        </p:txBody>
      </p:sp>
      <p:pic>
        <p:nvPicPr>
          <p:cNvPr id="11" name="Picture 10" descr="Diagram&#10;&#10;Description automatically generated">
            <a:extLst>
              <a:ext uri="{FF2B5EF4-FFF2-40B4-BE49-F238E27FC236}">
                <a16:creationId xmlns:a16="http://schemas.microsoft.com/office/drawing/2014/main" id="{F48C4883-DC60-3A47-901B-5A62622FB451}"/>
              </a:ext>
            </a:extLst>
          </p:cNvPr>
          <p:cNvPicPr>
            <a:picLocks noChangeAspect="1"/>
          </p:cNvPicPr>
          <p:nvPr/>
        </p:nvPicPr>
        <p:blipFill>
          <a:blip r:embed="rId3"/>
          <a:stretch>
            <a:fillRect/>
          </a:stretch>
        </p:blipFill>
        <p:spPr>
          <a:xfrm>
            <a:off x="7081838" y="3103562"/>
            <a:ext cx="3771900" cy="2540000"/>
          </a:xfrm>
          <a:prstGeom prst="rect">
            <a:avLst/>
          </a:prstGeom>
        </p:spPr>
      </p:pic>
      <p:pic>
        <p:nvPicPr>
          <p:cNvPr id="13" name="Picture 12" descr="Diagram&#10;&#10;Description automatically generated">
            <a:extLst>
              <a:ext uri="{FF2B5EF4-FFF2-40B4-BE49-F238E27FC236}">
                <a16:creationId xmlns:a16="http://schemas.microsoft.com/office/drawing/2014/main" id="{BEF19791-3892-E443-A87E-EA2C161DD760}"/>
              </a:ext>
            </a:extLst>
          </p:cNvPr>
          <p:cNvPicPr>
            <a:picLocks noChangeAspect="1"/>
          </p:cNvPicPr>
          <p:nvPr/>
        </p:nvPicPr>
        <p:blipFill>
          <a:blip r:embed="rId4"/>
          <a:stretch>
            <a:fillRect/>
          </a:stretch>
        </p:blipFill>
        <p:spPr>
          <a:xfrm>
            <a:off x="860425" y="3001962"/>
            <a:ext cx="3898900" cy="2641600"/>
          </a:xfrm>
          <a:prstGeom prst="rect">
            <a:avLst/>
          </a:prstGeom>
        </p:spPr>
      </p:pic>
    </p:spTree>
    <p:extLst>
      <p:ext uri="{BB962C8B-B14F-4D97-AF65-F5344CB8AC3E}">
        <p14:creationId xmlns:p14="http://schemas.microsoft.com/office/powerpoint/2010/main" val="4046170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2</a:t>
            </a:r>
          </a:p>
        </p:txBody>
      </p:sp>
      <p:pic>
        <p:nvPicPr>
          <p:cNvPr id="4" name="Picture 3" descr="A picture containing diagram&#10;&#10;Description automatically generated">
            <a:extLst>
              <a:ext uri="{FF2B5EF4-FFF2-40B4-BE49-F238E27FC236}">
                <a16:creationId xmlns:a16="http://schemas.microsoft.com/office/drawing/2014/main" id="{3885117D-E481-F048-8CB1-EBC940A6C45A}"/>
              </a:ext>
            </a:extLst>
          </p:cNvPr>
          <p:cNvPicPr>
            <a:picLocks noChangeAspect="1"/>
          </p:cNvPicPr>
          <p:nvPr/>
        </p:nvPicPr>
        <p:blipFill>
          <a:blip r:embed="rId3"/>
          <a:stretch>
            <a:fillRect/>
          </a:stretch>
        </p:blipFill>
        <p:spPr>
          <a:xfrm>
            <a:off x="869950" y="2596836"/>
            <a:ext cx="3708400" cy="2489200"/>
          </a:xfrm>
          <a:prstGeom prst="rect">
            <a:avLst/>
          </a:prstGeom>
        </p:spPr>
      </p:pic>
      <p:sp>
        <p:nvSpPr>
          <p:cNvPr id="5" name="TextBox 4">
            <a:extLst>
              <a:ext uri="{FF2B5EF4-FFF2-40B4-BE49-F238E27FC236}">
                <a16:creationId xmlns:a16="http://schemas.microsoft.com/office/drawing/2014/main" id="{63969AD7-2034-7348-BFCE-4EF0B3BF31FE}"/>
              </a:ext>
            </a:extLst>
          </p:cNvPr>
          <p:cNvSpPr txBox="1"/>
          <p:nvPr/>
        </p:nvSpPr>
        <p:spPr>
          <a:xfrm>
            <a:off x="514351" y="5372100"/>
            <a:ext cx="5314950" cy="923330"/>
          </a:xfrm>
          <a:prstGeom prst="rect">
            <a:avLst/>
          </a:prstGeom>
          <a:noFill/>
        </p:spPr>
        <p:txBody>
          <a:bodyPr wrap="square" rtlCol="0">
            <a:spAutoFit/>
          </a:bodyPr>
          <a:lstStyle/>
          <a:p>
            <a:r>
              <a:rPr lang="en-US" dirty="0"/>
              <a:t>Have similar health profile since these individuals have the same values of the variables associated with the health.</a:t>
            </a:r>
          </a:p>
        </p:txBody>
      </p:sp>
      <p:sp>
        <p:nvSpPr>
          <p:cNvPr id="6" name="TextBox 5">
            <a:extLst>
              <a:ext uri="{FF2B5EF4-FFF2-40B4-BE49-F238E27FC236}">
                <a16:creationId xmlns:a16="http://schemas.microsoft.com/office/drawing/2014/main" id="{5DEF2454-66F3-7540-BD8A-E3A0DAB629DE}"/>
              </a:ext>
            </a:extLst>
          </p:cNvPr>
          <p:cNvSpPr txBox="1"/>
          <p:nvPr/>
        </p:nvSpPr>
        <p:spPr>
          <a:xfrm>
            <a:off x="6403256" y="5372100"/>
            <a:ext cx="5541092" cy="369332"/>
          </a:xfrm>
          <a:prstGeom prst="rect">
            <a:avLst/>
          </a:prstGeom>
          <a:noFill/>
        </p:spPr>
        <p:txBody>
          <a:bodyPr wrap="square" rtlCol="0">
            <a:spAutoFit/>
          </a:bodyPr>
          <a:lstStyle/>
          <a:p>
            <a:r>
              <a:rPr lang="en-US" dirty="0"/>
              <a:t>       These individuals have a different health profile.</a:t>
            </a:r>
          </a:p>
        </p:txBody>
      </p:sp>
      <p:pic>
        <p:nvPicPr>
          <p:cNvPr id="8" name="Picture 7" descr="Diagram&#10;&#10;Description automatically generated">
            <a:extLst>
              <a:ext uri="{FF2B5EF4-FFF2-40B4-BE49-F238E27FC236}">
                <a16:creationId xmlns:a16="http://schemas.microsoft.com/office/drawing/2014/main" id="{7E6AE772-0006-A44D-84F3-87F3868F2541}"/>
              </a:ext>
            </a:extLst>
          </p:cNvPr>
          <p:cNvPicPr>
            <a:picLocks noChangeAspect="1"/>
          </p:cNvPicPr>
          <p:nvPr/>
        </p:nvPicPr>
        <p:blipFill>
          <a:blip r:embed="rId4"/>
          <a:stretch>
            <a:fillRect/>
          </a:stretch>
        </p:blipFill>
        <p:spPr>
          <a:xfrm>
            <a:off x="7169149" y="2596836"/>
            <a:ext cx="3797300" cy="2552700"/>
          </a:xfrm>
          <a:prstGeom prst="rect">
            <a:avLst/>
          </a:prstGeom>
        </p:spPr>
      </p:pic>
    </p:spTree>
    <p:extLst>
      <p:ext uri="{BB962C8B-B14F-4D97-AF65-F5344CB8AC3E}">
        <p14:creationId xmlns:p14="http://schemas.microsoft.com/office/powerpoint/2010/main" val="212148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2</a:t>
            </a:r>
          </a:p>
        </p:txBody>
      </p:sp>
      <p:sp>
        <p:nvSpPr>
          <p:cNvPr id="5" name="TextBox 4">
            <a:extLst>
              <a:ext uri="{FF2B5EF4-FFF2-40B4-BE49-F238E27FC236}">
                <a16:creationId xmlns:a16="http://schemas.microsoft.com/office/drawing/2014/main" id="{63969AD7-2034-7348-BFCE-4EF0B3BF31FE}"/>
              </a:ext>
            </a:extLst>
          </p:cNvPr>
          <p:cNvSpPr txBox="1"/>
          <p:nvPr/>
        </p:nvSpPr>
        <p:spPr>
          <a:xfrm>
            <a:off x="2940146" y="2883877"/>
            <a:ext cx="3155849" cy="369332"/>
          </a:xfrm>
          <a:prstGeom prst="rect">
            <a:avLst/>
          </a:prstGeom>
          <a:noFill/>
        </p:spPr>
        <p:txBody>
          <a:bodyPr wrap="square" rtlCol="0">
            <a:spAutoFit/>
          </a:bodyPr>
          <a:lstStyle/>
          <a:p>
            <a:r>
              <a:rPr lang="en-US" dirty="0"/>
              <a:t>These points represent men</a:t>
            </a:r>
          </a:p>
        </p:txBody>
      </p:sp>
      <p:sp>
        <p:nvSpPr>
          <p:cNvPr id="6" name="TextBox 5">
            <a:extLst>
              <a:ext uri="{FF2B5EF4-FFF2-40B4-BE49-F238E27FC236}">
                <a16:creationId xmlns:a16="http://schemas.microsoft.com/office/drawing/2014/main" id="{5DEF2454-66F3-7540-BD8A-E3A0DAB629DE}"/>
              </a:ext>
            </a:extLst>
          </p:cNvPr>
          <p:cNvSpPr txBox="1"/>
          <p:nvPr/>
        </p:nvSpPr>
        <p:spPr>
          <a:xfrm>
            <a:off x="2960430" y="5561998"/>
            <a:ext cx="3115294" cy="369332"/>
          </a:xfrm>
          <a:prstGeom prst="rect">
            <a:avLst/>
          </a:prstGeom>
          <a:noFill/>
        </p:spPr>
        <p:txBody>
          <a:bodyPr wrap="square" rtlCol="0">
            <a:spAutoFit/>
          </a:bodyPr>
          <a:lstStyle/>
          <a:p>
            <a:r>
              <a:rPr lang="en-US" dirty="0"/>
              <a:t>These points represent women</a:t>
            </a:r>
          </a:p>
        </p:txBody>
      </p:sp>
      <p:pic>
        <p:nvPicPr>
          <p:cNvPr id="7" name="Picture 6" descr="Diagram&#10;&#10;Description automatically generated">
            <a:extLst>
              <a:ext uri="{FF2B5EF4-FFF2-40B4-BE49-F238E27FC236}">
                <a16:creationId xmlns:a16="http://schemas.microsoft.com/office/drawing/2014/main" id="{425EA4A4-A50A-CD42-8202-D8AF50EDE9E7}"/>
              </a:ext>
            </a:extLst>
          </p:cNvPr>
          <p:cNvPicPr>
            <a:picLocks noChangeAspect="1"/>
          </p:cNvPicPr>
          <p:nvPr/>
        </p:nvPicPr>
        <p:blipFill>
          <a:blip r:embed="rId3"/>
          <a:stretch>
            <a:fillRect/>
          </a:stretch>
        </p:blipFill>
        <p:spPr>
          <a:xfrm>
            <a:off x="333924" y="2506872"/>
            <a:ext cx="2606222" cy="1844256"/>
          </a:xfrm>
          <a:prstGeom prst="rect">
            <a:avLst/>
          </a:prstGeom>
        </p:spPr>
      </p:pic>
      <p:pic>
        <p:nvPicPr>
          <p:cNvPr id="11" name="Picture 10" descr="Diagram&#10;&#10;Description automatically generated">
            <a:extLst>
              <a:ext uri="{FF2B5EF4-FFF2-40B4-BE49-F238E27FC236}">
                <a16:creationId xmlns:a16="http://schemas.microsoft.com/office/drawing/2014/main" id="{50B751A6-5A32-9B43-B8C7-96104A70669C}"/>
              </a:ext>
            </a:extLst>
          </p:cNvPr>
          <p:cNvPicPr>
            <a:picLocks noChangeAspect="1"/>
          </p:cNvPicPr>
          <p:nvPr/>
        </p:nvPicPr>
        <p:blipFill>
          <a:blip r:embed="rId4"/>
          <a:stretch>
            <a:fillRect/>
          </a:stretch>
        </p:blipFill>
        <p:spPr>
          <a:xfrm>
            <a:off x="256905" y="4405797"/>
            <a:ext cx="2683241" cy="1975987"/>
          </a:xfrm>
          <a:prstGeom prst="rect">
            <a:avLst/>
          </a:prstGeom>
        </p:spPr>
      </p:pic>
      <p:pic>
        <p:nvPicPr>
          <p:cNvPr id="13" name="Picture 12" descr="Diagram&#10;&#10;Description automatically generated with medium confidence">
            <a:extLst>
              <a:ext uri="{FF2B5EF4-FFF2-40B4-BE49-F238E27FC236}">
                <a16:creationId xmlns:a16="http://schemas.microsoft.com/office/drawing/2014/main" id="{DA9D416F-7BF7-E146-A8C7-E4061782D512}"/>
              </a:ext>
            </a:extLst>
          </p:cNvPr>
          <p:cNvPicPr>
            <a:picLocks noChangeAspect="1"/>
          </p:cNvPicPr>
          <p:nvPr/>
        </p:nvPicPr>
        <p:blipFill>
          <a:blip r:embed="rId5"/>
          <a:stretch>
            <a:fillRect/>
          </a:stretch>
        </p:blipFill>
        <p:spPr>
          <a:xfrm>
            <a:off x="7042639" y="2454880"/>
            <a:ext cx="3733800" cy="2514600"/>
          </a:xfrm>
          <a:prstGeom prst="rect">
            <a:avLst/>
          </a:prstGeom>
        </p:spPr>
      </p:pic>
      <p:sp>
        <p:nvSpPr>
          <p:cNvPr id="14" name="TextBox 13">
            <a:extLst>
              <a:ext uri="{FF2B5EF4-FFF2-40B4-BE49-F238E27FC236}">
                <a16:creationId xmlns:a16="http://schemas.microsoft.com/office/drawing/2014/main" id="{B8D30749-88C9-B740-89F8-01AB326271ED}"/>
              </a:ext>
            </a:extLst>
          </p:cNvPr>
          <p:cNvSpPr txBox="1"/>
          <p:nvPr/>
        </p:nvSpPr>
        <p:spPr>
          <a:xfrm>
            <a:off x="6724370" y="5299730"/>
            <a:ext cx="5111303" cy="646331"/>
          </a:xfrm>
          <a:prstGeom prst="rect">
            <a:avLst/>
          </a:prstGeom>
          <a:noFill/>
        </p:spPr>
        <p:txBody>
          <a:bodyPr wrap="square" rtlCol="0">
            <a:spAutoFit/>
          </a:bodyPr>
          <a:lstStyle/>
          <a:p>
            <a:r>
              <a:rPr lang="en-US" dirty="0"/>
              <a:t>These points represent four women have similar health profile</a:t>
            </a:r>
          </a:p>
        </p:txBody>
      </p:sp>
    </p:spTree>
    <p:extLst>
      <p:ext uri="{BB962C8B-B14F-4D97-AF65-F5344CB8AC3E}">
        <p14:creationId xmlns:p14="http://schemas.microsoft.com/office/powerpoint/2010/main" val="3108339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3</a:t>
            </a:r>
          </a:p>
        </p:txBody>
      </p:sp>
      <p:graphicFrame>
        <p:nvGraphicFramePr>
          <p:cNvPr id="3" name="Table 2">
            <a:extLst>
              <a:ext uri="{FF2B5EF4-FFF2-40B4-BE49-F238E27FC236}">
                <a16:creationId xmlns:a16="http://schemas.microsoft.com/office/drawing/2014/main" id="{9E56104C-6CB4-4E4B-91D6-73C13E9A4143}"/>
              </a:ext>
            </a:extLst>
          </p:cNvPr>
          <p:cNvGraphicFramePr>
            <a:graphicFrameLocks noGrp="1"/>
          </p:cNvGraphicFramePr>
          <p:nvPr>
            <p:extLst>
              <p:ext uri="{D42A27DB-BD31-4B8C-83A1-F6EECF244321}">
                <p14:modId xmlns:p14="http://schemas.microsoft.com/office/powerpoint/2010/main" val="3546693767"/>
              </p:ext>
            </p:extLst>
          </p:nvPr>
        </p:nvGraphicFramePr>
        <p:xfrm>
          <a:off x="914405" y="2793364"/>
          <a:ext cx="4029071" cy="3121664"/>
        </p:xfrm>
        <a:graphic>
          <a:graphicData uri="http://schemas.openxmlformats.org/drawingml/2006/table">
            <a:tbl>
              <a:tblPr>
                <a:tableStyleId>{5C22544A-7EE6-4342-B048-85BDC9FD1C3A}</a:tableStyleId>
              </a:tblPr>
              <a:tblGrid>
                <a:gridCol w="1281330">
                  <a:extLst>
                    <a:ext uri="{9D8B030D-6E8A-4147-A177-3AD203B41FA5}">
                      <a16:colId xmlns:a16="http://schemas.microsoft.com/office/drawing/2014/main" val="2779885105"/>
                    </a:ext>
                  </a:extLst>
                </a:gridCol>
                <a:gridCol w="1281330">
                  <a:extLst>
                    <a:ext uri="{9D8B030D-6E8A-4147-A177-3AD203B41FA5}">
                      <a16:colId xmlns:a16="http://schemas.microsoft.com/office/drawing/2014/main" val="3159516817"/>
                    </a:ext>
                  </a:extLst>
                </a:gridCol>
                <a:gridCol w="1466411">
                  <a:extLst>
                    <a:ext uri="{9D8B030D-6E8A-4147-A177-3AD203B41FA5}">
                      <a16:colId xmlns:a16="http://schemas.microsoft.com/office/drawing/2014/main" val="812185209"/>
                    </a:ext>
                  </a:extLst>
                </a:gridCol>
              </a:tblGrid>
              <a:tr h="445952">
                <a:tc>
                  <a:txBody>
                    <a:bodyPr/>
                    <a:lstStyle/>
                    <a:p>
                      <a:pPr algn="ctr" fontAlgn="b"/>
                      <a:r>
                        <a:rPr lang="en-CA" sz="1600" b="1" u="none" strike="noStrike" dirty="0">
                          <a:effectLst/>
                        </a:rPr>
                        <a:t>Person</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a:effectLst/>
                        </a:rPr>
                        <a:t>PC1</a:t>
                      </a:r>
                      <a:endParaRPr lang="en-CA" sz="16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PC2</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52320878"/>
                  </a:ext>
                </a:extLst>
              </a:tr>
              <a:tr h="445952">
                <a:tc>
                  <a:txBody>
                    <a:bodyPr/>
                    <a:lstStyle/>
                    <a:p>
                      <a:pPr algn="ctr" fontAlgn="b"/>
                      <a:r>
                        <a:rPr lang="en-CA" sz="1600" u="none" strike="noStrike" dirty="0">
                          <a:effectLst/>
                        </a:rPr>
                        <a:t>1</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8</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2</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58884826"/>
                  </a:ext>
                </a:extLst>
              </a:tr>
              <a:tr h="445952">
                <a:tc>
                  <a:txBody>
                    <a:bodyPr/>
                    <a:lstStyle/>
                    <a:p>
                      <a:pPr algn="ctr" fontAlgn="b"/>
                      <a:r>
                        <a:rPr lang="en-CA" sz="1600" u="none" strike="noStrike" dirty="0">
                          <a:effectLst/>
                        </a:rPr>
                        <a:t>2</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9</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3</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39947087"/>
                  </a:ext>
                </a:extLst>
              </a:tr>
              <a:tr h="445952">
                <a:tc>
                  <a:txBody>
                    <a:bodyPr/>
                    <a:lstStyle/>
                    <a:p>
                      <a:pPr algn="ctr" fontAlgn="b"/>
                      <a:r>
                        <a:rPr lang="en-CA" sz="1600" u="none" strike="noStrike">
                          <a:effectLst/>
                        </a:rPr>
                        <a:t>3</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-5</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11</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76596766"/>
                  </a:ext>
                </a:extLst>
              </a:tr>
              <a:tr h="445952">
                <a:tc>
                  <a:txBody>
                    <a:bodyPr/>
                    <a:lstStyle/>
                    <a:p>
                      <a:pPr algn="ctr" fontAlgn="b"/>
                      <a:r>
                        <a:rPr lang="en-CA" sz="1600" u="none" strike="noStrike">
                          <a:effectLst/>
                        </a:rPr>
                        <a:t>4</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-4</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10</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92965350"/>
                  </a:ext>
                </a:extLst>
              </a:tr>
              <a:tr h="445952">
                <a:tc>
                  <a:txBody>
                    <a:bodyPr/>
                    <a:lstStyle/>
                    <a:p>
                      <a:pPr algn="ctr" fontAlgn="b"/>
                      <a:r>
                        <a:rPr lang="en-CA" sz="1600" u="none" strike="noStrike">
                          <a:effectLst/>
                        </a:rPr>
                        <a:t>5</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-5</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-12</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13714918"/>
                  </a:ext>
                </a:extLst>
              </a:tr>
              <a:tr h="445952">
                <a:tc>
                  <a:txBody>
                    <a:bodyPr/>
                    <a:lstStyle/>
                    <a:p>
                      <a:pPr algn="ctr" fontAlgn="b"/>
                      <a:r>
                        <a:rPr lang="en-CA" sz="1600" u="none" strike="noStrike">
                          <a:effectLst/>
                        </a:rPr>
                        <a:t>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-3</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-14</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46671027"/>
                  </a:ext>
                </a:extLst>
              </a:tr>
            </a:tbl>
          </a:graphicData>
        </a:graphic>
      </p:graphicFrame>
      <p:pic>
        <p:nvPicPr>
          <p:cNvPr id="8" name="Picture 7" descr="Chart, scatter chart, box and whisker chart&#10;&#10;Description automatically generated">
            <a:extLst>
              <a:ext uri="{FF2B5EF4-FFF2-40B4-BE49-F238E27FC236}">
                <a16:creationId xmlns:a16="http://schemas.microsoft.com/office/drawing/2014/main" id="{A4285E70-A7E6-DE4D-A485-F9476089B971}"/>
              </a:ext>
            </a:extLst>
          </p:cNvPr>
          <p:cNvPicPr>
            <a:picLocks noChangeAspect="1"/>
          </p:cNvPicPr>
          <p:nvPr/>
        </p:nvPicPr>
        <p:blipFill>
          <a:blip r:embed="rId3"/>
          <a:stretch>
            <a:fillRect/>
          </a:stretch>
        </p:blipFill>
        <p:spPr>
          <a:xfrm>
            <a:off x="7089775" y="2757608"/>
            <a:ext cx="3670300" cy="2578100"/>
          </a:xfrm>
          <a:prstGeom prst="rect">
            <a:avLst/>
          </a:prstGeom>
        </p:spPr>
      </p:pic>
    </p:spTree>
    <p:extLst>
      <p:ext uri="{BB962C8B-B14F-4D97-AF65-F5344CB8AC3E}">
        <p14:creationId xmlns:p14="http://schemas.microsoft.com/office/powerpoint/2010/main" val="286506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3</a:t>
            </a:r>
          </a:p>
        </p:txBody>
      </p:sp>
      <p:pic>
        <p:nvPicPr>
          <p:cNvPr id="5" name="Picture 4" descr="Diagram&#10;&#10;Description automatically generated with medium confidence">
            <a:extLst>
              <a:ext uri="{FF2B5EF4-FFF2-40B4-BE49-F238E27FC236}">
                <a16:creationId xmlns:a16="http://schemas.microsoft.com/office/drawing/2014/main" id="{B29C14A7-1B17-9C4D-A91F-80C801B76B5A}"/>
              </a:ext>
            </a:extLst>
          </p:cNvPr>
          <p:cNvPicPr>
            <a:picLocks noChangeAspect="1"/>
          </p:cNvPicPr>
          <p:nvPr/>
        </p:nvPicPr>
        <p:blipFill>
          <a:blip r:embed="rId3"/>
          <a:stretch>
            <a:fillRect/>
          </a:stretch>
        </p:blipFill>
        <p:spPr>
          <a:xfrm>
            <a:off x="808038" y="2822575"/>
            <a:ext cx="3746500" cy="2984500"/>
          </a:xfrm>
          <a:prstGeom prst="rect">
            <a:avLst/>
          </a:prstGeom>
        </p:spPr>
      </p:pic>
      <p:pic>
        <p:nvPicPr>
          <p:cNvPr id="7" name="Picture 6" descr="A picture containing diagram&#10;&#10;Description automatically generated">
            <a:extLst>
              <a:ext uri="{FF2B5EF4-FFF2-40B4-BE49-F238E27FC236}">
                <a16:creationId xmlns:a16="http://schemas.microsoft.com/office/drawing/2014/main" id="{8A2B3247-2670-0747-B832-0DD30EDF7757}"/>
              </a:ext>
            </a:extLst>
          </p:cNvPr>
          <p:cNvPicPr>
            <a:picLocks noChangeAspect="1"/>
          </p:cNvPicPr>
          <p:nvPr/>
        </p:nvPicPr>
        <p:blipFill>
          <a:blip r:embed="rId4"/>
          <a:stretch>
            <a:fillRect/>
          </a:stretch>
        </p:blipFill>
        <p:spPr>
          <a:xfrm>
            <a:off x="6907238" y="2822575"/>
            <a:ext cx="3924300" cy="2921000"/>
          </a:xfrm>
          <a:prstGeom prst="rect">
            <a:avLst/>
          </a:prstGeom>
        </p:spPr>
      </p:pic>
    </p:spTree>
    <p:extLst>
      <p:ext uri="{BB962C8B-B14F-4D97-AF65-F5344CB8AC3E}">
        <p14:creationId xmlns:p14="http://schemas.microsoft.com/office/powerpoint/2010/main" val="3540613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4</a:t>
            </a:r>
          </a:p>
        </p:txBody>
      </p:sp>
      <p:graphicFrame>
        <p:nvGraphicFramePr>
          <p:cNvPr id="3" name="Table 2">
            <a:extLst>
              <a:ext uri="{FF2B5EF4-FFF2-40B4-BE49-F238E27FC236}">
                <a16:creationId xmlns:a16="http://schemas.microsoft.com/office/drawing/2014/main" id="{00383688-B308-5440-BBE9-46FB5A16ABF5}"/>
              </a:ext>
            </a:extLst>
          </p:cNvPr>
          <p:cNvGraphicFramePr>
            <a:graphicFrameLocks noGrp="1"/>
          </p:cNvGraphicFramePr>
          <p:nvPr>
            <p:extLst>
              <p:ext uri="{D42A27DB-BD31-4B8C-83A1-F6EECF244321}">
                <p14:modId xmlns:p14="http://schemas.microsoft.com/office/powerpoint/2010/main" val="2575433841"/>
              </p:ext>
            </p:extLst>
          </p:nvPr>
        </p:nvGraphicFramePr>
        <p:xfrm>
          <a:off x="842965" y="3028950"/>
          <a:ext cx="4543380" cy="2700336"/>
        </p:xfrm>
        <a:graphic>
          <a:graphicData uri="http://schemas.openxmlformats.org/drawingml/2006/table">
            <a:tbl>
              <a:tblPr>
                <a:tableStyleId>{5C22544A-7EE6-4342-B048-85BDC9FD1C3A}</a:tableStyleId>
              </a:tblPr>
              <a:tblGrid>
                <a:gridCol w="757230">
                  <a:extLst>
                    <a:ext uri="{9D8B030D-6E8A-4147-A177-3AD203B41FA5}">
                      <a16:colId xmlns:a16="http://schemas.microsoft.com/office/drawing/2014/main" val="4230442001"/>
                    </a:ext>
                  </a:extLst>
                </a:gridCol>
                <a:gridCol w="757230">
                  <a:extLst>
                    <a:ext uri="{9D8B030D-6E8A-4147-A177-3AD203B41FA5}">
                      <a16:colId xmlns:a16="http://schemas.microsoft.com/office/drawing/2014/main" val="3253377605"/>
                    </a:ext>
                  </a:extLst>
                </a:gridCol>
                <a:gridCol w="757230">
                  <a:extLst>
                    <a:ext uri="{9D8B030D-6E8A-4147-A177-3AD203B41FA5}">
                      <a16:colId xmlns:a16="http://schemas.microsoft.com/office/drawing/2014/main" val="1438547903"/>
                    </a:ext>
                  </a:extLst>
                </a:gridCol>
                <a:gridCol w="757230">
                  <a:extLst>
                    <a:ext uri="{9D8B030D-6E8A-4147-A177-3AD203B41FA5}">
                      <a16:colId xmlns:a16="http://schemas.microsoft.com/office/drawing/2014/main" val="3328713652"/>
                    </a:ext>
                  </a:extLst>
                </a:gridCol>
                <a:gridCol w="757230">
                  <a:extLst>
                    <a:ext uri="{9D8B030D-6E8A-4147-A177-3AD203B41FA5}">
                      <a16:colId xmlns:a16="http://schemas.microsoft.com/office/drawing/2014/main" val="2239442852"/>
                    </a:ext>
                  </a:extLst>
                </a:gridCol>
                <a:gridCol w="757230">
                  <a:extLst>
                    <a:ext uri="{9D8B030D-6E8A-4147-A177-3AD203B41FA5}">
                      <a16:colId xmlns:a16="http://schemas.microsoft.com/office/drawing/2014/main" val="4202475397"/>
                    </a:ext>
                  </a:extLst>
                </a:gridCol>
              </a:tblGrid>
              <a:tr h="337542">
                <a:tc>
                  <a:txBody>
                    <a:bodyPr/>
                    <a:lstStyle/>
                    <a:p>
                      <a:pPr algn="ctr" fontAlgn="b"/>
                      <a:r>
                        <a:rPr lang="en-CA" sz="1600" b="1" u="none" strike="noStrike" dirty="0">
                          <a:effectLst/>
                        </a:rPr>
                        <a:t>Cell</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Gene 1</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Gene 2</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Gene 3</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Gene 4</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92601379"/>
                  </a:ext>
                </a:extLst>
              </a:tr>
              <a:tr h="337542">
                <a:tc>
                  <a:txBody>
                    <a:bodyPr/>
                    <a:lstStyle/>
                    <a:p>
                      <a:pPr algn="ctr" fontAlgn="b"/>
                      <a:r>
                        <a:rPr lang="en-CA" sz="1600" u="none" strike="noStrike" dirty="0">
                          <a:effectLst/>
                        </a:rPr>
                        <a:t>Cell 1</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20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5</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92021917"/>
                  </a:ext>
                </a:extLst>
              </a:tr>
              <a:tr h="337542">
                <a:tc>
                  <a:txBody>
                    <a:bodyPr/>
                    <a:lstStyle/>
                    <a:p>
                      <a:pPr algn="ctr" fontAlgn="b"/>
                      <a:r>
                        <a:rPr lang="en-CA" sz="1600" u="none" strike="noStrike">
                          <a:effectLst/>
                        </a:rPr>
                        <a:t>Cell 2</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56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69606144"/>
                  </a:ext>
                </a:extLst>
              </a:tr>
              <a:tr h="337542">
                <a:tc>
                  <a:txBody>
                    <a:bodyPr/>
                    <a:lstStyle/>
                    <a:p>
                      <a:pPr algn="ctr" fontAlgn="b"/>
                      <a:r>
                        <a:rPr lang="en-CA" sz="1600" u="none" strike="noStrike">
                          <a:effectLst/>
                        </a:rPr>
                        <a:t>Cell 3</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15</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20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75888842"/>
                  </a:ext>
                </a:extLst>
              </a:tr>
              <a:tr h="337542">
                <a:tc>
                  <a:txBody>
                    <a:bodyPr/>
                    <a:lstStyle/>
                    <a:p>
                      <a:pPr algn="ctr" fontAlgn="b"/>
                      <a:r>
                        <a:rPr lang="en-CA" sz="1600" u="none" strike="noStrike">
                          <a:effectLst/>
                        </a:rPr>
                        <a:t>Cell 4</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13</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13</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75863257"/>
                  </a:ext>
                </a:extLst>
              </a:tr>
              <a:tr h="337542">
                <a:tc>
                  <a:txBody>
                    <a:bodyPr/>
                    <a:lstStyle/>
                    <a:p>
                      <a:pPr algn="ctr" fontAlgn="b"/>
                      <a:r>
                        <a:rPr lang="en-CA" sz="1600" u="none" strike="noStrike">
                          <a:effectLst/>
                        </a:rPr>
                        <a:t>Cell 5</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42</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55</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60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5182430"/>
                  </a:ext>
                </a:extLst>
              </a:tr>
              <a:tr h="337542">
                <a:tc>
                  <a:txBody>
                    <a:bodyPr/>
                    <a:lstStyle/>
                    <a:p>
                      <a:pPr algn="ctr" fontAlgn="b"/>
                      <a:r>
                        <a:rPr lang="en-CA" sz="1600" u="none" strike="noStrike">
                          <a:effectLst/>
                        </a:rPr>
                        <a:t>Cell 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0</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30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59216364"/>
                  </a:ext>
                </a:extLst>
              </a:tr>
              <a:tr h="337542">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7374337"/>
                  </a:ext>
                </a:extLst>
              </a:tr>
            </a:tbl>
          </a:graphicData>
        </a:graphic>
      </p:graphicFrame>
      <p:graphicFrame>
        <p:nvGraphicFramePr>
          <p:cNvPr id="4" name="Table 3">
            <a:extLst>
              <a:ext uri="{FF2B5EF4-FFF2-40B4-BE49-F238E27FC236}">
                <a16:creationId xmlns:a16="http://schemas.microsoft.com/office/drawing/2014/main" id="{AE503CAB-F1DB-F448-A6A7-1FA46FF09447}"/>
              </a:ext>
            </a:extLst>
          </p:cNvPr>
          <p:cNvGraphicFramePr>
            <a:graphicFrameLocks noGrp="1"/>
          </p:cNvGraphicFramePr>
          <p:nvPr>
            <p:extLst>
              <p:ext uri="{D42A27DB-BD31-4B8C-83A1-F6EECF244321}">
                <p14:modId xmlns:p14="http://schemas.microsoft.com/office/powerpoint/2010/main" val="3877879815"/>
              </p:ext>
            </p:extLst>
          </p:nvPr>
        </p:nvGraphicFramePr>
        <p:xfrm>
          <a:off x="6846212" y="3028950"/>
          <a:ext cx="3940847" cy="2700336"/>
        </p:xfrm>
        <a:graphic>
          <a:graphicData uri="http://schemas.openxmlformats.org/drawingml/2006/table">
            <a:tbl>
              <a:tblPr>
                <a:tableStyleId>{5C22544A-7EE6-4342-B048-85BDC9FD1C3A}</a:tableStyleId>
              </a:tblPr>
              <a:tblGrid>
                <a:gridCol w="1253273">
                  <a:extLst>
                    <a:ext uri="{9D8B030D-6E8A-4147-A177-3AD203B41FA5}">
                      <a16:colId xmlns:a16="http://schemas.microsoft.com/office/drawing/2014/main" val="527785289"/>
                    </a:ext>
                  </a:extLst>
                </a:gridCol>
                <a:gridCol w="1253273">
                  <a:extLst>
                    <a:ext uri="{9D8B030D-6E8A-4147-A177-3AD203B41FA5}">
                      <a16:colId xmlns:a16="http://schemas.microsoft.com/office/drawing/2014/main" val="1376242405"/>
                    </a:ext>
                  </a:extLst>
                </a:gridCol>
                <a:gridCol w="1434301">
                  <a:extLst>
                    <a:ext uri="{9D8B030D-6E8A-4147-A177-3AD203B41FA5}">
                      <a16:colId xmlns:a16="http://schemas.microsoft.com/office/drawing/2014/main" val="2062331733"/>
                    </a:ext>
                  </a:extLst>
                </a:gridCol>
              </a:tblGrid>
              <a:tr h="337542">
                <a:tc>
                  <a:txBody>
                    <a:bodyPr/>
                    <a:lstStyle/>
                    <a:p>
                      <a:pPr algn="ctr" fontAlgn="b"/>
                      <a:r>
                        <a:rPr lang="en-CA" sz="1600" b="1" u="none" strike="noStrike" dirty="0">
                          <a:effectLst/>
                        </a:rPr>
                        <a:t>Cell</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PC1</a:t>
                      </a:r>
                      <a:endParaRPr lang="en-CA"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b="1" u="none" strike="noStrike" dirty="0">
                          <a:effectLst/>
                        </a:rPr>
                        <a:t>PC2</a:t>
                      </a:r>
                      <a:endParaRPr lang="en-CA"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50869163"/>
                  </a:ext>
                </a:extLst>
              </a:tr>
              <a:tr h="337542">
                <a:tc>
                  <a:txBody>
                    <a:bodyPr/>
                    <a:lstStyle/>
                    <a:p>
                      <a:pPr algn="ctr" fontAlgn="b"/>
                      <a:r>
                        <a:rPr lang="en-CA" sz="1600" u="none" strike="noStrike" dirty="0">
                          <a:effectLst/>
                        </a:rPr>
                        <a:t>Cell 1</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5</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22</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42053811"/>
                  </a:ext>
                </a:extLst>
              </a:tr>
              <a:tr h="337542">
                <a:tc>
                  <a:txBody>
                    <a:bodyPr/>
                    <a:lstStyle/>
                    <a:p>
                      <a:pPr algn="ctr" fontAlgn="b"/>
                      <a:r>
                        <a:rPr lang="en-CA" sz="1600" u="none" strike="noStrike" dirty="0">
                          <a:effectLst/>
                        </a:rPr>
                        <a:t>Cell 2</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-10</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0</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04951801"/>
                  </a:ext>
                </a:extLst>
              </a:tr>
              <a:tr h="337542">
                <a:tc>
                  <a:txBody>
                    <a:bodyPr/>
                    <a:lstStyle/>
                    <a:p>
                      <a:pPr algn="ctr" fontAlgn="b"/>
                      <a:r>
                        <a:rPr lang="en-CA" sz="1600" u="none" strike="noStrike" dirty="0">
                          <a:effectLst/>
                        </a:rPr>
                        <a:t>Cell 3</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-3</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13</a:t>
                      </a:r>
                      <a:endParaRPr lang="en-CA" sz="16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9297653"/>
                  </a:ext>
                </a:extLst>
              </a:tr>
              <a:tr h="337542">
                <a:tc>
                  <a:txBody>
                    <a:bodyPr/>
                    <a:lstStyle/>
                    <a:p>
                      <a:pPr algn="ctr" fontAlgn="b"/>
                      <a:r>
                        <a:rPr lang="en-CA" sz="1600" u="none" strike="noStrike">
                          <a:effectLst/>
                        </a:rPr>
                        <a:t>Cell 4</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-3</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13</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51162771"/>
                  </a:ext>
                </a:extLst>
              </a:tr>
              <a:tr h="337542">
                <a:tc>
                  <a:txBody>
                    <a:bodyPr/>
                    <a:lstStyle/>
                    <a:p>
                      <a:pPr algn="ctr" fontAlgn="b"/>
                      <a:r>
                        <a:rPr lang="en-CA" sz="1600" u="none" strike="noStrike">
                          <a:effectLst/>
                        </a:rPr>
                        <a:t>Cell 5</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19</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55</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68185532"/>
                  </a:ext>
                </a:extLst>
              </a:tr>
              <a:tr h="337542">
                <a:tc>
                  <a:txBody>
                    <a:bodyPr/>
                    <a:lstStyle/>
                    <a:p>
                      <a:pPr algn="ctr" fontAlgn="b"/>
                      <a:r>
                        <a:rPr lang="en-CA" sz="1600" u="none" strike="noStrike">
                          <a:effectLst/>
                        </a:rPr>
                        <a:t>Cell 6</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-7</a:t>
                      </a:r>
                      <a:endParaRPr lang="en-CA"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-7</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01772171"/>
                  </a:ext>
                </a:extLst>
              </a:tr>
              <a:tr h="337542">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a:effectLst/>
                        </a:rPr>
                        <a:t>…</a:t>
                      </a:r>
                      <a:endParaRPr lang="en-CA"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CA" sz="1600" u="none" strike="noStrike" dirty="0">
                          <a:effectLst/>
                        </a:rPr>
                        <a:t>…</a:t>
                      </a:r>
                      <a:endParaRPr lang="en-CA"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42692145"/>
                  </a:ext>
                </a:extLst>
              </a:tr>
            </a:tbl>
          </a:graphicData>
        </a:graphic>
      </p:graphicFrame>
    </p:spTree>
    <p:extLst>
      <p:ext uri="{BB962C8B-B14F-4D97-AF65-F5344CB8AC3E}">
        <p14:creationId xmlns:p14="http://schemas.microsoft.com/office/powerpoint/2010/main" val="938591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11759-F61F-4349-9C38-F0397580CDAF}"/>
              </a:ext>
            </a:extLst>
          </p:cNvPr>
          <p:cNvSpPr>
            <a:spLocks noGrp="1"/>
          </p:cNvSpPr>
          <p:nvPr>
            <p:ph type="title"/>
          </p:nvPr>
        </p:nvSpPr>
        <p:spPr>
          <a:xfrm>
            <a:off x="546351" y="610624"/>
            <a:ext cx="11139854" cy="753368"/>
          </a:xfrm>
        </p:spPr>
        <p:txBody>
          <a:bodyPr vert="horz" lIns="91440" tIns="45720" rIns="91440" bIns="45720" rtlCol="0" anchor="b">
            <a:normAutofit fontScale="90000"/>
          </a:bodyPr>
          <a:lstStyle/>
          <a:p>
            <a:pPr algn="ctr"/>
            <a:br>
              <a:rPr lang="en-US" sz="3600" dirty="0">
                <a:solidFill>
                  <a:srgbClr val="FFFFFF"/>
                </a:solidFill>
              </a:rPr>
            </a:br>
            <a:br>
              <a:rPr lang="en-US" sz="3600" dirty="0">
                <a:solidFill>
                  <a:srgbClr val="FFFFFF"/>
                </a:solidFill>
              </a:rPr>
            </a:br>
            <a:br>
              <a:rPr lang="en-US" sz="3600" dirty="0">
                <a:solidFill>
                  <a:srgbClr val="FFFFFF"/>
                </a:solidFill>
              </a:rPr>
            </a:br>
            <a:r>
              <a:rPr lang="en-US" sz="3600" dirty="0">
                <a:solidFill>
                  <a:srgbClr val="FFFFFF"/>
                </a:solidFill>
              </a:rPr>
              <a:t> </a:t>
            </a:r>
            <a:br>
              <a:rPr lang="en-US" sz="3600" dirty="0">
                <a:solidFill>
                  <a:srgbClr val="FFFFFF"/>
                </a:solidFill>
              </a:rPr>
            </a:br>
            <a:br>
              <a:rPr lang="en-US" sz="3600" dirty="0">
                <a:solidFill>
                  <a:srgbClr val="FFFFFF"/>
                </a:solidFill>
              </a:rPr>
            </a:br>
            <a:r>
              <a:rPr lang="en-US" sz="3600" dirty="0">
                <a:solidFill>
                  <a:srgbClr val="FFFFFF"/>
                </a:solidFill>
              </a:rPr>
              <a:t>PCA</a:t>
            </a:r>
            <a:br>
              <a:rPr lang="en-US" sz="3000" dirty="0">
                <a:solidFill>
                  <a:srgbClr val="FFFFFF"/>
                </a:solidFill>
              </a:rPr>
            </a:br>
            <a:endParaRPr lang="en-US" sz="3000" dirty="0">
              <a:solidFill>
                <a:srgbClr val="FFFFFF"/>
              </a:solidFill>
            </a:endParaRPr>
          </a:p>
        </p:txBody>
      </p:sp>
      <p:cxnSp>
        <p:nvCxnSpPr>
          <p:cNvPr id="20"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B0267-48B7-8B4F-B0D9-828A713D836D}"/>
              </a:ext>
            </a:extLst>
          </p:cNvPr>
          <p:cNvSpPr txBox="1"/>
          <p:nvPr/>
        </p:nvSpPr>
        <p:spPr>
          <a:xfrm>
            <a:off x="5489525" y="1669893"/>
            <a:ext cx="2835426" cy="369332"/>
          </a:xfrm>
          <a:prstGeom prst="rect">
            <a:avLst/>
          </a:prstGeom>
          <a:noFill/>
        </p:spPr>
        <p:txBody>
          <a:bodyPr wrap="square" rtlCol="0">
            <a:spAutoFit/>
          </a:bodyPr>
          <a:lstStyle/>
          <a:p>
            <a:r>
              <a:rPr lang="en-US" dirty="0">
                <a:solidFill>
                  <a:schemeClr val="bg1"/>
                </a:solidFill>
              </a:rPr>
              <a:t>  Example 4</a:t>
            </a:r>
          </a:p>
        </p:txBody>
      </p:sp>
      <p:pic>
        <p:nvPicPr>
          <p:cNvPr id="6" name="Picture 5" descr="Chart, scatter chart, bubble chart&#10;&#10;Description automatically generated">
            <a:extLst>
              <a:ext uri="{FF2B5EF4-FFF2-40B4-BE49-F238E27FC236}">
                <a16:creationId xmlns:a16="http://schemas.microsoft.com/office/drawing/2014/main" id="{36A02313-D941-7D4E-B23F-481C946BAEE1}"/>
              </a:ext>
            </a:extLst>
          </p:cNvPr>
          <p:cNvPicPr>
            <a:picLocks noChangeAspect="1"/>
          </p:cNvPicPr>
          <p:nvPr/>
        </p:nvPicPr>
        <p:blipFill>
          <a:blip r:embed="rId3"/>
          <a:stretch>
            <a:fillRect/>
          </a:stretch>
        </p:blipFill>
        <p:spPr>
          <a:xfrm>
            <a:off x="810651" y="2596836"/>
            <a:ext cx="3733800" cy="2514600"/>
          </a:xfrm>
          <a:prstGeom prst="rect">
            <a:avLst/>
          </a:prstGeom>
        </p:spPr>
      </p:pic>
      <p:sp>
        <p:nvSpPr>
          <p:cNvPr id="7" name="TextBox 6">
            <a:extLst>
              <a:ext uri="{FF2B5EF4-FFF2-40B4-BE49-F238E27FC236}">
                <a16:creationId xmlns:a16="http://schemas.microsoft.com/office/drawing/2014/main" id="{BF3036DD-C9BA-B449-8C28-C9E73F24E5A4}"/>
              </a:ext>
            </a:extLst>
          </p:cNvPr>
          <p:cNvSpPr txBox="1"/>
          <p:nvPr/>
        </p:nvSpPr>
        <p:spPr>
          <a:xfrm rot="10800000" flipV="1">
            <a:off x="810650" y="5552254"/>
            <a:ext cx="4447125" cy="369332"/>
          </a:xfrm>
          <a:prstGeom prst="rect">
            <a:avLst/>
          </a:prstGeom>
          <a:noFill/>
        </p:spPr>
        <p:txBody>
          <a:bodyPr wrap="square" rtlCol="0">
            <a:spAutoFit/>
          </a:bodyPr>
          <a:lstStyle/>
          <a:p>
            <a:r>
              <a:rPr lang="en-US" dirty="0"/>
              <a:t>Having 50 points represent 50 cells</a:t>
            </a:r>
          </a:p>
        </p:txBody>
      </p:sp>
      <p:sp>
        <p:nvSpPr>
          <p:cNvPr id="8" name="TextBox 7">
            <a:extLst>
              <a:ext uri="{FF2B5EF4-FFF2-40B4-BE49-F238E27FC236}">
                <a16:creationId xmlns:a16="http://schemas.microsoft.com/office/drawing/2014/main" id="{118B98A1-A074-8B4E-AF9D-5583B9EB7E9A}"/>
              </a:ext>
            </a:extLst>
          </p:cNvPr>
          <p:cNvSpPr txBox="1"/>
          <p:nvPr/>
        </p:nvSpPr>
        <p:spPr>
          <a:xfrm>
            <a:off x="6940247" y="5500688"/>
            <a:ext cx="3771900" cy="369332"/>
          </a:xfrm>
          <a:prstGeom prst="rect">
            <a:avLst/>
          </a:prstGeom>
          <a:noFill/>
        </p:spPr>
        <p:txBody>
          <a:bodyPr wrap="square" rtlCol="0">
            <a:spAutoFit/>
          </a:bodyPr>
          <a:lstStyle/>
          <a:p>
            <a:r>
              <a:rPr lang="en-US" dirty="0"/>
              <a:t>Cells can be found in a distinct cluster</a:t>
            </a:r>
          </a:p>
        </p:txBody>
      </p:sp>
      <p:pic>
        <p:nvPicPr>
          <p:cNvPr id="11" name="Picture 10" descr="Chart&#10;&#10;Description automatically generated">
            <a:extLst>
              <a:ext uri="{FF2B5EF4-FFF2-40B4-BE49-F238E27FC236}">
                <a16:creationId xmlns:a16="http://schemas.microsoft.com/office/drawing/2014/main" id="{36C910DE-A4B3-7647-9354-FC50C83233F3}"/>
              </a:ext>
            </a:extLst>
          </p:cNvPr>
          <p:cNvPicPr>
            <a:picLocks noChangeAspect="1"/>
          </p:cNvPicPr>
          <p:nvPr/>
        </p:nvPicPr>
        <p:blipFill>
          <a:blip r:embed="rId4"/>
          <a:stretch>
            <a:fillRect/>
          </a:stretch>
        </p:blipFill>
        <p:spPr>
          <a:xfrm>
            <a:off x="6907238" y="2634936"/>
            <a:ext cx="3771900" cy="2476500"/>
          </a:xfrm>
          <a:prstGeom prst="rect">
            <a:avLst/>
          </a:prstGeom>
        </p:spPr>
      </p:pic>
    </p:spTree>
    <p:extLst>
      <p:ext uri="{BB962C8B-B14F-4D97-AF65-F5344CB8AC3E}">
        <p14:creationId xmlns:p14="http://schemas.microsoft.com/office/powerpoint/2010/main" val="609409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04391-48FD-894A-AB75-FE78E20E7D4D}"/>
              </a:ext>
            </a:extLst>
          </p:cNvPr>
          <p:cNvSpPr>
            <a:spLocks noGrp="1"/>
          </p:cNvSpPr>
          <p:nvPr>
            <p:ph type="title"/>
          </p:nvPr>
        </p:nvSpPr>
        <p:spPr/>
        <p:txBody>
          <a:bodyPr/>
          <a:lstStyle/>
          <a:p>
            <a:r>
              <a:rPr lang="en-GB" dirty="0"/>
              <a:t>Reference</a:t>
            </a:r>
          </a:p>
        </p:txBody>
      </p:sp>
      <p:sp>
        <p:nvSpPr>
          <p:cNvPr id="3" name="Content Placeholder 2">
            <a:extLst>
              <a:ext uri="{FF2B5EF4-FFF2-40B4-BE49-F238E27FC236}">
                <a16:creationId xmlns:a16="http://schemas.microsoft.com/office/drawing/2014/main" id="{ED789612-028B-BB48-9E99-96622E3D5828}"/>
              </a:ext>
            </a:extLst>
          </p:cNvPr>
          <p:cNvSpPr>
            <a:spLocks noGrp="1"/>
          </p:cNvSpPr>
          <p:nvPr>
            <p:ph idx="1"/>
          </p:nvPr>
        </p:nvSpPr>
        <p:spPr/>
        <p:txBody>
          <a:bodyPr/>
          <a:lstStyle/>
          <a:p>
            <a:r>
              <a:rPr lang="en-GB" dirty="0"/>
              <a:t>Tilevik, A. (n.d.) PCA1: Basics – simply explained. Available </a:t>
            </a:r>
            <a:r>
              <a:rPr lang="en-GB"/>
              <a:t>online: https</a:t>
            </a:r>
            <a:r>
              <a:rPr lang="en-GB" dirty="0"/>
              <a:t>://www.youtube.com/watch?v=dz8imS1vwIM&amp;t=3s</a:t>
            </a:r>
          </a:p>
          <a:p>
            <a:endParaRPr lang="en-GB" dirty="0"/>
          </a:p>
          <a:p>
            <a:endParaRPr lang="en-GB" dirty="0"/>
          </a:p>
        </p:txBody>
      </p:sp>
    </p:spTree>
    <p:extLst>
      <p:ext uri="{BB962C8B-B14F-4D97-AF65-F5344CB8AC3E}">
        <p14:creationId xmlns:p14="http://schemas.microsoft.com/office/powerpoint/2010/main" val="35216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2718</TotalTime>
  <Words>2913</Words>
  <Application>Microsoft Macintosh PowerPoint</Application>
  <PresentationFormat>Widescreen</PresentationFormat>
  <Paragraphs>473</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Cambria Math</vt:lpstr>
      <vt:lpstr>Office Theme</vt:lpstr>
      <vt:lpstr>The basics of PCA</vt:lpstr>
      <vt:lpstr>      Combining variables </vt:lpstr>
      <vt:lpstr>      Combining variables </vt:lpstr>
      <vt:lpstr>      Combining variables </vt:lpstr>
      <vt:lpstr>      Combining variables </vt:lpstr>
      <vt:lpstr>      Combining variables </vt:lpstr>
      <vt:lpstr>      Combining variables </vt:lpstr>
      <vt:lpstr>PCA</vt:lpstr>
      <vt:lpstr>PCA</vt:lpstr>
      <vt:lpstr>      PCA </vt:lpstr>
      <vt:lpstr>      PCA </vt:lpstr>
      <vt:lpstr>      PCA </vt:lpstr>
      <vt:lpstr>      PCA </vt:lpstr>
      <vt:lpstr>      PCA </vt:lpstr>
      <vt:lpstr>      PCA </vt:lpstr>
      <vt:lpstr>      PCA </vt:lpstr>
      <vt:lpstr>      PCA </vt:lpstr>
      <vt:lpstr>      PCA </vt:lpstr>
      <vt:lpstr>      PCA </vt:lpstr>
      <vt:lpstr>      PCA </vt:lpstr>
      <vt:lpstr>      PCA </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JESSICA Pham</dc:creator>
  <cp:lastModifiedBy>Quynh Nguyen</cp:lastModifiedBy>
  <cp:revision>94</cp:revision>
  <dcterms:created xsi:type="dcterms:W3CDTF">2021-12-20T06:40:25Z</dcterms:created>
  <dcterms:modified xsi:type="dcterms:W3CDTF">2022-01-04T20:04:11Z</dcterms:modified>
</cp:coreProperties>
</file>