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5"/>
    <p:restoredTop sz="86283"/>
  </p:normalViewPr>
  <p:slideViewPr>
    <p:cSldViewPr snapToGrid="0" snapToObjects="1">
      <p:cViewPr varScale="1">
        <p:scale>
          <a:sx n="109" d="100"/>
          <a:sy n="109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35B12-1AC4-A345-A881-0225BABE9A9B}" type="datetimeFigureOut">
              <a:rPr lang="en-US" smtClean="0"/>
              <a:t>4/30/22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C2AA-A513-E64A-9A25-70EE5B349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57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 is a matrix with a single row or a single column. Given is a column vector as it has only one column. And this vector can be represented in a two-dimensional plane like this.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47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elements of the vector represent the x and y-coordinates. Using Pythagoras’ theorem, the length of the vector can be calculated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75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Vectors also have a direction. Consider another vector. This vector can be represented by a line that goes from the origin to the point in space with a x-coordinate of 2, and a y-coordinate of 4.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55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Eigenvector is a special vector. If we multiply a matrix A with a vector</a:t>
            </a: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, and if we get a new vector, that is equal to a number () times the old vector, then  is an eigenvector. This implies that the new vector does not change direction after the transformation.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CA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35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Consider  is the vector of matrix A. And in 2-D plane, it is represented by the green arrow. On multiplying A with , we get a new vector, represented by the orange arrow. We observe that the new vector has a different direction. Since the vector changes the direction when multiplied with matrix A, we can conclude that vector  is not an eigenvector of A.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15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Consider a new vector. This time the second element in the vector is one instead of two. On multiplying this vector with A, we get a new vector. If we draw this vector in the plane, we see that the new vector has the same direction as the original vector. Therefore, </a:t>
            </a: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 is an eigenvector of matrix A.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73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our previous example, we get an eigenvector for matrix A. When we multiplied the eigenvector with matrix A, we got a new vector in the same direction as the original vector, and which is twice as long as the original vector. The associated eigenvalue (</a:t>
            </a:r>
            <a:r>
              <a:rPr lang="en-CA" sz="12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)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the eigenvector is therefore equal to two.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42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CA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67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All vectors with the same direction are actually the eigenvectors of matrix A. We found a new eigenvector for matrix A. Although it is a new eigenvector, the corresponding eigenvalue does not change.   </a:t>
            </a:r>
            <a:r>
              <a:rPr lang="en-CA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23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software tools therefore report normalized eigenvectors to unit length, which means that its length should be equal to one. The current vector has a length that is equal to the square root of five. Dividing both sides by five, gives the right-hand side equals to one. On reformulating, we see that if we let a vector go from the origin to a point with x-coordinate of 2 over the square root of 5, which is about 0.89, and a y-coordinate of 1 over square root of 5, which is about 0.45, the resulting vector has then a length of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09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CA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C2AA-A513-E64A-9A25-70EE5B3490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3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44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28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0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37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5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2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0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1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4/30/22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1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4/30/22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75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5653-E952-0244-96F6-386FEB203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5445" y="1414462"/>
            <a:ext cx="9238434" cy="3810000"/>
          </a:xfrm>
          <a:ln w="28575">
            <a:solidFill>
              <a:srgbClr val="FF9300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EIGENVECTORS </a:t>
            </a:r>
          </a:p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</a:p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EIGENVALUES</a:t>
            </a:r>
          </a:p>
        </p:txBody>
      </p:sp>
      <p:sp>
        <p:nvSpPr>
          <p:cNvPr id="5" name="Delay 4">
            <a:extLst>
              <a:ext uri="{FF2B5EF4-FFF2-40B4-BE49-F238E27FC236}">
                <a16:creationId xmlns:a16="http://schemas.microsoft.com/office/drawing/2014/main" id="{E1CCFC97-76DF-444C-A214-743EEAA5A09D}"/>
              </a:ext>
            </a:extLst>
          </p:cNvPr>
          <p:cNvSpPr/>
          <p:nvPr/>
        </p:nvSpPr>
        <p:spPr>
          <a:xfrm>
            <a:off x="0" y="0"/>
            <a:ext cx="3486150" cy="6858000"/>
          </a:xfrm>
          <a:prstGeom prst="flowChartDelay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9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6CFA781C-889D-2A45-80DA-6EC1B2FE8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6385" y="1776767"/>
            <a:ext cx="5878870" cy="3810000"/>
          </a:xfrm>
          <a:prstGeom prst="rect">
            <a:avLst/>
          </a:prstGeom>
          <a:ln w="19050">
            <a:solidFill>
              <a:srgbClr val="FF9300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100013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F93EC6-8CB5-B447-A34F-4E73CF8459E3}"/>
                  </a:ext>
                </a:extLst>
              </p:cNvPr>
              <p:cNvSpPr txBox="1"/>
              <p:nvPr/>
            </p:nvSpPr>
            <p:spPr>
              <a:xfrm>
                <a:off x="1406769" y="2672862"/>
                <a:ext cx="1626984" cy="13957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4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itchFamily="2" charset="2"/>
                  </a:rPr>
                  <a:t></a:t>
                </a:r>
                <a:r>
                  <a:rPr lang="en-CA" sz="4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4000" i="1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A" sz="4000" i="1">
                                <a:solidFill>
                                  <a:schemeClr val="bg1"/>
                                </a:solidFill>
                              </a:rPr>
                            </m:ctrlPr>
                          </m:eqArrPr>
                          <m:e>
                            <m:r>
                              <a:rPr lang="en-CA" sz="4000" i="1">
                                <a:solidFill>
                                  <a:schemeClr val="bg1"/>
                                </a:solidFill>
                              </a:rPr>
                              <m:t>3</m:t>
                            </m:r>
                          </m:e>
                          <m:e>
                            <m:r>
                              <a:rPr lang="en-CA" sz="4000" i="1">
                                <a:solidFill>
                                  <a:schemeClr val="bg1"/>
                                </a:solidFill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endParaRPr lang="en-CA" sz="40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F93EC6-8CB5-B447-A34F-4E73CF845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69" y="2672862"/>
                <a:ext cx="1626984" cy="1395767"/>
              </a:xfrm>
              <a:prstGeom prst="rect">
                <a:avLst/>
              </a:prstGeom>
              <a:blipFill>
                <a:blip r:embed="rId4"/>
                <a:stretch>
                  <a:fillRect l="-1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31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45653-E952-0244-96F6-386FEB203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2915" y="1884500"/>
                <a:ext cx="1365885" cy="114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Symbol" pitchFamily="2" charset="2"/>
                  </a:rPr>
                  <a:t>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45653-E952-0244-96F6-386FEB203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2915" y="1884500"/>
                <a:ext cx="1365885" cy="1143000"/>
              </a:xfrm>
              <a:blipFill>
                <a:blip r:embed="rId3"/>
                <a:stretch>
                  <a:fillRect l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100013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C9CD6E-B0BB-B640-9DCB-B9AD97D290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0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7559" y="1626144"/>
            <a:ext cx="3488441" cy="2694150"/>
          </a:xfrm>
          <a:prstGeom prst="rect">
            <a:avLst/>
          </a:prstGeom>
          <a:ln w="28575">
            <a:solidFill>
              <a:srgbClr val="FF93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94385F-5B4F-5F4B-B671-79413CD00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4759" y="1634544"/>
            <a:ext cx="3849848" cy="2694150"/>
          </a:xfrm>
          <a:prstGeom prst="rect">
            <a:avLst/>
          </a:prstGeom>
          <a:ln w="28575">
            <a:solidFill>
              <a:srgbClr val="FF93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7CAD2F-A5EA-8044-B282-3EF70CEF583F}"/>
                  </a:ext>
                </a:extLst>
              </p:cNvPr>
              <p:cNvSpPr txBox="1"/>
              <p:nvPr/>
            </p:nvSpPr>
            <p:spPr>
              <a:xfrm>
                <a:off x="3114665" y="5106572"/>
                <a:ext cx="5685018" cy="783804"/>
              </a:xfrm>
              <a:prstGeom prst="rect">
                <a:avLst/>
              </a:prstGeom>
              <a:noFill/>
              <a:ln w="12700">
                <a:solidFill>
                  <a:srgbClr val="FF93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CA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CA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18</m:t>
                        </m:r>
                      </m:e>
                    </m:rad>
                  </m:oMath>
                </a14:m>
                <a:endParaRPr lang="en-CA" sz="2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7CAD2F-A5EA-8044-B282-3EF70CEF5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65" y="5106572"/>
                <a:ext cx="5685018" cy="783804"/>
              </a:xfrm>
              <a:prstGeom prst="rect">
                <a:avLst/>
              </a:prstGeom>
              <a:blipFill>
                <a:blip r:embed="rId7"/>
                <a:stretch>
                  <a:fillRect l="-1556"/>
                </a:stretch>
              </a:blipFill>
              <a:ln w="12700">
                <a:solidFill>
                  <a:srgbClr val="FF93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83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F926B1F5-0D92-7E4A-A317-377CCF5A4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4072" y="1599854"/>
            <a:ext cx="3692232" cy="2723952"/>
          </a:xfrm>
          <a:prstGeom prst="rect">
            <a:avLst/>
          </a:prstGeom>
          <a:ln w="28575">
            <a:solidFill>
              <a:srgbClr val="FF9300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100013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3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C6C2C-563E-3F4F-ACB5-7ED5BE9B9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481" y="1599853"/>
            <a:ext cx="3949700" cy="2723951"/>
          </a:xfrm>
          <a:prstGeom prst="rect">
            <a:avLst/>
          </a:prstGeom>
          <a:ln w="28575">
            <a:solidFill>
              <a:srgbClr val="FF93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D99D71-05A0-824C-B33E-547BFA00A0BF}"/>
                  </a:ext>
                </a:extLst>
              </p:cNvPr>
              <p:cNvSpPr txBox="1"/>
              <p:nvPr/>
            </p:nvSpPr>
            <p:spPr>
              <a:xfrm>
                <a:off x="624003" y="2022911"/>
                <a:ext cx="1176284" cy="10849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8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sz="28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A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CA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CA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  <a:endParaRPr lang="en-CA" sz="2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D99D71-05A0-824C-B33E-547BFA00A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3" y="2022911"/>
                <a:ext cx="1176284" cy="1084977"/>
              </a:xfrm>
              <a:prstGeom prst="rect">
                <a:avLst/>
              </a:prstGeom>
              <a:blipFill>
                <a:blip r:embed="rId5"/>
                <a:stretch>
                  <a:fillRect l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A9E7E7-0436-604C-B00F-DD22AF5121A0}"/>
                  </a:ext>
                </a:extLst>
              </p:cNvPr>
              <p:cNvSpPr txBox="1"/>
              <p:nvPr/>
            </p:nvSpPr>
            <p:spPr>
              <a:xfrm>
                <a:off x="4017841" y="5029200"/>
                <a:ext cx="4456926" cy="680251"/>
              </a:xfrm>
              <a:prstGeom prst="rect">
                <a:avLst/>
              </a:prstGeom>
              <a:noFill/>
              <a:ln w="19050">
                <a:solidFill>
                  <a:srgbClr val="FF93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CA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CA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e>
                    </m:rad>
                  </m:oMath>
                </a14:m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A9E7E7-0436-604C-B00F-DD22AF512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841" y="5029200"/>
                <a:ext cx="4456926" cy="680251"/>
              </a:xfrm>
              <a:prstGeom prst="rect">
                <a:avLst/>
              </a:prstGeom>
              <a:blipFill>
                <a:blip r:embed="rId6"/>
                <a:stretch>
                  <a:fillRect l="-847"/>
                </a:stretch>
              </a:blipFill>
              <a:ln w="19050">
                <a:solidFill>
                  <a:srgbClr val="FF93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CE237D9B-CD5E-F147-B15D-C58389196A9A}"/>
              </a:ext>
            </a:extLst>
          </p:cNvPr>
          <p:cNvSpPr/>
          <p:nvPr/>
        </p:nvSpPr>
        <p:spPr>
          <a:xfrm>
            <a:off x="8765177" y="5016137"/>
            <a:ext cx="287383" cy="692332"/>
          </a:xfrm>
          <a:prstGeom prst="rightBrace">
            <a:avLst/>
          </a:prstGeom>
          <a:noFill/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EE036-BCB4-2043-B1A8-AC7A9548B89F}"/>
              </a:ext>
            </a:extLst>
          </p:cNvPr>
          <p:cNvSpPr txBox="1"/>
          <p:nvPr/>
        </p:nvSpPr>
        <p:spPr>
          <a:xfrm>
            <a:off x="9238720" y="5177637"/>
            <a:ext cx="1784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Length of Vector</a:t>
            </a:r>
          </a:p>
        </p:txBody>
      </p:sp>
    </p:spTree>
    <p:extLst>
      <p:ext uri="{BB962C8B-B14F-4D97-AF65-F5344CB8AC3E}">
        <p14:creationId xmlns:p14="http://schemas.microsoft.com/office/powerpoint/2010/main" val="408414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5653-E952-0244-96F6-386FEB203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11" y="1579421"/>
            <a:ext cx="10816046" cy="120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eigenvector (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) is a non-zero vector that satisfies the following condition: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EIGENVECTORS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6F25F-BFB9-9A42-B94C-18D2A7450ADB}"/>
              </a:ext>
            </a:extLst>
          </p:cNvPr>
          <p:cNvSpPr/>
          <p:nvPr/>
        </p:nvSpPr>
        <p:spPr>
          <a:xfrm>
            <a:off x="5677940" y="2649497"/>
            <a:ext cx="1210588" cy="461665"/>
          </a:xfrm>
          <a:prstGeom prst="rect">
            <a:avLst/>
          </a:prstGeom>
          <a:ln>
            <a:solidFill>
              <a:srgbClr val="FF9300"/>
            </a:solidFill>
          </a:ln>
        </p:spPr>
        <p:txBody>
          <a:bodyPr wrap="non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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C05FF-125C-D441-BB13-94CC1B9FCA15}"/>
              </a:ext>
            </a:extLst>
          </p:cNvPr>
          <p:cNvSpPr txBox="1"/>
          <p:nvPr/>
        </p:nvSpPr>
        <p:spPr>
          <a:xfrm>
            <a:off x="875211" y="3660113"/>
            <a:ext cx="10175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we multiply a vector with matrix A, we get a new vector that does not change direction after the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704651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41AC12-68A6-C54D-8DD6-AE66157BFB52}"/>
                  </a:ext>
                </a:extLst>
              </p:cNvPr>
              <p:cNvSpPr/>
              <p:nvPr/>
            </p:nvSpPr>
            <p:spPr>
              <a:xfrm>
                <a:off x="1426018" y="1784708"/>
                <a:ext cx="1031436" cy="705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sz="2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41AC12-68A6-C54D-8DD6-AE66157BF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6018" y="1784708"/>
                <a:ext cx="1031436" cy="705771"/>
              </a:xfrm>
              <a:prstGeom prst="rect">
                <a:avLst/>
              </a:prstGeom>
              <a:blipFill>
                <a:blip r:embed="rId3"/>
                <a:stretch>
                  <a:fillRect l="-9756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88461F-7C3C-A54B-9305-57205AA0F069}"/>
                  </a:ext>
                </a:extLst>
              </p:cNvPr>
              <p:cNvSpPr txBox="1"/>
              <p:nvPr/>
            </p:nvSpPr>
            <p:spPr>
              <a:xfrm>
                <a:off x="999619" y="3159901"/>
                <a:ext cx="1457835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88461F-7C3C-A54B-9305-57205AA0F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19" y="3159901"/>
                <a:ext cx="1457835" cy="708143"/>
              </a:xfrm>
              <a:prstGeom prst="rect">
                <a:avLst/>
              </a:prstGeom>
              <a:blipFill>
                <a:blip r:embed="rId4"/>
                <a:stretch>
                  <a:fillRect l="-6034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2A5F27E-375D-CD40-81F7-F49D1BCFB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282" y="1540651"/>
            <a:ext cx="6108700" cy="3238500"/>
          </a:xfrm>
          <a:prstGeom prst="rect">
            <a:avLst/>
          </a:prstGeom>
          <a:ln w="12700">
            <a:solidFill>
              <a:srgbClr val="FF93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C15E27-83D5-A145-8CCD-F5EA0F642031}"/>
                  </a:ext>
                </a:extLst>
              </p:cNvPr>
              <p:cNvSpPr txBox="1"/>
              <p:nvPr/>
            </p:nvSpPr>
            <p:spPr>
              <a:xfrm>
                <a:off x="942584" y="4608590"/>
                <a:ext cx="3029740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CA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CA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C15E27-83D5-A145-8CCD-F5EA0F642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84" y="4608590"/>
                <a:ext cx="3029740" cy="708143"/>
              </a:xfrm>
              <a:prstGeom prst="rect">
                <a:avLst/>
              </a:prstGeom>
              <a:blipFill>
                <a:blip r:embed="rId6"/>
                <a:stretch>
                  <a:fillRect l="-3347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58C1D69-6402-6D4C-BBCF-A53FDBE59C33}"/>
              </a:ext>
            </a:extLst>
          </p:cNvPr>
          <p:cNvSpPr txBox="1"/>
          <p:nvPr/>
        </p:nvSpPr>
        <p:spPr>
          <a:xfrm>
            <a:off x="4953692" y="5094665"/>
            <a:ext cx="5515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vector has different direction as the original vector. Thus, vector </a:t>
            </a:r>
            <a:r>
              <a:rPr lang="en-CA" dirty="0">
                <a:solidFill>
                  <a:srgbClr val="ED7D3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 is not an eigenvector of matrix A.</a:t>
            </a:r>
            <a:endParaRPr lang="en-US" dirty="0">
              <a:solidFill>
                <a:srgbClr val="ED7D3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endParaRPr lang="en-US" dirty="0">
              <a:solidFill>
                <a:srgbClr val="ED7D31"/>
              </a:solidFill>
            </a:endParaRPr>
          </a:p>
          <a:p>
            <a:pPr algn="ctr"/>
            <a:r>
              <a:rPr lang="en-US" dirty="0">
                <a:solidFill>
                  <a:srgbClr val="ED7D3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58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4C4365-B7F3-4847-8561-E122689E9414}"/>
                  </a:ext>
                </a:extLst>
              </p:cNvPr>
              <p:cNvSpPr txBox="1"/>
              <p:nvPr/>
            </p:nvSpPr>
            <p:spPr>
              <a:xfrm>
                <a:off x="1036158" y="1620879"/>
                <a:ext cx="1031436" cy="982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sz="2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4C4365-B7F3-4847-8561-E122689E9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58" y="1620879"/>
                <a:ext cx="1031436" cy="982770"/>
              </a:xfrm>
              <a:prstGeom prst="rect">
                <a:avLst/>
              </a:prstGeom>
              <a:blipFill>
                <a:blip r:embed="rId3"/>
                <a:stretch>
                  <a:fillRect l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1D4F99-7C11-D048-8D50-BCAA51CBB80E}"/>
                  </a:ext>
                </a:extLst>
              </p:cNvPr>
              <p:cNvSpPr txBox="1"/>
              <p:nvPr/>
            </p:nvSpPr>
            <p:spPr>
              <a:xfrm>
                <a:off x="609759" y="2865679"/>
                <a:ext cx="1457835" cy="708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1D4F99-7C11-D048-8D50-BCAA51CBB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59" y="2865679"/>
                <a:ext cx="1457835" cy="708143"/>
              </a:xfrm>
              <a:prstGeom prst="rect">
                <a:avLst/>
              </a:prstGeom>
              <a:blipFill>
                <a:blip r:embed="rId4"/>
                <a:stretch>
                  <a:fillRect l="-6957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43E5D38-EDD0-AE41-BE7E-700A5352530E}"/>
                  </a:ext>
                </a:extLst>
              </p:cNvPr>
              <p:cNvSpPr/>
              <p:nvPr/>
            </p:nvSpPr>
            <p:spPr>
              <a:xfrm>
                <a:off x="552724" y="4069811"/>
                <a:ext cx="3029740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CA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43E5D38-EDD0-AE41-BE7E-700A53525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24" y="4069811"/>
                <a:ext cx="3029740" cy="708143"/>
              </a:xfrm>
              <a:prstGeom prst="rect">
                <a:avLst/>
              </a:prstGeom>
              <a:blipFill>
                <a:blip r:embed="rId5"/>
                <a:stretch>
                  <a:fillRect l="-2917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FC5B894-34D6-D04E-A42C-EC87DC988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185" y="1463943"/>
            <a:ext cx="5299346" cy="3515337"/>
          </a:xfrm>
          <a:prstGeom prst="rect">
            <a:avLst/>
          </a:prstGeom>
          <a:ln w="12700">
            <a:solidFill>
              <a:srgbClr val="FF93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3D2CED-09B1-E84B-BBF3-A798286BB365}"/>
              </a:ext>
            </a:extLst>
          </p:cNvPr>
          <p:cNvSpPr/>
          <p:nvPr/>
        </p:nvSpPr>
        <p:spPr>
          <a:xfrm>
            <a:off x="5190308" y="5394057"/>
            <a:ext cx="5103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vector has same direction as the original vector. Thus, vector </a:t>
            </a:r>
            <a:r>
              <a:rPr lang="en-CA" dirty="0">
                <a:solidFill>
                  <a:srgbClr val="ED7D3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 is an eigenvector of matrix A.</a:t>
            </a:r>
            <a:endParaRPr lang="en-US" dirty="0">
              <a:solidFill>
                <a:srgbClr val="ED7D3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809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057E4-73E6-1A44-806F-245B62FC89D9}"/>
              </a:ext>
            </a:extLst>
          </p:cNvPr>
          <p:cNvSpPr txBox="1"/>
          <p:nvPr/>
        </p:nvSpPr>
        <p:spPr>
          <a:xfrm>
            <a:off x="1051852" y="1305713"/>
            <a:ext cx="10088296" cy="830997"/>
          </a:xfrm>
          <a:prstGeom prst="rect">
            <a:avLst/>
          </a:prstGeom>
          <a:noFill/>
          <a:ln>
            <a:solidFill>
              <a:srgbClr val="FF93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Eigenvalue (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)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tells us how much the eigenvector changes in size when multiplied with the matrix.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D60B02-5220-6E49-8E6F-0D9AF06D04F6}"/>
                  </a:ext>
                </a:extLst>
              </p:cNvPr>
              <p:cNvSpPr/>
              <p:nvPr/>
            </p:nvSpPr>
            <p:spPr>
              <a:xfrm>
                <a:off x="1091040" y="2607138"/>
                <a:ext cx="1031436" cy="705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sz="2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D60B02-5220-6E49-8E6F-0D9AF06D0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40" y="2607138"/>
                <a:ext cx="1031436" cy="705771"/>
              </a:xfrm>
              <a:prstGeom prst="rect">
                <a:avLst/>
              </a:prstGeom>
              <a:blipFill>
                <a:blip r:embed="rId3"/>
                <a:stretch>
                  <a:fillRect l="-8434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31007A-3E1A-704D-9D68-36723CB1B51F}"/>
                  </a:ext>
                </a:extLst>
              </p:cNvPr>
              <p:cNvSpPr/>
              <p:nvPr/>
            </p:nvSpPr>
            <p:spPr>
              <a:xfrm>
                <a:off x="3161492" y="2607138"/>
                <a:ext cx="1457835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31007A-3E1A-704D-9D68-36723CB1B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492" y="2607138"/>
                <a:ext cx="1457835" cy="708143"/>
              </a:xfrm>
              <a:prstGeom prst="rect">
                <a:avLst/>
              </a:prstGeom>
              <a:blipFill>
                <a:blip r:embed="rId4"/>
                <a:stretch>
                  <a:fillRect l="-6957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1C7C22-016E-8848-ABF3-40BF426668FA}"/>
                  </a:ext>
                </a:extLst>
              </p:cNvPr>
              <p:cNvSpPr/>
              <p:nvPr/>
            </p:nvSpPr>
            <p:spPr>
              <a:xfrm>
                <a:off x="1051852" y="3686083"/>
                <a:ext cx="4177297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CA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CA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</m:t>
                    </m:r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1C7C22-016E-8848-ABF3-40BF42666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852" y="3686083"/>
                <a:ext cx="4177297" cy="708143"/>
              </a:xfrm>
              <a:prstGeom prst="rect">
                <a:avLst/>
              </a:prstGeom>
              <a:blipFill>
                <a:blip r:embed="rId5"/>
                <a:stretch>
                  <a:fillRect l="-2432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CAF6DD-1D8E-0A47-AD4E-701351683F19}"/>
              </a:ext>
            </a:extLst>
          </p:cNvPr>
          <p:cNvSpPr txBox="1"/>
          <p:nvPr/>
        </p:nvSpPr>
        <p:spPr>
          <a:xfrm>
            <a:off x="2254130" y="4839123"/>
            <a:ext cx="1298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 = .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229A2-9088-394E-8F8D-7DC7F5D1F31B}"/>
              </a:ext>
            </a:extLst>
          </p:cNvPr>
          <p:cNvSpPr txBox="1"/>
          <p:nvPr/>
        </p:nvSpPr>
        <p:spPr>
          <a:xfrm>
            <a:off x="1051852" y="5552287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Thus,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AE913-B2F5-3B4F-9328-54A394258DFD}"/>
              </a:ext>
            </a:extLst>
          </p:cNvPr>
          <p:cNvSpPr txBox="1"/>
          <p:nvPr/>
        </p:nvSpPr>
        <p:spPr>
          <a:xfrm>
            <a:off x="3161492" y="6142571"/>
            <a:ext cx="800219" cy="461665"/>
          </a:xfrm>
          <a:prstGeom prst="rect">
            <a:avLst/>
          </a:prstGeom>
          <a:noFill/>
          <a:ln w="19050">
            <a:solidFill>
              <a:srgbClr val="FF9300"/>
            </a:solidFill>
          </a:ln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 = 2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08B16E-5211-B245-B6D6-E7384B88E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4553" y="2797915"/>
            <a:ext cx="4152196" cy="2754372"/>
          </a:xfrm>
          <a:prstGeom prst="rect">
            <a:avLst/>
          </a:prstGeom>
          <a:ln w="12700">
            <a:solidFill>
              <a:srgbClr val="FF9300"/>
            </a:solidFill>
          </a:ln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678866D8-C6D5-A748-90B7-4D87769C0071}"/>
              </a:ext>
            </a:extLst>
          </p:cNvPr>
          <p:cNvSpPr/>
          <p:nvPr/>
        </p:nvSpPr>
        <p:spPr>
          <a:xfrm>
            <a:off x="4415246" y="5943600"/>
            <a:ext cx="204081" cy="757646"/>
          </a:xfrm>
          <a:prstGeom prst="rightBrac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425BE-B5E1-004B-B308-C0C974818FB9}"/>
              </a:ext>
            </a:extLst>
          </p:cNvPr>
          <p:cNvSpPr txBox="1"/>
          <p:nvPr/>
        </p:nvSpPr>
        <p:spPr>
          <a:xfrm>
            <a:off x="4941759" y="6091590"/>
            <a:ext cx="1527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Eigenvalue</a:t>
            </a:r>
          </a:p>
        </p:txBody>
      </p:sp>
    </p:spTree>
    <p:extLst>
      <p:ext uri="{BB962C8B-B14F-4D97-AF65-F5344CB8AC3E}">
        <p14:creationId xmlns:p14="http://schemas.microsoft.com/office/powerpoint/2010/main" val="87425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EIGENVALUES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CF36E0-A9A0-A043-A167-6E0C2DD972CD}"/>
              </a:ext>
            </a:extLst>
          </p:cNvPr>
          <p:cNvSpPr txBox="1"/>
          <p:nvPr/>
        </p:nvSpPr>
        <p:spPr>
          <a:xfrm>
            <a:off x="940526" y="2135874"/>
            <a:ext cx="1004533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therefore conclude that an eigenvector of a matrix A results into a new vector that has the same directions the original vector but can be longer or shorter than the original vector. This scaling factor is the corresponding eigenvalue.</a:t>
            </a:r>
          </a:p>
          <a:p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eigenvalue can be negative, which means that </a:t>
            </a:r>
          </a:p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direction of the new vector is reversed but </a:t>
            </a:r>
          </a:p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still on same line.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B87AF-EF0C-F143-86D1-6B6550A3F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24" y="3585294"/>
            <a:ext cx="4000500" cy="2541186"/>
          </a:xfrm>
          <a:prstGeom prst="rect">
            <a:avLst/>
          </a:prstGeom>
          <a:ln w="19050">
            <a:solidFill>
              <a:srgbClr val="FF9300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B6CFA3-21B0-E648-A96E-6FCCEDE7899C}"/>
              </a:ext>
            </a:extLst>
          </p:cNvPr>
          <p:cNvSpPr/>
          <p:nvPr/>
        </p:nvSpPr>
        <p:spPr>
          <a:xfrm>
            <a:off x="5525903" y="1344846"/>
            <a:ext cx="1210588" cy="461665"/>
          </a:xfrm>
          <a:prstGeom prst="rect">
            <a:avLst/>
          </a:prstGeom>
          <a:ln>
            <a:solidFill>
              <a:srgbClr val="FF9300"/>
            </a:solidFill>
          </a:ln>
        </p:spPr>
        <p:txBody>
          <a:bodyPr wrap="non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A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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endParaRPr lang="en-U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8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EIGENVECTORS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057E4-73E6-1A44-806F-245B62FC89D9}"/>
              </a:ext>
            </a:extLst>
          </p:cNvPr>
          <p:cNvSpPr txBox="1"/>
          <p:nvPr/>
        </p:nvSpPr>
        <p:spPr>
          <a:xfrm>
            <a:off x="594652" y="1596041"/>
            <a:ext cx="10088296" cy="461665"/>
          </a:xfrm>
          <a:prstGeom prst="rect">
            <a:avLst/>
          </a:prstGeom>
          <a:noFill/>
          <a:ln>
            <a:solidFill>
              <a:srgbClr val="FF93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Consider a new eigenvector (</a:t>
            </a:r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)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the same matrix 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D60B02-5220-6E49-8E6F-0D9AF06D04F6}"/>
                  </a:ext>
                </a:extLst>
              </p:cNvPr>
              <p:cNvSpPr/>
              <p:nvPr/>
            </p:nvSpPr>
            <p:spPr>
              <a:xfrm>
                <a:off x="1091039" y="2502079"/>
                <a:ext cx="1263872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sz="2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9D60B02-5220-6E49-8E6F-0D9AF06D0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39" y="2502079"/>
                <a:ext cx="1263872" cy="708143"/>
              </a:xfrm>
              <a:prstGeom prst="rect">
                <a:avLst/>
              </a:prstGeom>
              <a:blipFill>
                <a:blip r:embed="rId3"/>
                <a:stretch>
                  <a:fillRect l="-6931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31007A-3E1A-704D-9D68-36723CB1B51F}"/>
                  </a:ext>
                </a:extLst>
              </p:cNvPr>
              <p:cNvSpPr/>
              <p:nvPr/>
            </p:nvSpPr>
            <p:spPr>
              <a:xfrm>
                <a:off x="3161491" y="2517823"/>
                <a:ext cx="1457835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531007A-3E1A-704D-9D68-36723CB1B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491" y="2517823"/>
                <a:ext cx="1457835" cy="708143"/>
              </a:xfrm>
              <a:prstGeom prst="rect">
                <a:avLst/>
              </a:prstGeom>
              <a:blipFill>
                <a:blip r:embed="rId4"/>
                <a:stretch>
                  <a:fillRect l="-6957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1C7C22-016E-8848-ABF3-40BF426668FA}"/>
                  </a:ext>
                </a:extLst>
              </p:cNvPr>
              <p:cNvSpPr/>
              <p:nvPr/>
            </p:nvSpPr>
            <p:spPr>
              <a:xfrm>
                <a:off x="1051852" y="3686083"/>
                <a:ext cx="4409733" cy="708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</a:t>
                </a:r>
                <a:r>
                  <a:rPr lang="en-CA" sz="24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CA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CA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</m:t>
                    </m:r>
                    <m:d>
                      <m:dPr>
                        <m:begChr m:val="["/>
                        <m:endChr m:val="]"/>
                        <m:ctrlPr>
                          <a:rPr lang="en-CA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CA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CA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1C7C22-016E-8848-ABF3-40BF42666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852" y="3686083"/>
                <a:ext cx="4409733" cy="708143"/>
              </a:xfrm>
              <a:prstGeom prst="rect">
                <a:avLst/>
              </a:prstGeom>
              <a:blipFill>
                <a:blip r:embed="rId5"/>
                <a:stretch>
                  <a:fillRect l="-2299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B0AE913-B2F5-3B4F-9328-54A394258DFD}"/>
              </a:ext>
            </a:extLst>
          </p:cNvPr>
          <p:cNvSpPr txBox="1"/>
          <p:nvPr/>
        </p:nvSpPr>
        <p:spPr>
          <a:xfrm>
            <a:off x="3090190" y="5552287"/>
            <a:ext cx="800219" cy="461665"/>
          </a:xfrm>
          <a:prstGeom prst="rect">
            <a:avLst/>
          </a:prstGeom>
          <a:noFill/>
          <a:ln w="19050">
            <a:solidFill>
              <a:srgbClr val="FF9300"/>
            </a:solidFill>
          </a:ln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 = 2</a:t>
            </a:r>
            <a:endParaRPr lang="en-US" sz="2400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78866D8-C6D5-A748-90B7-4D87769C0071}"/>
              </a:ext>
            </a:extLst>
          </p:cNvPr>
          <p:cNvSpPr/>
          <p:nvPr/>
        </p:nvSpPr>
        <p:spPr>
          <a:xfrm>
            <a:off x="4355651" y="5404296"/>
            <a:ext cx="204081" cy="757646"/>
          </a:xfrm>
          <a:prstGeom prst="rightBrac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425BE-B5E1-004B-B308-C0C974818FB9}"/>
              </a:ext>
            </a:extLst>
          </p:cNvPr>
          <p:cNvSpPr txBox="1"/>
          <p:nvPr/>
        </p:nvSpPr>
        <p:spPr>
          <a:xfrm>
            <a:off x="4798068" y="5552287"/>
            <a:ext cx="3334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Eigenvalue remains same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628860-E1D5-D448-B689-42089164C75D}"/>
              </a:ext>
            </a:extLst>
          </p:cNvPr>
          <p:cNvSpPr txBox="1"/>
          <p:nvPr/>
        </p:nvSpPr>
        <p:spPr>
          <a:xfrm>
            <a:off x="1243966" y="4864654"/>
            <a:ext cx="958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Again,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5949F7-6C91-2B49-A8A4-B559BB928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417" y="2489934"/>
            <a:ext cx="3937000" cy="2298700"/>
          </a:xfrm>
          <a:prstGeom prst="rect">
            <a:avLst/>
          </a:prstGeom>
          <a:ln w="19050">
            <a:solidFill>
              <a:srgbClr val="FF9300"/>
            </a:solidFill>
          </a:ln>
        </p:spPr>
      </p:pic>
    </p:spTree>
    <p:extLst>
      <p:ext uri="{BB962C8B-B14F-4D97-AF65-F5344CB8AC3E}">
        <p14:creationId xmlns:p14="http://schemas.microsoft.com/office/powerpoint/2010/main" val="1879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-41956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UNIT LENGTH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CC0E48-7E9F-A944-BEE6-82E0BF84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314" y="1101970"/>
            <a:ext cx="5017477" cy="3341076"/>
          </a:xfrm>
          <a:prstGeom prst="rect">
            <a:avLst/>
          </a:prstGeom>
          <a:ln w="19050">
            <a:solidFill>
              <a:srgbClr val="FF93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622D9C-EA06-DC4E-BC4F-76A4E134B427}"/>
                  </a:ext>
                </a:extLst>
              </p:cNvPr>
              <p:cNvSpPr txBox="1"/>
              <p:nvPr/>
            </p:nvSpPr>
            <p:spPr>
              <a:xfrm>
                <a:off x="1373712" y="806528"/>
                <a:ext cx="1280746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622D9C-EA06-DC4E-BC4F-76A4E134B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712" y="806528"/>
                <a:ext cx="1280746" cy="552459"/>
              </a:xfrm>
              <a:prstGeom prst="rect">
                <a:avLst/>
              </a:prstGeom>
              <a:blipFill>
                <a:blip r:embed="rId4"/>
                <a:stretch>
                  <a:fillRect l="-3960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6348C0-EB9B-FA42-8EC8-7634285261E3}"/>
                  </a:ext>
                </a:extLst>
              </p:cNvPr>
              <p:cNvSpPr txBox="1"/>
              <p:nvPr/>
            </p:nvSpPr>
            <p:spPr>
              <a:xfrm>
                <a:off x="1074720" y="2338807"/>
                <a:ext cx="2885060" cy="294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CA" baseline="300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+ 1</a:t>
                </a:r>
                <a:r>
                  <a:rPr lang="en-CA" baseline="300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5</a:t>
                </a:r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br>
                  <a:rPr lang="en-CA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 1</a:t>
                </a:r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CA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Therefore,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6348C0-EB9B-FA42-8EC8-763428526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20" y="2338807"/>
                <a:ext cx="2885060" cy="2940164"/>
              </a:xfrm>
              <a:prstGeom prst="rect">
                <a:avLst/>
              </a:prstGeom>
              <a:blipFill>
                <a:blip r:embed="rId5"/>
                <a:stretch>
                  <a:fillRect l="-1754" b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889879-B252-9E43-A1A7-72CC072C87BE}"/>
                  </a:ext>
                </a:extLst>
              </p:cNvPr>
              <p:cNvSpPr txBox="1"/>
              <p:nvPr/>
            </p:nvSpPr>
            <p:spPr>
              <a:xfrm>
                <a:off x="1239239" y="1733267"/>
                <a:ext cx="1838067" cy="435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CA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 </m:t>
                      </m:r>
                      <m:rad>
                        <m:radPr>
                          <m:degHide m:val="on"/>
                          <m:ctrlPr>
                            <a:rPr lang="en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CA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889879-B252-9E43-A1A7-72CC072C8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239" y="1733267"/>
                <a:ext cx="1838067" cy="43544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82FE827-F86A-4B4D-9AD6-437CFC193675}"/>
              </a:ext>
            </a:extLst>
          </p:cNvPr>
          <p:cNvSpPr txBox="1"/>
          <p:nvPr/>
        </p:nvSpPr>
        <p:spPr>
          <a:xfrm>
            <a:off x="1074720" y="2378839"/>
            <a:ext cx="2084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CA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Squaring both sides,</a:t>
            </a:r>
            <a:endParaRPr lang="en-CA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D8C72-8699-554F-8207-7501CC0BB04B}"/>
              </a:ext>
            </a:extLst>
          </p:cNvPr>
          <p:cNvSpPr txBox="1"/>
          <p:nvPr/>
        </p:nvSpPr>
        <p:spPr>
          <a:xfrm rot="18010949">
            <a:off x="5399162" y="2731661"/>
            <a:ext cx="1393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Vector of unit length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B79103-DA33-D94C-8C3D-C58835C7D47D}"/>
              </a:ext>
            </a:extLst>
          </p:cNvPr>
          <p:cNvSpPr/>
          <p:nvPr/>
        </p:nvSpPr>
        <p:spPr>
          <a:xfrm>
            <a:off x="2091345" y="4085827"/>
            <a:ext cx="363415" cy="357219"/>
          </a:xfrm>
          <a:prstGeom prst="rect">
            <a:avLst/>
          </a:prstGeom>
          <a:noFill/>
          <a:ln w="19050"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BA5D3-92B7-984E-A047-A053871DB31A}"/>
                  </a:ext>
                </a:extLst>
              </p:cNvPr>
              <p:cNvSpPr txBox="1"/>
              <p:nvPr/>
            </p:nvSpPr>
            <p:spPr>
              <a:xfrm>
                <a:off x="1820984" y="5424457"/>
                <a:ext cx="2528277" cy="97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</a:t>
                </a:r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0.89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0.45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BA5D3-92B7-984E-A047-A053871DB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984" y="5424457"/>
                <a:ext cx="2528277" cy="972702"/>
              </a:xfrm>
              <a:prstGeom prst="rect">
                <a:avLst/>
              </a:prstGeom>
              <a:blipFill>
                <a:blip r:embed="rId7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CF74AA87-D398-E44C-B512-246F202CF6E5}"/>
              </a:ext>
            </a:extLst>
          </p:cNvPr>
          <p:cNvSpPr/>
          <p:nvPr/>
        </p:nvSpPr>
        <p:spPr>
          <a:xfrm>
            <a:off x="4622437" y="5351714"/>
            <a:ext cx="246184" cy="1118188"/>
          </a:xfrm>
          <a:prstGeom prst="rightBrace">
            <a:avLst/>
          </a:prstGeom>
          <a:ln w="19050">
            <a:solidFill>
              <a:srgbClr val="FF9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432FB7-F870-4E43-AB95-B921A4953D12}"/>
              </a:ext>
            </a:extLst>
          </p:cNvPr>
          <p:cNvSpPr txBox="1"/>
          <p:nvPr/>
        </p:nvSpPr>
        <p:spPr>
          <a:xfrm>
            <a:off x="5354102" y="5458778"/>
            <a:ext cx="3720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D7D3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tools report this normalized eigenvector of a matrix with unit length one.</a:t>
            </a:r>
          </a:p>
        </p:txBody>
      </p:sp>
    </p:spTree>
    <p:extLst>
      <p:ext uri="{BB962C8B-B14F-4D97-AF65-F5344CB8AC3E}">
        <p14:creationId xmlns:p14="http://schemas.microsoft.com/office/powerpoint/2010/main" val="4573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5F1F8B-5483-C245-B1D7-CFCD5D068E9C}"/>
              </a:ext>
            </a:extLst>
          </p:cNvPr>
          <p:cNvSpPr/>
          <p:nvPr/>
        </p:nvSpPr>
        <p:spPr>
          <a:xfrm>
            <a:off x="0" y="0"/>
            <a:ext cx="12192000" cy="1045445"/>
          </a:xfrm>
          <a:prstGeom prst="rect">
            <a:avLst/>
          </a:prstGeom>
          <a:solidFill>
            <a:srgbClr val="ED7D31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REFERNECE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88900-9A1F-6543-9E32-6FF36F4F0D55}"/>
              </a:ext>
            </a:extLst>
          </p:cNvPr>
          <p:cNvSpPr txBox="1"/>
          <p:nvPr/>
        </p:nvSpPr>
        <p:spPr>
          <a:xfrm>
            <a:off x="2356130" y="1922584"/>
            <a:ext cx="7479740" cy="523220"/>
          </a:xfrm>
          <a:prstGeom prst="rect">
            <a:avLst/>
          </a:prstGeom>
          <a:noFill/>
          <a:ln w="19050">
            <a:solidFill>
              <a:srgbClr val="FF93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www.youtube.com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watch?v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=N-49t1j-XWY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042E1-0E4C-B84B-B7C7-82749E14BEE9}"/>
              </a:ext>
            </a:extLst>
          </p:cNvPr>
          <p:cNvSpPr txBox="1"/>
          <p:nvPr/>
        </p:nvSpPr>
        <p:spPr>
          <a:xfrm>
            <a:off x="4886598" y="4089031"/>
            <a:ext cx="2418804" cy="646331"/>
          </a:xfrm>
          <a:prstGeom prst="rect">
            <a:avLst/>
          </a:prstGeom>
          <a:noFill/>
          <a:ln w="12700">
            <a:solidFill>
              <a:srgbClr val="FF9300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3513075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LightSeedRightStep">
      <a:dk1>
        <a:srgbClr val="000000"/>
      </a:dk1>
      <a:lt1>
        <a:srgbClr val="FFFFFF"/>
      </a:lt1>
      <a:dk2>
        <a:srgbClr val="412427"/>
      </a:dk2>
      <a:lt2>
        <a:srgbClr val="E2E8E7"/>
      </a:lt2>
      <a:accent1>
        <a:srgbClr val="C6969B"/>
      </a:accent1>
      <a:accent2>
        <a:srgbClr val="BA927F"/>
      </a:accent2>
      <a:accent3>
        <a:srgbClr val="AEA384"/>
      </a:accent3>
      <a:accent4>
        <a:srgbClr val="A0A873"/>
      </a:accent4>
      <a:accent5>
        <a:srgbClr val="93AB81"/>
      </a:accent5>
      <a:accent6>
        <a:srgbClr val="79B078"/>
      </a:accent6>
      <a:hlink>
        <a:srgbClr val="568E88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920</Words>
  <Application>Microsoft Macintosh PowerPoint</Application>
  <PresentationFormat>Widescreen</PresentationFormat>
  <Paragraphs>94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Trade Gothic Next Cond</vt:lpstr>
      <vt:lpstr>Trade Gothic Next Light</vt:lpstr>
      <vt:lpstr>PortalVTI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' Kanupriya</dc:creator>
  <cp:lastModifiedBy>' Kanupriya</cp:lastModifiedBy>
  <cp:revision>3</cp:revision>
  <dcterms:created xsi:type="dcterms:W3CDTF">2022-04-30T22:30:11Z</dcterms:created>
  <dcterms:modified xsi:type="dcterms:W3CDTF">2022-05-01T22:36:27Z</dcterms:modified>
</cp:coreProperties>
</file>