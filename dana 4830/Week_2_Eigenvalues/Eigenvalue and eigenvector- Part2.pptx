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3" r:id="rId8"/>
    <p:sldId id="262"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79"/>
    <p:restoredTop sz="79760"/>
  </p:normalViewPr>
  <p:slideViewPr>
    <p:cSldViewPr snapToGrid="0" snapToObjects="1">
      <p:cViewPr varScale="1">
        <p:scale>
          <a:sx n="99" d="100"/>
          <a:sy n="99" d="100"/>
        </p:scale>
        <p:origin x="140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48A39B-26FC-F942-AE10-FDCCACE17BC4}" type="datetimeFigureOut">
              <a:rPr lang="en-US" smtClean="0"/>
              <a:t>5/10/22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8FDEC9-2BCD-C24F-8042-1766D494DFC7}" type="slidenum">
              <a:rPr lang="en-US" smtClean="0"/>
              <a:t>‹#›</a:t>
            </a:fld>
            <a:endParaRPr lang="en-US"/>
          </a:p>
        </p:txBody>
      </p:sp>
    </p:spTree>
    <p:extLst>
      <p:ext uri="{BB962C8B-B14F-4D97-AF65-F5344CB8AC3E}">
        <p14:creationId xmlns:p14="http://schemas.microsoft.com/office/powerpoint/2010/main" val="4224237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calculate the two eigenvectors of matrix A, let’s multiply the right and side of the equation by identity matrix I, with same number of rows and columns as matrix A so that we have a two-by-two matrix on both sides. Then, we move all terms to the left-hand side in the equation. Right hand side represents. A zero vector. Then we pull out </a:t>
            </a:r>
            <a:r>
              <a:rPr lang="en-CA" sz="1200" kern="1200" dirty="0">
                <a:solidFill>
                  <a:schemeClr val="tx1"/>
                </a:solidFill>
                <a:effectLst/>
                <a:latin typeface="+mn-lt"/>
                <a:ea typeface="+mn-ea"/>
                <a:cs typeface="+mn-cs"/>
                <a:sym typeface="Symbol" pitchFamily="2" charset="2"/>
              </a:rPr>
              <a:t></a:t>
            </a:r>
            <a:r>
              <a:rPr lang="en-US" dirty="0"/>
              <a:t> from the two terms on left hand side. </a:t>
            </a:r>
          </a:p>
          <a:p>
            <a:r>
              <a:rPr lang="en-US" dirty="0"/>
              <a:t>RHS = right hand side</a:t>
            </a:r>
          </a:p>
          <a:p>
            <a:r>
              <a:rPr lang="en-US" dirty="0"/>
              <a:t>LHS = left hand side</a:t>
            </a:r>
          </a:p>
          <a:p>
            <a:endParaRPr lang="en-US" dirty="0"/>
          </a:p>
        </p:txBody>
      </p:sp>
      <p:sp>
        <p:nvSpPr>
          <p:cNvPr id="4" name="Slide Number Placeholder 3"/>
          <p:cNvSpPr>
            <a:spLocks noGrp="1"/>
          </p:cNvSpPr>
          <p:nvPr>
            <p:ph type="sldNum" sz="quarter" idx="5"/>
          </p:nvPr>
        </p:nvSpPr>
        <p:spPr/>
        <p:txBody>
          <a:bodyPr/>
          <a:lstStyle/>
          <a:p>
            <a:fld id="{3A8FDEC9-2BCD-C24F-8042-1766D494DFC7}" type="slidenum">
              <a:rPr lang="en-US" smtClean="0"/>
              <a:t>2</a:t>
            </a:fld>
            <a:endParaRPr lang="en-US"/>
          </a:p>
        </p:txBody>
      </p:sp>
    </p:spTree>
    <p:extLst>
      <p:ext uri="{BB962C8B-B14F-4D97-AF65-F5344CB8AC3E}">
        <p14:creationId xmlns:p14="http://schemas.microsoft.com/office/powerpoint/2010/main" val="247194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isolate the vector </a:t>
            </a:r>
            <a:r>
              <a:rPr lang="en-CA" dirty="0">
                <a:latin typeface="Calibri" panose="020F0502020204030204" pitchFamily="34" charset="0"/>
                <a:ea typeface="Times New Roman" panose="02020603050405020304" pitchFamily="18" charset="0"/>
                <a:cs typeface="Times New Roman" panose="02020603050405020304" pitchFamily="18" charset="0"/>
                <a:sym typeface="Symbol" pitchFamily="2" charset="2"/>
              </a:rPr>
              <a:t> on the left-hand side, imagine that we then would multiply by the inverse of the matrix on both sides so that, vector  is equal to the zero vector, which is trivial solution. However, an eigenvector should be a non-zero vector. Thus, we like to find a solution where this matrix is not invertible, which means no inverse of this matrix should exist. And if determinant of a matrix is zero, then we can not calculate its inverse. So, determinant if this matrix is zero.</a:t>
            </a:r>
            <a:endParaRPr lang="en-US" dirty="0"/>
          </a:p>
        </p:txBody>
      </p:sp>
      <p:sp>
        <p:nvSpPr>
          <p:cNvPr id="4" name="Slide Number Placeholder 3"/>
          <p:cNvSpPr>
            <a:spLocks noGrp="1"/>
          </p:cNvSpPr>
          <p:nvPr>
            <p:ph type="sldNum" sz="quarter" idx="5"/>
          </p:nvPr>
        </p:nvSpPr>
        <p:spPr/>
        <p:txBody>
          <a:bodyPr/>
          <a:lstStyle/>
          <a:p>
            <a:fld id="{3A8FDEC9-2BCD-C24F-8042-1766D494DFC7}" type="slidenum">
              <a:rPr lang="en-US" smtClean="0"/>
              <a:t>3</a:t>
            </a:fld>
            <a:endParaRPr lang="en-US"/>
          </a:p>
        </p:txBody>
      </p:sp>
    </p:spTree>
    <p:extLst>
      <p:ext uri="{BB962C8B-B14F-4D97-AF65-F5344CB8AC3E}">
        <p14:creationId xmlns:p14="http://schemas.microsoft.com/office/powerpoint/2010/main" val="3903465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plot how the left-hand side changes as a function of lambda, we get the following plot, where we can see that the function is equal to zero if lambda is set to either negative one or two</a:t>
            </a:r>
          </a:p>
        </p:txBody>
      </p:sp>
      <p:sp>
        <p:nvSpPr>
          <p:cNvPr id="4" name="Slide Number Placeholder 3"/>
          <p:cNvSpPr>
            <a:spLocks noGrp="1"/>
          </p:cNvSpPr>
          <p:nvPr>
            <p:ph type="sldNum" sz="quarter" idx="5"/>
          </p:nvPr>
        </p:nvSpPr>
        <p:spPr/>
        <p:txBody>
          <a:bodyPr/>
          <a:lstStyle/>
          <a:p>
            <a:fld id="{3A8FDEC9-2BCD-C24F-8042-1766D494DFC7}" type="slidenum">
              <a:rPr lang="en-US" smtClean="0"/>
              <a:t>5</a:t>
            </a:fld>
            <a:endParaRPr lang="en-US"/>
          </a:p>
        </p:txBody>
      </p:sp>
    </p:spTree>
    <p:extLst>
      <p:ext uri="{BB962C8B-B14F-4D97-AF65-F5344CB8AC3E}">
        <p14:creationId xmlns:p14="http://schemas.microsoft.com/office/powerpoint/2010/main" val="39774527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calculating eigenvalues, let’s calculate eigenvectors of matrix A. First, we calculate the eigenvector with the corresponding eigenvalue of two. Substitute lambda by two. Substituting the values of matrices in the equation and solve it. We will get two equations.</a:t>
            </a:r>
          </a:p>
        </p:txBody>
      </p:sp>
      <p:sp>
        <p:nvSpPr>
          <p:cNvPr id="4" name="Slide Number Placeholder 3"/>
          <p:cNvSpPr>
            <a:spLocks noGrp="1"/>
          </p:cNvSpPr>
          <p:nvPr>
            <p:ph type="sldNum" sz="quarter" idx="5"/>
          </p:nvPr>
        </p:nvSpPr>
        <p:spPr/>
        <p:txBody>
          <a:bodyPr/>
          <a:lstStyle/>
          <a:p>
            <a:fld id="{3A8FDEC9-2BCD-C24F-8042-1766D494DFC7}" type="slidenum">
              <a:rPr lang="en-US" smtClean="0"/>
              <a:t>6</a:t>
            </a:fld>
            <a:endParaRPr lang="en-US"/>
          </a:p>
        </p:txBody>
      </p:sp>
    </p:spTree>
    <p:extLst>
      <p:ext uri="{BB962C8B-B14F-4D97-AF65-F5344CB8AC3E}">
        <p14:creationId xmlns:p14="http://schemas.microsoft.com/office/powerpoint/2010/main" val="2916980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Performing the same calculations with eigenvalue=-1.</a:t>
            </a:r>
          </a:p>
        </p:txBody>
      </p:sp>
      <p:sp>
        <p:nvSpPr>
          <p:cNvPr id="4" name="Slide Number Placeholder 3"/>
          <p:cNvSpPr>
            <a:spLocks noGrp="1"/>
          </p:cNvSpPr>
          <p:nvPr>
            <p:ph type="sldNum" sz="quarter" idx="5"/>
          </p:nvPr>
        </p:nvSpPr>
        <p:spPr/>
        <p:txBody>
          <a:bodyPr/>
          <a:lstStyle/>
          <a:p>
            <a:fld id="{3A8FDEC9-2BCD-C24F-8042-1766D494DFC7}" type="slidenum">
              <a:rPr lang="en-US" smtClean="0"/>
              <a:t>7</a:t>
            </a:fld>
            <a:endParaRPr lang="en-US"/>
          </a:p>
        </p:txBody>
      </p:sp>
    </p:spTree>
    <p:extLst>
      <p:ext uri="{BB962C8B-B14F-4D97-AF65-F5344CB8AC3E}">
        <p14:creationId xmlns:p14="http://schemas.microsoft.com/office/powerpoint/2010/main" val="1287897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74B1B-015A-AB4C-8CF9-AAB4835A2E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C67B06-5805-E444-910F-6014FC29CD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4F33FF-A379-434D-80E9-78622DE006EA}"/>
              </a:ext>
            </a:extLst>
          </p:cNvPr>
          <p:cNvSpPr>
            <a:spLocks noGrp="1"/>
          </p:cNvSpPr>
          <p:nvPr>
            <p:ph type="dt" sz="half" idx="10"/>
          </p:nvPr>
        </p:nvSpPr>
        <p:spPr/>
        <p:txBody>
          <a:bodyPr/>
          <a:lstStyle/>
          <a:p>
            <a:fld id="{47D86195-19C0-E947-8422-19C1EEA40F66}" type="datetimeFigureOut">
              <a:rPr lang="en-US" smtClean="0"/>
              <a:t>5/10/22</a:t>
            </a:fld>
            <a:endParaRPr lang="en-US"/>
          </a:p>
        </p:txBody>
      </p:sp>
      <p:sp>
        <p:nvSpPr>
          <p:cNvPr id="5" name="Footer Placeholder 4">
            <a:extLst>
              <a:ext uri="{FF2B5EF4-FFF2-40B4-BE49-F238E27FC236}">
                <a16:creationId xmlns:a16="http://schemas.microsoft.com/office/drawing/2014/main" id="{CAC7471E-211D-9543-B857-313CDB6D6D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7B5275-D86F-114C-84F7-0422E175336B}"/>
              </a:ext>
            </a:extLst>
          </p:cNvPr>
          <p:cNvSpPr>
            <a:spLocks noGrp="1"/>
          </p:cNvSpPr>
          <p:nvPr>
            <p:ph type="sldNum" sz="quarter" idx="12"/>
          </p:nvPr>
        </p:nvSpPr>
        <p:spPr/>
        <p:txBody>
          <a:bodyPr/>
          <a:lstStyle/>
          <a:p>
            <a:fld id="{3597F1A1-F02D-E041-9C06-1C91B092840E}" type="slidenum">
              <a:rPr lang="en-US" smtClean="0"/>
              <a:t>‹#›</a:t>
            </a:fld>
            <a:endParaRPr lang="en-US"/>
          </a:p>
        </p:txBody>
      </p:sp>
    </p:spTree>
    <p:extLst>
      <p:ext uri="{BB962C8B-B14F-4D97-AF65-F5344CB8AC3E}">
        <p14:creationId xmlns:p14="http://schemas.microsoft.com/office/powerpoint/2010/main" val="428720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D10CC-6163-DB49-BD92-D0EBAD6082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1DCDD7-A292-EE42-94FE-D7A5F5295D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11C46-4AEF-724B-8E3D-6D2C0253DDBF}"/>
              </a:ext>
            </a:extLst>
          </p:cNvPr>
          <p:cNvSpPr>
            <a:spLocks noGrp="1"/>
          </p:cNvSpPr>
          <p:nvPr>
            <p:ph type="dt" sz="half" idx="10"/>
          </p:nvPr>
        </p:nvSpPr>
        <p:spPr/>
        <p:txBody>
          <a:bodyPr/>
          <a:lstStyle/>
          <a:p>
            <a:fld id="{47D86195-19C0-E947-8422-19C1EEA40F66}" type="datetimeFigureOut">
              <a:rPr lang="en-US" smtClean="0"/>
              <a:t>5/10/22</a:t>
            </a:fld>
            <a:endParaRPr lang="en-US"/>
          </a:p>
        </p:txBody>
      </p:sp>
      <p:sp>
        <p:nvSpPr>
          <p:cNvPr id="5" name="Footer Placeholder 4">
            <a:extLst>
              <a:ext uri="{FF2B5EF4-FFF2-40B4-BE49-F238E27FC236}">
                <a16:creationId xmlns:a16="http://schemas.microsoft.com/office/drawing/2014/main" id="{9673B499-1C31-7843-957D-D427508DF0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B74EE9-B645-9E43-AC31-A7A9BE139557}"/>
              </a:ext>
            </a:extLst>
          </p:cNvPr>
          <p:cNvSpPr>
            <a:spLocks noGrp="1"/>
          </p:cNvSpPr>
          <p:nvPr>
            <p:ph type="sldNum" sz="quarter" idx="12"/>
          </p:nvPr>
        </p:nvSpPr>
        <p:spPr/>
        <p:txBody>
          <a:bodyPr/>
          <a:lstStyle/>
          <a:p>
            <a:fld id="{3597F1A1-F02D-E041-9C06-1C91B092840E}" type="slidenum">
              <a:rPr lang="en-US" smtClean="0"/>
              <a:t>‹#›</a:t>
            </a:fld>
            <a:endParaRPr lang="en-US"/>
          </a:p>
        </p:txBody>
      </p:sp>
    </p:spTree>
    <p:extLst>
      <p:ext uri="{BB962C8B-B14F-4D97-AF65-F5344CB8AC3E}">
        <p14:creationId xmlns:p14="http://schemas.microsoft.com/office/powerpoint/2010/main" val="2882415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076DB-4095-894C-9759-EAE09D873C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FC7083-D0FD-F941-B393-864040633A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1EAF41-A496-E648-A21C-6EDB7BE2992B}"/>
              </a:ext>
            </a:extLst>
          </p:cNvPr>
          <p:cNvSpPr>
            <a:spLocks noGrp="1"/>
          </p:cNvSpPr>
          <p:nvPr>
            <p:ph type="dt" sz="half" idx="10"/>
          </p:nvPr>
        </p:nvSpPr>
        <p:spPr/>
        <p:txBody>
          <a:bodyPr/>
          <a:lstStyle/>
          <a:p>
            <a:fld id="{47D86195-19C0-E947-8422-19C1EEA40F66}" type="datetimeFigureOut">
              <a:rPr lang="en-US" smtClean="0"/>
              <a:t>5/10/22</a:t>
            </a:fld>
            <a:endParaRPr lang="en-US"/>
          </a:p>
        </p:txBody>
      </p:sp>
      <p:sp>
        <p:nvSpPr>
          <p:cNvPr id="5" name="Footer Placeholder 4">
            <a:extLst>
              <a:ext uri="{FF2B5EF4-FFF2-40B4-BE49-F238E27FC236}">
                <a16:creationId xmlns:a16="http://schemas.microsoft.com/office/drawing/2014/main" id="{3EBD3090-AEBB-B54B-83D3-E62814560E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20D4D4-A029-F045-992B-CE8E22D1B03E}"/>
              </a:ext>
            </a:extLst>
          </p:cNvPr>
          <p:cNvSpPr>
            <a:spLocks noGrp="1"/>
          </p:cNvSpPr>
          <p:nvPr>
            <p:ph type="sldNum" sz="quarter" idx="12"/>
          </p:nvPr>
        </p:nvSpPr>
        <p:spPr/>
        <p:txBody>
          <a:bodyPr/>
          <a:lstStyle/>
          <a:p>
            <a:fld id="{3597F1A1-F02D-E041-9C06-1C91B092840E}" type="slidenum">
              <a:rPr lang="en-US" smtClean="0"/>
              <a:t>‹#›</a:t>
            </a:fld>
            <a:endParaRPr lang="en-US"/>
          </a:p>
        </p:txBody>
      </p:sp>
    </p:spTree>
    <p:extLst>
      <p:ext uri="{BB962C8B-B14F-4D97-AF65-F5344CB8AC3E}">
        <p14:creationId xmlns:p14="http://schemas.microsoft.com/office/powerpoint/2010/main" val="2141308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26FC4-F906-594A-8D91-25F7934A63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221774-17F1-3E4C-BE9C-952FBC12FE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D71246-D26C-1344-BFA8-6512BF244B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84E9F8-CF4C-CD4A-A167-EB334E077B90}"/>
              </a:ext>
            </a:extLst>
          </p:cNvPr>
          <p:cNvSpPr>
            <a:spLocks noGrp="1"/>
          </p:cNvSpPr>
          <p:nvPr>
            <p:ph type="dt" sz="half" idx="10"/>
          </p:nvPr>
        </p:nvSpPr>
        <p:spPr/>
        <p:txBody>
          <a:bodyPr/>
          <a:lstStyle/>
          <a:p>
            <a:fld id="{47D86195-19C0-E947-8422-19C1EEA40F66}" type="datetimeFigureOut">
              <a:rPr lang="en-US" smtClean="0"/>
              <a:t>5/10/22</a:t>
            </a:fld>
            <a:endParaRPr lang="en-US"/>
          </a:p>
        </p:txBody>
      </p:sp>
      <p:sp>
        <p:nvSpPr>
          <p:cNvPr id="6" name="Footer Placeholder 5">
            <a:extLst>
              <a:ext uri="{FF2B5EF4-FFF2-40B4-BE49-F238E27FC236}">
                <a16:creationId xmlns:a16="http://schemas.microsoft.com/office/drawing/2014/main" id="{097663D6-F20F-7844-8ECE-1F5A1AD38D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566FE7-FF57-FE4E-8CA1-83E312218171}"/>
              </a:ext>
            </a:extLst>
          </p:cNvPr>
          <p:cNvSpPr>
            <a:spLocks noGrp="1"/>
          </p:cNvSpPr>
          <p:nvPr>
            <p:ph type="sldNum" sz="quarter" idx="12"/>
          </p:nvPr>
        </p:nvSpPr>
        <p:spPr/>
        <p:txBody>
          <a:bodyPr/>
          <a:lstStyle/>
          <a:p>
            <a:fld id="{3597F1A1-F02D-E041-9C06-1C91B092840E}" type="slidenum">
              <a:rPr lang="en-US" smtClean="0"/>
              <a:t>‹#›</a:t>
            </a:fld>
            <a:endParaRPr lang="en-US"/>
          </a:p>
        </p:txBody>
      </p:sp>
    </p:spTree>
    <p:extLst>
      <p:ext uri="{BB962C8B-B14F-4D97-AF65-F5344CB8AC3E}">
        <p14:creationId xmlns:p14="http://schemas.microsoft.com/office/powerpoint/2010/main" val="2013748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F6DB5-E709-D348-B721-3AD219349E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93D817-3964-2144-AB3A-84CF37DC89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34E1D3-590A-F442-B129-00FAB15FD3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801A27A-7F99-404E-AD09-D460B6EA27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995765-CFF2-1043-B912-711D2DC3C7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2872118-077B-504B-B8B7-1DD992341940}"/>
              </a:ext>
            </a:extLst>
          </p:cNvPr>
          <p:cNvSpPr>
            <a:spLocks noGrp="1"/>
          </p:cNvSpPr>
          <p:nvPr>
            <p:ph type="dt" sz="half" idx="10"/>
          </p:nvPr>
        </p:nvSpPr>
        <p:spPr/>
        <p:txBody>
          <a:bodyPr/>
          <a:lstStyle/>
          <a:p>
            <a:fld id="{47D86195-19C0-E947-8422-19C1EEA40F66}" type="datetimeFigureOut">
              <a:rPr lang="en-US" smtClean="0"/>
              <a:t>5/10/22</a:t>
            </a:fld>
            <a:endParaRPr lang="en-US"/>
          </a:p>
        </p:txBody>
      </p:sp>
      <p:sp>
        <p:nvSpPr>
          <p:cNvPr id="8" name="Footer Placeholder 7">
            <a:extLst>
              <a:ext uri="{FF2B5EF4-FFF2-40B4-BE49-F238E27FC236}">
                <a16:creationId xmlns:a16="http://schemas.microsoft.com/office/drawing/2014/main" id="{FCADCED4-751E-4D46-960D-DE789917B98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7790A66-2A45-C743-8C0D-EC3F49618D9C}"/>
              </a:ext>
            </a:extLst>
          </p:cNvPr>
          <p:cNvSpPr>
            <a:spLocks noGrp="1"/>
          </p:cNvSpPr>
          <p:nvPr>
            <p:ph type="sldNum" sz="quarter" idx="12"/>
          </p:nvPr>
        </p:nvSpPr>
        <p:spPr/>
        <p:txBody>
          <a:bodyPr/>
          <a:lstStyle/>
          <a:p>
            <a:fld id="{3597F1A1-F02D-E041-9C06-1C91B092840E}" type="slidenum">
              <a:rPr lang="en-US" smtClean="0"/>
              <a:t>‹#›</a:t>
            </a:fld>
            <a:endParaRPr lang="en-US"/>
          </a:p>
        </p:txBody>
      </p:sp>
    </p:spTree>
    <p:extLst>
      <p:ext uri="{BB962C8B-B14F-4D97-AF65-F5344CB8AC3E}">
        <p14:creationId xmlns:p14="http://schemas.microsoft.com/office/powerpoint/2010/main" val="3840879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EEFA3-5F05-2540-AB26-ADD8FBFE2FF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4A490A-AC70-4D4F-9E06-8474394DE3E3}"/>
              </a:ext>
            </a:extLst>
          </p:cNvPr>
          <p:cNvSpPr>
            <a:spLocks noGrp="1"/>
          </p:cNvSpPr>
          <p:nvPr>
            <p:ph type="dt" sz="half" idx="10"/>
          </p:nvPr>
        </p:nvSpPr>
        <p:spPr/>
        <p:txBody>
          <a:bodyPr/>
          <a:lstStyle/>
          <a:p>
            <a:fld id="{47D86195-19C0-E947-8422-19C1EEA40F66}" type="datetimeFigureOut">
              <a:rPr lang="en-US" smtClean="0"/>
              <a:t>5/10/22</a:t>
            </a:fld>
            <a:endParaRPr lang="en-US"/>
          </a:p>
        </p:txBody>
      </p:sp>
      <p:sp>
        <p:nvSpPr>
          <p:cNvPr id="4" name="Footer Placeholder 3">
            <a:extLst>
              <a:ext uri="{FF2B5EF4-FFF2-40B4-BE49-F238E27FC236}">
                <a16:creationId xmlns:a16="http://schemas.microsoft.com/office/drawing/2014/main" id="{17948E8A-C51E-F24B-B6C3-0CC9625A16D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0009C8-20C9-CE48-AFA2-A78FFFEE63F9}"/>
              </a:ext>
            </a:extLst>
          </p:cNvPr>
          <p:cNvSpPr>
            <a:spLocks noGrp="1"/>
          </p:cNvSpPr>
          <p:nvPr>
            <p:ph type="sldNum" sz="quarter" idx="12"/>
          </p:nvPr>
        </p:nvSpPr>
        <p:spPr/>
        <p:txBody>
          <a:bodyPr/>
          <a:lstStyle/>
          <a:p>
            <a:fld id="{3597F1A1-F02D-E041-9C06-1C91B092840E}" type="slidenum">
              <a:rPr lang="en-US" smtClean="0"/>
              <a:t>‹#›</a:t>
            </a:fld>
            <a:endParaRPr lang="en-US"/>
          </a:p>
        </p:txBody>
      </p:sp>
    </p:spTree>
    <p:extLst>
      <p:ext uri="{BB962C8B-B14F-4D97-AF65-F5344CB8AC3E}">
        <p14:creationId xmlns:p14="http://schemas.microsoft.com/office/powerpoint/2010/main" val="773733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687DCF-1D4C-D540-9A5D-83692DA15B4E}"/>
              </a:ext>
            </a:extLst>
          </p:cNvPr>
          <p:cNvSpPr>
            <a:spLocks noGrp="1"/>
          </p:cNvSpPr>
          <p:nvPr>
            <p:ph type="dt" sz="half" idx="10"/>
          </p:nvPr>
        </p:nvSpPr>
        <p:spPr/>
        <p:txBody>
          <a:bodyPr/>
          <a:lstStyle/>
          <a:p>
            <a:fld id="{47D86195-19C0-E947-8422-19C1EEA40F66}" type="datetimeFigureOut">
              <a:rPr lang="en-US" smtClean="0"/>
              <a:t>5/10/22</a:t>
            </a:fld>
            <a:endParaRPr lang="en-US"/>
          </a:p>
        </p:txBody>
      </p:sp>
      <p:sp>
        <p:nvSpPr>
          <p:cNvPr id="3" name="Footer Placeholder 2">
            <a:extLst>
              <a:ext uri="{FF2B5EF4-FFF2-40B4-BE49-F238E27FC236}">
                <a16:creationId xmlns:a16="http://schemas.microsoft.com/office/drawing/2014/main" id="{AA405092-EE3B-1A4F-A99D-FB26C85A9E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C25555-1747-6041-A47B-6A372E2ED02D}"/>
              </a:ext>
            </a:extLst>
          </p:cNvPr>
          <p:cNvSpPr>
            <a:spLocks noGrp="1"/>
          </p:cNvSpPr>
          <p:nvPr>
            <p:ph type="sldNum" sz="quarter" idx="12"/>
          </p:nvPr>
        </p:nvSpPr>
        <p:spPr/>
        <p:txBody>
          <a:bodyPr/>
          <a:lstStyle/>
          <a:p>
            <a:fld id="{3597F1A1-F02D-E041-9C06-1C91B092840E}" type="slidenum">
              <a:rPr lang="en-US" smtClean="0"/>
              <a:t>‹#›</a:t>
            </a:fld>
            <a:endParaRPr lang="en-US"/>
          </a:p>
        </p:txBody>
      </p:sp>
    </p:spTree>
    <p:extLst>
      <p:ext uri="{BB962C8B-B14F-4D97-AF65-F5344CB8AC3E}">
        <p14:creationId xmlns:p14="http://schemas.microsoft.com/office/powerpoint/2010/main" val="1649550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FCCAD-D285-9A43-8337-F7FC15DBED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83F033-B9E6-DA43-BC6C-E690964B9B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E0137FD-99A4-9F46-A031-010790C281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9A47DD-371D-CC47-AE81-876784510DFB}"/>
              </a:ext>
            </a:extLst>
          </p:cNvPr>
          <p:cNvSpPr>
            <a:spLocks noGrp="1"/>
          </p:cNvSpPr>
          <p:nvPr>
            <p:ph type="dt" sz="half" idx="10"/>
          </p:nvPr>
        </p:nvSpPr>
        <p:spPr/>
        <p:txBody>
          <a:bodyPr/>
          <a:lstStyle/>
          <a:p>
            <a:fld id="{47D86195-19C0-E947-8422-19C1EEA40F66}" type="datetimeFigureOut">
              <a:rPr lang="en-US" smtClean="0"/>
              <a:t>5/10/22</a:t>
            </a:fld>
            <a:endParaRPr lang="en-US"/>
          </a:p>
        </p:txBody>
      </p:sp>
      <p:sp>
        <p:nvSpPr>
          <p:cNvPr id="6" name="Footer Placeholder 5">
            <a:extLst>
              <a:ext uri="{FF2B5EF4-FFF2-40B4-BE49-F238E27FC236}">
                <a16:creationId xmlns:a16="http://schemas.microsoft.com/office/drawing/2014/main" id="{3F18C084-F648-C04A-8996-DF57DED331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F8469F-2665-5947-AA18-8D13269A1046}"/>
              </a:ext>
            </a:extLst>
          </p:cNvPr>
          <p:cNvSpPr>
            <a:spLocks noGrp="1"/>
          </p:cNvSpPr>
          <p:nvPr>
            <p:ph type="sldNum" sz="quarter" idx="12"/>
          </p:nvPr>
        </p:nvSpPr>
        <p:spPr/>
        <p:txBody>
          <a:bodyPr/>
          <a:lstStyle/>
          <a:p>
            <a:fld id="{3597F1A1-F02D-E041-9C06-1C91B092840E}" type="slidenum">
              <a:rPr lang="en-US" smtClean="0"/>
              <a:t>‹#›</a:t>
            </a:fld>
            <a:endParaRPr lang="en-US"/>
          </a:p>
        </p:txBody>
      </p:sp>
    </p:spTree>
    <p:extLst>
      <p:ext uri="{BB962C8B-B14F-4D97-AF65-F5344CB8AC3E}">
        <p14:creationId xmlns:p14="http://schemas.microsoft.com/office/powerpoint/2010/main" val="43096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78EAF-38CC-4542-9001-7A31D351F3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D4B2B9-6A7F-3742-88F2-56DC4185DD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62C971-7FD6-3644-A2D0-6F1B1E28CB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7B9E86-E977-7848-BC9A-824C42B6C612}"/>
              </a:ext>
            </a:extLst>
          </p:cNvPr>
          <p:cNvSpPr>
            <a:spLocks noGrp="1"/>
          </p:cNvSpPr>
          <p:nvPr>
            <p:ph type="dt" sz="half" idx="10"/>
          </p:nvPr>
        </p:nvSpPr>
        <p:spPr/>
        <p:txBody>
          <a:bodyPr/>
          <a:lstStyle/>
          <a:p>
            <a:fld id="{47D86195-19C0-E947-8422-19C1EEA40F66}" type="datetimeFigureOut">
              <a:rPr lang="en-US" smtClean="0"/>
              <a:t>5/10/22</a:t>
            </a:fld>
            <a:endParaRPr lang="en-US"/>
          </a:p>
        </p:txBody>
      </p:sp>
      <p:sp>
        <p:nvSpPr>
          <p:cNvPr id="6" name="Footer Placeholder 5">
            <a:extLst>
              <a:ext uri="{FF2B5EF4-FFF2-40B4-BE49-F238E27FC236}">
                <a16:creationId xmlns:a16="http://schemas.microsoft.com/office/drawing/2014/main" id="{E91B55CC-A4D5-3042-AF69-D88E680DBF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217C1A-8847-3B49-8830-16890BD4480C}"/>
              </a:ext>
            </a:extLst>
          </p:cNvPr>
          <p:cNvSpPr>
            <a:spLocks noGrp="1"/>
          </p:cNvSpPr>
          <p:nvPr>
            <p:ph type="sldNum" sz="quarter" idx="12"/>
          </p:nvPr>
        </p:nvSpPr>
        <p:spPr/>
        <p:txBody>
          <a:bodyPr/>
          <a:lstStyle/>
          <a:p>
            <a:fld id="{3597F1A1-F02D-E041-9C06-1C91B092840E}" type="slidenum">
              <a:rPr lang="en-US" smtClean="0"/>
              <a:t>‹#›</a:t>
            </a:fld>
            <a:endParaRPr lang="en-US"/>
          </a:p>
        </p:txBody>
      </p:sp>
    </p:spTree>
    <p:extLst>
      <p:ext uri="{BB962C8B-B14F-4D97-AF65-F5344CB8AC3E}">
        <p14:creationId xmlns:p14="http://schemas.microsoft.com/office/powerpoint/2010/main" val="875829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7DEE3-207E-4746-876A-AD7ACE44BB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93F438-0EE4-4C45-857C-37DC422680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8ECB66-BF7C-9C4F-B668-E5E2F1F0C398}"/>
              </a:ext>
            </a:extLst>
          </p:cNvPr>
          <p:cNvSpPr>
            <a:spLocks noGrp="1"/>
          </p:cNvSpPr>
          <p:nvPr>
            <p:ph type="dt" sz="half" idx="10"/>
          </p:nvPr>
        </p:nvSpPr>
        <p:spPr/>
        <p:txBody>
          <a:bodyPr/>
          <a:lstStyle/>
          <a:p>
            <a:fld id="{47D86195-19C0-E947-8422-19C1EEA40F66}" type="datetimeFigureOut">
              <a:rPr lang="en-US" smtClean="0"/>
              <a:t>5/10/22</a:t>
            </a:fld>
            <a:endParaRPr lang="en-US"/>
          </a:p>
        </p:txBody>
      </p:sp>
      <p:sp>
        <p:nvSpPr>
          <p:cNvPr id="5" name="Footer Placeholder 4">
            <a:extLst>
              <a:ext uri="{FF2B5EF4-FFF2-40B4-BE49-F238E27FC236}">
                <a16:creationId xmlns:a16="http://schemas.microsoft.com/office/drawing/2014/main" id="{881E46B0-6002-2446-BB56-3E6CF3998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57764B-E147-CF4F-95FA-4DF3F9DE60A5}"/>
              </a:ext>
            </a:extLst>
          </p:cNvPr>
          <p:cNvSpPr>
            <a:spLocks noGrp="1"/>
          </p:cNvSpPr>
          <p:nvPr>
            <p:ph type="sldNum" sz="quarter" idx="12"/>
          </p:nvPr>
        </p:nvSpPr>
        <p:spPr/>
        <p:txBody>
          <a:bodyPr/>
          <a:lstStyle/>
          <a:p>
            <a:fld id="{3597F1A1-F02D-E041-9C06-1C91B092840E}" type="slidenum">
              <a:rPr lang="en-US" smtClean="0"/>
              <a:t>‹#›</a:t>
            </a:fld>
            <a:endParaRPr lang="en-US"/>
          </a:p>
        </p:txBody>
      </p:sp>
    </p:spTree>
    <p:extLst>
      <p:ext uri="{BB962C8B-B14F-4D97-AF65-F5344CB8AC3E}">
        <p14:creationId xmlns:p14="http://schemas.microsoft.com/office/powerpoint/2010/main" val="3025120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9AE0A1-F1CC-0A41-84F1-0E6D0B74A4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BD2D4D-3275-C84D-A811-110A009E06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7D5EA3-79BB-6F4D-A08B-BFF1AFA6A06C}"/>
              </a:ext>
            </a:extLst>
          </p:cNvPr>
          <p:cNvSpPr>
            <a:spLocks noGrp="1"/>
          </p:cNvSpPr>
          <p:nvPr>
            <p:ph type="dt" sz="half" idx="10"/>
          </p:nvPr>
        </p:nvSpPr>
        <p:spPr/>
        <p:txBody>
          <a:bodyPr/>
          <a:lstStyle/>
          <a:p>
            <a:fld id="{47D86195-19C0-E947-8422-19C1EEA40F66}" type="datetimeFigureOut">
              <a:rPr lang="en-US" smtClean="0"/>
              <a:t>5/10/22</a:t>
            </a:fld>
            <a:endParaRPr lang="en-US"/>
          </a:p>
        </p:txBody>
      </p:sp>
      <p:sp>
        <p:nvSpPr>
          <p:cNvPr id="5" name="Footer Placeholder 4">
            <a:extLst>
              <a:ext uri="{FF2B5EF4-FFF2-40B4-BE49-F238E27FC236}">
                <a16:creationId xmlns:a16="http://schemas.microsoft.com/office/drawing/2014/main" id="{F0266D52-8EFF-7844-98BF-897B55AF76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0EE821-93C1-7D41-983E-E0E5777D4836}"/>
              </a:ext>
            </a:extLst>
          </p:cNvPr>
          <p:cNvSpPr>
            <a:spLocks noGrp="1"/>
          </p:cNvSpPr>
          <p:nvPr>
            <p:ph type="sldNum" sz="quarter" idx="12"/>
          </p:nvPr>
        </p:nvSpPr>
        <p:spPr/>
        <p:txBody>
          <a:bodyPr/>
          <a:lstStyle/>
          <a:p>
            <a:fld id="{3597F1A1-F02D-E041-9C06-1C91B092840E}" type="slidenum">
              <a:rPr lang="en-US" smtClean="0"/>
              <a:t>‹#›</a:t>
            </a:fld>
            <a:endParaRPr lang="en-US"/>
          </a:p>
        </p:txBody>
      </p:sp>
    </p:spTree>
    <p:extLst>
      <p:ext uri="{BB962C8B-B14F-4D97-AF65-F5344CB8AC3E}">
        <p14:creationId xmlns:p14="http://schemas.microsoft.com/office/powerpoint/2010/main" val="3179981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57549B-46C3-A041-8EA7-079B7D58D5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84373C-2792-2444-A827-9C663587B9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B9A56D-E4BE-3249-B92C-E42A01863C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86195-19C0-E947-8422-19C1EEA40F66}" type="datetimeFigureOut">
              <a:rPr lang="en-US" smtClean="0"/>
              <a:t>5/10/22</a:t>
            </a:fld>
            <a:endParaRPr lang="en-US"/>
          </a:p>
        </p:txBody>
      </p:sp>
      <p:sp>
        <p:nvSpPr>
          <p:cNvPr id="5" name="Footer Placeholder 4">
            <a:extLst>
              <a:ext uri="{FF2B5EF4-FFF2-40B4-BE49-F238E27FC236}">
                <a16:creationId xmlns:a16="http://schemas.microsoft.com/office/drawing/2014/main" id="{61A5A23A-C940-E44C-B560-03F1DD3806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172A75F-3EAF-3D47-8A43-70BE3EBC3C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97F1A1-F02D-E041-9C06-1C91B092840E}" type="slidenum">
              <a:rPr lang="en-US" smtClean="0"/>
              <a:t>‹#›</a:t>
            </a:fld>
            <a:endParaRPr lang="en-US"/>
          </a:p>
        </p:txBody>
      </p:sp>
    </p:spTree>
    <p:extLst>
      <p:ext uri="{BB962C8B-B14F-4D97-AF65-F5344CB8AC3E}">
        <p14:creationId xmlns:p14="http://schemas.microsoft.com/office/powerpoint/2010/main" val="30608220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4E984-FF61-4A4F-A8A2-6959F31E885C}"/>
              </a:ext>
            </a:extLst>
          </p:cNvPr>
          <p:cNvSpPr>
            <a:spLocks noGrp="1"/>
          </p:cNvSpPr>
          <p:nvPr>
            <p:ph type="ctrTitle"/>
          </p:nvPr>
        </p:nvSpPr>
        <p:spPr>
          <a:xfrm>
            <a:off x="3982733" y="898959"/>
            <a:ext cx="7904468" cy="4424363"/>
          </a:xfrm>
          <a:ln w="28575">
            <a:solidFill>
              <a:schemeClr val="accent2"/>
            </a:solidFill>
          </a:ln>
        </p:spPr>
        <p:txBody>
          <a:bodyPr>
            <a:normAutofit/>
          </a:bodyPr>
          <a:lstStyle/>
          <a:p>
            <a:r>
              <a:rPr lang="en-US" sz="5400" dirty="0"/>
              <a:t>MATHEMATICS </a:t>
            </a:r>
            <a:br>
              <a:rPr lang="en-US" sz="5400" dirty="0"/>
            </a:br>
            <a:r>
              <a:rPr lang="en-US" sz="5400" dirty="0"/>
              <a:t>BEHIND </a:t>
            </a:r>
            <a:br>
              <a:rPr lang="en-US" sz="5400" dirty="0"/>
            </a:br>
            <a:r>
              <a:rPr lang="en-US" sz="5400" dirty="0"/>
              <a:t>EIGENVECTORS </a:t>
            </a:r>
            <a:br>
              <a:rPr lang="en-US" sz="5400" dirty="0"/>
            </a:br>
            <a:r>
              <a:rPr lang="en-US" sz="5400" dirty="0"/>
              <a:t>AND </a:t>
            </a:r>
            <a:br>
              <a:rPr lang="en-US" sz="5400" dirty="0"/>
            </a:br>
            <a:r>
              <a:rPr lang="en-US" sz="5400" dirty="0"/>
              <a:t>EIGENVALUES</a:t>
            </a:r>
          </a:p>
        </p:txBody>
      </p:sp>
      <p:sp>
        <p:nvSpPr>
          <p:cNvPr id="4" name="Delay 3">
            <a:extLst>
              <a:ext uri="{FF2B5EF4-FFF2-40B4-BE49-F238E27FC236}">
                <a16:creationId xmlns:a16="http://schemas.microsoft.com/office/drawing/2014/main" id="{A5AFE0A4-AFAB-5C43-A0DA-61A45FB6516F}"/>
              </a:ext>
            </a:extLst>
          </p:cNvPr>
          <p:cNvSpPr/>
          <p:nvPr/>
        </p:nvSpPr>
        <p:spPr>
          <a:xfrm>
            <a:off x="0" y="0"/>
            <a:ext cx="5059680" cy="6858000"/>
          </a:xfrm>
          <a:prstGeom prst="flowChartDelay">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3200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65C59ACB-284B-804D-B4CC-848999C392C2}"/>
                  </a:ext>
                </a:extLst>
              </p:cNvPr>
              <p:cNvSpPr/>
              <p:nvPr/>
            </p:nvSpPr>
            <p:spPr>
              <a:xfrm>
                <a:off x="680484" y="1568899"/>
                <a:ext cx="1526765" cy="708143"/>
              </a:xfrm>
              <a:prstGeom prst="rect">
                <a:avLst/>
              </a:prstGeom>
            </p:spPr>
            <p:txBody>
              <a:bodyPr wrap="none">
                <a:spAutoFit/>
              </a:bodyPr>
              <a:lstStyle/>
              <a:p>
                <a:r>
                  <a:rPr lang="en-CA" sz="2400" dirty="0">
                    <a:latin typeface="Calibri" panose="020F0502020204030204" pitchFamily="34" charset="0"/>
                    <a:ea typeface="Times New Roman" panose="02020603050405020304" pitchFamily="18" charset="0"/>
                    <a:cs typeface="Times New Roman" panose="02020603050405020304" pitchFamily="18" charset="0"/>
                  </a:rPr>
                  <a:t>A= </a:t>
                </a:r>
                <a14:m>
                  <m:oMath xmlns:m="http://schemas.openxmlformats.org/officeDocument/2006/math">
                    <m:d>
                      <m:dPr>
                        <m:begChr m:val="["/>
                        <m:endChr m:val="]"/>
                        <m:ctrlPr>
                          <a:rPr lang="en-CA" sz="2400" i="1">
                            <a:latin typeface="Cambria Math" panose="02040503050406030204" pitchFamily="18" charset="0"/>
                            <a:ea typeface="Times New Roman" panose="02020603050405020304" pitchFamily="18" charset="0"/>
                          </a:rPr>
                        </m:ctrlPr>
                      </m:dPr>
                      <m:e>
                        <m:m>
                          <m:mPr>
                            <m:mcs>
                              <m:mc>
                                <m:mcPr>
                                  <m:count m:val="2"/>
                                  <m:mcJc m:val="center"/>
                                </m:mcPr>
                              </m:mc>
                            </m:mcs>
                            <m:ctrlPr>
                              <a:rPr lang="en-CA" sz="2400" i="1">
                                <a:latin typeface="Cambria Math" panose="02040503050406030204" pitchFamily="18" charset="0"/>
                                <a:ea typeface="Times New Roman" panose="02020603050405020304" pitchFamily="18" charset="0"/>
                              </a:rPr>
                            </m:ctrlPr>
                          </m:mPr>
                          <m:mr>
                            <m:e>
                              <m:r>
                                <a:rPr lang="en-CA" sz="2400" i="1">
                                  <a:latin typeface="Cambria Math" panose="02040503050406030204" pitchFamily="18" charset="0"/>
                                  <a:ea typeface="Times New Roman" panose="02020603050405020304" pitchFamily="18" charset="0"/>
                                  <a:cs typeface="Times New Roman" panose="02020603050405020304" pitchFamily="18" charset="0"/>
                                </a:rPr>
                                <m:t>1</m:t>
                              </m:r>
                            </m:e>
                            <m:e>
                              <m:r>
                                <a:rPr lang="en-CA" sz="2400" i="1">
                                  <a:latin typeface="Cambria Math" panose="02040503050406030204" pitchFamily="18" charset="0"/>
                                  <a:ea typeface="Cambria Math" panose="02040503050406030204" pitchFamily="18" charset="0"/>
                                  <a:cs typeface="Cambria Math" panose="02040503050406030204" pitchFamily="18" charset="0"/>
                                </a:rPr>
                                <m:t>2</m:t>
                              </m:r>
                            </m:e>
                          </m:mr>
                          <m:mr>
                            <m:e>
                              <m:r>
                                <a:rPr lang="en-CA" sz="2400" i="1">
                                  <a:latin typeface="Cambria Math" panose="02040503050406030204" pitchFamily="18" charset="0"/>
                                  <a:ea typeface="Times New Roman" panose="02020603050405020304" pitchFamily="18" charset="0"/>
                                  <a:cs typeface="Times New Roman" panose="02020603050405020304" pitchFamily="18" charset="0"/>
                                </a:rPr>
                                <m:t>1</m:t>
                              </m:r>
                            </m:e>
                            <m:e>
                              <m:r>
                                <a:rPr lang="en-CA" sz="2400" i="1">
                                  <a:latin typeface="Cambria Math" panose="02040503050406030204" pitchFamily="18" charset="0"/>
                                  <a:ea typeface="Cambria Math" panose="02040503050406030204" pitchFamily="18" charset="0"/>
                                  <a:cs typeface="Cambria Math" panose="02040503050406030204" pitchFamily="18" charset="0"/>
                                </a:rPr>
                                <m:t>0</m:t>
                              </m:r>
                            </m:e>
                          </m:mr>
                        </m:m>
                      </m:e>
                    </m:d>
                  </m:oMath>
                </a14:m>
                <a:r>
                  <a:rPr lang="en-CA" sz="2400" dirty="0">
                    <a:latin typeface="Calibri" panose="020F0502020204030204" pitchFamily="34" charset="0"/>
                    <a:ea typeface="Times New Roman" panose="02020603050405020304" pitchFamily="18" charset="0"/>
                    <a:cs typeface="Times New Roman" panose="02020603050405020304" pitchFamily="18" charset="0"/>
                  </a:rPr>
                  <a:t> </a:t>
                </a:r>
                <a:endParaRPr lang="en-US" sz="2400" dirty="0"/>
              </a:p>
            </p:txBody>
          </p:sp>
        </mc:Choice>
        <mc:Fallback xmlns="">
          <p:sp>
            <p:nvSpPr>
              <p:cNvPr id="4" name="Rectangle 3">
                <a:extLst>
                  <a:ext uri="{FF2B5EF4-FFF2-40B4-BE49-F238E27FC236}">
                    <a16:creationId xmlns:a16="http://schemas.microsoft.com/office/drawing/2014/main" id="{65C59ACB-284B-804D-B4CC-848999C392C2}"/>
                  </a:ext>
                </a:extLst>
              </p:cNvPr>
              <p:cNvSpPr>
                <a:spLocks noRot="1" noChangeAspect="1" noMove="1" noResize="1" noEditPoints="1" noAdjustHandles="1" noChangeArrowheads="1" noChangeShapeType="1" noTextEdit="1"/>
              </p:cNvSpPr>
              <p:nvPr/>
            </p:nvSpPr>
            <p:spPr>
              <a:xfrm>
                <a:off x="680484" y="1568899"/>
                <a:ext cx="1526765" cy="708143"/>
              </a:xfrm>
              <a:prstGeom prst="rect">
                <a:avLst/>
              </a:prstGeom>
              <a:blipFill>
                <a:blip r:embed="rId3"/>
                <a:stretch>
                  <a:fillRect l="-5785" b="-7018"/>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EFDB7657-1DBC-DC49-AB21-769F1543745C}"/>
              </a:ext>
            </a:extLst>
          </p:cNvPr>
          <p:cNvSpPr/>
          <p:nvPr/>
        </p:nvSpPr>
        <p:spPr>
          <a:xfrm>
            <a:off x="3960713" y="1568900"/>
            <a:ext cx="2982346" cy="3108543"/>
          </a:xfrm>
          <a:prstGeom prst="rect">
            <a:avLst/>
          </a:prstGeom>
          <a:ln w="12700">
            <a:solidFill>
              <a:schemeClr val="accent2"/>
            </a:solidFill>
          </a:ln>
        </p:spPr>
        <p:txBody>
          <a:bodyPr wrap="square">
            <a:spAutoFit/>
          </a:bodyPr>
          <a:lstStyle/>
          <a:p>
            <a:pPr lvl="0" algn="ctr"/>
            <a:r>
              <a:rPr lang="en-CA" sz="28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A</a:t>
            </a:r>
            <a:r>
              <a:rPr lang="en-CA" sz="28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 = </a:t>
            </a:r>
          </a:p>
          <a:p>
            <a:pPr lvl="0" algn="ctr"/>
            <a:endParaRPr lang="en-CA" sz="28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endParaRPr>
          </a:p>
          <a:p>
            <a:pPr lvl="0" algn="ctr"/>
            <a:r>
              <a:rPr lang="en-CA" sz="28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A</a:t>
            </a:r>
            <a:r>
              <a:rPr lang="en-CA" sz="28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 = I</a:t>
            </a:r>
          </a:p>
          <a:p>
            <a:pPr lvl="0" algn="ctr"/>
            <a:endParaRPr lang="en-US" sz="2800" dirty="0">
              <a:solidFill>
                <a:srgbClr val="FFFFFF"/>
              </a:solidFill>
              <a:latin typeface="Trade Gothic Next Light"/>
            </a:endParaRPr>
          </a:p>
          <a:p>
            <a:pPr lvl="0" algn="ctr"/>
            <a:r>
              <a:rPr lang="en-CA" sz="28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A</a:t>
            </a:r>
            <a:r>
              <a:rPr lang="en-CA" sz="28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 - I = 0</a:t>
            </a:r>
          </a:p>
          <a:p>
            <a:pPr lvl="0" algn="ctr"/>
            <a:endParaRPr lang="en-US" sz="2800" dirty="0">
              <a:solidFill>
                <a:srgbClr val="FFFFFF"/>
              </a:solidFill>
              <a:latin typeface="Trade Gothic Next Light"/>
            </a:endParaRPr>
          </a:p>
          <a:p>
            <a:pPr lvl="0" algn="ctr"/>
            <a:r>
              <a:rPr lang="en-CA" sz="28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(A</a:t>
            </a:r>
            <a:r>
              <a:rPr lang="en-CA" sz="28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 - I)  = 0</a:t>
            </a:r>
            <a:endParaRPr lang="en-US" sz="2800" dirty="0">
              <a:solidFill>
                <a:srgbClr val="FFFFFF"/>
              </a:solidFill>
              <a:latin typeface="Trade Gothic Next Light"/>
            </a:endParaRP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0F114697-39C3-5343-9171-F971A88B5804}"/>
                  </a:ext>
                </a:extLst>
              </p:cNvPr>
              <p:cNvSpPr/>
              <p:nvPr/>
            </p:nvSpPr>
            <p:spPr>
              <a:xfrm>
                <a:off x="728574" y="3074928"/>
                <a:ext cx="1478675" cy="708143"/>
              </a:xfrm>
              <a:prstGeom prst="rect">
                <a:avLst/>
              </a:prstGeom>
            </p:spPr>
            <p:txBody>
              <a:bodyPr wrap="none">
                <a:spAutoFit/>
              </a:bodyPr>
              <a:lstStyle/>
              <a:p>
                <a:r>
                  <a:rPr lang="en-CA" sz="2400" dirty="0">
                    <a:latin typeface="Calibri" panose="020F0502020204030204" pitchFamily="34" charset="0"/>
                    <a:ea typeface="Times New Roman" panose="02020603050405020304" pitchFamily="18" charset="0"/>
                    <a:cs typeface="Times New Roman" panose="02020603050405020304" pitchFamily="18" charset="0"/>
                  </a:rPr>
                  <a:t>I = </a:t>
                </a:r>
                <a14:m>
                  <m:oMath xmlns:m="http://schemas.openxmlformats.org/officeDocument/2006/math">
                    <m:d>
                      <m:dPr>
                        <m:begChr m:val="["/>
                        <m:endChr m:val="]"/>
                        <m:ctrlPr>
                          <a:rPr lang="en-CA" sz="2400" i="1">
                            <a:effectLst/>
                            <a:latin typeface="Cambria Math" panose="02040503050406030204" pitchFamily="18" charset="0"/>
                            <a:ea typeface="Times New Roman" panose="02020603050405020304" pitchFamily="18" charset="0"/>
                          </a:rPr>
                        </m:ctrlPr>
                      </m:dPr>
                      <m:e>
                        <m:m>
                          <m:mPr>
                            <m:mcs>
                              <m:mc>
                                <m:mcPr>
                                  <m:count m:val="2"/>
                                  <m:mcJc m:val="center"/>
                                </m:mcPr>
                              </m:mc>
                            </m:mcs>
                            <m:ctrlPr>
                              <a:rPr lang="en-CA" sz="2400" i="1">
                                <a:effectLst/>
                                <a:latin typeface="Cambria Math" panose="02040503050406030204" pitchFamily="18" charset="0"/>
                                <a:ea typeface="Times New Roman" panose="02020603050405020304" pitchFamily="18" charset="0"/>
                              </a:rPr>
                            </m:ctrlPr>
                          </m:mPr>
                          <m:mr>
                            <m:e>
                              <m:r>
                                <a:rPr lang="en-CA" sz="2400" i="1">
                                  <a:latin typeface="Cambria Math" panose="02040503050406030204" pitchFamily="18" charset="0"/>
                                  <a:ea typeface="Times New Roman" panose="02020603050405020304" pitchFamily="18" charset="0"/>
                                  <a:cs typeface="Times New Roman" panose="02020603050405020304" pitchFamily="18" charset="0"/>
                                </a:rPr>
                                <m:t>1</m:t>
                              </m:r>
                            </m:e>
                            <m:e>
                              <m:r>
                                <a:rPr lang="en-CA" sz="2400" i="1">
                                  <a:latin typeface="Cambria Math" panose="02040503050406030204" pitchFamily="18" charset="0"/>
                                  <a:ea typeface="Times New Roman" panose="02020603050405020304" pitchFamily="18" charset="0"/>
                                  <a:cs typeface="Times New Roman" panose="02020603050405020304" pitchFamily="18" charset="0"/>
                                </a:rPr>
                                <m:t>0</m:t>
                              </m:r>
                            </m:e>
                          </m:mr>
                          <m:mr>
                            <m:e>
                              <m:r>
                                <a:rPr lang="en-CA" sz="2400" i="1">
                                  <a:latin typeface="Cambria Math" panose="02040503050406030204" pitchFamily="18" charset="0"/>
                                  <a:ea typeface="Times New Roman" panose="02020603050405020304" pitchFamily="18" charset="0"/>
                                  <a:cs typeface="Times New Roman" panose="02020603050405020304" pitchFamily="18" charset="0"/>
                                </a:rPr>
                                <m:t>0</m:t>
                              </m:r>
                            </m:e>
                            <m:e>
                              <m:r>
                                <a:rPr lang="en-CA" sz="2400" i="1">
                                  <a:latin typeface="Cambria Math" panose="02040503050406030204" pitchFamily="18" charset="0"/>
                                  <a:ea typeface="Times New Roman" panose="02020603050405020304" pitchFamily="18" charset="0"/>
                                  <a:cs typeface="Times New Roman" panose="02020603050405020304" pitchFamily="18" charset="0"/>
                                </a:rPr>
                                <m:t>1</m:t>
                              </m:r>
                            </m:e>
                          </m:mr>
                        </m:m>
                      </m:e>
                    </m:d>
                  </m:oMath>
                </a14:m>
                <a:r>
                  <a:rPr lang="en-CA" dirty="0">
                    <a:latin typeface="Calibri" panose="020F0502020204030204" pitchFamily="34" charset="0"/>
                    <a:ea typeface="Times New Roman" panose="02020603050405020304" pitchFamily="18" charset="0"/>
                    <a:cs typeface="Times New Roman" panose="02020603050405020304" pitchFamily="18" charset="0"/>
                  </a:rPr>
                  <a:t> </a:t>
                </a:r>
                <a:endParaRPr lang="en-US" dirty="0"/>
              </a:p>
            </p:txBody>
          </p:sp>
        </mc:Choice>
        <mc:Fallback xmlns="">
          <p:sp>
            <p:nvSpPr>
              <p:cNvPr id="6" name="Rectangle 5">
                <a:extLst>
                  <a:ext uri="{FF2B5EF4-FFF2-40B4-BE49-F238E27FC236}">
                    <a16:creationId xmlns:a16="http://schemas.microsoft.com/office/drawing/2014/main" id="{0F114697-39C3-5343-9171-F971A88B5804}"/>
                  </a:ext>
                </a:extLst>
              </p:cNvPr>
              <p:cNvSpPr>
                <a:spLocks noRot="1" noChangeAspect="1" noMove="1" noResize="1" noEditPoints="1" noAdjustHandles="1" noChangeArrowheads="1" noChangeShapeType="1" noTextEdit="1"/>
              </p:cNvSpPr>
              <p:nvPr/>
            </p:nvSpPr>
            <p:spPr>
              <a:xfrm>
                <a:off x="728574" y="3074928"/>
                <a:ext cx="1478675" cy="708143"/>
              </a:xfrm>
              <a:prstGeom prst="rect">
                <a:avLst/>
              </a:prstGeom>
              <a:blipFill>
                <a:blip r:embed="rId4"/>
                <a:stretch>
                  <a:fillRect l="-6838" b="-6897"/>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B7DC90F4-FF13-D246-8973-E60CDB24C58B}"/>
              </a:ext>
            </a:extLst>
          </p:cNvPr>
          <p:cNvSpPr/>
          <p:nvPr/>
        </p:nvSpPr>
        <p:spPr>
          <a:xfrm>
            <a:off x="0" y="0"/>
            <a:ext cx="12192000" cy="1045445"/>
          </a:xfrm>
          <a:prstGeom prst="rect">
            <a:avLst/>
          </a:prstGeom>
          <a:solidFill>
            <a:srgbClr val="ED7D31"/>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Calibri" panose="020F0502020204030204" pitchFamily="34" charset="0"/>
                <a:cs typeface="Calibri" panose="020F0502020204030204" pitchFamily="34" charset="0"/>
              </a:rPr>
              <a:t>CALCULATING EIGENVECTORS</a:t>
            </a:r>
          </a:p>
        </p:txBody>
      </p:sp>
      <p:sp>
        <p:nvSpPr>
          <p:cNvPr id="8" name="Right Brace 7">
            <a:extLst>
              <a:ext uri="{FF2B5EF4-FFF2-40B4-BE49-F238E27FC236}">
                <a16:creationId xmlns:a16="http://schemas.microsoft.com/office/drawing/2014/main" id="{249D677C-2404-9F4F-8910-0F444E213206}"/>
              </a:ext>
            </a:extLst>
          </p:cNvPr>
          <p:cNvSpPr/>
          <p:nvPr/>
        </p:nvSpPr>
        <p:spPr>
          <a:xfrm>
            <a:off x="7176977" y="2466753"/>
            <a:ext cx="127590" cy="467833"/>
          </a:xfrm>
          <a:prstGeom prst="rightBrace">
            <a:avLst/>
          </a:prstGeom>
          <a:no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Right Brace 8">
            <a:extLst>
              <a:ext uri="{FF2B5EF4-FFF2-40B4-BE49-F238E27FC236}">
                <a16:creationId xmlns:a16="http://schemas.microsoft.com/office/drawing/2014/main" id="{A9E92B5C-9ACA-1B4D-93B6-7C9E14516FA6}"/>
              </a:ext>
            </a:extLst>
          </p:cNvPr>
          <p:cNvSpPr/>
          <p:nvPr/>
        </p:nvSpPr>
        <p:spPr>
          <a:xfrm>
            <a:off x="7176977" y="3315238"/>
            <a:ext cx="127590" cy="467833"/>
          </a:xfrm>
          <a:prstGeom prst="rightBrace">
            <a:avLst/>
          </a:prstGeom>
          <a:no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ight Brace 9">
            <a:extLst>
              <a:ext uri="{FF2B5EF4-FFF2-40B4-BE49-F238E27FC236}">
                <a16:creationId xmlns:a16="http://schemas.microsoft.com/office/drawing/2014/main" id="{08AA3EB3-D4C2-B54E-9E6F-83AC69423FD6}"/>
              </a:ext>
            </a:extLst>
          </p:cNvPr>
          <p:cNvSpPr/>
          <p:nvPr/>
        </p:nvSpPr>
        <p:spPr>
          <a:xfrm>
            <a:off x="7176977" y="4163723"/>
            <a:ext cx="127590" cy="467833"/>
          </a:xfrm>
          <a:prstGeom prst="rightBrace">
            <a:avLst/>
          </a:prstGeom>
          <a:noFill/>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52338393-7C51-6446-BA35-DAD6DBEB866F}"/>
              </a:ext>
            </a:extLst>
          </p:cNvPr>
          <p:cNvSpPr txBox="1"/>
          <p:nvPr/>
        </p:nvSpPr>
        <p:spPr>
          <a:xfrm>
            <a:off x="7676707" y="2533356"/>
            <a:ext cx="3117585" cy="369332"/>
          </a:xfrm>
          <a:prstGeom prst="rect">
            <a:avLst/>
          </a:prstGeom>
          <a:noFill/>
        </p:spPr>
        <p:txBody>
          <a:bodyPr wrap="none" rtlCol="0">
            <a:spAutoFit/>
          </a:bodyPr>
          <a:lstStyle/>
          <a:p>
            <a:r>
              <a:rPr lang="en-US" dirty="0">
                <a:solidFill>
                  <a:schemeClr val="accent2"/>
                </a:solidFill>
              </a:rPr>
              <a:t>Multiply RHS by Identity Matrix</a:t>
            </a:r>
          </a:p>
        </p:txBody>
      </p:sp>
      <p:sp>
        <p:nvSpPr>
          <p:cNvPr id="12" name="TextBox 11">
            <a:extLst>
              <a:ext uri="{FF2B5EF4-FFF2-40B4-BE49-F238E27FC236}">
                <a16:creationId xmlns:a16="http://schemas.microsoft.com/office/drawing/2014/main" id="{2FA41312-F65B-334F-BD34-139FB0FCB2F6}"/>
              </a:ext>
            </a:extLst>
          </p:cNvPr>
          <p:cNvSpPr txBox="1"/>
          <p:nvPr/>
        </p:nvSpPr>
        <p:spPr>
          <a:xfrm>
            <a:off x="7676707" y="3225988"/>
            <a:ext cx="2991012" cy="646331"/>
          </a:xfrm>
          <a:prstGeom prst="rect">
            <a:avLst/>
          </a:prstGeom>
          <a:noFill/>
        </p:spPr>
        <p:txBody>
          <a:bodyPr wrap="none" rtlCol="0">
            <a:spAutoFit/>
          </a:bodyPr>
          <a:lstStyle/>
          <a:p>
            <a:r>
              <a:rPr lang="en-US" dirty="0">
                <a:solidFill>
                  <a:schemeClr val="accent2"/>
                </a:solidFill>
              </a:rPr>
              <a:t>Move all terms to LHS so that </a:t>
            </a:r>
          </a:p>
          <a:p>
            <a:r>
              <a:rPr lang="en-US" dirty="0">
                <a:solidFill>
                  <a:schemeClr val="accent2"/>
                </a:solidFill>
              </a:rPr>
              <a:t>RHS represents zero vector</a:t>
            </a:r>
          </a:p>
        </p:txBody>
      </p:sp>
      <p:sp>
        <p:nvSpPr>
          <p:cNvPr id="13" name="TextBox 12">
            <a:extLst>
              <a:ext uri="{FF2B5EF4-FFF2-40B4-BE49-F238E27FC236}">
                <a16:creationId xmlns:a16="http://schemas.microsoft.com/office/drawing/2014/main" id="{AD9113DA-363E-384F-B789-7B97C85F107E}"/>
              </a:ext>
            </a:extLst>
          </p:cNvPr>
          <p:cNvSpPr txBox="1"/>
          <p:nvPr/>
        </p:nvSpPr>
        <p:spPr>
          <a:xfrm>
            <a:off x="7751135" y="4205933"/>
            <a:ext cx="3345468" cy="369332"/>
          </a:xfrm>
          <a:prstGeom prst="rect">
            <a:avLst/>
          </a:prstGeom>
          <a:noFill/>
        </p:spPr>
        <p:txBody>
          <a:bodyPr wrap="none" rtlCol="0">
            <a:spAutoFit/>
          </a:bodyPr>
          <a:lstStyle/>
          <a:p>
            <a:r>
              <a:rPr lang="en-US" dirty="0">
                <a:solidFill>
                  <a:schemeClr val="accent2"/>
                </a:solidFill>
              </a:rPr>
              <a:t>Pull out</a:t>
            </a:r>
            <a:r>
              <a:rPr lang="en-CA" dirty="0">
                <a:solidFill>
                  <a:schemeClr val="accent2"/>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  from two terms on LHS</a:t>
            </a:r>
            <a:r>
              <a:rPr lang="en-US" dirty="0">
                <a:solidFill>
                  <a:schemeClr val="accent2"/>
                </a:solidFill>
              </a:rPr>
              <a:t> </a:t>
            </a:r>
          </a:p>
        </p:txBody>
      </p:sp>
    </p:spTree>
    <p:extLst>
      <p:ext uri="{BB962C8B-B14F-4D97-AF65-F5344CB8AC3E}">
        <p14:creationId xmlns:p14="http://schemas.microsoft.com/office/powerpoint/2010/main" val="2287132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3DFD9AA-7D96-D54F-AAF2-DE24B4A9D719}"/>
              </a:ext>
            </a:extLst>
          </p:cNvPr>
          <p:cNvSpPr txBox="1"/>
          <p:nvPr/>
        </p:nvSpPr>
        <p:spPr>
          <a:xfrm>
            <a:off x="4644320" y="1842869"/>
            <a:ext cx="3788217" cy="830997"/>
          </a:xfrm>
          <a:prstGeom prst="rect">
            <a:avLst/>
          </a:prstGeom>
          <a:noFill/>
        </p:spPr>
        <p:txBody>
          <a:bodyPr wrap="none" rtlCol="0">
            <a:spAutoFit/>
          </a:bodyPr>
          <a:lstStyle/>
          <a:p>
            <a:r>
              <a:rPr lang="en-CA" sz="2400" dirty="0">
                <a:latin typeface="Calibri" panose="020F0502020204030204" pitchFamily="34" charset="0"/>
                <a:ea typeface="Times New Roman" panose="02020603050405020304" pitchFamily="18" charset="0"/>
                <a:cs typeface="Times New Roman" panose="02020603050405020304" pitchFamily="18" charset="0"/>
              </a:rPr>
              <a:t>(A - </a:t>
            </a:r>
            <a:r>
              <a:rPr lang="en-CA" sz="2400" dirty="0">
                <a:latin typeface="Calibri" panose="020F0502020204030204" pitchFamily="34" charset="0"/>
                <a:ea typeface="Times New Roman" panose="02020603050405020304" pitchFamily="18" charset="0"/>
                <a:cs typeface="Times New Roman" panose="02020603050405020304" pitchFamily="18" charset="0"/>
                <a:sym typeface="Symbol" pitchFamily="2" charset="2"/>
              </a:rPr>
              <a:t></a:t>
            </a:r>
            <a:r>
              <a:rPr lang="en-CA" sz="2400" dirty="0">
                <a:latin typeface="Calibri" panose="020F0502020204030204" pitchFamily="34" charset="0"/>
                <a:ea typeface="Times New Roman" panose="02020603050405020304" pitchFamily="18" charset="0"/>
                <a:cs typeface="Times New Roman" panose="02020603050405020304" pitchFamily="18" charset="0"/>
              </a:rPr>
              <a:t>I)</a:t>
            </a:r>
            <a:r>
              <a:rPr lang="en-CA" sz="2400" baseline="30000" dirty="0">
                <a:latin typeface="Calibri" panose="020F0502020204030204" pitchFamily="34" charset="0"/>
                <a:ea typeface="Times New Roman" panose="02020603050405020304" pitchFamily="18" charset="0"/>
                <a:cs typeface="Times New Roman" panose="02020603050405020304" pitchFamily="18" charset="0"/>
              </a:rPr>
              <a:t>-1</a:t>
            </a:r>
            <a:r>
              <a:rPr lang="en-CA" sz="2400" dirty="0">
                <a:latin typeface="Calibri" panose="020F0502020204030204" pitchFamily="34" charset="0"/>
                <a:ea typeface="Times New Roman" panose="02020603050405020304" pitchFamily="18" charset="0"/>
                <a:cs typeface="Times New Roman" panose="02020603050405020304" pitchFamily="18" charset="0"/>
              </a:rPr>
              <a:t> (A - </a:t>
            </a:r>
            <a:r>
              <a:rPr lang="en-CA" sz="2400" dirty="0">
                <a:latin typeface="Calibri" panose="020F0502020204030204" pitchFamily="34" charset="0"/>
                <a:ea typeface="Times New Roman" panose="02020603050405020304" pitchFamily="18" charset="0"/>
                <a:cs typeface="Times New Roman" panose="02020603050405020304" pitchFamily="18" charset="0"/>
                <a:sym typeface="Symbol" pitchFamily="2" charset="2"/>
              </a:rPr>
              <a:t></a:t>
            </a:r>
            <a:r>
              <a:rPr lang="en-CA" sz="2400" dirty="0">
                <a:latin typeface="Calibri" panose="020F0502020204030204" pitchFamily="34" charset="0"/>
                <a:ea typeface="Times New Roman" panose="02020603050405020304" pitchFamily="18" charset="0"/>
                <a:cs typeface="Times New Roman" panose="02020603050405020304" pitchFamily="18" charset="0"/>
              </a:rPr>
              <a:t>I)</a:t>
            </a:r>
            <a:r>
              <a:rPr lang="en-CA" sz="2400" dirty="0">
                <a:latin typeface="Calibri" panose="020F0502020204030204" pitchFamily="34" charset="0"/>
                <a:ea typeface="Times New Roman" panose="02020603050405020304" pitchFamily="18" charset="0"/>
                <a:cs typeface="Times New Roman" panose="02020603050405020304" pitchFamily="18" charset="0"/>
                <a:sym typeface="Symbol" pitchFamily="2" charset="2"/>
              </a:rPr>
              <a:t></a:t>
            </a:r>
            <a:r>
              <a:rPr lang="en-CA" sz="2400" dirty="0">
                <a:latin typeface="Calibri" panose="020F0502020204030204" pitchFamily="34" charset="0"/>
                <a:ea typeface="Times New Roman" panose="02020603050405020304" pitchFamily="18" charset="0"/>
                <a:cs typeface="Times New Roman" panose="02020603050405020304" pitchFamily="18" charset="0"/>
              </a:rPr>
              <a:t> = 0 (A - </a:t>
            </a:r>
            <a:r>
              <a:rPr lang="en-CA" sz="2400" dirty="0">
                <a:latin typeface="Calibri" panose="020F0502020204030204" pitchFamily="34" charset="0"/>
                <a:ea typeface="Times New Roman" panose="02020603050405020304" pitchFamily="18" charset="0"/>
                <a:cs typeface="Times New Roman" panose="02020603050405020304" pitchFamily="18" charset="0"/>
                <a:sym typeface="Symbol" pitchFamily="2" charset="2"/>
              </a:rPr>
              <a:t></a:t>
            </a:r>
            <a:r>
              <a:rPr lang="en-CA" sz="2400" dirty="0">
                <a:latin typeface="Calibri" panose="020F0502020204030204" pitchFamily="34" charset="0"/>
                <a:ea typeface="Times New Roman" panose="02020603050405020304" pitchFamily="18" charset="0"/>
                <a:cs typeface="Times New Roman" panose="02020603050405020304" pitchFamily="18" charset="0"/>
              </a:rPr>
              <a:t>I)</a:t>
            </a:r>
            <a:r>
              <a:rPr lang="en-CA" sz="2400" baseline="30000" dirty="0">
                <a:latin typeface="Calibri" panose="020F0502020204030204" pitchFamily="34" charset="0"/>
                <a:ea typeface="Times New Roman" panose="02020603050405020304" pitchFamily="18" charset="0"/>
                <a:cs typeface="Times New Roman" panose="02020603050405020304" pitchFamily="18" charset="0"/>
              </a:rPr>
              <a:t>-1</a:t>
            </a:r>
            <a:endParaRPr lang="en-CA" sz="2400" dirty="0">
              <a:latin typeface="Calibri" panose="020F0502020204030204" pitchFamily="34" charset="0"/>
              <a:ea typeface="Calibri" panose="020F0502020204030204" pitchFamily="34" charset="0"/>
              <a:cs typeface="Times New Roman" panose="02020603050405020304" pitchFamily="18" charset="0"/>
            </a:endParaRPr>
          </a:p>
          <a:p>
            <a:endParaRPr lang="en-US" sz="2400" dirty="0"/>
          </a:p>
        </p:txBody>
      </p:sp>
      <p:sp>
        <p:nvSpPr>
          <p:cNvPr id="5" name="TextBox 4">
            <a:extLst>
              <a:ext uri="{FF2B5EF4-FFF2-40B4-BE49-F238E27FC236}">
                <a16:creationId xmlns:a16="http://schemas.microsoft.com/office/drawing/2014/main" id="{FAD47ABF-AADA-7B44-9AB1-7DFEEE400D86}"/>
              </a:ext>
            </a:extLst>
          </p:cNvPr>
          <p:cNvSpPr txBox="1"/>
          <p:nvPr/>
        </p:nvSpPr>
        <p:spPr>
          <a:xfrm>
            <a:off x="1127347" y="2268834"/>
            <a:ext cx="1265090" cy="677108"/>
          </a:xfrm>
          <a:prstGeom prst="rect">
            <a:avLst/>
          </a:prstGeom>
          <a:noFill/>
        </p:spPr>
        <p:txBody>
          <a:bodyPr wrap="none" rtlCol="0">
            <a:spAutoFit/>
          </a:bodyPr>
          <a:lstStyle/>
          <a:p>
            <a:r>
              <a:rPr lang="en-US" sz="2000" dirty="0"/>
              <a:t>Therefore</a:t>
            </a:r>
            <a:r>
              <a:rPr lang="en-US" dirty="0"/>
              <a:t>,</a:t>
            </a:r>
          </a:p>
          <a:p>
            <a:endParaRPr lang="en-US" dirty="0"/>
          </a:p>
        </p:txBody>
      </p:sp>
      <p:sp>
        <p:nvSpPr>
          <p:cNvPr id="7" name="Rectangle 6">
            <a:extLst>
              <a:ext uri="{FF2B5EF4-FFF2-40B4-BE49-F238E27FC236}">
                <a16:creationId xmlns:a16="http://schemas.microsoft.com/office/drawing/2014/main" id="{E785B8AA-50C4-F44D-BB68-BF6E5CABDED2}"/>
              </a:ext>
            </a:extLst>
          </p:cNvPr>
          <p:cNvSpPr/>
          <p:nvPr/>
        </p:nvSpPr>
        <p:spPr>
          <a:xfrm>
            <a:off x="5774436" y="2627699"/>
            <a:ext cx="792205" cy="461665"/>
          </a:xfrm>
          <a:prstGeom prst="rect">
            <a:avLst/>
          </a:prstGeom>
          <a:ln>
            <a:solidFill>
              <a:schemeClr val="accent2"/>
            </a:solidFill>
          </a:ln>
        </p:spPr>
        <p:txBody>
          <a:bodyPr wrap="none">
            <a:spAutoFit/>
          </a:bodyPr>
          <a:lstStyle/>
          <a:p>
            <a:r>
              <a:rPr lang="en-CA" sz="2400" dirty="0">
                <a:latin typeface="Calibri" panose="020F0502020204030204" pitchFamily="34" charset="0"/>
                <a:ea typeface="Times New Roman" panose="02020603050405020304" pitchFamily="18" charset="0"/>
                <a:cs typeface="Times New Roman" panose="02020603050405020304" pitchFamily="18" charset="0"/>
                <a:sym typeface="Symbol" pitchFamily="2" charset="2"/>
              </a:rPr>
              <a:t> = 0</a:t>
            </a:r>
            <a:endParaRPr lang="en-US" sz="2400" dirty="0"/>
          </a:p>
        </p:txBody>
      </p:sp>
      <p:sp>
        <p:nvSpPr>
          <p:cNvPr id="10" name="TextBox 9">
            <a:extLst>
              <a:ext uri="{FF2B5EF4-FFF2-40B4-BE49-F238E27FC236}">
                <a16:creationId xmlns:a16="http://schemas.microsoft.com/office/drawing/2014/main" id="{C4162E39-9123-294D-9B12-EDE65A498122}"/>
              </a:ext>
            </a:extLst>
          </p:cNvPr>
          <p:cNvSpPr txBox="1"/>
          <p:nvPr/>
        </p:nvSpPr>
        <p:spPr>
          <a:xfrm>
            <a:off x="1127347" y="3292159"/>
            <a:ext cx="5440207" cy="400110"/>
          </a:xfrm>
          <a:prstGeom prst="rect">
            <a:avLst/>
          </a:prstGeom>
          <a:noFill/>
        </p:spPr>
        <p:txBody>
          <a:bodyPr wrap="none" rtlCol="0">
            <a:spAutoFit/>
          </a:bodyPr>
          <a:lstStyle/>
          <a:p>
            <a:r>
              <a:rPr lang="en-US" sz="2000" dirty="0"/>
              <a:t>But eigenvector should be a non-zero vector. Thus,</a:t>
            </a:r>
          </a:p>
        </p:txBody>
      </p:sp>
      <p:sp>
        <p:nvSpPr>
          <p:cNvPr id="12" name="TextBox 11">
            <a:extLst>
              <a:ext uri="{FF2B5EF4-FFF2-40B4-BE49-F238E27FC236}">
                <a16:creationId xmlns:a16="http://schemas.microsoft.com/office/drawing/2014/main" id="{23D486C0-98A2-5F4E-B0E6-3D642B492644}"/>
              </a:ext>
            </a:extLst>
          </p:cNvPr>
          <p:cNvSpPr txBox="1"/>
          <p:nvPr/>
        </p:nvSpPr>
        <p:spPr>
          <a:xfrm>
            <a:off x="4276429" y="3883499"/>
            <a:ext cx="3788217" cy="830997"/>
          </a:xfrm>
          <a:prstGeom prst="rect">
            <a:avLst/>
          </a:prstGeom>
          <a:noFill/>
        </p:spPr>
        <p:txBody>
          <a:bodyPr wrap="none" rtlCol="0">
            <a:spAutoFit/>
          </a:bodyPr>
          <a:lstStyle/>
          <a:p>
            <a:r>
              <a:rPr lang="en-CA" sz="2400" dirty="0">
                <a:latin typeface="Calibri" panose="020F0502020204030204" pitchFamily="34" charset="0"/>
                <a:ea typeface="Times New Roman" panose="02020603050405020304" pitchFamily="18" charset="0"/>
                <a:cs typeface="Times New Roman" panose="02020603050405020304" pitchFamily="18" charset="0"/>
              </a:rPr>
              <a:t>(A - </a:t>
            </a:r>
            <a:r>
              <a:rPr lang="en-CA" sz="2400" dirty="0">
                <a:latin typeface="Calibri" panose="020F0502020204030204" pitchFamily="34" charset="0"/>
                <a:ea typeface="Times New Roman" panose="02020603050405020304" pitchFamily="18" charset="0"/>
                <a:cs typeface="Times New Roman" panose="02020603050405020304" pitchFamily="18" charset="0"/>
                <a:sym typeface="Symbol" pitchFamily="2" charset="2"/>
              </a:rPr>
              <a:t></a:t>
            </a:r>
            <a:r>
              <a:rPr lang="en-CA" sz="2400" dirty="0">
                <a:latin typeface="Calibri" panose="020F0502020204030204" pitchFamily="34" charset="0"/>
                <a:ea typeface="Times New Roman" panose="02020603050405020304" pitchFamily="18" charset="0"/>
                <a:cs typeface="Times New Roman" panose="02020603050405020304" pitchFamily="18" charset="0"/>
              </a:rPr>
              <a:t>I)</a:t>
            </a:r>
            <a:r>
              <a:rPr lang="en-CA" sz="2400" baseline="30000" dirty="0">
                <a:latin typeface="Calibri" panose="020F0502020204030204" pitchFamily="34" charset="0"/>
                <a:ea typeface="Times New Roman" panose="02020603050405020304" pitchFamily="18" charset="0"/>
                <a:cs typeface="Times New Roman" panose="02020603050405020304" pitchFamily="18" charset="0"/>
              </a:rPr>
              <a:t>-1</a:t>
            </a:r>
            <a:r>
              <a:rPr lang="en-CA" sz="2400" dirty="0">
                <a:latin typeface="Calibri" panose="020F0502020204030204" pitchFamily="34" charset="0"/>
                <a:ea typeface="Times New Roman" panose="02020603050405020304" pitchFamily="18" charset="0"/>
                <a:cs typeface="Times New Roman" panose="02020603050405020304" pitchFamily="18" charset="0"/>
              </a:rPr>
              <a:t> (A - </a:t>
            </a:r>
            <a:r>
              <a:rPr lang="en-CA" sz="2400" dirty="0">
                <a:latin typeface="Calibri" panose="020F0502020204030204" pitchFamily="34" charset="0"/>
                <a:ea typeface="Times New Roman" panose="02020603050405020304" pitchFamily="18" charset="0"/>
                <a:cs typeface="Times New Roman" panose="02020603050405020304" pitchFamily="18" charset="0"/>
                <a:sym typeface="Symbol" pitchFamily="2" charset="2"/>
              </a:rPr>
              <a:t></a:t>
            </a:r>
            <a:r>
              <a:rPr lang="en-CA" sz="2400" dirty="0">
                <a:latin typeface="Calibri" panose="020F0502020204030204" pitchFamily="34" charset="0"/>
                <a:ea typeface="Times New Roman" panose="02020603050405020304" pitchFamily="18" charset="0"/>
                <a:cs typeface="Times New Roman" panose="02020603050405020304" pitchFamily="18" charset="0"/>
              </a:rPr>
              <a:t>I)</a:t>
            </a:r>
            <a:r>
              <a:rPr lang="en-CA" sz="2400" dirty="0">
                <a:latin typeface="Calibri" panose="020F0502020204030204" pitchFamily="34" charset="0"/>
                <a:ea typeface="Times New Roman" panose="02020603050405020304" pitchFamily="18" charset="0"/>
                <a:cs typeface="Times New Roman" panose="02020603050405020304" pitchFamily="18" charset="0"/>
                <a:sym typeface="Symbol" pitchFamily="2" charset="2"/>
              </a:rPr>
              <a:t></a:t>
            </a:r>
            <a:r>
              <a:rPr lang="en-CA" sz="2400" dirty="0">
                <a:latin typeface="Calibri" panose="020F0502020204030204" pitchFamily="34" charset="0"/>
                <a:ea typeface="Times New Roman" panose="02020603050405020304" pitchFamily="18" charset="0"/>
                <a:cs typeface="Times New Roman" panose="02020603050405020304" pitchFamily="18" charset="0"/>
              </a:rPr>
              <a:t> = 0 (A - </a:t>
            </a:r>
            <a:r>
              <a:rPr lang="en-CA" sz="2400" dirty="0">
                <a:latin typeface="Calibri" panose="020F0502020204030204" pitchFamily="34" charset="0"/>
                <a:ea typeface="Times New Roman" panose="02020603050405020304" pitchFamily="18" charset="0"/>
                <a:cs typeface="Times New Roman" panose="02020603050405020304" pitchFamily="18" charset="0"/>
                <a:sym typeface="Symbol" pitchFamily="2" charset="2"/>
              </a:rPr>
              <a:t></a:t>
            </a:r>
            <a:r>
              <a:rPr lang="en-CA" sz="2400" dirty="0">
                <a:latin typeface="Calibri" panose="020F0502020204030204" pitchFamily="34" charset="0"/>
                <a:ea typeface="Times New Roman" panose="02020603050405020304" pitchFamily="18" charset="0"/>
                <a:cs typeface="Times New Roman" panose="02020603050405020304" pitchFamily="18" charset="0"/>
              </a:rPr>
              <a:t>I)</a:t>
            </a:r>
            <a:r>
              <a:rPr lang="en-CA" sz="2400" baseline="30000" dirty="0">
                <a:latin typeface="Calibri" panose="020F0502020204030204" pitchFamily="34" charset="0"/>
                <a:ea typeface="Times New Roman" panose="02020603050405020304" pitchFamily="18" charset="0"/>
                <a:cs typeface="Times New Roman" panose="02020603050405020304" pitchFamily="18" charset="0"/>
              </a:rPr>
              <a:t>-1</a:t>
            </a:r>
            <a:endParaRPr lang="en-CA" sz="2400" dirty="0">
              <a:latin typeface="Calibri" panose="020F0502020204030204" pitchFamily="34" charset="0"/>
              <a:ea typeface="Calibri" panose="020F0502020204030204" pitchFamily="34" charset="0"/>
              <a:cs typeface="Times New Roman" panose="02020603050405020304" pitchFamily="18" charset="0"/>
            </a:endParaRPr>
          </a:p>
          <a:p>
            <a:endParaRPr lang="en-US" sz="2400" dirty="0"/>
          </a:p>
        </p:txBody>
      </p:sp>
      <p:sp>
        <p:nvSpPr>
          <p:cNvPr id="14" name="TextBox 13">
            <a:extLst>
              <a:ext uri="{FF2B5EF4-FFF2-40B4-BE49-F238E27FC236}">
                <a16:creationId xmlns:a16="http://schemas.microsoft.com/office/drawing/2014/main" id="{FB7CEC90-6E7F-3A4A-BFC0-776F9C7FC57B}"/>
              </a:ext>
            </a:extLst>
          </p:cNvPr>
          <p:cNvSpPr txBox="1"/>
          <p:nvPr/>
        </p:nvSpPr>
        <p:spPr>
          <a:xfrm>
            <a:off x="8437642" y="3791166"/>
            <a:ext cx="3652758" cy="923330"/>
          </a:xfrm>
          <a:prstGeom prst="rect">
            <a:avLst/>
          </a:prstGeom>
          <a:noFill/>
        </p:spPr>
        <p:txBody>
          <a:bodyPr wrap="square" rtlCol="0">
            <a:spAutoFit/>
          </a:bodyPr>
          <a:lstStyle/>
          <a:p>
            <a:r>
              <a:rPr lang="en-CA" dirty="0">
                <a:solidFill>
                  <a:schemeClr val="accent2"/>
                </a:solidFill>
                <a:latin typeface="Calibri" panose="020F0502020204030204" pitchFamily="34" charset="0"/>
                <a:ea typeface="Times New Roman" panose="02020603050405020304" pitchFamily="18" charset="0"/>
                <a:cs typeface="Times New Roman" panose="02020603050405020304" pitchFamily="18" charset="0"/>
              </a:rPr>
              <a:t>Inverse of matrix (A - </a:t>
            </a:r>
            <a:r>
              <a:rPr lang="en-CA" dirty="0">
                <a:solidFill>
                  <a:schemeClr val="accent2"/>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a:t>
            </a:r>
            <a:r>
              <a:rPr lang="en-CA" dirty="0">
                <a:solidFill>
                  <a:schemeClr val="accent2"/>
                </a:solidFill>
                <a:latin typeface="Calibri" panose="020F0502020204030204" pitchFamily="34" charset="0"/>
                <a:ea typeface="Times New Roman" panose="02020603050405020304" pitchFamily="18" charset="0"/>
                <a:cs typeface="Times New Roman" panose="02020603050405020304" pitchFamily="18" charset="0"/>
              </a:rPr>
              <a:t>I), </a:t>
            </a:r>
          </a:p>
          <a:p>
            <a:r>
              <a:rPr lang="en-CA" dirty="0">
                <a:solidFill>
                  <a:schemeClr val="accent2"/>
                </a:solidFill>
                <a:latin typeface="Calibri" panose="020F0502020204030204" pitchFamily="34" charset="0"/>
                <a:ea typeface="Times New Roman" panose="02020603050405020304" pitchFamily="18" charset="0"/>
                <a:cs typeface="Times New Roman" panose="02020603050405020304" pitchFamily="18" charset="0"/>
              </a:rPr>
              <a:t>which is (A - </a:t>
            </a:r>
            <a:r>
              <a:rPr lang="en-CA" dirty="0">
                <a:solidFill>
                  <a:schemeClr val="accent2"/>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a:t>
            </a:r>
            <a:r>
              <a:rPr lang="en-CA" dirty="0">
                <a:solidFill>
                  <a:schemeClr val="accent2"/>
                </a:solidFill>
                <a:latin typeface="Calibri" panose="020F0502020204030204" pitchFamily="34" charset="0"/>
                <a:ea typeface="Times New Roman" panose="02020603050405020304" pitchFamily="18" charset="0"/>
                <a:cs typeface="Times New Roman" panose="02020603050405020304" pitchFamily="18" charset="0"/>
              </a:rPr>
              <a:t>I)</a:t>
            </a:r>
            <a:r>
              <a:rPr lang="en-CA" baseline="30000" dirty="0">
                <a:solidFill>
                  <a:schemeClr val="accent2"/>
                </a:solidFill>
                <a:latin typeface="Calibri" panose="020F0502020204030204" pitchFamily="34" charset="0"/>
                <a:ea typeface="Times New Roman" panose="02020603050405020304" pitchFamily="18" charset="0"/>
                <a:cs typeface="Times New Roman" panose="02020603050405020304" pitchFamily="18" charset="0"/>
              </a:rPr>
              <a:t>-1</a:t>
            </a:r>
            <a:r>
              <a:rPr lang="en-US" dirty="0">
                <a:solidFill>
                  <a:schemeClr val="accent2"/>
                </a:solidFill>
              </a:rPr>
              <a:t>does not exist</a:t>
            </a:r>
          </a:p>
          <a:p>
            <a:endParaRPr lang="en-US" dirty="0"/>
          </a:p>
        </p:txBody>
      </p:sp>
      <p:sp>
        <p:nvSpPr>
          <p:cNvPr id="16" name="Rectangle 15">
            <a:extLst>
              <a:ext uri="{FF2B5EF4-FFF2-40B4-BE49-F238E27FC236}">
                <a16:creationId xmlns:a16="http://schemas.microsoft.com/office/drawing/2014/main" id="{AC576575-EEAD-AB40-98DD-ADE813EE4DB6}"/>
              </a:ext>
            </a:extLst>
          </p:cNvPr>
          <p:cNvSpPr/>
          <p:nvPr/>
        </p:nvSpPr>
        <p:spPr>
          <a:xfrm>
            <a:off x="0" y="0"/>
            <a:ext cx="12192000" cy="1045445"/>
          </a:xfrm>
          <a:prstGeom prst="rect">
            <a:avLst/>
          </a:prstGeom>
          <a:solidFill>
            <a:srgbClr val="ED7D31"/>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Calibri" panose="020F0502020204030204" pitchFamily="34" charset="0"/>
                <a:cs typeface="Calibri" panose="020F0502020204030204" pitchFamily="34" charset="0"/>
              </a:rPr>
              <a:t>CALCULATING EIGENVECTORS</a:t>
            </a:r>
          </a:p>
        </p:txBody>
      </p:sp>
      <p:sp>
        <p:nvSpPr>
          <p:cNvPr id="18" name="TextBox 17">
            <a:extLst>
              <a:ext uri="{FF2B5EF4-FFF2-40B4-BE49-F238E27FC236}">
                <a16:creationId xmlns:a16="http://schemas.microsoft.com/office/drawing/2014/main" id="{A79AA2E1-CBFD-F14B-B437-CAB685F6B11E}"/>
              </a:ext>
            </a:extLst>
          </p:cNvPr>
          <p:cNvSpPr txBox="1"/>
          <p:nvPr/>
        </p:nvSpPr>
        <p:spPr>
          <a:xfrm>
            <a:off x="5529178" y="1293829"/>
            <a:ext cx="2903359" cy="830997"/>
          </a:xfrm>
          <a:prstGeom prst="rect">
            <a:avLst/>
          </a:prstGeom>
          <a:noFill/>
        </p:spPr>
        <p:txBody>
          <a:bodyPr wrap="square" rtlCol="0">
            <a:spAutoFit/>
          </a:bodyPr>
          <a:lstStyle/>
          <a:p>
            <a:r>
              <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(A</a:t>
            </a:r>
            <a:r>
              <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 - I)  = 0</a:t>
            </a:r>
            <a:endParaRPr lang="en-US" sz="2400" dirty="0">
              <a:solidFill>
                <a:srgbClr val="FFFFFF"/>
              </a:solidFill>
              <a:latin typeface="Trade Gothic Next Light"/>
            </a:endParaRPr>
          </a:p>
          <a:p>
            <a:endParaRPr lang="en-US" sz="2400" dirty="0"/>
          </a:p>
        </p:txBody>
      </p:sp>
      <p:sp>
        <p:nvSpPr>
          <p:cNvPr id="19" name="TextBox 18">
            <a:extLst>
              <a:ext uri="{FF2B5EF4-FFF2-40B4-BE49-F238E27FC236}">
                <a16:creationId xmlns:a16="http://schemas.microsoft.com/office/drawing/2014/main" id="{3B6D519C-A3A1-F14C-A356-04BDBCD537F0}"/>
              </a:ext>
            </a:extLst>
          </p:cNvPr>
          <p:cNvSpPr txBox="1"/>
          <p:nvPr/>
        </p:nvSpPr>
        <p:spPr>
          <a:xfrm>
            <a:off x="8535124" y="1768966"/>
            <a:ext cx="3457794" cy="646331"/>
          </a:xfrm>
          <a:prstGeom prst="rect">
            <a:avLst/>
          </a:prstGeom>
          <a:noFill/>
        </p:spPr>
        <p:txBody>
          <a:bodyPr wrap="square" rtlCol="0">
            <a:spAutoFit/>
          </a:bodyPr>
          <a:lstStyle/>
          <a:p>
            <a:r>
              <a:rPr lang="en-US" dirty="0">
                <a:solidFill>
                  <a:schemeClr val="accent2"/>
                </a:solidFill>
              </a:rPr>
              <a:t>To isolate </a:t>
            </a:r>
            <a:r>
              <a:rPr lang="en-CA" dirty="0">
                <a:solidFill>
                  <a:schemeClr val="accent2"/>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 imagine multiply inverse of matrix on both sides</a:t>
            </a:r>
            <a:r>
              <a:rPr lang="en-US" dirty="0">
                <a:solidFill>
                  <a:schemeClr val="accent2"/>
                </a:solidFill>
              </a:rPr>
              <a:t> </a:t>
            </a:r>
          </a:p>
        </p:txBody>
      </p:sp>
      <p:sp>
        <p:nvSpPr>
          <p:cNvPr id="20" name="TextBox 19">
            <a:extLst>
              <a:ext uri="{FF2B5EF4-FFF2-40B4-BE49-F238E27FC236}">
                <a16:creationId xmlns:a16="http://schemas.microsoft.com/office/drawing/2014/main" id="{CE523164-A388-E348-BECE-D9127D108EE5}"/>
              </a:ext>
            </a:extLst>
          </p:cNvPr>
          <p:cNvSpPr txBox="1"/>
          <p:nvPr/>
        </p:nvSpPr>
        <p:spPr>
          <a:xfrm>
            <a:off x="6867557" y="2696949"/>
            <a:ext cx="1564980" cy="369332"/>
          </a:xfrm>
          <a:prstGeom prst="rect">
            <a:avLst/>
          </a:prstGeom>
          <a:noFill/>
        </p:spPr>
        <p:txBody>
          <a:bodyPr wrap="none" rtlCol="0">
            <a:spAutoFit/>
          </a:bodyPr>
          <a:lstStyle/>
          <a:p>
            <a:r>
              <a:rPr lang="en-US" dirty="0">
                <a:solidFill>
                  <a:schemeClr val="accent2"/>
                </a:solidFill>
              </a:rPr>
              <a:t>Trivial Solution</a:t>
            </a:r>
          </a:p>
        </p:txBody>
      </p:sp>
      <p:pic>
        <p:nvPicPr>
          <p:cNvPr id="24" name="Graphic 23" descr="Close outline">
            <a:extLst>
              <a:ext uri="{FF2B5EF4-FFF2-40B4-BE49-F238E27FC236}">
                <a16:creationId xmlns:a16="http://schemas.microsoft.com/office/drawing/2014/main" id="{D2289D66-362E-1D4B-BF1A-9455336191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67172" y="3791166"/>
            <a:ext cx="618293" cy="618293"/>
          </a:xfrm>
          <a:prstGeom prst="rect">
            <a:avLst/>
          </a:prstGeom>
        </p:spPr>
      </p:pic>
      <p:pic>
        <p:nvPicPr>
          <p:cNvPr id="25" name="Graphic 24" descr="Close outline">
            <a:extLst>
              <a:ext uri="{FF2B5EF4-FFF2-40B4-BE49-F238E27FC236}">
                <a16:creationId xmlns:a16="http://schemas.microsoft.com/office/drawing/2014/main" id="{59A6DA49-CEE8-BB4B-B6BC-96AF17475B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31754" y="3791166"/>
            <a:ext cx="618293" cy="618293"/>
          </a:xfrm>
          <a:prstGeom prst="rect">
            <a:avLst/>
          </a:prstGeom>
        </p:spPr>
      </p:pic>
      <p:sp>
        <p:nvSpPr>
          <p:cNvPr id="27" name="TextBox 26">
            <a:extLst>
              <a:ext uri="{FF2B5EF4-FFF2-40B4-BE49-F238E27FC236}">
                <a16:creationId xmlns:a16="http://schemas.microsoft.com/office/drawing/2014/main" id="{CB3DB9AA-BEB9-4549-9C22-934DA878E3E5}"/>
              </a:ext>
            </a:extLst>
          </p:cNvPr>
          <p:cNvSpPr txBox="1"/>
          <p:nvPr/>
        </p:nvSpPr>
        <p:spPr>
          <a:xfrm>
            <a:off x="918588" y="4734234"/>
            <a:ext cx="8997078" cy="400110"/>
          </a:xfrm>
          <a:prstGeom prst="rect">
            <a:avLst/>
          </a:prstGeom>
          <a:noFill/>
        </p:spPr>
        <p:txBody>
          <a:bodyPr wrap="none" rtlCol="0">
            <a:spAutoFit/>
          </a:bodyPr>
          <a:lstStyle/>
          <a:p>
            <a:r>
              <a:rPr lang="en-US" sz="2000" dirty="0"/>
              <a:t>And if determinant of a matrix is zero, then inverse of that matrix does not exists. So,</a:t>
            </a:r>
          </a:p>
        </p:txBody>
      </p:sp>
      <p:sp>
        <p:nvSpPr>
          <p:cNvPr id="28" name="TextBox 27">
            <a:extLst>
              <a:ext uri="{FF2B5EF4-FFF2-40B4-BE49-F238E27FC236}">
                <a16:creationId xmlns:a16="http://schemas.microsoft.com/office/drawing/2014/main" id="{C50BA990-4E46-1846-B3D6-6CFD4E230A97}"/>
              </a:ext>
            </a:extLst>
          </p:cNvPr>
          <p:cNvSpPr txBox="1"/>
          <p:nvPr/>
        </p:nvSpPr>
        <p:spPr>
          <a:xfrm>
            <a:off x="5417127" y="5444856"/>
            <a:ext cx="2055306" cy="461665"/>
          </a:xfrm>
          <a:prstGeom prst="rect">
            <a:avLst/>
          </a:prstGeom>
          <a:noFill/>
          <a:ln>
            <a:solidFill>
              <a:schemeClr val="accent2"/>
            </a:solidFill>
          </a:ln>
        </p:spPr>
        <p:txBody>
          <a:bodyPr wrap="none" rtlCol="0">
            <a:spAutoFit/>
          </a:bodyPr>
          <a:lstStyle/>
          <a:p>
            <a:r>
              <a:rPr lang="en-US" sz="2400" dirty="0"/>
              <a:t>det</a:t>
            </a:r>
            <a:r>
              <a:rPr lang="en-CA" sz="2400" dirty="0">
                <a:latin typeface="Calibri" panose="020F0502020204030204" pitchFamily="34" charset="0"/>
                <a:ea typeface="Times New Roman" panose="02020603050405020304" pitchFamily="18" charset="0"/>
                <a:cs typeface="Times New Roman" panose="02020603050405020304" pitchFamily="18" charset="0"/>
              </a:rPr>
              <a:t> |A - </a:t>
            </a:r>
            <a:r>
              <a:rPr lang="en-CA" sz="2400" dirty="0">
                <a:latin typeface="Calibri" panose="020F0502020204030204" pitchFamily="34" charset="0"/>
                <a:ea typeface="Times New Roman" panose="02020603050405020304" pitchFamily="18" charset="0"/>
                <a:cs typeface="Times New Roman" panose="02020603050405020304" pitchFamily="18" charset="0"/>
                <a:sym typeface="Symbol" pitchFamily="2" charset="2"/>
              </a:rPr>
              <a:t></a:t>
            </a:r>
            <a:r>
              <a:rPr lang="en-CA" sz="2400" dirty="0">
                <a:latin typeface="Calibri" panose="020F0502020204030204" pitchFamily="34" charset="0"/>
                <a:ea typeface="Times New Roman" panose="02020603050405020304" pitchFamily="18" charset="0"/>
                <a:cs typeface="Times New Roman" panose="02020603050405020304" pitchFamily="18" charset="0"/>
              </a:rPr>
              <a:t>I| = 0</a:t>
            </a:r>
            <a:endParaRPr lang="en-US" sz="2400" dirty="0"/>
          </a:p>
        </p:txBody>
      </p:sp>
    </p:spTree>
    <p:extLst>
      <p:ext uri="{BB962C8B-B14F-4D97-AF65-F5344CB8AC3E}">
        <p14:creationId xmlns:p14="http://schemas.microsoft.com/office/powerpoint/2010/main" val="2945419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E04FBFED-1604-5845-B939-D7A9F9A7312D}"/>
                  </a:ext>
                </a:extLst>
              </p:cNvPr>
              <p:cNvSpPr/>
              <p:nvPr/>
            </p:nvSpPr>
            <p:spPr>
              <a:xfrm>
                <a:off x="4675368" y="2109158"/>
                <a:ext cx="3376950" cy="714939"/>
              </a:xfrm>
              <a:prstGeom prst="rect">
                <a:avLst/>
              </a:prstGeom>
            </p:spPr>
            <p:txBody>
              <a:bodyPr wrap="none">
                <a:spAutoFit/>
              </a:bodyPr>
              <a:lstStyle/>
              <a:p>
                <a:r>
                  <a:rPr lang="en-CA" sz="2400" dirty="0">
                    <a:latin typeface="Calibri" panose="020F0502020204030204" pitchFamily="34" charset="0"/>
                    <a:ea typeface="Times New Roman" panose="02020603050405020304" pitchFamily="18" charset="0"/>
                    <a:cs typeface="Times New Roman" panose="02020603050405020304" pitchFamily="18" charset="0"/>
                  </a:rPr>
                  <a:t>det |</a:t>
                </a:r>
                <a14:m>
                  <m:oMath xmlns:m="http://schemas.openxmlformats.org/officeDocument/2006/math">
                    <m:d>
                      <m:dPr>
                        <m:begChr m:val="["/>
                        <m:endChr m:val="]"/>
                        <m:ctrlPr>
                          <a:rPr lang="en-CA" sz="2400" i="1">
                            <a:latin typeface="Cambria Math" panose="02040503050406030204" pitchFamily="18" charset="0"/>
                            <a:ea typeface="Times New Roman" panose="02020603050405020304" pitchFamily="18" charset="0"/>
                          </a:rPr>
                        </m:ctrlPr>
                      </m:dPr>
                      <m:e>
                        <m:m>
                          <m:mPr>
                            <m:mcs>
                              <m:mc>
                                <m:mcPr>
                                  <m:count m:val="2"/>
                                  <m:mcJc m:val="center"/>
                                </m:mcPr>
                              </m:mc>
                            </m:mcs>
                            <m:ctrlPr>
                              <a:rPr lang="en-CA" sz="2400" i="1">
                                <a:latin typeface="Cambria Math" panose="02040503050406030204" pitchFamily="18" charset="0"/>
                                <a:ea typeface="Times New Roman" panose="02020603050405020304" pitchFamily="18" charset="0"/>
                              </a:rPr>
                            </m:ctrlPr>
                          </m:mPr>
                          <m:mr>
                            <m:e>
                              <m:r>
                                <a:rPr lang="en-CA" sz="2400" i="1">
                                  <a:latin typeface="Cambria Math" panose="02040503050406030204" pitchFamily="18" charset="0"/>
                                  <a:ea typeface="Times New Roman" panose="02020603050405020304" pitchFamily="18" charset="0"/>
                                  <a:cs typeface="Times New Roman" panose="02020603050405020304" pitchFamily="18" charset="0"/>
                                </a:rPr>
                                <m:t>1</m:t>
                              </m:r>
                            </m:e>
                            <m:e>
                              <m:r>
                                <a:rPr lang="en-CA" sz="2400" i="1">
                                  <a:latin typeface="Cambria Math" panose="02040503050406030204" pitchFamily="18" charset="0"/>
                                  <a:ea typeface="Cambria Math" panose="02040503050406030204" pitchFamily="18" charset="0"/>
                                  <a:cs typeface="Cambria Math" panose="02040503050406030204" pitchFamily="18" charset="0"/>
                                </a:rPr>
                                <m:t>2</m:t>
                              </m:r>
                            </m:e>
                          </m:mr>
                          <m:mr>
                            <m:e>
                              <m:r>
                                <a:rPr lang="en-CA" sz="2400" i="1">
                                  <a:latin typeface="Cambria Math" panose="02040503050406030204" pitchFamily="18" charset="0"/>
                                  <a:ea typeface="Times New Roman" panose="02020603050405020304" pitchFamily="18" charset="0"/>
                                  <a:cs typeface="Times New Roman" panose="02020603050405020304" pitchFamily="18" charset="0"/>
                                </a:rPr>
                                <m:t>1</m:t>
                              </m:r>
                            </m:e>
                            <m:e>
                              <m:r>
                                <a:rPr lang="en-CA" sz="2400" i="1">
                                  <a:latin typeface="Cambria Math" panose="02040503050406030204" pitchFamily="18" charset="0"/>
                                  <a:ea typeface="Cambria Math" panose="02040503050406030204" pitchFamily="18" charset="0"/>
                                  <a:cs typeface="Cambria Math" panose="02040503050406030204" pitchFamily="18" charset="0"/>
                                </a:rPr>
                                <m:t>0</m:t>
                              </m:r>
                            </m:e>
                          </m:mr>
                        </m:m>
                      </m:e>
                    </m:d>
                  </m:oMath>
                </a14:m>
                <a:r>
                  <a:rPr lang="en-CA" sz="2400" dirty="0">
                    <a:latin typeface="Calibri" panose="020F0502020204030204" pitchFamily="34" charset="0"/>
                    <a:ea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CA" sz="2400" i="1" smtClean="0">
                            <a:latin typeface="Cambria Math" panose="02040503050406030204" pitchFamily="18" charset="0"/>
                            <a:ea typeface="Times New Roman" panose="02020603050405020304" pitchFamily="18" charset="0"/>
                          </a:rPr>
                        </m:ctrlPr>
                      </m:dPr>
                      <m:e>
                        <m:m>
                          <m:mPr>
                            <m:mcs>
                              <m:mc>
                                <m:mcPr>
                                  <m:count m:val="2"/>
                                  <m:mcJc m:val="center"/>
                                </m:mcPr>
                              </m:mc>
                            </m:mcs>
                            <m:ctrlPr>
                              <a:rPr lang="en-CA" sz="2400" i="1">
                                <a:latin typeface="Cambria Math" panose="02040503050406030204" pitchFamily="18" charset="0"/>
                                <a:ea typeface="Times New Roman" panose="02020603050405020304" pitchFamily="18" charset="0"/>
                              </a:rPr>
                            </m:ctrlPr>
                          </m:mPr>
                          <m:mr>
                            <m:e>
                              <m:r>
                                <a:rPr lang="en-CA" sz="2400" i="1">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m:t>
                              </m:r>
                            </m:e>
                            <m:e>
                              <m:r>
                                <a:rPr lang="en-CA" sz="2400" i="1">
                                  <a:latin typeface="Cambria Math" panose="02040503050406030204" pitchFamily="18" charset="0"/>
                                  <a:ea typeface="Times New Roman" panose="02020603050405020304" pitchFamily="18" charset="0"/>
                                  <a:cs typeface="Times New Roman" panose="02020603050405020304" pitchFamily="18" charset="0"/>
                                </a:rPr>
                                <m:t>0</m:t>
                              </m:r>
                            </m:e>
                          </m:mr>
                          <m:mr>
                            <m:e>
                              <m:r>
                                <a:rPr lang="en-CA" sz="2400" i="1">
                                  <a:latin typeface="Cambria Math" panose="02040503050406030204" pitchFamily="18" charset="0"/>
                                  <a:ea typeface="Times New Roman" panose="02020603050405020304" pitchFamily="18" charset="0"/>
                                  <a:cs typeface="Times New Roman" panose="02020603050405020304" pitchFamily="18" charset="0"/>
                                </a:rPr>
                                <m:t>0</m:t>
                              </m:r>
                            </m:e>
                            <m:e>
                              <m:r>
                                <a:rPr lang="en-CA" sz="2400" i="1">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m:t>
                              </m:r>
                            </m:e>
                          </m:mr>
                        </m:m>
                      </m:e>
                    </m:d>
                  </m:oMath>
                </a14:m>
                <a:r>
                  <a:rPr lang="en-US" sz="2400" dirty="0"/>
                  <a:t>| =0</a:t>
                </a:r>
              </a:p>
            </p:txBody>
          </p:sp>
        </mc:Choice>
        <mc:Fallback xmlns="">
          <p:sp>
            <p:nvSpPr>
              <p:cNvPr id="5" name="Rectangle 4">
                <a:extLst>
                  <a:ext uri="{FF2B5EF4-FFF2-40B4-BE49-F238E27FC236}">
                    <a16:creationId xmlns:a16="http://schemas.microsoft.com/office/drawing/2014/main" id="{E04FBFED-1604-5845-B939-D7A9F9A7312D}"/>
                  </a:ext>
                </a:extLst>
              </p:cNvPr>
              <p:cNvSpPr>
                <a:spLocks noRot="1" noChangeAspect="1" noMove="1" noResize="1" noEditPoints="1" noAdjustHandles="1" noChangeArrowheads="1" noChangeShapeType="1" noTextEdit="1"/>
              </p:cNvSpPr>
              <p:nvPr/>
            </p:nvSpPr>
            <p:spPr>
              <a:xfrm>
                <a:off x="4675368" y="2109158"/>
                <a:ext cx="3376950" cy="714939"/>
              </a:xfrm>
              <a:prstGeom prst="rect">
                <a:avLst/>
              </a:prstGeom>
              <a:blipFill>
                <a:blip r:embed="rId2"/>
                <a:stretch>
                  <a:fillRect l="-2996" r="-1498" b="-8772"/>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A3F89421-E28B-EF41-B4DE-382E6690FD54}"/>
              </a:ext>
            </a:extLst>
          </p:cNvPr>
          <p:cNvSpPr txBox="1"/>
          <p:nvPr/>
        </p:nvSpPr>
        <p:spPr>
          <a:xfrm>
            <a:off x="4675368" y="1409557"/>
            <a:ext cx="2055306" cy="830997"/>
          </a:xfrm>
          <a:prstGeom prst="rect">
            <a:avLst/>
          </a:prstGeom>
          <a:noFill/>
        </p:spPr>
        <p:txBody>
          <a:bodyPr wrap="none" rtlCol="0">
            <a:spAutoFit/>
          </a:bodyPr>
          <a:lstStyle/>
          <a:p>
            <a:r>
              <a:rPr lang="en-US" sz="2400" dirty="0"/>
              <a:t>det</a:t>
            </a:r>
            <a:r>
              <a:rPr lang="en-CA" sz="2400" dirty="0">
                <a:latin typeface="Calibri" panose="020F0502020204030204" pitchFamily="34" charset="0"/>
                <a:ea typeface="Times New Roman" panose="02020603050405020304" pitchFamily="18" charset="0"/>
                <a:cs typeface="Times New Roman" panose="02020603050405020304" pitchFamily="18" charset="0"/>
              </a:rPr>
              <a:t> |A - </a:t>
            </a:r>
            <a:r>
              <a:rPr lang="en-CA" sz="2400" dirty="0">
                <a:latin typeface="Calibri" panose="020F0502020204030204" pitchFamily="34" charset="0"/>
                <a:ea typeface="Times New Roman" panose="02020603050405020304" pitchFamily="18" charset="0"/>
                <a:cs typeface="Times New Roman" panose="02020603050405020304" pitchFamily="18" charset="0"/>
                <a:sym typeface="Symbol" pitchFamily="2" charset="2"/>
              </a:rPr>
              <a:t></a:t>
            </a:r>
            <a:r>
              <a:rPr lang="en-CA" sz="2400" dirty="0">
                <a:latin typeface="Calibri" panose="020F0502020204030204" pitchFamily="34" charset="0"/>
                <a:ea typeface="Times New Roman" panose="02020603050405020304" pitchFamily="18" charset="0"/>
                <a:cs typeface="Times New Roman" panose="02020603050405020304" pitchFamily="18" charset="0"/>
              </a:rPr>
              <a:t>I| = 0</a:t>
            </a:r>
            <a:endParaRPr lang="en-US" sz="2400" dirty="0"/>
          </a:p>
          <a:p>
            <a:endParaRPr lang="en-US" sz="2400"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258F9AA-FA61-BF45-84C1-45F907C0D9A4}"/>
                  </a:ext>
                </a:extLst>
              </p:cNvPr>
              <p:cNvSpPr txBox="1"/>
              <p:nvPr/>
            </p:nvSpPr>
            <p:spPr>
              <a:xfrm>
                <a:off x="4675368" y="3054449"/>
                <a:ext cx="3271921" cy="714939"/>
              </a:xfrm>
              <a:prstGeom prst="rect">
                <a:avLst/>
              </a:prstGeom>
              <a:noFill/>
            </p:spPr>
            <p:txBody>
              <a:bodyPr wrap="none" rtlCol="0">
                <a:spAutoFit/>
              </a:bodyPr>
              <a:lstStyle/>
              <a:p>
                <a:r>
                  <a:rPr lang="en-US" sz="2400" dirty="0"/>
                  <a:t>det |</a:t>
                </a:r>
                <a14:m>
                  <m:oMath xmlns:m="http://schemas.openxmlformats.org/officeDocument/2006/math">
                    <m:d>
                      <m:dPr>
                        <m:begChr m:val="["/>
                        <m:endChr m:val="]"/>
                        <m:ctrlPr>
                          <a:rPr lang="en-CA" sz="2400" i="1" smtClean="0">
                            <a:latin typeface="Cambria Math" panose="02040503050406030204" pitchFamily="18" charset="0"/>
                            <a:ea typeface="Times New Roman" panose="02020603050405020304" pitchFamily="18" charset="0"/>
                          </a:rPr>
                        </m:ctrlPr>
                      </m:dPr>
                      <m:e>
                        <m:m>
                          <m:mPr>
                            <m:mcs>
                              <m:mc>
                                <m:mcPr>
                                  <m:count m:val="2"/>
                                  <m:mcJc m:val="center"/>
                                </m:mcPr>
                              </m:mc>
                            </m:mcs>
                            <m:ctrlPr>
                              <a:rPr lang="en-CA" sz="2400" i="1">
                                <a:latin typeface="Cambria Math" panose="02040503050406030204" pitchFamily="18" charset="0"/>
                                <a:ea typeface="Times New Roman" panose="02020603050405020304" pitchFamily="18" charset="0"/>
                              </a:rPr>
                            </m:ctrlPr>
                          </m:mPr>
                          <m:mr>
                            <m:e>
                              <m:r>
                                <m:rPr>
                                  <m:brk m:alnAt="7"/>
                                </m:rPr>
                                <a:rPr lang="en-CA" sz="2400" b="0" i="1" smtClean="0">
                                  <a:latin typeface="Cambria Math" panose="02040503050406030204" pitchFamily="18" charset="0"/>
                                  <a:ea typeface="Times New Roman" panose="02020603050405020304" pitchFamily="18" charset="0"/>
                                </a:rPr>
                                <m:t>1</m:t>
                              </m:r>
                              <m:r>
                                <a:rPr lang="en-CA" sz="2400" b="0" i="1" smtClean="0">
                                  <a:latin typeface="Cambria Math" panose="02040503050406030204" pitchFamily="18" charset="0"/>
                                  <a:ea typeface="Times New Roman" panose="02020603050405020304" pitchFamily="18" charset="0"/>
                                </a:rPr>
                                <m:t>−</m:t>
                              </m:r>
                              <m:r>
                                <a:rPr lang="en-CA" sz="2400" i="1">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m:t>
                              </m:r>
                            </m:e>
                            <m:e>
                              <m:r>
                                <a:rPr lang="en-CA" sz="2400" b="0" i="1" smtClean="0">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2</m:t>
                              </m:r>
                            </m:e>
                          </m:mr>
                          <m:mr>
                            <m:e>
                              <m:r>
                                <a:rPr lang="en-CA" sz="2400" b="0" i="1" smtClean="0">
                                  <a:latin typeface="Cambria Math" panose="02040503050406030204" pitchFamily="18" charset="0"/>
                                  <a:ea typeface="Times New Roman" panose="02020603050405020304" pitchFamily="18" charset="0"/>
                                  <a:cs typeface="Times New Roman" panose="02020603050405020304" pitchFamily="18" charset="0"/>
                                </a:rPr>
                                <m:t>1</m:t>
                              </m:r>
                            </m:e>
                            <m:e>
                              <m:r>
                                <a:rPr lang="en-CA" sz="2400" b="0" i="1" smtClean="0">
                                  <a:latin typeface="Cambria Math" panose="02040503050406030204" pitchFamily="18" charset="0"/>
                                  <a:ea typeface="Times New Roman" panose="02020603050405020304" pitchFamily="18" charset="0"/>
                                  <a:cs typeface="Times New Roman" panose="02020603050405020304" pitchFamily="18" charset="0"/>
                                </a:rPr>
                                <m:t>0−</m:t>
                              </m:r>
                              <m:r>
                                <a:rPr lang="en-CA" sz="2400" i="1">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m:t>
                              </m:r>
                            </m:e>
                          </m:mr>
                        </m:m>
                      </m:e>
                    </m:d>
                  </m:oMath>
                </a14:m>
                <a:r>
                  <a:rPr lang="en-US" sz="2400" dirty="0"/>
                  <a:t>|= 0</a:t>
                </a:r>
              </a:p>
            </p:txBody>
          </p:sp>
        </mc:Choice>
        <mc:Fallback xmlns="">
          <p:sp>
            <p:nvSpPr>
              <p:cNvPr id="8" name="TextBox 7">
                <a:extLst>
                  <a:ext uri="{FF2B5EF4-FFF2-40B4-BE49-F238E27FC236}">
                    <a16:creationId xmlns:a16="http://schemas.microsoft.com/office/drawing/2014/main" id="{4258F9AA-FA61-BF45-84C1-45F907C0D9A4}"/>
                  </a:ext>
                </a:extLst>
              </p:cNvPr>
              <p:cNvSpPr txBox="1">
                <a:spLocks noRot="1" noChangeAspect="1" noMove="1" noResize="1" noEditPoints="1" noAdjustHandles="1" noChangeArrowheads="1" noChangeShapeType="1" noTextEdit="1"/>
              </p:cNvSpPr>
              <p:nvPr/>
            </p:nvSpPr>
            <p:spPr>
              <a:xfrm>
                <a:off x="4675368" y="3054449"/>
                <a:ext cx="3271921" cy="714939"/>
              </a:xfrm>
              <a:prstGeom prst="rect">
                <a:avLst/>
              </a:prstGeom>
              <a:blipFill>
                <a:blip r:embed="rId3"/>
                <a:stretch>
                  <a:fillRect l="-3101" r="-1938" b="-87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CED59DE-D1EF-7045-BAB0-A062B10BD216}"/>
                  </a:ext>
                </a:extLst>
              </p:cNvPr>
              <p:cNvSpPr txBox="1"/>
              <p:nvPr/>
            </p:nvSpPr>
            <p:spPr>
              <a:xfrm>
                <a:off x="4780397" y="3946582"/>
                <a:ext cx="2902333" cy="461665"/>
              </a:xfrm>
              <a:prstGeom prst="rect">
                <a:avLst/>
              </a:prstGeom>
              <a:noFill/>
            </p:spPr>
            <p:txBody>
              <a:bodyPr wrap="none" rtlCol="0">
                <a:spAutoFit/>
              </a:bodyPr>
              <a:lstStyle/>
              <a:p>
                <a14:m>
                  <m:oMath xmlns:m="http://schemas.openxmlformats.org/officeDocument/2006/math">
                    <m:r>
                      <a:rPr lang="en-CA" sz="2400" b="0" i="1" smtClean="0">
                        <a:latin typeface="Cambria Math" panose="02040503050406030204" pitchFamily="18" charset="0"/>
                        <a:ea typeface="Times New Roman" panose="02020603050405020304" pitchFamily="18" charset="0"/>
                      </a:rPr>
                      <m:t>(</m:t>
                    </m:r>
                    <m:r>
                      <m:rPr>
                        <m:brk m:alnAt="7"/>
                      </m:rPr>
                      <a:rPr lang="en-CA" sz="2400" b="0" i="1" smtClean="0">
                        <a:latin typeface="Cambria Math" panose="02040503050406030204" pitchFamily="18" charset="0"/>
                        <a:ea typeface="Times New Roman" panose="02020603050405020304" pitchFamily="18" charset="0"/>
                      </a:rPr>
                      <m:t>1</m:t>
                    </m:r>
                    <m:r>
                      <a:rPr lang="en-CA" sz="2400" b="0" i="1" smtClean="0">
                        <a:latin typeface="Cambria Math" panose="02040503050406030204" pitchFamily="18" charset="0"/>
                        <a:ea typeface="Times New Roman" panose="02020603050405020304" pitchFamily="18" charset="0"/>
                      </a:rPr>
                      <m:t>−</m:t>
                    </m:r>
                    <m:r>
                      <a:rPr lang="en-CA" sz="2400" i="1">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m:t>
                    </m:r>
                  </m:oMath>
                </a14:m>
                <a:r>
                  <a:rPr lang="en-US" sz="2400" dirty="0"/>
                  <a:t>)(</a:t>
                </a:r>
                <a14:m>
                  <m:oMath xmlns:m="http://schemas.openxmlformats.org/officeDocument/2006/math">
                    <m:r>
                      <a:rPr lang="en-CA" sz="2400" b="0" i="1" smtClean="0">
                        <a:latin typeface="Cambria Math" panose="02040503050406030204" pitchFamily="18" charset="0"/>
                        <a:ea typeface="Times New Roman" panose="02020603050405020304" pitchFamily="18" charset="0"/>
                      </a:rPr>
                      <m:t>−</m:t>
                    </m:r>
                    <m:r>
                      <a:rPr lang="en-CA" sz="2400" i="1">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m:t>
                    </m:r>
                    <m:r>
                      <a:rPr lang="en-CA" sz="2400" b="0" i="1" smtClean="0">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 −2=0</m:t>
                    </m:r>
                  </m:oMath>
                </a14:m>
                <a:endParaRPr lang="en-US" sz="2400" dirty="0"/>
              </a:p>
            </p:txBody>
          </p:sp>
        </mc:Choice>
        <mc:Fallback xmlns="">
          <p:sp>
            <p:nvSpPr>
              <p:cNvPr id="10" name="TextBox 9">
                <a:extLst>
                  <a:ext uri="{FF2B5EF4-FFF2-40B4-BE49-F238E27FC236}">
                    <a16:creationId xmlns:a16="http://schemas.microsoft.com/office/drawing/2014/main" id="{CCED59DE-D1EF-7045-BAB0-A062B10BD216}"/>
                  </a:ext>
                </a:extLst>
              </p:cNvPr>
              <p:cNvSpPr txBox="1">
                <a:spLocks noRot="1" noChangeAspect="1" noMove="1" noResize="1" noEditPoints="1" noAdjustHandles="1" noChangeArrowheads="1" noChangeShapeType="1" noTextEdit="1"/>
              </p:cNvSpPr>
              <p:nvPr/>
            </p:nvSpPr>
            <p:spPr>
              <a:xfrm>
                <a:off x="4780397" y="3946582"/>
                <a:ext cx="2902333" cy="461665"/>
              </a:xfrm>
              <a:prstGeom prst="rect">
                <a:avLst/>
              </a:prstGeom>
              <a:blipFill>
                <a:blip r:embed="rId4"/>
                <a:stretch>
                  <a:fillRect l="-1747" t="-7895"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963D8EC-00CC-9B4A-B591-1DD6D8C06C2B}"/>
                  </a:ext>
                </a:extLst>
              </p:cNvPr>
              <p:cNvSpPr txBox="1"/>
              <p:nvPr/>
            </p:nvSpPr>
            <p:spPr>
              <a:xfrm>
                <a:off x="4780397" y="4692349"/>
                <a:ext cx="2215607" cy="470000"/>
              </a:xfrm>
              <a:prstGeom prst="rect">
                <a:avLst/>
              </a:prstGeom>
              <a:noFill/>
            </p:spPr>
            <p:txBody>
              <a:bodyPr wrap="none" rtlCol="0">
                <a:spAutoFit/>
              </a:bodyPr>
              <a:lstStyle/>
              <a:p>
                <a14:m>
                  <m:oMath xmlns:m="http://schemas.openxmlformats.org/officeDocument/2006/math">
                    <m:r>
                      <a:rPr lang="en-CA" sz="2400" b="0" i="1" smtClean="0">
                        <a:latin typeface="Cambria Math" panose="02040503050406030204" pitchFamily="18" charset="0"/>
                        <a:ea typeface="Times New Roman" panose="02020603050405020304" pitchFamily="18" charset="0"/>
                      </a:rPr>
                      <m:t>− </m:t>
                    </m:r>
                    <m:r>
                      <a:rPr lang="en-CA" sz="2400" i="1">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m:t>
                    </m:r>
                  </m:oMath>
                </a14:m>
                <a:r>
                  <a:rPr lang="en-US" sz="2400" dirty="0"/>
                  <a:t> + </a:t>
                </a:r>
                <a14:m>
                  <m:oMath xmlns:m="http://schemas.openxmlformats.org/officeDocument/2006/math">
                    <m:sSup>
                      <m:sSupPr>
                        <m:ctrlPr>
                          <a:rPr lang="en-CA" sz="2400" i="1">
                            <a:latin typeface="Cambria Math" panose="02040503050406030204" pitchFamily="18" charset="0"/>
                          </a:rPr>
                        </m:ctrlPr>
                      </m:sSupPr>
                      <m:e>
                        <m:r>
                          <a:rPr lang="en-CA" sz="2400" i="1">
                            <a:latin typeface="Cambria Math" panose="02040503050406030204" pitchFamily="18" charset="0"/>
                            <a:sym typeface="Symbol" pitchFamily="2" charset="2"/>
                          </a:rPr>
                          <m:t></m:t>
                        </m:r>
                      </m:e>
                      <m:sup>
                        <m:r>
                          <a:rPr lang="en-CA" sz="2400" i="1">
                            <a:latin typeface="Cambria Math" panose="02040503050406030204" pitchFamily="18" charset="0"/>
                          </a:rPr>
                          <m:t>2</m:t>
                        </m:r>
                      </m:sup>
                    </m:sSup>
                  </m:oMath>
                </a14:m>
                <a:r>
                  <a:rPr lang="en-US" sz="2400" dirty="0"/>
                  <a:t> </a:t>
                </a:r>
                <a14:m>
                  <m:oMath xmlns:m="http://schemas.openxmlformats.org/officeDocument/2006/math">
                    <m:r>
                      <a:rPr lang="en-CA" sz="2400" b="0" i="1" smtClean="0">
                        <a:latin typeface="Cambria Math" panose="02040503050406030204" pitchFamily="18" charset="0"/>
                        <a:ea typeface="Times New Roman" panose="02020603050405020304" pitchFamily="18" charset="0"/>
                      </a:rPr>
                      <m:t>− </m:t>
                    </m:r>
                  </m:oMath>
                </a14:m>
                <a:r>
                  <a:rPr lang="en-US" sz="2400" dirty="0"/>
                  <a:t>2 = 0</a:t>
                </a:r>
              </a:p>
            </p:txBody>
          </p:sp>
        </mc:Choice>
        <mc:Fallback xmlns="">
          <p:sp>
            <p:nvSpPr>
              <p:cNvPr id="11" name="TextBox 10">
                <a:extLst>
                  <a:ext uri="{FF2B5EF4-FFF2-40B4-BE49-F238E27FC236}">
                    <a16:creationId xmlns:a16="http://schemas.microsoft.com/office/drawing/2014/main" id="{3963D8EC-00CC-9B4A-B591-1DD6D8C06C2B}"/>
                  </a:ext>
                </a:extLst>
              </p:cNvPr>
              <p:cNvSpPr txBox="1">
                <a:spLocks noRot="1" noChangeAspect="1" noMove="1" noResize="1" noEditPoints="1" noAdjustHandles="1" noChangeArrowheads="1" noChangeShapeType="1" noTextEdit="1"/>
              </p:cNvSpPr>
              <p:nvPr/>
            </p:nvSpPr>
            <p:spPr>
              <a:xfrm>
                <a:off x="4780397" y="4692349"/>
                <a:ext cx="2215607" cy="470000"/>
              </a:xfrm>
              <a:prstGeom prst="rect">
                <a:avLst/>
              </a:prstGeom>
              <a:blipFill>
                <a:blip r:embed="rId5"/>
                <a:stretch>
                  <a:fillRect t="-7895" r="-2841"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B21939B-100C-954F-A556-D460A60F8F07}"/>
                  </a:ext>
                </a:extLst>
              </p:cNvPr>
              <p:cNvSpPr txBox="1"/>
              <p:nvPr/>
            </p:nvSpPr>
            <p:spPr>
              <a:xfrm>
                <a:off x="4889401" y="5446451"/>
                <a:ext cx="1997598" cy="461665"/>
              </a:xfrm>
              <a:prstGeom prst="rect">
                <a:avLst/>
              </a:prstGeom>
              <a:noFill/>
              <a:ln>
                <a:solidFill>
                  <a:schemeClr val="accent2"/>
                </a:solidFill>
              </a:ln>
            </p:spPr>
            <p:txBody>
              <a:bodyPr wrap="none" rtlCol="0">
                <a:spAutoFit/>
              </a:bodyPr>
              <a:lstStyle/>
              <a:p>
                <a14:m>
                  <m:oMath xmlns:m="http://schemas.openxmlformats.org/officeDocument/2006/math">
                    <m:sSup>
                      <m:sSupPr>
                        <m:ctrlPr>
                          <a:rPr lang="en-CA" sz="2400" i="1" smtClean="0">
                            <a:latin typeface="Cambria Math" panose="02040503050406030204" pitchFamily="18" charset="0"/>
                          </a:rPr>
                        </m:ctrlPr>
                      </m:sSupPr>
                      <m:e>
                        <m:r>
                          <a:rPr lang="en-CA" sz="2400" i="1">
                            <a:latin typeface="Cambria Math" panose="02040503050406030204" pitchFamily="18" charset="0"/>
                            <a:sym typeface="Symbol" pitchFamily="2" charset="2"/>
                          </a:rPr>
                          <m:t></m:t>
                        </m:r>
                      </m:e>
                      <m:sup>
                        <m:r>
                          <a:rPr lang="en-CA" sz="2400" i="1">
                            <a:latin typeface="Cambria Math" panose="02040503050406030204" pitchFamily="18" charset="0"/>
                          </a:rPr>
                          <m:t>2</m:t>
                        </m:r>
                      </m:sup>
                    </m:sSup>
                  </m:oMath>
                </a14:m>
                <a:r>
                  <a:rPr lang="en-CA" sz="2400" b="0" dirty="0">
                    <a:ea typeface="Times New Roman" panose="02020603050405020304" pitchFamily="18" charset="0"/>
                  </a:rPr>
                  <a:t> </a:t>
                </a:r>
                <a14:m>
                  <m:oMath xmlns:m="http://schemas.openxmlformats.org/officeDocument/2006/math">
                    <m:r>
                      <a:rPr lang="en-CA" sz="2400" b="0" i="1" smtClean="0">
                        <a:latin typeface="Cambria Math" panose="02040503050406030204" pitchFamily="18" charset="0"/>
                        <a:ea typeface="Times New Roman" panose="02020603050405020304" pitchFamily="18" charset="0"/>
                      </a:rPr>
                      <m:t>− </m:t>
                    </m:r>
                    <m:r>
                      <a:rPr lang="en-CA" sz="2400" i="1">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m:t>
                    </m:r>
                  </m:oMath>
                </a14:m>
                <a:r>
                  <a:rPr lang="en-US" sz="2400" dirty="0"/>
                  <a:t> </a:t>
                </a:r>
                <a14:m>
                  <m:oMath xmlns:m="http://schemas.openxmlformats.org/officeDocument/2006/math">
                    <m:r>
                      <a:rPr lang="en-CA" sz="2400" b="0" i="1" smtClean="0">
                        <a:latin typeface="Cambria Math" panose="02040503050406030204" pitchFamily="18" charset="0"/>
                        <a:ea typeface="Times New Roman" panose="02020603050405020304" pitchFamily="18" charset="0"/>
                      </a:rPr>
                      <m:t>− </m:t>
                    </m:r>
                  </m:oMath>
                </a14:m>
                <a:r>
                  <a:rPr lang="en-US" sz="2400" dirty="0"/>
                  <a:t>2 = 0</a:t>
                </a:r>
              </a:p>
            </p:txBody>
          </p:sp>
        </mc:Choice>
        <mc:Fallback xmlns="">
          <p:sp>
            <p:nvSpPr>
              <p:cNvPr id="12" name="TextBox 11">
                <a:extLst>
                  <a:ext uri="{FF2B5EF4-FFF2-40B4-BE49-F238E27FC236}">
                    <a16:creationId xmlns:a16="http://schemas.microsoft.com/office/drawing/2014/main" id="{6B21939B-100C-954F-A556-D460A60F8F07}"/>
                  </a:ext>
                </a:extLst>
              </p:cNvPr>
              <p:cNvSpPr txBox="1">
                <a:spLocks noRot="1" noChangeAspect="1" noMove="1" noResize="1" noEditPoints="1" noAdjustHandles="1" noChangeArrowheads="1" noChangeShapeType="1" noTextEdit="1"/>
              </p:cNvSpPr>
              <p:nvPr/>
            </p:nvSpPr>
            <p:spPr>
              <a:xfrm>
                <a:off x="4889401" y="5446451"/>
                <a:ext cx="1997598" cy="461665"/>
              </a:xfrm>
              <a:prstGeom prst="rect">
                <a:avLst/>
              </a:prstGeom>
              <a:blipFill>
                <a:blip r:embed="rId6"/>
                <a:stretch>
                  <a:fillRect l="-629" t="-7895" r="-3774" b="-28947"/>
                </a:stretch>
              </a:blipFill>
              <a:ln>
                <a:solidFill>
                  <a:schemeClr val="accent2"/>
                </a:solidFill>
              </a:ln>
            </p:spPr>
            <p:txBody>
              <a:bodyPr/>
              <a:lstStyle/>
              <a:p>
                <a:r>
                  <a:rPr lang="en-US">
                    <a:noFill/>
                  </a:rPr>
                  <a:t> </a:t>
                </a:r>
              </a:p>
            </p:txBody>
          </p:sp>
        </mc:Fallback>
      </mc:AlternateContent>
      <p:sp>
        <p:nvSpPr>
          <p:cNvPr id="13" name="Rectangle 12">
            <a:extLst>
              <a:ext uri="{FF2B5EF4-FFF2-40B4-BE49-F238E27FC236}">
                <a16:creationId xmlns:a16="http://schemas.microsoft.com/office/drawing/2014/main" id="{A29113A0-84BB-0246-996A-51ADCF00FFD4}"/>
              </a:ext>
            </a:extLst>
          </p:cNvPr>
          <p:cNvSpPr/>
          <p:nvPr/>
        </p:nvSpPr>
        <p:spPr>
          <a:xfrm>
            <a:off x="0" y="0"/>
            <a:ext cx="12192000" cy="1045445"/>
          </a:xfrm>
          <a:prstGeom prst="rect">
            <a:avLst/>
          </a:prstGeom>
          <a:solidFill>
            <a:srgbClr val="ED7D31"/>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Calibri" panose="020F0502020204030204" pitchFamily="34" charset="0"/>
                <a:cs typeface="Calibri" panose="020F0502020204030204" pitchFamily="34" charset="0"/>
              </a:rPr>
              <a:t>CALCULATING EIGENVALUES</a:t>
            </a:r>
          </a:p>
        </p:txBody>
      </p:sp>
      <p:sp>
        <p:nvSpPr>
          <p:cNvPr id="14" name="TextBox 13">
            <a:extLst>
              <a:ext uri="{FF2B5EF4-FFF2-40B4-BE49-F238E27FC236}">
                <a16:creationId xmlns:a16="http://schemas.microsoft.com/office/drawing/2014/main" id="{CFEA06FD-03CF-6D48-992C-47B6E4D147CD}"/>
              </a:ext>
            </a:extLst>
          </p:cNvPr>
          <p:cNvSpPr txBox="1"/>
          <p:nvPr/>
        </p:nvSpPr>
        <p:spPr>
          <a:xfrm>
            <a:off x="2743200" y="2281961"/>
            <a:ext cx="1556580" cy="369332"/>
          </a:xfrm>
          <a:prstGeom prst="rect">
            <a:avLst/>
          </a:prstGeom>
          <a:noFill/>
        </p:spPr>
        <p:txBody>
          <a:bodyPr wrap="none" rtlCol="0">
            <a:spAutoFit/>
          </a:bodyPr>
          <a:lstStyle/>
          <a:p>
            <a:r>
              <a:rPr lang="en-US" dirty="0">
                <a:solidFill>
                  <a:schemeClr val="accent2"/>
                </a:solidFill>
              </a:rPr>
              <a:t>Putting values </a:t>
            </a:r>
          </a:p>
        </p:txBody>
      </p:sp>
      <p:sp>
        <p:nvSpPr>
          <p:cNvPr id="15" name="TextBox 14">
            <a:extLst>
              <a:ext uri="{FF2B5EF4-FFF2-40B4-BE49-F238E27FC236}">
                <a16:creationId xmlns:a16="http://schemas.microsoft.com/office/drawing/2014/main" id="{D850B4A9-0499-8A45-8223-E36812DD39DB}"/>
              </a:ext>
            </a:extLst>
          </p:cNvPr>
          <p:cNvSpPr txBox="1"/>
          <p:nvPr/>
        </p:nvSpPr>
        <p:spPr>
          <a:xfrm>
            <a:off x="2482295" y="3992748"/>
            <a:ext cx="2078389" cy="369332"/>
          </a:xfrm>
          <a:prstGeom prst="rect">
            <a:avLst/>
          </a:prstGeom>
          <a:noFill/>
        </p:spPr>
        <p:txBody>
          <a:bodyPr wrap="none" rtlCol="0">
            <a:spAutoFit/>
          </a:bodyPr>
          <a:lstStyle/>
          <a:p>
            <a:r>
              <a:rPr lang="en-US" dirty="0">
                <a:solidFill>
                  <a:schemeClr val="accent2"/>
                </a:solidFill>
              </a:rPr>
              <a:t>Solving determinant</a:t>
            </a:r>
          </a:p>
        </p:txBody>
      </p:sp>
    </p:spTree>
    <p:extLst>
      <p:ext uri="{BB962C8B-B14F-4D97-AF65-F5344CB8AC3E}">
        <p14:creationId xmlns:p14="http://schemas.microsoft.com/office/powerpoint/2010/main" val="1096114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52BC9AC-54D5-DD47-A66A-83743C75B600}"/>
              </a:ext>
            </a:extLst>
          </p:cNvPr>
          <p:cNvSpPr/>
          <p:nvPr/>
        </p:nvSpPr>
        <p:spPr>
          <a:xfrm>
            <a:off x="0" y="0"/>
            <a:ext cx="12192000" cy="1045445"/>
          </a:xfrm>
          <a:prstGeom prst="rect">
            <a:avLst/>
          </a:prstGeom>
          <a:solidFill>
            <a:srgbClr val="ED7D31"/>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Calibri" panose="020F0502020204030204" pitchFamily="34" charset="0"/>
                <a:cs typeface="Calibri" panose="020F0502020204030204" pitchFamily="34" charset="0"/>
              </a:rPr>
              <a:t>CALCULATING EIGENVALUES</a:t>
            </a:r>
          </a:p>
        </p:txBody>
      </p:sp>
      <p:pic>
        <p:nvPicPr>
          <p:cNvPr id="6" name="Picture 5">
            <a:extLst>
              <a:ext uri="{FF2B5EF4-FFF2-40B4-BE49-F238E27FC236}">
                <a16:creationId xmlns:a16="http://schemas.microsoft.com/office/drawing/2014/main" id="{124B4C24-6BEF-2848-9C78-B8760CCD714A}"/>
              </a:ext>
            </a:extLst>
          </p:cNvPr>
          <p:cNvPicPr>
            <a:picLocks noChangeAspect="1"/>
          </p:cNvPicPr>
          <p:nvPr/>
        </p:nvPicPr>
        <p:blipFill>
          <a:blip r:embed="rId3"/>
          <a:stretch>
            <a:fillRect/>
          </a:stretch>
        </p:blipFill>
        <p:spPr>
          <a:xfrm>
            <a:off x="6096000" y="1557267"/>
            <a:ext cx="5029200" cy="3048000"/>
          </a:xfrm>
          <a:prstGeom prst="rect">
            <a:avLst/>
          </a:prstGeom>
          <a:ln w="19050">
            <a:solidFill>
              <a:schemeClr val="accent2"/>
            </a:solidFill>
          </a:ln>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D0A5226-D985-6440-A5B2-2CCEAEFDF505}"/>
                  </a:ext>
                </a:extLst>
              </p:cNvPr>
              <p:cNvSpPr txBox="1"/>
              <p:nvPr/>
            </p:nvSpPr>
            <p:spPr>
              <a:xfrm>
                <a:off x="634554" y="1557267"/>
                <a:ext cx="1997598" cy="461665"/>
              </a:xfrm>
              <a:prstGeom prst="rect">
                <a:avLst/>
              </a:prstGeom>
              <a:noFill/>
            </p:spPr>
            <p:txBody>
              <a:bodyPr wrap="none" rtlCol="0">
                <a:spAutoFit/>
              </a:bodyPr>
              <a:lstStyle/>
              <a:p>
                <a14:m>
                  <m:oMath xmlns:m="http://schemas.openxmlformats.org/officeDocument/2006/math">
                    <m:sSup>
                      <m:sSupPr>
                        <m:ctrlPr>
                          <a:rPr lang="en-CA" sz="2400" i="1">
                            <a:latin typeface="Cambria Math" panose="02040503050406030204" pitchFamily="18" charset="0"/>
                          </a:rPr>
                        </m:ctrlPr>
                      </m:sSupPr>
                      <m:e>
                        <m:r>
                          <a:rPr lang="en-CA" sz="2400" i="1">
                            <a:latin typeface="Cambria Math" panose="02040503050406030204" pitchFamily="18" charset="0"/>
                            <a:sym typeface="Symbol" pitchFamily="2" charset="2"/>
                          </a:rPr>
                          <m:t></m:t>
                        </m:r>
                      </m:e>
                      <m:sup>
                        <m:r>
                          <a:rPr lang="en-CA" sz="2400" i="1">
                            <a:latin typeface="Cambria Math" panose="02040503050406030204" pitchFamily="18" charset="0"/>
                          </a:rPr>
                          <m:t>2</m:t>
                        </m:r>
                      </m:sup>
                    </m:sSup>
                  </m:oMath>
                </a14:m>
                <a:r>
                  <a:rPr lang="en-CA" sz="2400" dirty="0">
                    <a:ea typeface="Times New Roman" panose="02020603050405020304" pitchFamily="18" charset="0"/>
                  </a:rPr>
                  <a:t> </a:t>
                </a:r>
                <a14:m>
                  <m:oMath xmlns:m="http://schemas.openxmlformats.org/officeDocument/2006/math">
                    <m:r>
                      <a:rPr lang="en-CA" sz="2400" i="1">
                        <a:latin typeface="Cambria Math" panose="02040503050406030204" pitchFamily="18" charset="0"/>
                        <a:ea typeface="Times New Roman" panose="02020603050405020304" pitchFamily="18" charset="0"/>
                      </a:rPr>
                      <m:t>− </m:t>
                    </m:r>
                    <m:r>
                      <a:rPr lang="en-CA" sz="2400" i="1">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m:t>
                    </m:r>
                  </m:oMath>
                </a14:m>
                <a:r>
                  <a:rPr lang="en-US" sz="2400" dirty="0"/>
                  <a:t> </a:t>
                </a:r>
                <a14:m>
                  <m:oMath xmlns:m="http://schemas.openxmlformats.org/officeDocument/2006/math">
                    <m:r>
                      <a:rPr lang="en-CA" sz="2400" i="1">
                        <a:latin typeface="Cambria Math" panose="02040503050406030204" pitchFamily="18" charset="0"/>
                        <a:ea typeface="Times New Roman" panose="02020603050405020304" pitchFamily="18" charset="0"/>
                      </a:rPr>
                      <m:t>− </m:t>
                    </m:r>
                  </m:oMath>
                </a14:m>
                <a:r>
                  <a:rPr lang="en-US" sz="2400" dirty="0"/>
                  <a:t>2 = 0</a:t>
                </a:r>
              </a:p>
            </p:txBody>
          </p:sp>
        </mc:Choice>
        <mc:Fallback xmlns="">
          <p:sp>
            <p:nvSpPr>
              <p:cNvPr id="7" name="TextBox 6">
                <a:extLst>
                  <a:ext uri="{FF2B5EF4-FFF2-40B4-BE49-F238E27FC236}">
                    <a16:creationId xmlns:a16="http://schemas.microsoft.com/office/drawing/2014/main" id="{BD0A5226-D985-6440-A5B2-2CCEAEFDF505}"/>
                  </a:ext>
                </a:extLst>
              </p:cNvPr>
              <p:cNvSpPr txBox="1">
                <a:spLocks noRot="1" noChangeAspect="1" noMove="1" noResize="1" noEditPoints="1" noAdjustHandles="1" noChangeArrowheads="1" noChangeShapeType="1" noTextEdit="1"/>
              </p:cNvSpPr>
              <p:nvPr/>
            </p:nvSpPr>
            <p:spPr>
              <a:xfrm>
                <a:off x="634554" y="1557267"/>
                <a:ext cx="1997598" cy="461665"/>
              </a:xfrm>
              <a:prstGeom prst="rect">
                <a:avLst/>
              </a:prstGeom>
              <a:blipFill>
                <a:blip r:embed="rId4"/>
                <a:stretch>
                  <a:fillRect l="-629" t="-8108" r="-3774"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7B9D9700-B616-A045-B936-D06AE76F2A0B}"/>
                  </a:ext>
                </a:extLst>
              </p:cNvPr>
              <p:cNvSpPr/>
              <p:nvPr/>
            </p:nvSpPr>
            <p:spPr>
              <a:xfrm>
                <a:off x="634554" y="3198336"/>
                <a:ext cx="1249573" cy="1200329"/>
              </a:xfrm>
              <a:prstGeom prst="rect">
                <a:avLst/>
              </a:prstGeom>
              <a:ln w="19050">
                <a:solidFill>
                  <a:schemeClr val="accent2"/>
                </a:solidFill>
              </a:ln>
            </p:spPr>
            <p:txBody>
              <a:bodyPr wrap="none">
                <a:spAutoFit/>
              </a:bodyPr>
              <a:lstStyle/>
              <a:p>
                <a14:m>
                  <m:oMath xmlns:m="http://schemas.openxmlformats.org/officeDocument/2006/math">
                    <m:r>
                      <a:rPr lang="en-CA" sz="2400" i="1" smtClean="0">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m:t>
                    </m:r>
                    <m:r>
                      <a:rPr lang="en-CA" sz="2400" b="0" i="1" baseline="-25000" smtClean="0">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1</m:t>
                    </m:r>
                  </m:oMath>
                </a14:m>
                <a:r>
                  <a:rPr lang="en-US" sz="2400" dirty="0"/>
                  <a:t> </a:t>
                </a:r>
                <a14:m>
                  <m:oMath xmlns:m="http://schemas.openxmlformats.org/officeDocument/2006/math">
                    <m:r>
                      <a:rPr lang="en-CA" sz="2400" i="1" dirty="0" smtClean="0">
                        <a:latin typeface="Cambria Math" panose="02040503050406030204" pitchFamily="18" charset="0"/>
                      </a:rPr>
                      <m:t>=</m:t>
                    </m:r>
                    <m:r>
                      <a:rPr lang="en-CA" sz="2400" i="1">
                        <a:latin typeface="Cambria Math" panose="02040503050406030204" pitchFamily="18" charset="0"/>
                        <a:ea typeface="Times New Roman" panose="02020603050405020304" pitchFamily="18" charset="0"/>
                      </a:rPr>
                      <m:t> </m:t>
                    </m:r>
                  </m:oMath>
                </a14:m>
                <a:r>
                  <a:rPr lang="en-US" sz="2400" dirty="0"/>
                  <a:t>2 </a:t>
                </a:r>
              </a:p>
              <a:p>
                <a:endParaRPr lang="en-US" sz="2400" dirty="0"/>
              </a:p>
              <a:p>
                <a14:m>
                  <m:oMath xmlns:m="http://schemas.openxmlformats.org/officeDocument/2006/math">
                    <m:r>
                      <a:rPr lang="en-CA" sz="2400" i="1" smtClean="0">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m:t>
                    </m:r>
                    <m:r>
                      <a:rPr lang="en-CA" sz="2400" b="0" i="1" baseline="-25000" smtClean="0">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2</m:t>
                    </m:r>
                  </m:oMath>
                </a14:m>
                <a:r>
                  <a:rPr lang="en-US" sz="2400" dirty="0"/>
                  <a:t> </a:t>
                </a:r>
                <a14:m>
                  <m:oMath xmlns:m="http://schemas.openxmlformats.org/officeDocument/2006/math">
                    <m:r>
                      <a:rPr lang="en-CA" sz="2400" i="1" dirty="0" smtClean="0">
                        <a:latin typeface="Cambria Math" panose="02040503050406030204" pitchFamily="18" charset="0"/>
                      </a:rPr>
                      <m:t>=</m:t>
                    </m:r>
                    <m:r>
                      <a:rPr lang="en-CA" sz="2400" b="0" i="0" smtClean="0">
                        <a:latin typeface="Cambria Math" panose="02040503050406030204" pitchFamily="18" charset="0"/>
                        <a:ea typeface="Times New Roman" panose="02020603050405020304" pitchFamily="18" charset="0"/>
                      </a:rPr>
                      <m:t>−1</m:t>
                    </m:r>
                  </m:oMath>
                </a14:m>
                <a:endParaRPr lang="en-US" sz="2400" dirty="0"/>
              </a:p>
            </p:txBody>
          </p:sp>
        </mc:Choice>
        <mc:Fallback xmlns="">
          <p:sp>
            <p:nvSpPr>
              <p:cNvPr id="8" name="Rectangle 7">
                <a:extLst>
                  <a:ext uri="{FF2B5EF4-FFF2-40B4-BE49-F238E27FC236}">
                    <a16:creationId xmlns:a16="http://schemas.microsoft.com/office/drawing/2014/main" id="{7B9D9700-B616-A045-B936-D06AE76F2A0B}"/>
                  </a:ext>
                </a:extLst>
              </p:cNvPr>
              <p:cNvSpPr>
                <a:spLocks noRot="1" noChangeAspect="1" noMove="1" noResize="1" noEditPoints="1" noAdjustHandles="1" noChangeArrowheads="1" noChangeShapeType="1" noTextEdit="1"/>
              </p:cNvSpPr>
              <p:nvPr/>
            </p:nvSpPr>
            <p:spPr>
              <a:xfrm>
                <a:off x="634554" y="3198336"/>
                <a:ext cx="1249573" cy="1200329"/>
              </a:xfrm>
              <a:prstGeom prst="rect">
                <a:avLst/>
              </a:prstGeom>
              <a:blipFill>
                <a:blip r:embed="rId5"/>
                <a:stretch>
                  <a:fillRect l="-990" t="-2062"/>
                </a:stretch>
              </a:blipFill>
              <a:ln w="19050">
                <a:solidFill>
                  <a:schemeClr val="accent2"/>
                </a:solidFill>
              </a:ln>
            </p:spPr>
            <p:txBody>
              <a:bodyPr/>
              <a:lstStyle/>
              <a:p>
                <a:r>
                  <a:rPr lang="en-US">
                    <a:noFill/>
                  </a:rPr>
                  <a:t> </a:t>
                </a:r>
              </a:p>
            </p:txBody>
          </p:sp>
        </mc:Fallback>
      </mc:AlternateContent>
      <p:sp>
        <p:nvSpPr>
          <p:cNvPr id="10" name="TextBox 9">
            <a:extLst>
              <a:ext uri="{FF2B5EF4-FFF2-40B4-BE49-F238E27FC236}">
                <a16:creationId xmlns:a16="http://schemas.microsoft.com/office/drawing/2014/main" id="{32973052-3085-E441-8036-5E523C556F1A}"/>
              </a:ext>
            </a:extLst>
          </p:cNvPr>
          <p:cNvSpPr txBox="1"/>
          <p:nvPr/>
        </p:nvSpPr>
        <p:spPr>
          <a:xfrm>
            <a:off x="634554" y="2404129"/>
            <a:ext cx="4596451" cy="461665"/>
          </a:xfrm>
          <a:prstGeom prst="rect">
            <a:avLst/>
          </a:prstGeom>
          <a:noFill/>
        </p:spPr>
        <p:txBody>
          <a:bodyPr wrap="none" rtlCol="0">
            <a:spAutoFit/>
          </a:bodyPr>
          <a:lstStyle/>
          <a:p>
            <a:r>
              <a:rPr lang="en-US" sz="2400" dirty="0"/>
              <a:t>On solving above equation, we get</a:t>
            </a:r>
          </a:p>
        </p:txBody>
      </p:sp>
    </p:spTree>
    <p:extLst>
      <p:ext uri="{BB962C8B-B14F-4D97-AF65-F5344CB8AC3E}">
        <p14:creationId xmlns:p14="http://schemas.microsoft.com/office/powerpoint/2010/main" val="3287713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9470939-F527-C94E-BF35-E4B1B0189DEB}"/>
                  </a:ext>
                </a:extLst>
              </p:cNvPr>
              <p:cNvSpPr/>
              <p:nvPr/>
            </p:nvSpPr>
            <p:spPr>
              <a:xfrm>
                <a:off x="3657601" y="1537899"/>
                <a:ext cx="2445349" cy="4403257"/>
              </a:xfrm>
              <a:prstGeom prst="rect">
                <a:avLst/>
              </a:prstGeom>
            </p:spPr>
            <p:txBody>
              <a:bodyPr wrap="none">
                <a:spAutoFit/>
              </a:bodyPr>
              <a:lstStyle/>
              <a:p>
                <a:pPr lvl="0"/>
                <a:r>
                  <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A</a:t>
                </a:r>
                <a:r>
                  <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 = </a:t>
                </a:r>
              </a:p>
              <a:p>
                <a:pPr lvl="0"/>
                <a:endPar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endParaRPr>
              </a:p>
              <a:p>
                <a:pPr lvl="0"/>
                <a:endPar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endParaRPr>
              </a:p>
              <a:p>
                <a14:m>
                  <m:oMath xmlns:m="http://schemas.openxmlformats.org/officeDocument/2006/math">
                    <m:d>
                      <m:dPr>
                        <m:begChr m:val="["/>
                        <m:endChr m:val="]"/>
                        <m:ctrlPr>
                          <a:rPr lang="en-CA" sz="2400" i="1">
                            <a:latin typeface="Cambria Math" panose="02040503050406030204" pitchFamily="18" charset="0"/>
                            <a:ea typeface="Times New Roman" panose="02020603050405020304" pitchFamily="18" charset="0"/>
                          </a:rPr>
                        </m:ctrlPr>
                      </m:dPr>
                      <m:e>
                        <m:m>
                          <m:mPr>
                            <m:mcs>
                              <m:mc>
                                <m:mcPr>
                                  <m:count m:val="2"/>
                                  <m:mcJc m:val="center"/>
                                </m:mcPr>
                              </m:mc>
                            </m:mcs>
                            <m:ctrlPr>
                              <a:rPr lang="en-CA" sz="2400" i="1">
                                <a:latin typeface="Cambria Math" panose="02040503050406030204" pitchFamily="18" charset="0"/>
                                <a:ea typeface="Times New Roman" panose="02020603050405020304" pitchFamily="18" charset="0"/>
                              </a:rPr>
                            </m:ctrlPr>
                          </m:mPr>
                          <m:mr>
                            <m:e>
                              <m:r>
                                <a:rPr lang="en-CA" sz="2400" i="1">
                                  <a:latin typeface="Cambria Math" panose="02040503050406030204" pitchFamily="18" charset="0"/>
                                  <a:ea typeface="Times New Roman" panose="02020603050405020304" pitchFamily="18" charset="0"/>
                                  <a:cs typeface="Times New Roman" panose="02020603050405020304" pitchFamily="18" charset="0"/>
                                </a:rPr>
                                <m:t>1</m:t>
                              </m:r>
                            </m:e>
                            <m:e>
                              <m:r>
                                <a:rPr lang="en-CA" sz="2400" i="1">
                                  <a:latin typeface="Cambria Math" panose="02040503050406030204" pitchFamily="18" charset="0"/>
                                  <a:ea typeface="Cambria Math" panose="02040503050406030204" pitchFamily="18" charset="0"/>
                                  <a:cs typeface="Cambria Math" panose="02040503050406030204" pitchFamily="18" charset="0"/>
                                </a:rPr>
                                <m:t>2</m:t>
                              </m:r>
                            </m:e>
                          </m:mr>
                          <m:mr>
                            <m:e>
                              <m:r>
                                <a:rPr lang="en-CA" sz="2400" i="1">
                                  <a:latin typeface="Cambria Math" panose="02040503050406030204" pitchFamily="18" charset="0"/>
                                  <a:ea typeface="Times New Roman" panose="02020603050405020304" pitchFamily="18" charset="0"/>
                                  <a:cs typeface="Times New Roman" panose="02020603050405020304" pitchFamily="18" charset="0"/>
                                </a:rPr>
                                <m:t>1</m:t>
                              </m:r>
                            </m:e>
                            <m:e>
                              <m:r>
                                <a:rPr lang="en-CA" sz="2400" i="1">
                                  <a:latin typeface="Cambria Math" panose="02040503050406030204" pitchFamily="18" charset="0"/>
                                  <a:ea typeface="Cambria Math" panose="02040503050406030204" pitchFamily="18" charset="0"/>
                                  <a:cs typeface="Cambria Math" panose="02040503050406030204" pitchFamily="18" charset="0"/>
                                </a:rPr>
                                <m:t>0</m:t>
                              </m:r>
                            </m:e>
                          </m:mr>
                        </m:m>
                      </m:e>
                    </m:d>
                  </m:oMath>
                </a14:m>
                <a:r>
                  <a:rPr lang="en-CA" sz="2400" dirty="0">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CA" sz="2400" i="1">
                            <a:latin typeface="Cambria Math" panose="02040503050406030204" pitchFamily="18" charset="0"/>
                            <a:ea typeface="Times New Roman" panose="02020603050405020304" pitchFamily="18" charset="0"/>
                          </a:rPr>
                        </m:ctrlPr>
                      </m:dPr>
                      <m:e>
                        <m:m>
                          <m:mPr>
                            <m:mcs>
                              <m:mc>
                                <m:mcPr>
                                  <m:count m:val="1"/>
                                  <m:mcJc m:val="center"/>
                                </m:mcPr>
                              </m:mc>
                            </m:mcs>
                            <m:ctrlPr>
                              <a:rPr lang="en-CA" sz="2400" i="1">
                                <a:latin typeface="Cambria Math" panose="02040503050406030204" pitchFamily="18" charset="0"/>
                                <a:ea typeface="Cambria Math" panose="02040503050406030204" pitchFamily="18" charset="0"/>
                                <a:cs typeface="Cambria Math" panose="02040503050406030204" pitchFamily="18" charset="0"/>
                              </a:rPr>
                            </m:ctrlPr>
                          </m:mPr>
                          <m:mr>
                            <m:e>
                              <m:r>
                                <m:rPr>
                                  <m:brk m:alnAt="7"/>
                                </m:rPr>
                                <a:rPr lang="en-CA" sz="2400" b="0" i="1" smtClean="0">
                                  <a:latin typeface="Cambria Math" panose="02040503050406030204" pitchFamily="18" charset="0"/>
                                  <a:ea typeface="Cambria Math" panose="02040503050406030204" pitchFamily="18" charset="0"/>
                                  <a:cs typeface="Cambria Math" panose="02040503050406030204" pitchFamily="18" charset="0"/>
                                </a:rPr>
                                <m:t>𝑥</m:t>
                              </m:r>
                            </m:e>
                          </m:mr>
                          <m:mr>
                            <m:e>
                              <m:r>
                                <a:rPr lang="en-CA" sz="2400" b="0" i="1" smtClean="0">
                                  <a:latin typeface="Cambria Math" panose="02040503050406030204" pitchFamily="18" charset="0"/>
                                  <a:ea typeface="Cambria Math" panose="02040503050406030204" pitchFamily="18" charset="0"/>
                                  <a:cs typeface="Cambria Math" panose="02040503050406030204" pitchFamily="18" charset="0"/>
                                </a:rPr>
                                <m:t>𝑦</m:t>
                              </m:r>
                            </m:e>
                          </m:mr>
                        </m:m>
                      </m:e>
                    </m:d>
                  </m:oMath>
                </a14:m>
                <a:r>
                  <a:rPr lang="en-CA" sz="2400" dirty="0">
                    <a:latin typeface="Calibri" panose="020F0502020204030204" pitchFamily="34" charset="0"/>
                    <a:ea typeface="Times New Roman" panose="02020603050405020304" pitchFamily="18" charset="0"/>
                    <a:cs typeface="Times New Roman" panose="02020603050405020304" pitchFamily="18" charset="0"/>
                  </a:rPr>
                  <a:t> = </a:t>
                </a:r>
                <a:r>
                  <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2</a:t>
                </a:r>
                <a:r>
                  <a:rPr lang="en-CA" sz="2400" dirty="0">
                    <a:ea typeface="Times New Roman" panose="02020603050405020304" pitchFamily="18" charset="0"/>
                  </a:rPr>
                  <a:t> </a:t>
                </a:r>
                <a14:m>
                  <m:oMath xmlns:m="http://schemas.openxmlformats.org/officeDocument/2006/math">
                    <m:d>
                      <m:dPr>
                        <m:begChr m:val="["/>
                        <m:endChr m:val="]"/>
                        <m:ctrlPr>
                          <a:rPr lang="en-CA" sz="2400" i="1">
                            <a:latin typeface="Cambria Math" panose="02040503050406030204" pitchFamily="18" charset="0"/>
                            <a:ea typeface="Times New Roman" panose="02020603050405020304" pitchFamily="18" charset="0"/>
                          </a:rPr>
                        </m:ctrlPr>
                      </m:dPr>
                      <m:e>
                        <m:m>
                          <m:mPr>
                            <m:mcs>
                              <m:mc>
                                <m:mcPr>
                                  <m:count m:val="1"/>
                                  <m:mcJc m:val="center"/>
                                </m:mcPr>
                              </m:mc>
                            </m:mcs>
                            <m:ctrlPr>
                              <a:rPr lang="en-CA" sz="2400" i="1">
                                <a:latin typeface="Cambria Math" panose="02040503050406030204" pitchFamily="18" charset="0"/>
                                <a:ea typeface="Cambria Math" panose="02040503050406030204" pitchFamily="18" charset="0"/>
                                <a:cs typeface="Cambria Math" panose="02040503050406030204" pitchFamily="18" charset="0"/>
                              </a:rPr>
                            </m:ctrlPr>
                          </m:mPr>
                          <m:mr>
                            <m:e>
                              <m:r>
                                <m:rPr>
                                  <m:brk m:alnAt="7"/>
                                </m:rPr>
                                <a:rPr lang="en-CA" sz="2400" b="0" i="1" smtClean="0">
                                  <a:latin typeface="Cambria Math" panose="02040503050406030204" pitchFamily="18" charset="0"/>
                                  <a:ea typeface="Cambria Math" panose="02040503050406030204" pitchFamily="18" charset="0"/>
                                  <a:cs typeface="Cambria Math" panose="02040503050406030204" pitchFamily="18" charset="0"/>
                                </a:rPr>
                                <m:t>𝑥</m:t>
                              </m:r>
                            </m:e>
                          </m:mr>
                          <m:mr>
                            <m:e>
                              <m:r>
                                <a:rPr lang="en-CA" sz="2400" b="0" i="1" smtClean="0">
                                  <a:latin typeface="Cambria Math" panose="02040503050406030204" pitchFamily="18" charset="0"/>
                                  <a:ea typeface="Cambria Math" panose="02040503050406030204" pitchFamily="18" charset="0"/>
                                  <a:cs typeface="Cambria Math" panose="02040503050406030204" pitchFamily="18" charset="0"/>
                                </a:rPr>
                                <m:t>𝑦</m:t>
                              </m:r>
                            </m:e>
                          </m:mr>
                        </m:m>
                      </m:e>
                    </m:d>
                  </m:oMath>
                </a14:m>
                <a:endParaRPr lang="en-CA" sz="2400" dirty="0">
                  <a:latin typeface="Calibri" panose="020F0502020204030204" pitchFamily="34" charset="0"/>
                  <a:ea typeface="Times New Roman" panose="02020603050405020304" pitchFamily="18" charset="0"/>
                  <a:cs typeface="Times New Roman" panose="02020603050405020304" pitchFamily="18" charset="0"/>
                </a:endParaRPr>
              </a:p>
              <a:p>
                <a:endParaRPr lang="en-CA" sz="2400" dirty="0">
                  <a:latin typeface="Calibri" panose="020F0502020204030204" pitchFamily="34" charset="0"/>
                  <a:ea typeface="Times New Roman" panose="02020603050405020304" pitchFamily="18" charset="0"/>
                  <a:cs typeface="Times New Roman" panose="02020603050405020304" pitchFamily="18" charset="0"/>
                </a:endParaRPr>
              </a:p>
              <a:p>
                <a:endParaRPr lang="en-CA" sz="2400" dirty="0">
                  <a:latin typeface="Calibri" panose="020F0502020204030204" pitchFamily="34" charset="0"/>
                  <a:ea typeface="Times New Roman" panose="02020603050405020304" pitchFamily="18" charset="0"/>
                  <a:cs typeface="Times New Roman" panose="02020603050405020304" pitchFamily="18" charset="0"/>
                </a:endParaRPr>
              </a:p>
              <a:p>
                <a:r>
                  <a:rPr lang="en-CA" sz="2400" dirty="0">
                    <a:latin typeface="Calibri" panose="020F0502020204030204" pitchFamily="34" charset="0"/>
                    <a:ea typeface="Times New Roman" panose="02020603050405020304" pitchFamily="18" charset="0"/>
                    <a:cs typeface="Times New Roman" panose="02020603050405020304" pitchFamily="18" charset="0"/>
                  </a:rPr>
                  <a:t>x + 2y =2x</a:t>
                </a:r>
              </a:p>
              <a:p>
                <a:r>
                  <a:rPr lang="en-CA" sz="2400" dirty="0">
                    <a:latin typeface="Calibri" panose="020F0502020204030204" pitchFamily="34" charset="0"/>
                    <a:ea typeface="Times New Roman" panose="02020603050405020304" pitchFamily="18" charset="0"/>
                    <a:cs typeface="Times New Roman" panose="02020603050405020304" pitchFamily="18" charset="0"/>
                  </a:rPr>
                  <a:t>x = 2y</a:t>
                </a:r>
              </a:p>
              <a:p>
                <a:pPr algn="ctr"/>
                <a:endParaRPr lang="en-CA" dirty="0">
                  <a:latin typeface="Calibri" panose="020F0502020204030204" pitchFamily="34" charset="0"/>
                  <a:ea typeface="Times New Roman" panose="02020603050405020304" pitchFamily="18" charset="0"/>
                  <a:cs typeface="Times New Roman" panose="02020603050405020304" pitchFamily="18" charset="0"/>
                </a:endParaRPr>
              </a:p>
              <a:p>
                <a:pPr algn="ctr"/>
                <a:r>
                  <a:rPr lang="en-CA" dirty="0">
                    <a:latin typeface="Calibri" panose="020F0502020204030204" pitchFamily="34" charset="0"/>
                    <a:ea typeface="Times New Roman" panose="02020603050405020304" pitchFamily="18" charset="0"/>
                    <a:cs typeface="Times New Roman" panose="02020603050405020304" pitchFamily="18" charset="0"/>
                  </a:rPr>
                  <a:t> </a:t>
                </a:r>
                <a:endParaRPr lang="en-US" dirty="0"/>
              </a:p>
              <a:p>
                <a:pPr algn="ctr"/>
                <a:endParaRPr lang="en-US" dirty="0"/>
              </a:p>
              <a:p>
                <a:pPr lvl="0" algn="ctr"/>
                <a:endParaRPr lang="en-CA"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endParaRPr>
              </a:p>
            </p:txBody>
          </p:sp>
        </mc:Choice>
        <mc:Fallback xmlns="">
          <p:sp>
            <p:nvSpPr>
              <p:cNvPr id="5" name="Rectangle 4">
                <a:extLst>
                  <a:ext uri="{FF2B5EF4-FFF2-40B4-BE49-F238E27FC236}">
                    <a16:creationId xmlns:a16="http://schemas.microsoft.com/office/drawing/2014/main" id="{09470939-F527-C94E-BF35-E4B1B0189DEB}"/>
                  </a:ext>
                </a:extLst>
              </p:cNvPr>
              <p:cNvSpPr>
                <a:spLocks noRot="1" noChangeAspect="1" noMove="1" noResize="1" noEditPoints="1" noAdjustHandles="1" noChangeArrowheads="1" noChangeShapeType="1" noTextEdit="1"/>
              </p:cNvSpPr>
              <p:nvPr/>
            </p:nvSpPr>
            <p:spPr>
              <a:xfrm>
                <a:off x="3657601" y="1537899"/>
                <a:ext cx="2445349" cy="4403257"/>
              </a:xfrm>
              <a:prstGeom prst="rect">
                <a:avLst/>
              </a:prstGeom>
              <a:blipFill>
                <a:blip r:embed="rId3"/>
                <a:stretch>
                  <a:fillRect l="-4145" t="-11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CC0EF0DC-AAED-8041-9DBD-068FD3CC5BEE}"/>
                  </a:ext>
                </a:extLst>
              </p:cNvPr>
              <p:cNvSpPr/>
              <p:nvPr/>
            </p:nvSpPr>
            <p:spPr>
              <a:xfrm>
                <a:off x="1129958" y="1498661"/>
                <a:ext cx="1056700" cy="461665"/>
              </a:xfrm>
              <a:prstGeom prst="rect">
                <a:avLst/>
              </a:prstGeom>
              <a:ln>
                <a:solidFill>
                  <a:schemeClr val="accent2"/>
                </a:solidFill>
              </a:ln>
            </p:spPr>
            <p:txBody>
              <a:bodyPr wrap="none">
                <a:spAutoFit/>
              </a:bodyPr>
              <a:lstStyle/>
              <a:p>
                <a14:m>
                  <m:oMath xmlns:m="http://schemas.openxmlformats.org/officeDocument/2006/math">
                    <m:r>
                      <a:rPr lang="en-CA" sz="2400" i="1">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m:t>
                    </m:r>
                    <m:r>
                      <a:rPr lang="en-CA" sz="2400" i="1" baseline="-25000">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1</m:t>
                    </m:r>
                  </m:oMath>
                </a14:m>
                <a:r>
                  <a:rPr lang="en-US" sz="2400" dirty="0"/>
                  <a:t> </a:t>
                </a:r>
                <a14:m>
                  <m:oMath xmlns:m="http://schemas.openxmlformats.org/officeDocument/2006/math">
                    <m:r>
                      <a:rPr lang="en-CA" sz="2400" i="1" dirty="0">
                        <a:latin typeface="Cambria Math" panose="02040503050406030204" pitchFamily="18" charset="0"/>
                      </a:rPr>
                      <m:t>=</m:t>
                    </m:r>
                    <m:r>
                      <a:rPr lang="en-CA" sz="2400" i="1">
                        <a:latin typeface="Cambria Math" panose="02040503050406030204" pitchFamily="18" charset="0"/>
                        <a:ea typeface="Times New Roman" panose="02020603050405020304" pitchFamily="18" charset="0"/>
                      </a:rPr>
                      <m:t> </m:t>
                    </m:r>
                  </m:oMath>
                </a14:m>
                <a:r>
                  <a:rPr lang="en-US" sz="2400" dirty="0"/>
                  <a:t>2 </a:t>
                </a:r>
              </a:p>
            </p:txBody>
          </p:sp>
        </mc:Choice>
        <mc:Fallback xmlns="">
          <p:sp>
            <p:nvSpPr>
              <p:cNvPr id="6" name="Rectangle 5">
                <a:extLst>
                  <a:ext uri="{FF2B5EF4-FFF2-40B4-BE49-F238E27FC236}">
                    <a16:creationId xmlns:a16="http://schemas.microsoft.com/office/drawing/2014/main" id="{CC0EF0DC-AAED-8041-9DBD-068FD3CC5BEE}"/>
                  </a:ext>
                </a:extLst>
              </p:cNvPr>
              <p:cNvSpPr>
                <a:spLocks noRot="1" noChangeAspect="1" noMove="1" noResize="1" noEditPoints="1" noAdjustHandles="1" noChangeArrowheads="1" noChangeShapeType="1" noTextEdit="1"/>
              </p:cNvSpPr>
              <p:nvPr/>
            </p:nvSpPr>
            <p:spPr>
              <a:xfrm>
                <a:off x="1129958" y="1498661"/>
                <a:ext cx="1056700" cy="461665"/>
              </a:xfrm>
              <a:prstGeom prst="rect">
                <a:avLst/>
              </a:prstGeom>
              <a:blipFill>
                <a:blip r:embed="rId4"/>
                <a:stretch>
                  <a:fillRect l="-1176" t="-5128" r="-8235" b="-25641"/>
                </a:stretch>
              </a:blipFill>
              <a:ln>
                <a:solidFill>
                  <a:schemeClr val="accent2"/>
                </a:solidFill>
              </a:ln>
            </p:spPr>
            <p:txBody>
              <a:bodyPr/>
              <a:lstStyle/>
              <a:p>
                <a:r>
                  <a:rPr lang="en-US">
                    <a:noFill/>
                  </a:rPr>
                  <a:t> </a:t>
                </a:r>
              </a:p>
            </p:txBody>
          </p:sp>
        </mc:Fallback>
      </mc:AlternateContent>
      <p:sp>
        <p:nvSpPr>
          <p:cNvPr id="7" name="Rectangle 6">
            <a:extLst>
              <a:ext uri="{FF2B5EF4-FFF2-40B4-BE49-F238E27FC236}">
                <a16:creationId xmlns:a16="http://schemas.microsoft.com/office/drawing/2014/main" id="{6EFEF9C3-EF9B-3D42-9935-71E7267CBA63}"/>
              </a:ext>
            </a:extLst>
          </p:cNvPr>
          <p:cNvSpPr/>
          <p:nvPr/>
        </p:nvSpPr>
        <p:spPr>
          <a:xfrm>
            <a:off x="0" y="0"/>
            <a:ext cx="12192000" cy="1045445"/>
          </a:xfrm>
          <a:prstGeom prst="rect">
            <a:avLst/>
          </a:prstGeom>
          <a:solidFill>
            <a:srgbClr val="ED7D31"/>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Calibri" panose="020F0502020204030204" pitchFamily="34" charset="0"/>
                <a:cs typeface="Calibri" panose="020F0502020204030204" pitchFamily="34" charset="0"/>
              </a:rPr>
              <a:t>CALCULATING EIGENVECTORS</a:t>
            </a:r>
          </a:p>
        </p:txBody>
      </p:sp>
      <p:sp>
        <p:nvSpPr>
          <p:cNvPr id="9" name="TextBox 8">
            <a:extLst>
              <a:ext uri="{FF2B5EF4-FFF2-40B4-BE49-F238E27FC236}">
                <a16:creationId xmlns:a16="http://schemas.microsoft.com/office/drawing/2014/main" id="{016E86A6-4195-1D46-9120-31695DF037F1}"/>
              </a:ext>
            </a:extLst>
          </p:cNvPr>
          <p:cNvSpPr txBox="1"/>
          <p:nvPr/>
        </p:nvSpPr>
        <p:spPr>
          <a:xfrm>
            <a:off x="6096000" y="4007975"/>
            <a:ext cx="1011382" cy="830997"/>
          </a:xfrm>
          <a:prstGeom prst="rect">
            <a:avLst/>
          </a:prstGeom>
          <a:noFill/>
          <a:ln>
            <a:solidFill>
              <a:schemeClr val="accent2"/>
            </a:solidFill>
          </a:ln>
        </p:spPr>
        <p:txBody>
          <a:bodyPr wrap="square" rtlCol="0">
            <a:spAutoFit/>
          </a:bodyPr>
          <a:lstStyle/>
          <a:p>
            <a:r>
              <a:rPr lang="en-CA" sz="2400" dirty="0">
                <a:latin typeface="Calibri" panose="020F0502020204030204" pitchFamily="34" charset="0"/>
                <a:ea typeface="Times New Roman" panose="02020603050405020304" pitchFamily="18" charset="0"/>
                <a:cs typeface="Times New Roman" panose="02020603050405020304" pitchFamily="18" charset="0"/>
              </a:rPr>
              <a:t>2y =x</a:t>
            </a:r>
          </a:p>
          <a:p>
            <a:r>
              <a:rPr lang="en-CA" sz="2400" dirty="0">
                <a:latin typeface="Calibri" panose="020F0502020204030204" pitchFamily="34" charset="0"/>
                <a:ea typeface="Times New Roman" panose="02020603050405020304" pitchFamily="18" charset="0"/>
                <a:cs typeface="Times New Roman" panose="02020603050405020304" pitchFamily="18" charset="0"/>
              </a:rPr>
              <a:t>x = 2y</a:t>
            </a:r>
          </a:p>
        </p:txBody>
      </p:sp>
      <p:sp>
        <p:nvSpPr>
          <p:cNvPr id="10" name="TextBox 9">
            <a:extLst>
              <a:ext uri="{FF2B5EF4-FFF2-40B4-BE49-F238E27FC236}">
                <a16:creationId xmlns:a16="http://schemas.microsoft.com/office/drawing/2014/main" id="{9DEA8264-C68A-D841-B271-C131962A6FC1}"/>
              </a:ext>
            </a:extLst>
          </p:cNvPr>
          <p:cNvSpPr txBox="1"/>
          <p:nvPr/>
        </p:nvSpPr>
        <p:spPr>
          <a:xfrm>
            <a:off x="1901328" y="2750791"/>
            <a:ext cx="1503681" cy="369332"/>
          </a:xfrm>
          <a:prstGeom prst="rect">
            <a:avLst/>
          </a:prstGeom>
          <a:noFill/>
        </p:spPr>
        <p:txBody>
          <a:bodyPr wrap="none" rtlCol="0">
            <a:spAutoFit/>
          </a:bodyPr>
          <a:lstStyle/>
          <a:p>
            <a:r>
              <a:rPr lang="en-US" dirty="0">
                <a:solidFill>
                  <a:schemeClr val="accent2"/>
                </a:solidFill>
              </a:rPr>
              <a:t>Putting values</a:t>
            </a:r>
          </a:p>
        </p:txBody>
      </p:sp>
      <p:pic>
        <p:nvPicPr>
          <p:cNvPr id="12" name="Picture 11">
            <a:extLst>
              <a:ext uri="{FF2B5EF4-FFF2-40B4-BE49-F238E27FC236}">
                <a16:creationId xmlns:a16="http://schemas.microsoft.com/office/drawing/2014/main" id="{94C45DC3-B4CD-0A4A-8955-836CBC911EC3}"/>
              </a:ext>
            </a:extLst>
          </p:cNvPr>
          <p:cNvPicPr>
            <a:picLocks noChangeAspect="1"/>
          </p:cNvPicPr>
          <p:nvPr/>
        </p:nvPicPr>
        <p:blipFill>
          <a:blip r:embed="rId5"/>
          <a:stretch>
            <a:fillRect/>
          </a:stretch>
        </p:blipFill>
        <p:spPr>
          <a:xfrm>
            <a:off x="7778492" y="1537899"/>
            <a:ext cx="3283550" cy="2367210"/>
          </a:xfrm>
          <a:prstGeom prst="rect">
            <a:avLst/>
          </a:prstGeom>
          <a:ln>
            <a:solidFill>
              <a:schemeClr val="accent2"/>
            </a:solidFill>
          </a:ln>
        </p:spPr>
      </p:pic>
      <p:sp>
        <p:nvSpPr>
          <p:cNvPr id="13" name="TextBox 12">
            <a:extLst>
              <a:ext uri="{FF2B5EF4-FFF2-40B4-BE49-F238E27FC236}">
                <a16:creationId xmlns:a16="http://schemas.microsoft.com/office/drawing/2014/main" id="{DB0E670B-27DB-1945-A44F-E47C08B04623}"/>
              </a:ext>
            </a:extLst>
          </p:cNvPr>
          <p:cNvSpPr txBox="1"/>
          <p:nvPr/>
        </p:nvSpPr>
        <p:spPr>
          <a:xfrm>
            <a:off x="7961658" y="4074397"/>
            <a:ext cx="2917217" cy="646331"/>
          </a:xfrm>
          <a:prstGeom prst="rect">
            <a:avLst/>
          </a:prstGeom>
          <a:noFill/>
        </p:spPr>
        <p:txBody>
          <a:bodyPr wrap="square" rtlCol="0">
            <a:spAutoFit/>
          </a:bodyPr>
          <a:lstStyle/>
          <a:p>
            <a:pPr algn="ctr"/>
            <a:r>
              <a:rPr lang="en-US" dirty="0">
                <a:solidFill>
                  <a:schemeClr val="accent2"/>
                </a:solidFill>
              </a:rPr>
              <a:t>For every 1 unit increase in y, x increases by 2 units.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AE56385-5D11-D941-A23F-9988F2432931}"/>
                  </a:ext>
                </a:extLst>
              </p:cNvPr>
              <p:cNvSpPr txBox="1"/>
              <p:nvPr/>
            </p:nvSpPr>
            <p:spPr>
              <a:xfrm>
                <a:off x="3405009" y="5532432"/>
                <a:ext cx="1349983" cy="704424"/>
              </a:xfrm>
              <a:prstGeom prst="rect">
                <a:avLst/>
              </a:prstGeom>
              <a:noFill/>
            </p:spPr>
            <p:txBody>
              <a:bodyPr wrap="square" rtlCol="0">
                <a:spAutoFit/>
              </a:bodyPr>
              <a:lstStyle/>
              <a:p>
                <a:r>
                  <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a:t>
                </a:r>
                <a:r>
                  <a:rPr lang="en-CA" sz="2400" baseline="-250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1</a:t>
                </a:r>
                <a:r>
                  <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 = </a:t>
                </a:r>
                <a14:m>
                  <m:oMath xmlns:m="http://schemas.openxmlformats.org/officeDocument/2006/math">
                    <m:d>
                      <m:dPr>
                        <m:begChr m:val="["/>
                        <m:endChr m:val="]"/>
                        <m:ctrlPr>
                          <a:rPr lang="en-CA" sz="2400" i="1" smtClean="0">
                            <a:latin typeface="Cambria Math" panose="02040503050406030204" pitchFamily="18" charset="0"/>
                            <a:ea typeface="Times New Roman" panose="02020603050405020304" pitchFamily="18" charset="0"/>
                          </a:rPr>
                        </m:ctrlPr>
                      </m:dPr>
                      <m:e>
                        <m:m>
                          <m:mPr>
                            <m:mcs>
                              <m:mc>
                                <m:mcPr>
                                  <m:count m:val="1"/>
                                  <m:mcJc m:val="center"/>
                                </m:mcPr>
                              </m:mc>
                            </m:mcs>
                            <m:ctrlPr>
                              <a:rPr lang="en-CA" sz="2400" i="1">
                                <a:latin typeface="Cambria Math" panose="02040503050406030204" pitchFamily="18" charset="0"/>
                                <a:ea typeface="Cambria Math" panose="02040503050406030204" pitchFamily="18" charset="0"/>
                                <a:cs typeface="Cambria Math" panose="02040503050406030204" pitchFamily="18" charset="0"/>
                              </a:rPr>
                            </m:ctrlPr>
                          </m:mPr>
                          <m:mr>
                            <m:e>
                              <m:r>
                                <m:rPr>
                                  <m:brk m:alnAt="7"/>
                                </m:rPr>
                                <a:rPr lang="en-CA" sz="2400" b="0" i="1" smtClean="0">
                                  <a:latin typeface="Cambria Math" panose="02040503050406030204" pitchFamily="18" charset="0"/>
                                  <a:ea typeface="Cambria Math" panose="02040503050406030204" pitchFamily="18" charset="0"/>
                                  <a:cs typeface="Cambria Math" panose="02040503050406030204" pitchFamily="18" charset="0"/>
                                </a:rPr>
                                <m:t>4</m:t>
                              </m:r>
                            </m:e>
                          </m:mr>
                          <m:mr>
                            <m:e>
                              <m:r>
                                <a:rPr lang="en-CA" sz="2400" b="0" i="1" smtClean="0">
                                  <a:latin typeface="Cambria Math" panose="02040503050406030204" pitchFamily="18" charset="0"/>
                                  <a:ea typeface="Cambria Math" panose="02040503050406030204" pitchFamily="18" charset="0"/>
                                  <a:cs typeface="Cambria Math" panose="02040503050406030204" pitchFamily="18" charset="0"/>
                                </a:rPr>
                                <m:t>2</m:t>
                              </m:r>
                            </m:e>
                          </m:mr>
                        </m:m>
                      </m:e>
                    </m:d>
                  </m:oMath>
                </a14:m>
                <a:endParaRPr lang="en-US" sz="2400" dirty="0"/>
              </a:p>
            </p:txBody>
          </p:sp>
        </mc:Choice>
        <mc:Fallback xmlns="">
          <p:sp>
            <p:nvSpPr>
              <p:cNvPr id="14" name="TextBox 13">
                <a:extLst>
                  <a:ext uri="{FF2B5EF4-FFF2-40B4-BE49-F238E27FC236}">
                    <a16:creationId xmlns:a16="http://schemas.microsoft.com/office/drawing/2014/main" id="{6AE56385-5D11-D941-A23F-9988F2432931}"/>
                  </a:ext>
                </a:extLst>
              </p:cNvPr>
              <p:cNvSpPr txBox="1">
                <a:spLocks noRot="1" noChangeAspect="1" noMove="1" noResize="1" noEditPoints="1" noAdjustHandles="1" noChangeArrowheads="1" noChangeShapeType="1" noTextEdit="1"/>
              </p:cNvSpPr>
              <p:nvPr/>
            </p:nvSpPr>
            <p:spPr>
              <a:xfrm>
                <a:off x="3405009" y="5532432"/>
                <a:ext cx="1349983" cy="704424"/>
              </a:xfrm>
              <a:prstGeom prst="rect">
                <a:avLst/>
              </a:prstGeom>
              <a:blipFill>
                <a:blip r:embed="rId6"/>
                <a:stretch>
                  <a:fillRect l="-7477" b="-5263"/>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E09980A8-43C6-DA45-BFAD-E8EF1C4B369F}"/>
              </a:ext>
            </a:extLst>
          </p:cNvPr>
          <p:cNvSpPr txBox="1"/>
          <p:nvPr/>
        </p:nvSpPr>
        <p:spPr>
          <a:xfrm>
            <a:off x="2155740" y="5135435"/>
            <a:ext cx="688009" cy="369332"/>
          </a:xfrm>
          <a:prstGeom prst="rect">
            <a:avLst/>
          </a:prstGeom>
          <a:noFill/>
        </p:spPr>
        <p:txBody>
          <a:bodyPr wrap="none" rtlCol="0">
            <a:spAutoFit/>
          </a:bodyPr>
          <a:lstStyle/>
          <a:p>
            <a:r>
              <a:rPr lang="en-US" dirty="0"/>
              <a:t>Thus,</a:t>
            </a:r>
          </a:p>
        </p:txBody>
      </p:sp>
      <p:sp>
        <p:nvSpPr>
          <p:cNvPr id="16" name="Right Brace 15">
            <a:extLst>
              <a:ext uri="{FF2B5EF4-FFF2-40B4-BE49-F238E27FC236}">
                <a16:creationId xmlns:a16="http://schemas.microsoft.com/office/drawing/2014/main" id="{24B5475E-E68D-DD4C-95A5-8310CFAA0045}"/>
              </a:ext>
            </a:extLst>
          </p:cNvPr>
          <p:cNvSpPr/>
          <p:nvPr/>
        </p:nvSpPr>
        <p:spPr>
          <a:xfrm>
            <a:off x="5098473" y="5532432"/>
            <a:ext cx="277091" cy="704424"/>
          </a:xfrm>
          <a:prstGeom prst="rightBrace">
            <a:avLst/>
          </a:pr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24142B20-414C-0C41-8F97-00C7389872DD}"/>
              </a:ext>
            </a:extLst>
          </p:cNvPr>
          <p:cNvSpPr txBox="1"/>
          <p:nvPr/>
        </p:nvSpPr>
        <p:spPr>
          <a:xfrm>
            <a:off x="5750107" y="5699978"/>
            <a:ext cx="2381229" cy="369332"/>
          </a:xfrm>
          <a:prstGeom prst="rect">
            <a:avLst/>
          </a:prstGeom>
          <a:noFill/>
        </p:spPr>
        <p:txBody>
          <a:bodyPr wrap="none" rtlCol="0">
            <a:spAutoFit/>
          </a:bodyPr>
          <a:lstStyle/>
          <a:p>
            <a:r>
              <a:rPr lang="en-US" dirty="0">
                <a:solidFill>
                  <a:schemeClr val="accent2"/>
                </a:solidFill>
              </a:rPr>
              <a:t>Eigenvector of Matrix A</a:t>
            </a:r>
          </a:p>
        </p:txBody>
      </p:sp>
    </p:spTree>
    <p:extLst>
      <p:ext uri="{BB962C8B-B14F-4D97-AF65-F5344CB8AC3E}">
        <p14:creationId xmlns:p14="http://schemas.microsoft.com/office/powerpoint/2010/main" val="3036168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9470939-F527-C94E-BF35-E4B1B0189DEB}"/>
                  </a:ext>
                </a:extLst>
              </p:cNvPr>
              <p:cNvSpPr/>
              <p:nvPr/>
            </p:nvSpPr>
            <p:spPr>
              <a:xfrm>
                <a:off x="3657601" y="1537899"/>
                <a:ext cx="2539926" cy="4403257"/>
              </a:xfrm>
              <a:prstGeom prst="rect">
                <a:avLst/>
              </a:prstGeom>
            </p:spPr>
            <p:txBody>
              <a:bodyPr wrap="none">
                <a:spAutoFit/>
              </a:bodyPr>
              <a:lstStyle/>
              <a:p>
                <a:pPr lvl="0"/>
                <a:r>
                  <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A</a:t>
                </a:r>
                <a:r>
                  <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 = </a:t>
                </a:r>
              </a:p>
              <a:p>
                <a:pPr lvl="0"/>
                <a:endPar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endParaRPr>
              </a:p>
              <a:p>
                <a:pPr lvl="0"/>
                <a:endPar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endParaRPr>
              </a:p>
              <a:p>
                <a14:m>
                  <m:oMath xmlns:m="http://schemas.openxmlformats.org/officeDocument/2006/math">
                    <m:d>
                      <m:dPr>
                        <m:begChr m:val="["/>
                        <m:endChr m:val="]"/>
                        <m:ctrlPr>
                          <a:rPr lang="en-CA" sz="2400" i="1">
                            <a:latin typeface="Cambria Math" panose="02040503050406030204" pitchFamily="18" charset="0"/>
                            <a:ea typeface="Times New Roman" panose="02020603050405020304" pitchFamily="18" charset="0"/>
                          </a:rPr>
                        </m:ctrlPr>
                      </m:dPr>
                      <m:e>
                        <m:m>
                          <m:mPr>
                            <m:mcs>
                              <m:mc>
                                <m:mcPr>
                                  <m:count m:val="2"/>
                                  <m:mcJc m:val="center"/>
                                </m:mcPr>
                              </m:mc>
                            </m:mcs>
                            <m:ctrlPr>
                              <a:rPr lang="en-CA" sz="2400" i="1">
                                <a:latin typeface="Cambria Math" panose="02040503050406030204" pitchFamily="18" charset="0"/>
                                <a:ea typeface="Times New Roman" panose="02020603050405020304" pitchFamily="18" charset="0"/>
                              </a:rPr>
                            </m:ctrlPr>
                          </m:mPr>
                          <m:mr>
                            <m:e>
                              <m:r>
                                <a:rPr lang="en-CA" sz="2400" i="1">
                                  <a:latin typeface="Cambria Math" panose="02040503050406030204" pitchFamily="18" charset="0"/>
                                  <a:ea typeface="Times New Roman" panose="02020603050405020304" pitchFamily="18" charset="0"/>
                                  <a:cs typeface="Times New Roman" panose="02020603050405020304" pitchFamily="18" charset="0"/>
                                </a:rPr>
                                <m:t>1</m:t>
                              </m:r>
                            </m:e>
                            <m:e>
                              <m:r>
                                <a:rPr lang="en-CA" sz="2400" i="1">
                                  <a:latin typeface="Cambria Math" panose="02040503050406030204" pitchFamily="18" charset="0"/>
                                  <a:ea typeface="Cambria Math" panose="02040503050406030204" pitchFamily="18" charset="0"/>
                                  <a:cs typeface="Cambria Math" panose="02040503050406030204" pitchFamily="18" charset="0"/>
                                </a:rPr>
                                <m:t>2</m:t>
                              </m:r>
                            </m:e>
                          </m:mr>
                          <m:mr>
                            <m:e>
                              <m:r>
                                <a:rPr lang="en-CA" sz="2400" i="1">
                                  <a:latin typeface="Cambria Math" panose="02040503050406030204" pitchFamily="18" charset="0"/>
                                  <a:ea typeface="Times New Roman" panose="02020603050405020304" pitchFamily="18" charset="0"/>
                                  <a:cs typeface="Times New Roman" panose="02020603050405020304" pitchFamily="18" charset="0"/>
                                </a:rPr>
                                <m:t>1</m:t>
                              </m:r>
                            </m:e>
                            <m:e>
                              <m:r>
                                <a:rPr lang="en-CA" sz="2400" i="1">
                                  <a:latin typeface="Cambria Math" panose="02040503050406030204" pitchFamily="18" charset="0"/>
                                  <a:ea typeface="Cambria Math" panose="02040503050406030204" pitchFamily="18" charset="0"/>
                                  <a:cs typeface="Cambria Math" panose="02040503050406030204" pitchFamily="18" charset="0"/>
                                </a:rPr>
                                <m:t>0</m:t>
                              </m:r>
                            </m:e>
                          </m:mr>
                        </m:m>
                      </m:e>
                    </m:d>
                  </m:oMath>
                </a14:m>
                <a:r>
                  <a:rPr lang="en-CA" sz="2400" dirty="0">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CA" sz="2400" i="1">
                            <a:latin typeface="Cambria Math" panose="02040503050406030204" pitchFamily="18" charset="0"/>
                            <a:ea typeface="Times New Roman" panose="02020603050405020304" pitchFamily="18" charset="0"/>
                          </a:rPr>
                        </m:ctrlPr>
                      </m:dPr>
                      <m:e>
                        <m:m>
                          <m:mPr>
                            <m:mcs>
                              <m:mc>
                                <m:mcPr>
                                  <m:count m:val="1"/>
                                  <m:mcJc m:val="center"/>
                                </m:mcPr>
                              </m:mc>
                            </m:mcs>
                            <m:ctrlPr>
                              <a:rPr lang="en-CA" sz="2400" i="1">
                                <a:latin typeface="Cambria Math" panose="02040503050406030204" pitchFamily="18" charset="0"/>
                                <a:ea typeface="Cambria Math" panose="02040503050406030204" pitchFamily="18" charset="0"/>
                                <a:cs typeface="Cambria Math" panose="02040503050406030204" pitchFamily="18" charset="0"/>
                              </a:rPr>
                            </m:ctrlPr>
                          </m:mPr>
                          <m:mr>
                            <m:e>
                              <m:r>
                                <m:rPr>
                                  <m:brk m:alnAt="7"/>
                                </m:rPr>
                                <a:rPr lang="en-CA" sz="2400" b="0" i="1" smtClean="0">
                                  <a:latin typeface="Cambria Math" panose="02040503050406030204" pitchFamily="18" charset="0"/>
                                  <a:ea typeface="Cambria Math" panose="02040503050406030204" pitchFamily="18" charset="0"/>
                                  <a:cs typeface="Cambria Math" panose="02040503050406030204" pitchFamily="18" charset="0"/>
                                </a:rPr>
                                <m:t>𝑥</m:t>
                              </m:r>
                            </m:e>
                          </m:mr>
                          <m:mr>
                            <m:e>
                              <m:r>
                                <a:rPr lang="en-CA" sz="2400" b="0" i="1" smtClean="0">
                                  <a:latin typeface="Cambria Math" panose="02040503050406030204" pitchFamily="18" charset="0"/>
                                  <a:ea typeface="Cambria Math" panose="02040503050406030204" pitchFamily="18" charset="0"/>
                                  <a:cs typeface="Cambria Math" panose="02040503050406030204" pitchFamily="18" charset="0"/>
                                </a:rPr>
                                <m:t>𝑦</m:t>
                              </m:r>
                            </m:e>
                          </m:mr>
                        </m:m>
                      </m:e>
                    </m:d>
                  </m:oMath>
                </a14:m>
                <a:r>
                  <a:rPr lang="en-CA" sz="2400" dirty="0">
                    <a:latin typeface="Calibri" panose="020F0502020204030204" pitchFamily="34" charset="0"/>
                    <a:ea typeface="Times New Roman" panose="02020603050405020304" pitchFamily="18" charset="0"/>
                    <a:cs typeface="Times New Roman" panose="02020603050405020304" pitchFamily="18" charset="0"/>
                  </a:rPr>
                  <a:t> = </a:t>
                </a:r>
                <a:r>
                  <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-1</a:t>
                </a:r>
                <a:r>
                  <a:rPr lang="en-CA" sz="2400" dirty="0">
                    <a:ea typeface="Times New Roman" panose="02020603050405020304" pitchFamily="18" charset="0"/>
                  </a:rPr>
                  <a:t> </a:t>
                </a:r>
                <a14:m>
                  <m:oMath xmlns:m="http://schemas.openxmlformats.org/officeDocument/2006/math">
                    <m:d>
                      <m:dPr>
                        <m:begChr m:val="["/>
                        <m:endChr m:val="]"/>
                        <m:ctrlPr>
                          <a:rPr lang="en-CA" sz="2400" i="1">
                            <a:latin typeface="Cambria Math" panose="02040503050406030204" pitchFamily="18" charset="0"/>
                            <a:ea typeface="Times New Roman" panose="02020603050405020304" pitchFamily="18" charset="0"/>
                          </a:rPr>
                        </m:ctrlPr>
                      </m:dPr>
                      <m:e>
                        <m:m>
                          <m:mPr>
                            <m:mcs>
                              <m:mc>
                                <m:mcPr>
                                  <m:count m:val="1"/>
                                  <m:mcJc m:val="center"/>
                                </m:mcPr>
                              </m:mc>
                            </m:mcs>
                            <m:ctrlPr>
                              <a:rPr lang="en-CA" sz="2400" i="1">
                                <a:latin typeface="Cambria Math" panose="02040503050406030204" pitchFamily="18" charset="0"/>
                                <a:ea typeface="Cambria Math" panose="02040503050406030204" pitchFamily="18" charset="0"/>
                                <a:cs typeface="Cambria Math" panose="02040503050406030204" pitchFamily="18" charset="0"/>
                              </a:rPr>
                            </m:ctrlPr>
                          </m:mPr>
                          <m:mr>
                            <m:e>
                              <m:r>
                                <m:rPr>
                                  <m:brk m:alnAt="7"/>
                                </m:rPr>
                                <a:rPr lang="en-CA" sz="2400" b="0" i="1" smtClean="0">
                                  <a:latin typeface="Cambria Math" panose="02040503050406030204" pitchFamily="18" charset="0"/>
                                  <a:ea typeface="Cambria Math" panose="02040503050406030204" pitchFamily="18" charset="0"/>
                                  <a:cs typeface="Cambria Math" panose="02040503050406030204" pitchFamily="18" charset="0"/>
                                </a:rPr>
                                <m:t>𝑥</m:t>
                              </m:r>
                            </m:e>
                          </m:mr>
                          <m:mr>
                            <m:e>
                              <m:r>
                                <a:rPr lang="en-CA" sz="2400" b="0" i="1" smtClean="0">
                                  <a:latin typeface="Cambria Math" panose="02040503050406030204" pitchFamily="18" charset="0"/>
                                  <a:ea typeface="Cambria Math" panose="02040503050406030204" pitchFamily="18" charset="0"/>
                                  <a:cs typeface="Cambria Math" panose="02040503050406030204" pitchFamily="18" charset="0"/>
                                </a:rPr>
                                <m:t>𝑦</m:t>
                              </m:r>
                            </m:e>
                          </m:mr>
                        </m:m>
                      </m:e>
                    </m:d>
                  </m:oMath>
                </a14:m>
                <a:endParaRPr lang="en-CA" sz="2400" dirty="0">
                  <a:latin typeface="Calibri" panose="020F0502020204030204" pitchFamily="34" charset="0"/>
                  <a:ea typeface="Times New Roman" panose="02020603050405020304" pitchFamily="18" charset="0"/>
                  <a:cs typeface="Times New Roman" panose="02020603050405020304" pitchFamily="18" charset="0"/>
                </a:endParaRPr>
              </a:p>
              <a:p>
                <a:endParaRPr lang="en-CA" sz="2400" dirty="0">
                  <a:latin typeface="Calibri" panose="020F0502020204030204" pitchFamily="34" charset="0"/>
                  <a:ea typeface="Times New Roman" panose="02020603050405020304" pitchFamily="18" charset="0"/>
                  <a:cs typeface="Times New Roman" panose="02020603050405020304" pitchFamily="18" charset="0"/>
                </a:endParaRPr>
              </a:p>
              <a:p>
                <a:endParaRPr lang="en-CA" sz="2400" dirty="0">
                  <a:latin typeface="Calibri" panose="020F0502020204030204" pitchFamily="34" charset="0"/>
                  <a:ea typeface="Times New Roman" panose="02020603050405020304" pitchFamily="18" charset="0"/>
                  <a:cs typeface="Times New Roman" panose="02020603050405020304" pitchFamily="18" charset="0"/>
                </a:endParaRPr>
              </a:p>
              <a:p>
                <a:r>
                  <a:rPr lang="en-CA" sz="2400" dirty="0">
                    <a:latin typeface="Calibri" panose="020F0502020204030204" pitchFamily="34" charset="0"/>
                    <a:ea typeface="Times New Roman" panose="02020603050405020304" pitchFamily="18" charset="0"/>
                    <a:cs typeface="Times New Roman" panose="02020603050405020304" pitchFamily="18" charset="0"/>
                  </a:rPr>
                  <a:t>x + 2y =-x</a:t>
                </a:r>
              </a:p>
              <a:p>
                <a:r>
                  <a:rPr lang="en-CA" sz="2400" dirty="0">
                    <a:latin typeface="Calibri" panose="020F0502020204030204" pitchFamily="34" charset="0"/>
                    <a:ea typeface="Times New Roman" panose="02020603050405020304" pitchFamily="18" charset="0"/>
                    <a:cs typeface="Times New Roman" panose="02020603050405020304" pitchFamily="18" charset="0"/>
                  </a:rPr>
                  <a:t>x = -y</a:t>
                </a:r>
              </a:p>
              <a:p>
                <a:pPr algn="ctr"/>
                <a:endParaRPr lang="en-CA" dirty="0">
                  <a:latin typeface="Calibri" panose="020F0502020204030204" pitchFamily="34" charset="0"/>
                  <a:ea typeface="Times New Roman" panose="02020603050405020304" pitchFamily="18" charset="0"/>
                  <a:cs typeface="Times New Roman" panose="02020603050405020304" pitchFamily="18" charset="0"/>
                </a:endParaRPr>
              </a:p>
              <a:p>
                <a:pPr algn="ctr"/>
                <a:r>
                  <a:rPr lang="en-CA" dirty="0">
                    <a:latin typeface="Calibri" panose="020F0502020204030204" pitchFamily="34" charset="0"/>
                    <a:ea typeface="Times New Roman" panose="02020603050405020304" pitchFamily="18" charset="0"/>
                    <a:cs typeface="Times New Roman" panose="02020603050405020304" pitchFamily="18" charset="0"/>
                  </a:rPr>
                  <a:t> </a:t>
                </a:r>
                <a:endParaRPr lang="en-US" dirty="0"/>
              </a:p>
              <a:p>
                <a:pPr algn="ctr"/>
                <a:endParaRPr lang="en-US" dirty="0"/>
              </a:p>
              <a:p>
                <a:pPr lvl="0" algn="ctr"/>
                <a:endParaRPr lang="en-CA"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endParaRPr>
              </a:p>
            </p:txBody>
          </p:sp>
        </mc:Choice>
        <mc:Fallback xmlns="">
          <p:sp>
            <p:nvSpPr>
              <p:cNvPr id="5" name="Rectangle 4">
                <a:extLst>
                  <a:ext uri="{FF2B5EF4-FFF2-40B4-BE49-F238E27FC236}">
                    <a16:creationId xmlns:a16="http://schemas.microsoft.com/office/drawing/2014/main" id="{09470939-F527-C94E-BF35-E4B1B0189DEB}"/>
                  </a:ext>
                </a:extLst>
              </p:cNvPr>
              <p:cNvSpPr>
                <a:spLocks noRot="1" noChangeAspect="1" noMove="1" noResize="1" noEditPoints="1" noAdjustHandles="1" noChangeArrowheads="1" noChangeShapeType="1" noTextEdit="1"/>
              </p:cNvSpPr>
              <p:nvPr/>
            </p:nvSpPr>
            <p:spPr>
              <a:xfrm>
                <a:off x="3657601" y="1537899"/>
                <a:ext cx="2539926" cy="4403257"/>
              </a:xfrm>
              <a:prstGeom prst="rect">
                <a:avLst/>
              </a:prstGeom>
              <a:blipFill>
                <a:blip r:embed="rId3"/>
                <a:stretch>
                  <a:fillRect l="-3980" t="-11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CC0EF0DC-AAED-8041-9DBD-068FD3CC5BEE}"/>
                  </a:ext>
                </a:extLst>
              </p:cNvPr>
              <p:cNvSpPr/>
              <p:nvPr/>
            </p:nvSpPr>
            <p:spPr>
              <a:xfrm>
                <a:off x="1129958" y="1498661"/>
                <a:ext cx="1318502" cy="461665"/>
              </a:xfrm>
              <a:prstGeom prst="rect">
                <a:avLst/>
              </a:prstGeom>
              <a:ln>
                <a:solidFill>
                  <a:schemeClr val="accent2"/>
                </a:solidFill>
              </a:ln>
            </p:spPr>
            <p:txBody>
              <a:bodyPr wrap="none">
                <a:spAutoFit/>
              </a:bodyPr>
              <a:lstStyle/>
              <a:p>
                <a14:m>
                  <m:oMath xmlns:m="http://schemas.openxmlformats.org/officeDocument/2006/math">
                    <m:r>
                      <a:rPr lang="en-CA" sz="2400" i="1" smtClean="0">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m:t>
                    </m:r>
                    <m:r>
                      <a:rPr lang="en-CA" sz="2400" b="0" i="1" baseline="-25000" smtClean="0">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2</m:t>
                    </m:r>
                  </m:oMath>
                </a14:m>
                <a:r>
                  <a:rPr lang="en-US" sz="2400" dirty="0"/>
                  <a:t> </a:t>
                </a:r>
                <a14:m>
                  <m:oMath xmlns:m="http://schemas.openxmlformats.org/officeDocument/2006/math">
                    <m:r>
                      <a:rPr lang="en-CA" sz="2400" i="1" dirty="0">
                        <a:latin typeface="Cambria Math" panose="02040503050406030204" pitchFamily="18" charset="0"/>
                      </a:rPr>
                      <m:t>=</m:t>
                    </m:r>
                    <m:r>
                      <a:rPr lang="en-CA" sz="2400" b="0" i="0" smtClean="0">
                        <a:latin typeface="Cambria Math" panose="02040503050406030204" pitchFamily="18" charset="0"/>
                        <a:ea typeface="Times New Roman" panose="02020603050405020304" pitchFamily="18" charset="0"/>
                      </a:rPr>
                      <m:t>−1</m:t>
                    </m:r>
                  </m:oMath>
                </a14:m>
                <a:r>
                  <a:rPr lang="en-US" sz="2400" dirty="0"/>
                  <a:t> </a:t>
                </a:r>
              </a:p>
            </p:txBody>
          </p:sp>
        </mc:Choice>
        <mc:Fallback xmlns="">
          <p:sp>
            <p:nvSpPr>
              <p:cNvPr id="6" name="Rectangle 5">
                <a:extLst>
                  <a:ext uri="{FF2B5EF4-FFF2-40B4-BE49-F238E27FC236}">
                    <a16:creationId xmlns:a16="http://schemas.microsoft.com/office/drawing/2014/main" id="{CC0EF0DC-AAED-8041-9DBD-068FD3CC5BEE}"/>
                  </a:ext>
                </a:extLst>
              </p:cNvPr>
              <p:cNvSpPr>
                <a:spLocks noRot="1" noChangeAspect="1" noMove="1" noResize="1" noEditPoints="1" noAdjustHandles="1" noChangeArrowheads="1" noChangeShapeType="1" noTextEdit="1"/>
              </p:cNvSpPr>
              <p:nvPr/>
            </p:nvSpPr>
            <p:spPr>
              <a:xfrm>
                <a:off x="1129958" y="1498661"/>
                <a:ext cx="1318502" cy="461665"/>
              </a:xfrm>
              <a:prstGeom prst="rect">
                <a:avLst/>
              </a:prstGeom>
              <a:blipFill>
                <a:blip r:embed="rId4"/>
                <a:stretch>
                  <a:fillRect l="-943"/>
                </a:stretch>
              </a:blipFill>
              <a:ln>
                <a:solidFill>
                  <a:schemeClr val="accent2"/>
                </a:solidFill>
              </a:ln>
            </p:spPr>
            <p:txBody>
              <a:bodyPr/>
              <a:lstStyle/>
              <a:p>
                <a:r>
                  <a:rPr lang="en-US">
                    <a:noFill/>
                  </a:rPr>
                  <a:t> </a:t>
                </a:r>
              </a:p>
            </p:txBody>
          </p:sp>
        </mc:Fallback>
      </mc:AlternateContent>
      <p:sp>
        <p:nvSpPr>
          <p:cNvPr id="7" name="Rectangle 6">
            <a:extLst>
              <a:ext uri="{FF2B5EF4-FFF2-40B4-BE49-F238E27FC236}">
                <a16:creationId xmlns:a16="http://schemas.microsoft.com/office/drawing/2014/main" id="{6EFEF9C3-EF9B-3D42-9935-71E7267CBA63}"/>
              </a:ext>
            </a:extLst>
          </p:cNvPr>
          <p:cNvSpPr/>
          <p:nvPr/>
        </p:nvSpPr>
        <p:spPr>
          <a:xfrm>
            <a:off x="0" y="-3511"/>
            <a:ext cx="12192000" cy="1045445"/>
          </a:xfrm>
          <a:prstGeom prst="rect">
            <a:avLst/>
          </a:prstGeom>
          <a:solidFill>
            <a:srgbClr val="ED7D31"/>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Calibri" panose="020F0502020204030204" pitchFamily="34" charset="0"/>
                <a:cs typeface="Calibri" panose="020F0502020204030204" pitchFamily="34" charset="0"/>
              </a:rPr>
              <a:t>CALCULATING EIGENVECTORS</a:t>
            </a:r>
          </a:p>
        </p:txBody>
      </p:sp>
      <p:sp>
        <p:nvSpPr>
          <p:cNvPr id="9" name="TextBox 8">
            <a:extLst>
              <a:ext uri="{FF2B5EF4-FFF2-40B4-BE49-F238E27FC236}">
                <a16:creationId xmlns:a16="http://schemas.microsoft.com/office/drawing/2014/main" id="{016E86A6-4195-1D46-9120-31695DF037F1}"/>
              </a:ext>
            </a:extLst>
          </p:cNvPr>
          <p:cNvSpPr txBox="1"/>
          <p:nvPr/>
        </p:nvSpPr>
        <p:spPr>
          <a:xfrm>
            <a:off x="6096000" y="4007975"/>
            <a:ext cx="1011382" cy="830997"/>
          </a:xfrm>
          <a:prstGeom prst="rect">
            <a:avLst/>
          </a:prstGeom>
          <a:noFill/>
          <a:ln>
            <a:solidFill>
              <a:schemeClr val="accent2"/>
            </a:solidFill>
          </a:ln>
        </p:spPr>
        <p:txBody>
          <a:bodyPr wrap="square" rtlCol="0">
            <a:spAutoFit/>
          </a:bodyPr>
          <a:lstStyle/>
          <a:p>
            <a:r>
              <a:rPr lang="en-CA" sz="2400" dirty="0">
                <a:latin typeface="Calibri" panose="020F0502020204030204" pitchFamily="34" charset="0"/>
                <a:ea typeface="Times New Roman" panose="02020603050405020304" pitchFamily="18" charset="0"/>
                <a:cs typeface="Times New Roman" panose="02020603050405020304" pitchFamily="18" charset="0"/>
              </a:rPr>
              <a:t>y = -x</a:t>
            </a:r>
          </a:p>
          <a:p>
            <a:r>
              <a:rPr lang="en-CA" sz="2400" dirty="0">
                <a:latin typeface="Calibri" panose="020F0502020204030204" pitchFamily="34" charset="0"/>
                <a:ea typeface="Times New Roman" panose="02020603050405020304" pitchFamily="18" charset="0"/>
                <a:cs typeface="Times New Roman" panose="02020603050405020304" pitchFamily="18" charset="0"/>
              </a:rPr>
              <a:t>x = -y</a:t>
            </a:r>
          </a:p>
        </p:txBody>
      </p:sp>
      <p:sp>
        <p:nvSpPr>
          <p:cNvPr id="10" name="TextBox 9">
            <a:extLst>
              <a:ext uri="{FF2B5EF4-FFF2-40B4-BE49-F238E27FC236}">
                <a16:creationId xmlns:a16="http://schemas.microsoft.com/office/drawing/2014/main" id="{9DEA8264-C68A-D841-B271-C131962A6FC1}"/>
              </a:ext>
            </a:extLst>
          </p:cNvPr>
          <p:cNvSpPr txBox="1"/>
          <p:nvPr/>
        </p:nvSpPr>
        <p:spPr>
          <a:xfrm>
            <a:off x="1901328" y="2750791"/>
            <a:ext cx="1503681" cy="369332"/>
          </a:xfrm>
          <a:prstGeom prst="rect">
            <a:avLst/>
          </a:prstGeom>
          <a:noFill/>
        </p:spPr>
        <p:txBody>
          <a:bodyPr wrap="none" rtlCol="0">
            <a:spAutoFit/>
          </a:bodyPr>
          <a:lstStyle/>
          <a:p>
            <a:r>
              <a:rPr lang="en-US" dirty="0">
                <a:solidFill>
                  <a:schemeClr val="accent2"/>
                </a:solidFill>
              </a:rPr>
              <a:t>Putting values</a:t>
            </a:r>
          </a:p>
        </p:txBody>
      </p:sp>
      <p:sp>
        <p:nvSpPr>
          <p:cNvPr id="13" name="TextBox 12">
            <a:extLst>
              <a:ext uri="{FF2B5EF4-FFF2-40B4-BE49-F238E27FC236}">
                <a16:creationId xmlns:a16="http://schemas.microsoft.com/office/drawing/2014/main" id="{DB0E670B-27DB-1945-A44F-E47C08B04623}"/>
              </a:ext>
            </a:extLst>
          </p:cNvPr>
          <p:cNvSpPr txBox="1"/>
          <p:nvPr/>
        </p:nvSpPr>
        <p:spPr>
          <a:xfrm>
            <a:off x="7961658" y="4074397"/>
            <a:ext cx="2917217" cy="646331"/>
          </a:xfrm>
          <a:prstGeom prst="rect">
            <a:avLst/>
          </a:prstGeom>
          <a:noFill/>
        </p:spPr>
        <p:txBody>
          <a:bodyPr wrap="square" rtlCol="0">
            <a:spAutoFit/>
          </a:bodyPr>
          <a:lstStyle/>
          <a:p>
            <a:pPr algn="ctr"/>
            <a:r>
              <a:rPr lang="en-US" dirty="0">
                <a:solidFill>
                  <a:schemeClr val="accent2"/>
                </a:solidFill>
              </a:rPr>
              <a:t>For every 1 unit increase in y, x reduces  by 1 units.</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AE56385-5D11-D941-A23F-9988F2432931}"/>
                  </a:ext>
                </a:extLst>
              </p:cNvPr>
              <p:cNvSpPr txBox="1"/>
              <p:nvPr/>
            </p:nvSpPr>
            <p:spPr>
              <a:xfrm>
                <a:off x="3203537" y="5477763"/>
                <a:ext cx="1528763" cy="708143"/>
              </a:xfrm>
              <a:prstGeom prst="rect">
                <a:avLst/>
              </a:prstGeom>
              <a:noFill/>
            </p:spPr>
            <p:txBody>
              <a:bodyPr wrap="square" rtlCol="0">
                <a:spAutoFit/>
              </a:bodyPr>
              <a:lstStyle/>
              <a:p>
                <a:r>
                  <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a:t>
                </a:r>
                <a:r>
                  <a:rPr lang="en-CA" sz="2400" baseline="-250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2</a:t>
                </a:r>
                <a:r>
                  <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 = </a:t>
                </a:r>
                <a14:m>
                  <m:oMath xmlns:m="http://schemas.openxmlformats.org/officeDocument/2006/math">
                    <m:d>
                      <m:dPr>
                        <m:begChr m:val="["/>
                        <m:endChr m:val="]"/>
                        <m:ctrlPr>
                          <a:rPr lang="en-CA" sz="2400" i="1" smtClean="0">
                            <a:latin typeface="Cambria Math" panose="02040503050406030204" pitchFamily="18" charset="0"/>
                            <a:ea typeface="Times New Roman" panose="02020603050405020304" pitchFamily="18" charset="0"/>
                          </a:rPr>
                        </m:ctrlPr>
                      </m:dPr>
                      <m:e>
                        <m:m>
                          <m:mPr>
                            <m:mcs>
                              <m:mc>
                                <m:mcPr>
                                  <m:count m:val="1"/>
                                  <m:mcJc m:val="center"/>
                                </m:mcPr>
                              </m:mc>
                            </m:mcs>
                            <m:ctrlPr>
                              <a:rPr lang="en-CA" sz="2400" i="1">
                                <a:latin typeface="Cambria Math" panose="02040503050406030204" pitchFamily="18" charset="0"/>
                                <a:ea typeface="Cambria Math" panose="02040503050406030204" pitchFamily="18" charset="0"/>
                                <a:cs typeface="Cambria Math" panose="02040503050406030204" pitchFamily="18" charset="0"/>
                              </a:rPr>
                            </m:ctrlPr>
                          </m:mPr>
                          <m:mr>
                            <m:e>
                              <m:r>
                                <m:rPr>
                                  <m:brk m:alnAt="7"/>
                                </m:rPr>
                                <a:rPr lang="en-CA" sz="2400" b="0" i="1" smtClean="0">
                                  <a:latin typeface="Cambria Math" panose="02040503050406030204" pitchFamily="18" charset="0"/>
                                  <a:ea typeface="Cambria Math" panose="02040503050406030204" pitchFamily="18" charset="0"/>
                                  <a:cs typeface="Cambria Math" panose="02040503050406030204" pitchFamily="18" charset="0"/>
                                </a:rPr>
                                <m:t>−</m:t>
                              </m:r>
                              <m:r>
                                <a:rPr lang="en-CA" sz="2400" b="0" i="1" smtClean="0">
                                  <a:latin typeface="Cambria Math" panose="02040503050406030204" pitchFamily="18" charset="0"/>
                                  <a:ea typeface="Cambria Math" panose="02040503050406030204" pitchFamily="18" charset="0"/>
                                  <a:cs typeface="Cambria Math" panose="02040503050406030204" pitchFamily="18" charset="0"/>
                                </a:rPr>
                                <m:t>3</m:t>
                              </m:r>
                            </m:e>
                          </m:mr>
                          <m:mr>
                            <m:e>
                              <m:r>
                                <a:rPr lang="en-CA" sz="2400" b="0" i="1" smtClean="0">
                                  <a:latin typeface="Cambria Math" panose="02040503050406030204" pitchFamily="18" charset="0"/>
                                  <a:ea typeface="Cambria Math" panose="02040503050406030204" pitchFamily="18" charset="0"/>
                                  <a:cs typeface="Cambria Math" panose="02040503050406030204" pitchFamily="18" charset="0"/>
                                </a:rPr>
                                <m:t>   3</m:t>
                              </m:r>
                            </m:e>
                          </m:mr>
                        </m:m>
                      </m:e>
                    </m:d>
                  </m:oMath>
                </a14:m>
                <a:endParaRPr lang="en-US" sz="2400" dirty="0"/>
              </a:p>
            </p:txBody>
          </p:sp>
        </mc:Choice>
        <mc:Fallback xmlns="">
          <p:sp>
            <p:nvSpPr>
              <p:cNvPr id="14" name="TextBox 13">
                <a:extLst>
                  <a:ext uri="{FF2B5EF4-FFF2-40B4-BE49-F238E27FC236}">
                    <a16:creationId xmlns:a16="http://schemas.microsoft.com/office/drawing/2014/main" id="{6AE56385-5D11-D941-A23F-9988F2432931}"/>
                  </a:ext>
                </a:extLst>
              </p:cNvPr>
              <p:cNvSpPr txBox="1">
                <a:spLocks noRot="1" noChangeAspect="1" noMove="1" noResize="1" noEditPoints="1" noAdjustHandles="1" noChangeArrowheads="1" noChangeShapeType="1" noTextEdit="1"/>
              </p:cNvSpPr>
              <p:nvPr/>
            </p:nvSpPr>
            <p:spPr>
              <a:xfrm>
                <a:off x="3203537" y="5477763"/>
                <a:ext cx="1528763" cy="708143"/>
              </a:xfrm>
              <a:prstGeom prst="rect">
                <a:avLst/>
              </a:prstGeom>
              <a:blipFill>
                <a:blip r:embed="rId5"/>
                <a:stretch>
                  <a:fillRect l="-6612" b="-22807"/>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E09980A8-43C6-DA45-BFAD-E8EF1C4B369F}"/>
              </a:ext>
            </a:extLst>
          </p:cNvPr>
          <p:cNvSpPr txBox="1"/>
          <p:nvPr/>
        </p:nvSpPr>
        <p:spPr>
          <a:xfrm>
            <a:off x="2155740" y="5135435"/>
            <a:ext cx="688009" cy="369332"/>
          </a:xfrm>
          <a:prstGeom prst="rect">
            <a:avLst/>
          </a:prstGeom>
          <a:noFill/>
        </p:spPr>
        <p:txBody>
          <a:bodyPr wrap="none" rtlCol="0">
            <a:spAutoFit/>
          </a:bodyPr>
          <a:lstStyle/>
          <a:p>
            <a:r>
              <a:rPr lang="en-US" dirty="0"/>
              <a:t>Thus,</a:t>
            </a:r>
          </a:p>
        </p:txBody>
      </p:sp>
      <p:sp>
        <p:nvSpPr>
          <p:cNvPr id="16" name="Right Brace 15">
            <a:extLst>
              <a:ext uri="{FF2B5EF4-FFF2-40B4-BE49-F238E27FC236}">
                <a16:creationId xmlns:a16="http://schemas.microsoft.com/office/drawing/2014/main" id="{24B5475E-E68D-DD4C-95A5-8310CFAA0045}"/>
              </a:ext>
            </a:extLst>
          </p:cNvPr>
          <p:cNvSpPr/>
          <p:nvPr/>
        </p:nvSpPr>
        <p:spPr>
          <a:xfrm>
            <a:off x="5098473" y="5532432"/>
            <a:ext cx="277091" cy="704424"/>
          </a:xfrm>
          <a:prstGeom prst="rightBrace">
            <a:avLst/>
          </a:pr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24142B20-414C-0C41-8F97-00C7389872DD}"/>
              </a:ext>
            </a:extLst>
          </p:cNvPr>
          <p:cNvSpPr txBox="1"/>
          <p:nvPr/>
        </p:nvSpPr>
        <p:spPr>
          <a:xfrm>
            <a:off x="5750107" y="5699978"/>
            <a:ext cx="2381229" cy="369332"/>
          </a:xfrm>
          <a:prstGeom prst="rect">
            <a:avLst/>
          </a:prstGeom>
          <a:noFill/>
        </p:spPr>
        <p:txBody>
          <a:bodyPr wrap="none" rtlCol="0">
            <a:spAutoFit/>
          </a:bodyPr>
          <a:lstStyle/>
          <a:p>
            <a:r>
              <a:rPr lang="en-US" dirty="0">
                <a:solidFill>
                  <a:schemeClr val="accent2"/>
                </a:solidFill>
              </a:rPr>
              <a:t>Eigenvector of Matrix A</a:t>
            </a:r>
          </a:p>
        </p:txBody>
      </p:sp>
    </p:spTree>
    <p:extLst>
      <p:ext uri="{BB962C8B-B14F-4D97-AF65-F5344CB8AC3E}">
        <p14:creationId xmlns:p14="http://schemas.microsoft.com/office/powerpoint/2010/main" val="3116740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37B3A2-962E-6E4A-AFAD-19B8C4BCF767}"/>
              </a:ext>
            </a:extLst>
          </p:cNvPr>
          <p:cNvSpPr/>
          <p:nvPr/>
        </p:nvSpPr>
        <p:spPr>
          <a:xfrm>
            <a:off x="0" y="0"/>
            <a:ext cx="12192000" cy="1045445"/>
          </a:xfrm>
          <a:prstGeom prst="rect">
            <a:avLst/>
          </a:prstGeom>
          <a:solidFill>
            <a:srgbClr val="ED7D31"/>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Calibri" panose="020F0502020204030204" pitchFamily="34" charset="0"/>
                <a:cs typeface="Calibri" panose="020F0502020204030204" pitchFamily="34" charset="0"/>
              </a:rPr>
              <a:t>EIGENVALUES AND EIGENVECTORS</a:t>
            </a:r>
          </a:p>
        </p:txBody>
      </p:sp>
      <p:sp>
        <p:nvSpPr>
          <p:cNvPr id="6" name="TextBox 5">
            <a:extLst>
              <a:ext uri="{FF2B5EF4-FFF2-40B4-BE49-F238E27FC236}">
                <a16:creationId xmlns:a16="http://schemas.microsoft.com/office/drawing/2014/main" id="{44DF5072-F394-894B-B68E-E622811A73D4}"/>
              </a:ext>
            </a:extLst>
          </p:cNvPr>
          <p:cNvSpPr txBox="1"/>
          <p:nvPr/>
        </p:nvSpPr>
        <p:spPr>
          <a:xfrm>
            <a:off x="5690311" y="1551100"/>
            <a:ext cx="1143262" cy="830997"/>
          </a:xfrm>
          <a:prstGeom prst="rect">
            <a:avLst/>
          </a:prstGeom>
          <a:noFill/>
        </p:spPr>
        <p:txBody>
          <a:bodyPr wrap="none" rtlCol="0">
            <a:spAutoFit/>
          </a:bodyPr>
          <a:lstStyle/>
          <a:p>
            <a:r>
              <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A</a:t>
            </a:r>
            <a:r>
              <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 = </a:t>
            </a:r>
          </a:p>
          <a:p>
            <a:endParaRPr lang="en-US" sz="2400" dirty="0"/>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0BD8A0DD-5F68-1C42-AA5B-4194767C0DA8}"/>
                  </a:ext>
                </a:extLst>
              </p:cNvPr>
              <p:cNvSpPr/>
              <p:nvPr/>
            </p:nvSpPr>
            <p:spPr>
              <a:xfrm>
                <a:off x="1092815" y="2561578"/>
                <a:ext cx="1526765" cy="708143"/>
              </a:xfrm>
              <a:prstGeom prst="rect">
                <a:avLst/>
              </a:prstGeom>
            </p:spPr>
            <p:txBody>
              <a:bodyPr wrap="none">
                <a:spAutoFit/>
              </a:bodyPr>
              <a:lstStyle/>
              <a:p>
                <a:r>
                  <a:rPr lang="en-CA" sz="2400" dirty="0">
                    <a:latin typeface="Calibri" panose="020F0502020204030204" pitchFamily="34" charset="0"/>
                    <a:ea typeface="Times New Roman" panose="02020603050405020304" pitchFamily="18" charset="0"/>
                    <a:cs typeface="Times New Roman" panose="02020603050405020304" pitchFamily="18" charset="0"/>
                  </a:rPr>
                  <a:t>A= </a:t>
                </a:r>
                <a14:m>
                  <m:oMath xmlns:m="http://schemas.openxmlformats.org/officeDocument/2006/math">
                    <m:d>
                      <m:dPr>
                        <m:begChr m:val="["/>
                        <m:endChr m:val="]"/>
                        <m:ctrlPr>
                          <a:rPr lang="en-CA" sz="2400" i="1">
                            <a:latin typeface="Cambria Math" panose="02040503050406030204" pitchFamily="18" charset="0"/>
                            <a:ea typeface="Times New Roman" panose="02020603050405020304" pitchFamily="18" charset="0"/>
                          </a:rPr>
                        </m:ctrlPr>
                      </m:dPr>
                      <m:e>
                        <m:m>
                          <m:mPr>
                            <m:mcs>
                              <m:mc>
                                <m:mcPr>
                                  <m:count m:val="2"/>
                                  <m:mcJc m:val="center"/>
                                </m:mcPr>
                              </m:mc>
                            </m:mcs>
                            <m:ctrlPr>
                              <a:rPr lang="en-CA" sz="2400" i="1">
                                <a:latin typeface="Cambria Math" panose="02040503050406030204" pitchFamily="18" charset="0"/>
                                <a:ea typeface="Times New Roman" panose="02020603050405020304" pitchFamily="18" charset="0"/>
                              </a:rPr>
                            </m:ctrlPr>
                          </m:mPr>
                          <m:mr>
                            <m:e>
                              <m:r>
                                <a:rPr lang="en-CA" sz="2400" i="1">
                                  <a:latin typeface="Cambria Math" panose="02040503050406030204" pitchFamily="18" charset="0"/>
                                  <a:ea typeface="Times New Roman" panose="02020603050405020304" pitchFamily="18" charset="0"/>
                                  <a:cs typeface="Times New Roman" panose="02020603050405020304" pitchFamily="18" charset="0"/>
                                </a:rPr>
                                <m:t>1</m:t>
                              </m:r>
                            </m:e>
                            <m:e>
                              <m:r>
                                <a:rPr lang="en-CA" sz="2400" i="1">
                                  <a:latin typeface="Cambria Math" panose="02040503050406030204" pitchFamily="18" charset="0"/>
                                  <a:ea typeface="Cambria Math" panose="02040503050406030204" pitchFamily="18" charset="0"/>
                                  <a:cs typeface="Cambria Math" panose="02040503050406030204" pitchFamily="18" charset="0"/>
                                </a:rPr>
                                <m:t>2</m:t>
                              </m:r>
                            </m:e>
                          </m:mr>
                          <m:mr>
                            <m:e>
                              <m:r>
                                <a:rPr lang="en-CA" sz="2400" i="1">
                                  <a:latin typeface="Cambria Math" panose="02040503050406030204" pitchFamily="18" charset="0"/>
                                  <a:ea typeface="Times New Roman" panose="02020603050405020304" pitchFamily="18" charset="0"/>
                                  <a:cs typeface="Times New Roman" panose="02020603050405020304" pitchFamily="18" charset="0"/>
                                </a:rPr>
                                <m:t>1</m:t>
                              </m:r>
                            </m:e>
                            <m:e>
                              <m:r>
                                <a:rPr lang="en-CA" sz="2400" i="1">
                                  <a:latin typeface="Cambria Math" panose="02040503050406030204" pitchFamily="18" charset="0"/>
                                  <a:ea typeface="Cambria Math" panose="02040503050406030204" pitchFamily="18" charset="0"/>
                                  <a:cs typeface="Cambria Math" panose="02040503050406030204" pitchFamily="18" charset="0"/>
                                </a:rPr>
                                <m:t>0</m:t>
                              </m:r>
                            </m:e>
                          </m:mr>
                        </m:m>
                      </m:e>
                    </m:d>
                  </m:oMath>
                </a14:m>
                <a:r>
                  <a:rPr lang="en-CA" sz="2400" dirty="0">
                    <a:latin typeface="Calibri" panose="020F0502020204030204" pitchFamily="34" charset="0"/>
                    <a:ea typeface="Times New Roman" panose="02020603050405020304" pitchFamily="18" charset="0"/>
                    <a:cs typeface="Times New Roman" panose="02020603050405020304" pitchFamily="18" charset="0"/>
                  </a:rPr>
                  <a:t> </a:t>
                </a:r>
                <a:endParaRPr lang="en-US" sz="2400" dirty="0"/>
              </a:p>
            </p:txBody>
          </p:sp>
        </mc:Choice>
        <mc:Fallback xmlns="">
          <p:sp>
            <p:nvSpPr>
              <p:cNvPr id="7" name="Rectangle 6">
                <a:extLst>
                  <a:ext uri="{FF2B5EF4-FFF2-40B4-BE49-F238E27FC236}">
                    <a16:creationId xmlns:a16="http://schemas.microsoft.com/office/drawing/2014/main" id="{0BD8A0DD-5F68-1C42-AA5B-4194767C0DA8}"/>
                  </a:ext>
                </a:extLst>
              </p:cNvPr>
              <p:cNvSpPr>
                <a:spLocks noRot="1" noChangeAspect="1" noMove="1" noResize="1" noEditPoints="1" noAdjustHandles="1" noChangeArrowheads="1" noChangeShapeType="1" noTextEdit="1"/>
              </p:cNvSpPr>
              <p:nvPr/>
            </p:nvSpPr>
            <p:spPr>
              <a:xfrm>
                <a:off x="1092815" y="2561578"/>
                <a:ext cx="1526765" cy="708143"/>
              </a:xfrm>
              <a:prstGeom prst="rect">
                <a:avLst/>
              </a:prstGeom>
              <a:blipFill>
                <a:blip r:embed="rId2"/>
                <a:stretch>
                  <a:fillRect l="-5738" b="-70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866C2FA-8E3E-554A-89FE-6D2B2F0C6989}"/>
                  </a:ext>
                </a:extLst>
              </p:cNvPr>
              <p:cNvSpPr txBox="1"/>
              <p:nvPr/>
            </p:nvSpPr>
            <p:spPr>
              <a:xfrm>
                <a:off x="4829829" y="2561578"/>
                <a:ext cx="3179973" cy="2428229"/>
              </a:xfrm>
              <a:prstGeom prst="rect">
                <a:avLst/>
              </a:prstGeom>
              <a:noFill/>
              <a:ln w="19050">
                <a:solidFill>
                  <a:schemeClr val="accent2"/>
                </a:solidFill>
              </a:ln>
            </p:spPr>
            <p:txBody>
              <a:bodyPr wrap="none" rtlCol="0">
                <a:spAutoFit/>
              </a:bodyPr>
              <a:lstStyle/>
              <a:p>
                <a14:m>
                  <m:oMath xmlns:m="http://schemas.openxmlformats.org/officeDocument/2006/math">
                    <m:r>
                      <a:rPr lang="en-CA" sz="2400" b="0" i="1" smtClean="0">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  </m:t>
                    </m:r>
                    <m:r>
                      <a:rPr lang="en-CA" sz="2400" i="1" smtClean="0">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m:t>
                    </m:r>
                    <m:r>
                      <a:rPr lang="en-CA" sz="2400" i="1" baseline="-25000">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1</m:t>
                    </m:r>
                  </m:oMath>
                </a14:m>
                <a:r>
                  <a:rPr lang="en-US" sz="2400" dirty="0"/>
                  <a:t> </a:t>
                </a:r>
                <a14:m>
                  <m:oMath xmlns:m="http://schemas.openxmlformats.org/officeDocument/2006/math">
                    <m:r>
                      <a:rPr lang="en-CA" sz="2400" i="1" dirty="0">
                        <a:latin typeface="Cambria Math" panose="02040503050406030204" pitchFamily="18" charset="0"/>
                      </a:rPr>
                      <m:t>=</m:t>
                    </m:r>
                    <m:r>
                      <a:rPr lang="en-CA" sz="2400" i="1">
                        <a:latin typeface="Cambria Math" panose="02040503050406030204" pitchFamily="18" charset="0"/>
                        <a:ea typeface="Times New Roman" panose="02020603050405020304" pitchFamily="18" charset="0"/>
                      </a:rPr>
                      <m:t> </m:t>
                    </m:r>
                  </m:oMath>
                </a14:m>
                <a:r>
                  <a:rPr lang="en-US" sz="2400" dirty="0"/>
                  <a:t>2            </a:t>
                </a:r>
                <a:r>
                  <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a:t>
                </a:r>
                <a:r>
                  <a:rPr lang="en-CA" sz="2400" baseline="-250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1</a:t>
                </a:r>
                <a:r>
                  <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 = </a:t>
                </a:r>
                <a14:m>
                  <m:oMath xmlns:m="http://schemas.openxmlformats.org/officeDocument/2006/math">
                    <m:d>
                      <m:dPr>
                        <m:begChr m:val="["/>
                        <m:endChr m:val="]"/>
                        <m:ctrlPr>
                          <a:rPr lang="en-CA" sz="2400" i="1">
                            <a:latin typeface="Cambria Math" panose="02040503050406030204" pitchFamily="18" charset="0"/>
                            <a:ea typeface="Times New Roman" panose="02020603050405020304" pitchFamily="18" charset="0"/>
                          </a:rPr>
                        </m:ctrlPr>
                      </m:dPr>
                      <m:e>
                        <m:m>
                          <m:mPr>
                            <m:mcs>
                              <m:mc>
                                <m:mcPr>
                                  <m:count m:val="1"/>
                                  <m:mcJc m:val="center"/>
                                </m:mcPr>
                              </m:mc>
                            </m:mcs>
                            <m:ctrlPr>
                              <a:rPr lang="en-CA" sz="2400" i="1">
                                <a:latin typeface="Cambria Math" panose="02040503050406030204" pitchFamily="18" charset="0"/>
                                <a:ea typeface="Cambria Math" panose="02040503050406030204" pitchFamily="18" charset="0"/>
                                <a:cs typeface="Cambria Math" panose="02040503050406030204" pitchFamily="18" charset="0"/>
                              </a:rPr>
                            </m:ctrlPr>
                          </m:mPr>
                          <m:mr>
                            <m:e>
                              <m:r>
                                <m:rPr>
                                  <m:brk m:alnAt="7"/>
                                </m:rPr>
                                <a:rPr lang="en-CA" sz="2400" i="1">
                                  <a:latin typeface="Cambria Math" panose="02040503050406030204" pitchFamily="18" charset="0"/>
                                  <a:ea typeface="Cambria Math" panose="02040503050406030204" pitchFamily="18" charset="0"/>
                                  <a:cs typeface="Cambria Math" panose="02040503050406030204" pitchFamily="18" charset="0"/>
                                </a:rPr>
                                <m:t>4</m:t>
                              </m:r>
                            </m:e>
                          </m:mr>
                          <m:mr>
                            <m:e>
                              <m:r>
                                <a:rPr lang="en-CA" sz="2400" i="1">
                                  <a:latin typeface="Cambria Math" panose="02040503050406030204" pitchFamily="18" charset="0"/>
                                  <a:ea typeface="Cambria Math" panose="02040503050406030204" pitchFamily="18" charset="0"/>
                                  <a:cs typeface="Cambria Math" panose="02040503050406030204" pitchFamily="18" charset="0"/>
                                </a:rPr>
                                <m:t>2</m:t>
                              </m:r>
                            </m:e>
                          </m:mr>
                        </m:m>
                      </m:e>
                    </m:d>
                  </m:oMath>
                </a14:m>
                <a:endParaRPr lang="en-US" sz="2400" dirty="0"/>
              </a:p>
              <a:p>
                <a:endParaRPr lang="en-US" sz="2400" dirty="0"/>
              </a:p>
              <a:p>
                <a:endParaRPr lang="en-US" sz="2400" dirty="0"/>
              </a:p>
              <a:p>
                <a14:m>
                  <m:oMath xmlns:m="http://schemas.openxmlformats.org/officeDocument/2006/math">
                    <m:r>
                      <a:rPr lang="en-CA" sz="2400" b="0" i="1" smtClean="0">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  </m:t>
                    </m:r>
                    <m:r>
                      <a:rPr lang="en-CA" sz="2400" i="1">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m:t>
                    </m:r>
                    <m:r>
                      <a:rPr lang="en-CA" sz="2400" i="1" baseline="-25000">
                        <a:latin typeface="Cambria Math" panose="02040503050406030204" pitchFamily="18" charset="0"/>
                        <a:ea typeface="Times New Roman" panose="02020603050405020304" pitchFamily="18" charset="0"/>
                        <a:cs typeface="Times New Roman" panose="02020603050405020304" pitchFamily="18" charset="0"/>
                        <a:sym typeface="Symbol" pitchFamily="2" charset="2"/>
                      </a:rPr>
                      <m:t>2</m:t>
                    </m:r>
                  </m:oMath>
                </a14:m>
                <a:r>
                  <a:rPr lang="en-US" sz="2400" dirty="0"/>
                  <a:t> </a:t>
                </a:r>
                <a14:m>
                  <m:oMath xmlns:m="http://schemas.openxmlformats.org/officeDocument/2006/math">
                    <m:r>
                      <a:rPr lang="en-CA" sz="2400" i="1" dirty="0">
                        <a:latin typeface="Cambria Math" panose="02040503050406030204" pitchFamily="18" charset="0"/>
                      </a:rPr>
                      <m:t>=</m:t>
                    </m:r>
                    <m:r>
                      <a:rPr lang="en-CA" sz="2400">
                        <a:latin typeface="Cambria Math" panose="02040503050406030204" pitchFamily="18" charset="0"/>
                        <a:ea typeface="Times New Roman" panose="02020603050405020304" pitchFamily="18" charset="0"/>
                      </a:rPr>
                      <m:t>−1</m:t>
                    </m:r>
                    <m:r>
                      <a:rPr lang="en-CA" sz="2400" b="0" i="0" smtClean="0">
                        <a:latin typeface="Cambria Math" panose="02040503050406030204" pitchFamily="18" charset="0"/>
                        <a:ea typeface="Times New Roman" panose="02020603050405020304" pitchFamily="18" charset="0"/>
                      </a:rPr>
                      <m:t>   </m:t>
                    </m:r>
                  </m:oMath>
                </a14:m>
                <a:r>
                  <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      </a:t>
                </a:r>
                <a:r>
                  <a:rPr lang="en-CA" sz="2400" baseline="-250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2</a:t>
                </a:r>
                <a:r>
                  <a:rPr lang="en-CA"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sym typeface="Symbol" pitchFamily="2" charset="2"/>
                  </a:rPr>
                  <a:t> = </a:t>
                </a:r>
                <a14:m>
                  <m:oMath xmlns:m="http://schemas.openxmlformats.org/officeDocument/2006/math">
                    <m:d>
                      <m:dPr>
                        <m:begChr m:val="["/>
                        <m:endChr m:val="]"/>
                        <m:ctrlPr>
                          <a:rPr lang="en-CA" sz="2400" i="1">
                            <a:latin typeface="Cambria Math" panose="02040503050406030204" pitchFamily="18" charset="0"/>
                            <a:ea typeface="Times New Roman" panose="02020603050405020304" pitchFamily="18" charset="0"/>
                          </a:rPr>
                        </m:ctrlPr>
                      </m:dPr>
                      <m:e>
                        <m:m>
                          <m:mPr>
                            <m:mcs>
                              <m:mc>
                                <m:mcPr>
                                  <m:count m:val="1"/>
                                  <m:mcJc m:val="center"/>
                                </m:mcPr>
                              </m:mc>
                            </m:mcs>
                            <m:ctrlPr>
                              <a:rPr lang="en-CA" sz="2400" i="1">
                                <a:latin typeface="Cambria Math" panose="02040503050406030204" pitchFamily="18" charset="0"/>
                                <a:ea typeface="Cambria Math" panose="02040503050406030204" pitchFamily="18" charset="0"/>
                                <a:cs typeface="Cambria Math" panose="02040503050406030204" pitchFamily="18" charset="0"/>
                              </a:rPr>
                            </m:ctrlPr>
                          </m:mPr>
                          <m:mr>
                            <m:e>
                              <m:r>
                                <m:rPr>
                                  <m:brk m:alnAt="7"/>
                                </m:rPr>
                                <a:rPr lang="en-CA" sz="2400" i="1">
                                  <a:latin typeface="Cambria Math" panose="02040503050406030204" pitchFamily="18" charset="0"/>
                                  <a:ea typeface="Cambria Math" panose="02040503050406030204" pitchFamily="18" charset="0"/>
                                  <a:cs typeface="Cambria Math" panose="02040503050406030204" pitchFamily="18" charset="0"/>
                                </a:rPr>
                                <m:t>−</m:t>
                              </m:r>
                              <m:r>
                                <a:rPr lang="en-CA" sz="2400" i="1">
                                  <a:latin typeface="Cambria Math" panose="02040503050406030204" pitchFamily="18" charset="0"/>
                                  <a:ea typeface="Cambria Math" panose="02040503050406030204" pitchFamily="18" charset="0"/>
                                  <a:cs typeface="Cambria Math" panose="02040503050406030204" pitchFamily="18" charset="0"/>
                                </a:rPr>
                                <m:t>3</m:t>
                              </m:r>
                            </m:e>
                          </m:mr>
                          <m:mr>
                            <m:e>
                              <m:r>
                                <a:rPr lang="en-CA" sz="2400" i="1">
                                  <a:latin typeface="Cambria Math" panose="02040503050406030204" pitchFamily="18" charset="0"/>
                                  <a:ea typeface="Cambria Math" panose="02040503050406030204" pitchFamily="18" charset="0"/>
                                  <a:cs typeface="Cambria Math" panose="02040503050406030204" pitchFamily="18" charset="0"/>
                                </a:rPr>
                                <m:t>   3</m:t>
                              </m:r>
                            </m:e>
                          </m:mr>
                        </m:m>
                      </m:e>
                    </m:d>
                  </m:oMath>
                </a14:m>
                <a:endParaRPr lang="en-US" sz="2400" dirty="0"/>
              </a:p>
              <a:p>
                <a:endParaRPr lang="en-US" sz="2400" dirty="0"/>
              </a:p>
            </p:txBody>
          </p:sp>
        </mc:Choice>
        <mc:Fallback xmlns="">
          <p:sp>
            <p:nvSpPr>
              <p:cNvPr id="8" name="TextBox 7">
                <a:extLst>
                  <a:ext uri="{FF2B5EF4-FFF2-40B4-BE49-F238E27FC236}">
                    <a16:creationId xmlns:a16="http://schemas.microsoft.com/office/drawing/2014/main" id="{E866C2FA-8E3E-554A-89FE-6D2B2F0C6989}"/>
                  </a:ext>
                </a:extLst>
              </p:cNvPr>
              <p:cNvSpPr txBox="1">
                <a:spLocks noRot="1" noChangeAspect="1" noMove="1" noResize="1" noEditPoints="1" noAdjustHandles="1" noChangeArrowheads="1" noChangeShapeType="1" noTextEdit="1"/>
              </p:cNvSpPr>
              <p:nvPr/>
            </p:nvSpPr>
            <p:spPr>
              <a:xfrm>
                <a:off x="4829829" y="2561578"/>
                <a:ext cx="3179973" cy="2428229"/>
              </a:xfrm>
              <a:prstGeom prst="rect">
                <a:avLst/>
              </a:prstGeom>
              <a:blipFill>
                <a:blip r:embed="rId3"/>
                <a:stretch>
                  <a:fillRect l="-1581"/>
                </a:stretch>
              </a:blipFill>
              <a:ln w="19050">
                <a:solidFill>
                  <a:schemeClr val="accent2"/>
                </a:solidFill>
              </a:ln>
            </p:spPr>
            <p:txBody>
              <a:bodyPr/>
              <a:lstStyle/>
              <a:p>
                <a:r>
                  <a:rPr lang="en-US">
                    <a:noFill/>
                  </a:rPr>
                  <a:t> </a:t>
                </a:r>
              </a:p>
            </p:txBody>
          </p:sp>
        </mc:Fallback>
      </mc:AlternateContent>
      <p:sp>
        <p:nvSpPr>
          <p:cNvPr id="9" name="Right Brace 8">
            <a:extLst>
              <a:ext uri="{FF2B5EF4-FFF2-40B4-BE49-F238E27FC236}">
                <a16:creationId xmlns:a16="http://schemas.microsoft.com/office/drawing/2014/main" id="{AD8B2DBA-21E7-C244-8C50-2FD72A2F1E6A}"/>
              </a:ext>
            </a:extLst>
          </p:cNvPr>
          <p:cNvSpPr/>
          <p:nvPr/>
        </p:nvSpPr>
        <p:spPr>
          <a:xfrm>
            <a:off x="8409709" y="2561578"/>
            <a:ext cx="665018" cy="2428229"/>
          </a:xfrm>
          <a:prstGeom prst="rightBrace">
            <a:avLst/>
          </a:pr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CC8CB934-78FB-5744-A897-94DBF16F25BE}"/>
              </a:ext>
            </a:extLst>
          </p:cNvPr>
          <p:cNvSpPr txBox="1"/>
          <p:nvPr/>
        </p:nvSpPr>
        <p:spPr>
          <a:xfrm>
            <a:off x="9474634" y="3037028"/>
            <a:ext cx="2129850" cy="1477328"/>
          </a:xfrm>
          <a:prstGeom prst="rect">
            <a:avLst/>
          </a:prstGeom>
          <a:noFill/>
        </p:spPr>
        <p:txBody>
          <a:bodyPr wrap="square" rtlCol="0">
            <a:spAutoFit/>
          </a:bodyPr>
          <a:lstStyle/>
          <a:p>
            <a:r>
              <a:rPr lang="en-US" dirty="0">
                <a:solidFill>
                  <a:schemeClr val="accent2"/>
                </a:solidFill>
              </a:rPr>
              <a:t>Two eigenvalues with their corresponding eigenvectors of matrix A</a:t>
            </a:r>
          </a:p>
        </p:txBody>
      </p:sp>
    </p:spTree>
    <p:extLst>
      <p:ext uri="{BB962C8B-B14F-4D97-AF65-F5344CB8AC3E}">
        <p14:creationId xmlns:p14="http://schemas.microsoft.com/office/powerpoint/2010/main" val="2518542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E4D1FD5-2EB1-1340-8142-D6F90FC88ED7}"/>
              </a:ext>
            </a:extLst>
          </p:cNvPr>
          <p:cNvSpPr/>
          <p:nvPr/>
        </p:nvSpPr>
        <p:spPr>
          <a:xfrm>
            <a:off x="0" y="0"/>
            <a:ext cx="12192000" cy="1045445"/>
          </a:xfrm>
          <a:prstGeom prst="rect">
            <a:avLst/>
          </a:prstGeom>
          <a:solidFill>
            <a:srgbClr val="ED7D31"/>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Calibri" panose="020F0502020204030204" pitchFamily="34" charset="0"/>
                <a:cs typeface="Calibri" panose="020F0502020204030204" pitchFamily="34" charset="0"/>
              </a:rPr>
              <a:t>REFERENCE</a:t>
            </a:r>
          </a:p>
        </p:txBody>
      </p:sp>
      <p:sp>
        <p:nvSpPr>
          <p:cNvPr id="5" name="TextBox 4">
            <a:extLst>
              <a:ext uri="{FF2B5EF4-FFF2-40B4-BE49-F238E27FC236}">
                <a16:creationId xmlns:a16="http://schemas.microsoft.com/office/drawing/2014/main" id="{D5F9E5FF-3DD1-A143-8F9C-9B27AF49AC3F}"/>
              </a:ext>
            </a:extLst>
          </p:cNvPr>
          <p:cNvSpPr txBox="1"/>
          <p:nvPr/>
        </p:nvSpPr>
        <p:spPr>
          <a:xfrm>
            <a:off x="1385454" y="2163044"/>
            <a:ext cx="9624622" cy="584775"/>
          </a:xfrm>
          <a:prstGeom prst="rect">
            <a:avLst/>
          </a:prstGeom>
          <a:noFill/>
          <a:ln w="19050">
            <a:solidFill>
              <a:schemeClr val="accent2"/>
            </a:solidFill>
          </a:ln>
        </p:spPr>
        <p:txBody>
          <a:bodyPr wrap="none" rtlCol="0">
            <a:spAutoFit/>
          </a:bodyPr>
          <a:lstStyle/>
          <a:p>
            <a:r>
              <a:rPr lang="en-US" sz="3200" dirty="0"/>
              <a:t>https://</a:t>
            </a:r>
            <a:r>
              <a:rPr lang="en-US" sz="3200" dirty="0" err="1"/>
              <a:t>www.youtube.com</a:t>
            </a:r>
            <a:r>
              <a:rPr lang="en-US" sz="3200" dirty="0"/>
              <a:t>/</a:t>
            </a:r>
            <a:r>
              <a:rPr lang="en-US" sz="3200" dirty="0" err="1"/>
              <a:t>watch?v</a:t>
            </a:r>
            <a:r>
              <a:rPr lang="en-US" sz="3200" dirty="0"/>
              <a:t>=</a:t>
            </a:r>
            <a:r>
              <a:rPr lang="en-US" sz="3200" dirty="0" err="1"/>
              <a:t>JtcNe</a:t>
            </a:r>
            <a:r>
              <a:rPr lang="en-US" sz="3200" dirty="0"/>
              <a:t>--</a:t>
            </a:r>
            <a:r>
              <a:rPr lang="en-US" sz="3200" dirty="0" err="1"/>
              <a:t>fsyA&amp;t</a:t>
            </a:r>
            <a:r>
              <a:rPr lang="en-US" sz="3200" dirty="0"/>
              <a:t>=437s</a:t>
            </a:r>
          </a:p>
        </p:txBody>
      </p:sp>
      <p:sp>
        <p:nvSpPr>
          <p:cNvPr id="6" name="TextBox 5">
            <a:extLst>
              <a:ext uri="{FF2B5EF4-FFF2-40B4-BE49-F238E27FC236}">
                <a16:creationId xmlns:a16="http://schemas.microsoft.com/office/drawing/2014/main" id="{5A05E1CB-48EC-EA46-A35B-D3FE1BABD3EB}"/>
              </a:ext>
            </a:extLst>
          </p:cNvPr>
          <p:cNvSpPr txBox="1"/>
          <p:nvPr/>
        </p:nvSpPr>
        <p:spPr>
          <a:xfrm>
            <a:off x="4988363" y="3865418"/>
            <a:ext cx="2418804" cy="646331"/>
          </a:xfrm>
          <a:prstGeom prst="rect">
            <a:avLst/>
          </a:prstGeom>
          <a:noFill/>
          <a:ln>
            <a:solidFill>
              <a:schemeClr val="accent2"/>
            </a:solidFill>
          </a:ln>
        </p:spPr>
        <p:txBody>
          <a:bodyPr wrap="none" rtlCol="0">
            <a:spAutoFit/>
          </a:bodyPr>
          <a:lstStyle/>
          <a:p>
            <a:r>
              <a:rPr lang="en-US" sz="3600" dirty="0"/>
              <a:t>THANK YOU</a:t>
            </a:r>
          </a:p>
        </p:txBody>
      </p:sp>
    </p:spTree>
    <p:extLst>
      <p:ext uri="{BB962C8B-B14F-4D97-AF65-F5344CB8AC3E}">
        <p14:creationId xmlns:p14="http://schemas.microsoft.com/office/powerpoint/2010/main" val="9571303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TotalTime>
  <Words>753</Words>
  <Application>Microsoft Macintosh PowerPoint</Application>
  <PresentationFormat>Widescreen</PresentationFormat>
  <Paragraphs>104</Paragraphs>
  <Slides>9</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Cambria Math</vt:lpstr>
      <vt:lpstr>Trade Gothic Next Light</vt:lpstr>
      <vt:lpstr>Office Theme</vt:lpstr>
      <vt:lpstr>MATHEMATICS  BEHIND  EIGENVECTORS  AND  EIGENVALUES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MATHEMATICS  BEHIND  EIGENVECTORS  AND  EIGENVALUES</dc:title>
  <dc:creator>' Kanupriya</dc:creator>
  <cp:lastModifiedBy>Quynh Nguyen</cp:lastModifiedBy>
  <cp:revision>3</cp:revision>
  <dcterms:created xsi:type="dcterms:W3CDTF">2022-05-03T02:05:04Z</dcterms:created>
  <dcterms:modified xsi:type="dcterms:W3CDTF">2022-05-10T16:10:36Z</dcterms:modified>
</cp:coreProperties>
</file>