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372" r:id="rId4"/>
    <p:sldId id="292" r:id="rId5"/>
    <p:sldId id="265" r:id="rId6"/>
    <p:sldId id="386" r:id="rId7"/>
    <p:sldId id="370" r:id="rId8"/>
    <p:sldId id="383" r:id="rId9"/>
    <p:sldId id="385" r:id="rId10"/>
    <p:sldId id="380" r:id="rId11"/>
    <p:sldId id="373" r:id="rId12"/>
    <p:sldId id="267" r:id="rId13"/>
    <p:sldId id="260" r:id="rId14"/>
    <p:sldId id="374" r:id="rId15"/>
    <p:sldId id="375" r:id="rId16"/>
    <p:sldId id="381" r:id="rId17"/>
    <p:sldId id="388" r:id="rId18"/>
    <p:sldId id="389" r:id="rId19"/>
    <p:sldId id="378" r:id="rId20"/>
    <p:sldId id="376" r:id="rId21"/>
    <p:sldId id="377" r:id="rId22"/>
    <p:sldId id="371" r:id="rId23"/>
    <p:sldId id="369" r:id="rId24"/>
    <p:sldId id="314" r:id="rId25"/>
    <p:sldId id="295" r:id="rId26"/>
    <p:sldId id="297" r:id="rId27"/>
    <p:sldId id="298" r:id="rId28"/>
    <p:sldId id="300" r:id="rId29"/>
    <p:sldId id="301" r:id="rId30"/>
    <p:sldId id="302" r:id="rId31"/>
    <p:sldId id="390" r:id="rId32"/>
    <p:sldId id="391" r:id="rId33"/>
    <p:sldId id="392" r:id="rId34"/>
    <p:sldId id="39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967"/>
    <p:restoredTop sz="91774"/>
  </p:normalViewPr>
  <p:slideViewPr>
    <p:cSldViewPr snapToGrid="0" snapToObjects="1">
      <p:cViewPr>
        <p:scale>
          <a:sx n="152" d="100"/>
          <a:sy n="152" d="100"/>
        </p:scale>
        <p:origin x="-176" y="-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0E09AD-4A6E-8647-9C15-2ECF7697A634}" type="datetimeFigureOut">
              <a:rPr lang="en-GB" smtClean="0"/>
              <a:t>15/10/2020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B1EF0D-6704-2040-9CF8-7B4A4CE0AB74}" type="slidenum">
              <a:rPr lang="en-GB" smtClean="0"/>
              <a:t>‹#›</a:t>
            </a:fld>
            <a:endParaRPr lang="en-GB"/>
          </a:p>
        </p:txBody>
      </p:sp>
    </p:spTree>
    <p:extLst>
      <p:ext uri="{BB962C8B-B14F-4D97-AF65-F5344CB8AC3E}">
        <p14:creationId xmlns:p14="http://schemas.microsoft.com/office/powerpoint/2010/main" val="1558802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C4C0AB-E584-4470-8DAE-0241CAE0CA03}" type="slidenum">
              <a:rPr lang="en-US"/>
              <a:pPr/>
              <a:t>4</a:t>
            </a:fld>
            <a:endParaRPr lang="en-US"/>
          </a:p>
        </p:txBody>
      </p:sp>
      <p:sp>
        <p:nvSpPr>
          <p:cNvPr id="144386" name="Rectangle 2"/>
          <p:cNvSpPr>
            <a:spLocks noGrp="1" noRot="1" noChangeAspect="1" noChangeArrowheads="1" noTextEdit="1"/>
          </p:cNvSpPr>
          <p:nvPr>
            <p:ph type="sldImg"/>
          </p:nvPr>
        </p:nvSpPr>
        <p:spPr>
          <a:xfrm>
            <a:off x="1803400" y="685800"/>
            <a:ext cx="3251200" cy="1828800"/>
          </a:xfrm>
          <a:ln/>
        </p:spPr>
      </p:sp>
      <p:sp>
        <p:nvSpPr>
          <p:cNvPr id="144387" name="Rectangle 3"/>
          <p:cNvSpPr>
            <a:spLocks noGrp="1" noChangeArrowheads="1"/>
          </p:cNvSpPr>
          <p:nvPr>
            <p:ph type="body" idx="1"/>
          </p:nvPr>
        </p:nvSpPr>
        <p:spPr>
          <a:xfrm>
            <a:off x="686099" y="2667001"/>
            <a:ext cx="5639097" cy="5790595"/>
          </a:xfrm>
        </p:spPr>
        <p:txBody>
          <a:bodyPr/>
          <a:lstStyle/>
          <a:p>
            <a:endParaRPr lang="en-GB"/>
          </a:p>
        </p:txBody>
      </p:sp>
    </p:spTree>
    <p:extLst>
      <p:ext uri="{BB962C8B-B14F-4D97-AF65-F5344CB8AC3E}">
        <p14:creationId xmlns:p14="http://schemas.microsoft.com/office/powerpoint/2010/main" val="217482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Error variance is </a:t>
            </a:r>
            <a:r>
              <a:rPr lang="en-GB" dirty="0" err="1"/>
              <a:t>sth</a:t>
            </a:r>
            <a:r>
              <a:rPr lang="en-GB" dirty="0"/>
              <a:t> happened and cannot be explained. For example, </a:t>
            </a:r>
            <a:r>
              <a:rPr lang="en-GB" sz="1200" b="0" i="0" kern="1200" dirty="0">
                <a:solidFill>
                  <a:schemeClr val="tx1"/>
                </a:solidFill>
                <a:effectLst/>
                <a:latin typeface="+mn-lt"/>
                <a:ea typeface="+mn-ea"/>
                <a:cs typeface="+mn-cs"/>
              </a:rPr>
              <a:t>the person got a call from her babysitter that her two-year old son ate her </a:t>
            </a:r>
            <a:r>
              <a:rPr lang="en-GB" sz="1200" b="0" i="0" kern="1200" dirty="0" err="1">
                <a:solidFill>
                  <a:schemeClr val="tx1"/>
                </a:solidFill>
                <a:effectLst/>
                <a:latin typeface="+mn-lt"/>
                <a:ea typeface="+mn-ea"/>
                <a:cs typeface="+mn-cs"/>
              </a:rPr>
              <a:t>favorite</a:t>
            </a:r>
            <a:r>
              <a:rPr lang="en-GB" sz="1200" b="0" i="0" kern="1200" dirty="0">
                <a:solidFill>
                  <a:schemeClr val="tx1"/>
                </a:solidFill>
                <a:effectLst/>
                <a:latin typeface="+mn-lt"/>
                <a:ea typeface="+mn-ea"/>
                <a:cs typeface="+mn-cs"/>
              </a:rPr>
              <a:t> lipstick.</a:t>
            </a:r>
            <a:endParaRPr lang="en-GB" dirty="0"/>
          </a:p>
        </p:txBody>
      </p:sp>
      <p:sp>
        <p:nvSpPr>
          <p:cNvPr id="4" name="Slide Number Placeholder 3"/>
          <p:cNvSpPr>
            <a:spLocks noGrp="1"/>
          </p:cNvSpPr>
          <p:nvPr>
            <p:ph type="sldNum" sz="quarter" idx="5"/>
          </p:nvPr>
        </p:nvSpPr>
        <p:spPr/>
        <p:txBody>
          <a:bodyPr/>
          <a:lstStyle/>
          <a:p>
            <a:fld id="{DEB1EF0D-6704-2040-9CF8-7B4A4CE0AB74}" type="slidenum">
              <a:rPr lang="en-GB" smtClean="0"/>
              <a:t>14</a:t>
            </a:fld>
            <a:endParaRPr lang="en-GB"/>
          </a:p>
        </p:txBody>
      </p:sp>
    </p:spTree>
    <p:extLst>
      <p:ext uri="{BB962C8B-B14F-4D97-AF65-F5344CB8AC3E}">
        <p14:creationId xmlns:p14="http://schemas.microsoft.com/office/powerpoint/2010/main" val="3641263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Both types of factor analyses are based on the Common Factor Model, illustrated in figure 1.1. This model proposes that each observed response (measure 1 through measure 5) is influenced partially by underlying common factors (factor 1 and factor 2) and partially by underlying unique factors (E1 through E5)</a:t>
            </a:r>
          </a:p>
        </p:txBody>
      </p:sp>
      <p:sp>
        <p:nvSpPr>
          <p:cNvPr id="4" name="Slide Number Placeholder 3"/>
          <p:cNvSpPr>
            <a:spLocks noGrp="1"/>
          </p:cNvSpPr>
          <p:nvPr>
            <p:ph type="sldNum" sz="quarter" idx="5"/>
          </p:nvPr>
        </p:nvSpPr>
        <p:spPr/>
        <p:txBody>
          <a:bodyPr/>
          <a:lstStyle/>
          <a:p>
            <a:fld id="{DEB1EF0D-6704-2040-9CF8-7B4A4CE0AB74}" type="slidenum">
              <a:rPr lang="en-GB" smtClean="0"/>
              <a:t>20</a:t>
            </a:fld>
            <a:endParaRPr lang="en-GB"/>
          </a:p>
        </p:txBody>
      </p:sp>
    </p:spTree>
    <p:extLst>
      <p:ext uri="{BB962C8B-B14F-4D97-AF65-F5344CB8AC3E}">
        <p14:creationId xmlns:p14="http://schemas.microsoft.com/office/powerpoint/2010/main" val="27591145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kern="1200" dirty="0">
                <a:solidFill>
                  <a:schemeClr val="tx1"/>
                </a:solidFill>
                <a:effectLst/>
                <a:latin typeface="+mn-lt"/>
                <a:ea typeface="+mn-ea"/>
                <a:cs typeface="+mn-cs"/>
              </a:rPr>
              <a:t>Bartlett’s Test of Sphericity</a:t>
            </a:r>
            <a:r>
              <a:rPr lang="en-GB" sz="1200" b="0" i="0" kern="1200" dirty="0">
                <a:solidFill>
                  <a:schemeClr val="tx1"/>
                </a:solidFill>
                <a:effectLst/>
                <a:latin typeface="+mn-lt"/>
                <a:ea typeface="+mn-ea"/>
                <a:cs typeface="+mn-cs"/>
              </a:rPr>
              <a:t> compares an observed correlation matrix to the identity matrix. Essentially it checks to see if there is a certain redundancy between the variables that we can summarize with a few number of factors. </a:t>
            </a:r>
          </a:p>
          <a:p>
            <a:endParaRPr lang="en-GB" sz="1200" b="0" i="0" kern="1200" dirty="0">
              <a:solidFill>
                <a:schemeClr val="tx1"/>
              </a:solidFill>
              <a:effectLst/>
              <a:latin typeface="+mn-lt"/>
              <a:ea typeface="+mn-ea"/>
              <a:cs typeface="+mn-cs"/>
            </a:endParaRPr>
          </a:p>
          <a:p>
            <a:r>
              <a:rPr lang="en-GB" dirty="0"/>
              <a:t>Identity matrix meaning that all the diagonal terms are one and all off-diagonal terms are zero.  </a:t>
            </a:r>
          </a:p>
          <a:p>
            <a:endParaRPr lang="en-GB" dirty="0"/>
          </a:p>
          <a:p>
            <a:r>
              <a:rPr lang="en-GB" sz="1200" b="0" i="0" kern="1200" dirty="0">
                <a:solidFill>
                  <a:schemeClr val="tx1"/>
                </a:solidFill>
                <a:effectLst/>
                <a:latin typeface="+mn-lt"/>
                <a:ea typeface="+mn-ea"/>
                <a:cs typeface="+mn-cs"/>
              </a:rPr>
              <a:t>The null hypothesis of the test is that the variables are orthogonal, i.e. not correlated.</a:t>
            </a:r>
            <a:endParaRPr lang="en-GB" dirty="0"/>
          </a:p>
          <a:p>
            <a:endParaRPr lang="en-GB" dirty="0"/>
          </a:p>
          <a:p>
            <a:r>
              <a:rPr lang="en-GB" dirty="0"/>
              <a:t>We want to look for &lt;-.05 because we want the variables to be correlated.</a:t>
            </a:r>
          </a:p>
        </p:txBody>
      </p:sp>
      <p:sp>
        <p:nvSpPr>
          <p:cNvPr id="4" name="Slide Number Placeholder 3"/>
          <p:cNvSpPr>
            <a:spLocks noGrp="1"/>
          </p:cNvSpPr>
          <p:nvPr>
            <p:ph type="sldNum" sz="quarter" idx="5"/>
          </p:nvPr>
        </p:nvSpPr>
        <p:spPr/>
        <p:txBody>
          <a:bodyPr/>
          <a:lstStyle/>
          <a:p>
            <a:fld id="{DEB1EF0D-6704-2040-9CF8-7B4A4CE0AB74}" type="slidenum">
              <a:rPr lang="en-GB" smtClean="0"/>
              <a:t>23</a:t>
            </a:fld>
            <a:endParaRPr lang="en-GB"/>
          </a:p>
        </p:txBody>
      </p:sp>
    </p:spTree>
    <p:extLst>
      <p:ext uri="{BB962C8B-B14F-4D97-AF65-F5344CB8AC3E}">
        <p14:creationId xmlns:p14="http://schemas.microsoft.com/office/powerpoint/2010/main" val="36866837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KMO tests whether there are a significant number of factors in the dataset.</a:t>
            </a:r>
          </a:p>
          <a:p>
            <a:r>
              <a:rPr lang="en-GB" dirty="0"/>
              <a:t>The range of KMO is from 0.0 to 1.0 and desired values are &gt; 0.5</a:t>
            </a:r>
          </a:p>
        </p:txBody>
      </p:sp>
      <p:sp>
        <p:nvSpPr>
          <p:cNvPr id="4" name="Slide Number Placeholder 3"/>
          <p:cNvSpPr>
            <a:spLocks noGrp="1"/>
          </p:cNvSpPr>
          <p:nvPr>
            <p:ph type="sldNum" sz="quarter" idx="5"/>
          </p:nvPr>
        </p:nvSpPr>
        <p:spPr/>
        <p:txBody>
          <a:bodyPr/>
          <a:lstStyle/>
          <a:p>
            <a:fld id="{DEB1EF0D-6704-2040-9CF8-7B4A4CE0AB74}" type="slidenum">
              <a:rPr lang="en-GB" smtClean="0"/>
              <a:t>24</a:t>
            </a:fld>
            <a:endParaRPr lang="en-GB"/>
          </a:p>
        </p:txBody>
      </p:sp>
    </p:spTree>
    <p:extLst>
      <p:ext uri="{BB962C8B-B14F-4D97-AF65-F5344CB8AC3E}">
        <p14:creationId xmlns:p14="http://schemas.microsoft.com/office/powerpoint/2010/main" val="22617890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PA is used to determine as how many PC or FA to keep.</a:t>
            </a:r>
          </a:p>
          <a:p>
            <a:r>
              <a:rPr lang="en-GB" dirty="0"/>
              <a:t>So data with p values with produce p eigenvalues</a:t>
            </a:r>
          </a:p>
          <a:p>
            <a:endParaRPr lang="en-GB" dirty="0"/>
          </a:p>
        </p:txBody>
      </p:sp>
      <p:sp>
        <p:nvSpPr>
          <p:cNvPr id="4" name="Slide Number Placeholder 3"/>
          <p:cNvSpPr>
            <a:spLocks noGrp="1"/>
          </p:cNvSpPr>
          <p:nvPr>
            <p:ph type="sldNum" sz="quarter" idx="5"/>
          </p:nvPr>
        </p:nvSpPr>
        <p:spPr/>
        <p:txBody>
          <a:bodyPr/>
          <a:lstStyle/>
          <a:p>
            <a:fld id="{DEB1EF0D-6704-2040-9CF8-7B4A4CE0AB74}" type="slidenum">
              <a:rPr lang="en-GB" smtClean="0"/>
              <a:t>29</a:t>
            </a:fld>
            <a:endParaRPr lang="en-GB"/>
          </a:p>
        </p:txBody>
      </p:sp>
    </p:spTree>
    <p:extLst>
      <p:ext uri="{BB962C8B-B14F-4D97-AF65-F5344CB8AC3E}">
        <p14:creationId xmlns:p14="http://schemas.microsoft.com/office/powerpoint/2010/main" val="340408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34276-A064-0D4F-8BB4-FA79CD8A80C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90A7B99B-3DE3-404B-8F3A-B7A5EB681D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42AAF84C-C9E0-204D-8B61-40E2E9FA9FF8}"/>
              </a:ext>
            </a:extLst>
          </p:cNvPr>
          <p:cNvSpPr>
            <a:spLocks noGrp="1"/>
          </p:cNvSpPr>
          <p:nvPr>
            <p:ph type="dt" sz="half" idx="10"/>
          </p:nvPr>
        </p:nvSpPr>
        <p:spPr/>
        <p:txBody>
          <a:bodyPr/>
          <a:lstStyle/>
          <a:p>
            <a:fld id="{655279B8-D8A5-FA41-919E-318ACC503F53}" type="datetimeFigureOut">
              <a:rPr lang="en-GB" smtClean="0"/>
              <a:t>15/10/2020</a:t>
            </a:fld>
            <a:endParaRPr lang="en-GB"/>
          </a:p>
        </p:txBody>
      </p:sp>
      <p:sp>
        <p:nvSpPr>
          <p:cNvPr id="5" name="Footer Placeholder 4">
            <a:extLst>
              <a:ext uri="{FF2B5EF4-FFF2-40B4-BE49-F238E27FC236}">
                <a16:creationId xmlns:a16="http://schemas.microsoft.com/office/drawing/2014/main" id="{EBE51685-71B3-7B44-9DF7-35D728D4EE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6C946C1-7D0B-7948-ABFB-7D3E67BB6752}"/>
              </a:ext>
            </a:extLst>
          </p:cNvPr>
          <p:cNvSpPr>
            <a:spLocks noGrp="1"/>
          </p:cNvSpPr>
          <p:nvPr>
            <p:ph type="sldNum" sz="quarter" idx="12"/>
          </p:nvPr>
        </p:nvSpPr>
        <p:spPr/>
        <p:txBody>
          <a:bodyPr/>
          <a:lstStyle/>
          <a:p>
            <a:fld id="{E118163A-8F58-1F4A-990F-CDE20ECBBC0A}" type="slidenum">
              <a:rPr lang="en-GB" smtClean="0"/>
              <a:t>‹#›</a:t>
            </a:fld>
            <a:endParaRPr lang="en-GB"/>
          </a:p>
        </p:txBody>
      </p:sp>
    </p:spTree>
    <p:extLst>
      <p:ext uri="{BB962C8B-B14F-4D97-AF65-F5344CB8AC3E}">
        <p14:creationId xmlns:p14="http://schemas.microsoft.com/office/powerpoint/2010/main" val="32736776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4220C-8D0D-7048-A5FC-931564D78C3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EACF753-8865-6243-8932-2B0520FB3A6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ADE8A5F-4471-1D4E-9B02-61F62CCE129C}"/>
              </a:ext>
            </a:extLst>
          </p:cNvPr>
          <p:cNvSpPr>
            <a:spLocks noGrp="1"/>
          </p:cNvSpPr>
          <p:nvPr>
            <p:ph type="dt" sz="half" idx="10"/>
          </p:nvPr>
        </p:nvSpPr>
        <p:spPr/>
        <p:txBody>
          <a:bodyPr/>
          <a:lstStyle/>
          <a:p>
            <a:fld id="{655279B8-D8A5-FA41-919E-318ACC503F53}" type="datetimeFigureOut">
              <a:rPr lang="en-GB" smtClean="0"/>
              <a:t>15/10/2020</a:t>
            </a:fld>
            <a:endParaRPr lang="en-GB"/>
          </a:p>
        </p:txBody>
      </p:sp>
      <p:sp>
        <p:nvSpPr>
          <p:cNvPr id="5" name="Footer Placeholder 4">
            <a:extLst>
              <a:ext uri="{FF2B5EF4-FFF2-40B4-BE49-F238E27FC236}">
                <a16:creationId xmlns:a16="http://schemas.microsoft.com/office/drawing/2014/main" id="{6D48B0C6-B90D-E149-B207-800B66BC35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24C8FFE-5983-AE42-86CC-0C488F388050}"/>
              </a:ext>
            </a:extLst>
          </p:cNvPr>
          <p:cNvSpPr>
            <a:spLocks noGrp="1"/>
          </p:cNvSpPr>
          <p:nvPr>
            <p:ph type="sldNum" sz="quarter" idx="12"/>
          </p:nvPr>
        </p:nvSpPr>
        <p:spPr/>
        <p:txBody>
          <a:bodyPr/>
          <a:lstStyle/>
          <a:p>
            <a:fld id="{E118163A-8F58-1F4A-990F-CDE20ECBBC0A}" type="slidenum">
              <a:rPr lang="en-GB" smtClean="0"/>
              <a:t>‹#›</a:t>
            </a:fld>
            <a:endParaRPr lang="en-GB"/>
          </a:p>
        </p:txBody>
      </p:sp>
    </p:spTree>
    <p:extLst>
      <p:ext uri="{BB962C8B-B14F-4D97-AF65-F5344CB8AC3E}">
        <p14:creationId xmlns:p14="http://schemas.microsoft.com/office/powerpoint/2010/main" val="3075810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69BC3-9705-CC4F-A5AD-6B9F7BB4ABFB}"/>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A145F247-6AEA-0A48-A6AE-DDC3E81D1CD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809C6F4-C6F9-9943-9437-71F14578F057}"/>
              </a:ext>
            </a:extLst>
          </p:cNvPr>
          <p:cNvSpPr>
            <a:spLocks noGrp="1"/>
          </p:cNvSpPr>
          <p:nvPr>
            <p:ph type="dt" sz="half" idx="10"/>
          </p:nvPr>
        </p:nvSpPr>
        <p:spPr/>
        <p:txBody>
          <a:bodyPr/>
          <a:lstStyle/>
          <a:p>
            <a:fld id="{655279B8-D8A5-FA41-919E-318ACC503F53}" type="datetimeFigureOut">
              <a:rPr lang="en-GB" smtClean="0"/>
              <a:t>15/10/2020</a:t>
            </a:fld>
            <a:endParaRPr lang="en-GB"/>
          </a:p>
        </p:txBody>
      </p:sp>
      <p:sp>
        <p:nvSpPr>
          <p:cNvPr id="5" name="Footer Placeholder 4">
            <a:extLst>
              <a:ext uri="{FF2B5EF4-FFF2-40B4-BE49-F238E27FC236}">
                <a16:creationId xmlns:a16="http://schemas.microsoft.com/office/drawing/2014/main" id="{3DF6C017-78EA-8C4B-8F94-311A5703A24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A0CB581-AF2B-F04A-968D-7923FBCC0357}"/>
              </a:ext>
            </a:extLst>
          </p:cNvPr>
          <p:cNvSpPr>
            <a:spLocks noGrp="1"/>
          </p:cNvSpPr>
          <p:nvPr>
            <p:ph type="sldNum" sz="quarter" idx="12"/>
          </p:nvPr>
        </p:nvSpPr>
        <p:spPr/>
        <p:txBody>
          <a:bodyPr/>
          <a:lstStyle/>
          <a:p>
            <a:fld id="{E118163A-8F58-1F4A-990F-CDE20ECBBC0A}" type="slidenum">
              <a:rPr lang="en-GB" smtClean="0"/>
              <a:t>‹#›</a:t>
            </a:fld>
            <a:endParaRPr lang="en-GB"/>
          </a:p>
        </p:txBody>
      </p:sp>
    </p:spTree>
    <p:extLst>
      <p:ext uri="{BB962C8B-B14F-4D97-AF65-F5344CB8AC3E}">
        <p14:creationId xmlns:p14="http://schemas.microsoft.com/office/powerpoint/2010/main" val="1332952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83291-47F5-BA48-970F-F6157F490471}"/>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3942BCB-9013-5345-8B5E-077F34C9D6B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FE6F5850-A71E-8044-947E-463DFC1D0D0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7B0DC28A-BD0E-1944-8DF7-00E959C7973C}"/>
              </a:ext>
            </a:extLst>
          </p:cNvPr>
          <p:cNvSpPr>
            <a:spLocks noGrp="1"/>
          </p:cNvSpPr>
          <p:nvPr>
            <p:ph type="dt" sz="half" idx="10"/>
          </p:nvPr>
        </p:nvSpPr>
        <p:spPr/>
        <p:txBody>
          <a:bodyPr/>
          <a:lstStyle/>
          <a:p>
            <a:fld id="{655279B8-D8A5-FA41-919E-318ACC503F53}" type="datetimeFigureOut">
              <a:rPr lang="en-GB" smtClean="0"/>
              <a:t>15/10/2020</a:t>
            </a:fld>
            <a:endParaRPr lang="en-GB"/>
          </a:p>
        </p:txBody>
      </p:sp>
      <p:sp>
        <p:nvSpPr>
          <p:cNvPr id="6" name="Footer Placeholder 5">
            <a:extLst>
              <a:ext uri="{FF2B5EF4-FFF2-40B4-BE49-F238E27FC236}">
                <a16:creationId xmlns:a16="http://schemas.microsoft.com/office/drawing/2014/main" id="{04612E8C-8666-0B4F-B448-8F64DF6BDBE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0BB1F4F-9F41-7A47-8C7F-5293489952C2}"/>
              </a:ext>
            </a:extLst>
          </p:cNvPr>
          <p:cNvSpPr>
            <a:spLocks noGrp="1"/>
          </p:cNvSpPr>
          <p:nvPr>
            <p:ph type="sldNum" sz="quarter" idx="12"/>
          </p:nvPr>
        </p:nvSpPr>
        <p:spPr/>
        <p:txBody>
          <a:bodyPr/>
          <a:lstStyle/>
          <a:p>
            <a:fld id="{E118163A-8F58-1F4A-990F-CDE20ECBBC0A}" type="slidenum">
              <a:rPr lang="en-GB" smtClean="0"/>
              <a:t>‹#›</a:t>
            </a:fld>
            <a:endParaRPr lang="en-GB"/>
          </a:p>
        </p:txBody>
      </p:sp>
    </p:spTree>
    <p:extLst>
      <p:ext uri="{BB962C8B-B14F-4D97-AF65-F5344CB8AC3E}">
        <p14:creationId xmlns:p14="http://schemas.microsoft.com/office/powerpoint/2010/main" val="1097503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CBCCA-FAF8-5144-89C8-E1ACC759CD83}"/>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9BFA5CCF-9DC6-6442-8C0F-918E22F6B7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1495B4C-6EA3-6445-8931-E4E5799D455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CC4505DE-AAD7-944A-B587-8C5E4A802C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521C7A0B-D49F-8046-9008-5B7697C01D5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12E0AB74-2E45-7C49-8444-1599292E4AED}"/>
              </a:ext>
            </a:extLst>
          </p:cNvPr>
          <p:cNvSpPr>
            <a:spLocks noGrp="1"/>
          </p:cNvSpPr>
          <p:nvPr>
            <p:ph type="dt" sz="half" idx="10"/>
          </p:nvPr>
        </p:nvSpPr>
        <p:spPr/>
        <p:txBody>
          <a:bodyPr/>
          <a:lstStyle/>
          <a:p>
            <a:fld id="{655279B8-D8A5-FA41-919E-318ACC503F53}" type="datetimeFigureOut">
              <a:rPr lang="en-GB" smtClean="0"/>
              <a:t>15/10/2020</a:t>
            </a:fld>
            <a:endParaRPr lang="en-GB"/>
          </a:p>
        </p:txBody>
      </p:sp>
      <p:sp>
        <p:nvSpPr>
          <p:cNvPr id="8" name="Footer Placeholder 7">
            <a:extLst>
              <a:ext uri="{FF2B5EF4-FFF2-40B4-BE49-F238E27FC236}">
                <a16:creationId xmlns:a16="http://schemas.microsoft.com/office/drawing/2014/main" id="{C22A95C7-DFEA-C346-A0C6-840AEB85AC53}"/>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7AD0F7C-0CD8-7245-B3F7-39FB7ED1E88A}"/>
              </a:ext>
            </a:extLst>
          </p:cNvPr>
          <p:cNvSpPr>
            <a:spLocks noGrp="1"/>
          </p:cNvSpPr>
          <p:nvPr>
            <p:ph type="sldNum" sz="quarter" idx="12"/>
          </p:nvPr>
        </p:nvSpPr>
        <p:spPr/>
        <p:txBody>
          <a:bodyPr/>
          <a:lstStyle/>
          <a:p>
            <a:fld id="{E118163A-8F58-1F4A-990F-CDE20ECBBC0A}" type="slidenum">
              <a:rPr lang="en-GB" smtClean="0"/>
              <a:t>‹#›</a:t>
            </a:fld>
            <a:endParaRPr lang="en-GB"/>
          </a:p>
        </p:txBody>
      </p:sp>
    </p:spTree>
    <p:extLst>
      <p:ext uri="{BB962C8B-B14F-4D97-AF65-F5344CB8AC3E}">
        <p14:creationId xmlns:p14="http://schemas.microsoft.com/office/powerpoint/2010/main" val="2450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D8DF9-6620-E64E-A0A6-42A2AF18193D}"/>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546911ED-D1A3-A648-9E3A-733AB5AE379F}"/>
              </a:ext>
            </a:extLst>
          </p:cNvPr>
          <p:cNvSpPr>
            <a:spLocks noGrp="1"/>
          </p:cNvSpPr>
          <p:nvPr>
            <p:ph type="dt" sz="half" idx="10"/>
          </p:nvPr>
        </p:nvSpPr>
        <p:spPr/>
        <p:txBody>
          <a:bodyPr/>
          <a:lstStyle/>
          <a:p>
            <a:fld id="{655279B8-D8A5-FA41-919E-318ACC503F53}" type="datetimeFigureOut">
              <a:rPr lang="en-GB" smtClean="0"/>
              <a:t>15/10/2020</a:t>
            </a:fld>
            <a:endParaRPr lang="en-GB"/>
          </a:p>
        </p:txBody>
      </p:sp>
      <p:sp>
        <p:nvSpPr>
          <p:cNvPr id="4" name="Footer Placeholder 3">
            <a:extLst>
              <a:ext uri="{FF2B5EF4-FFF2-40B4-BE49-F238E27FC236}">
                <a16:creationId xmlns:a16="http://schemas.microsoft.com/office/drawing/2014/main" id="{42635AB5-279B-FF48-A2BC-2C16E4326F2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6B63831-26C0-4A44-BB3D-B54EF4851BA5}"/>
              </a:ext>
            </a:extLst>
          </p:cNvPr>
          <p:cNvSpPr>
            <a:spLocks noGrp="1"/>
          </p:cNvSpPr>
          <p:nvPr>
            <p:ph type="sldNum" sz="quarter" idx="12"/>
          </p:nvPr>
        </p:nvSpPr>
        <p:spPr/>
        <p:txBody>
          <a:bodyPr/>
          <a:lstStyle/>
          <a:p>
            <a:fld id="{E118163A-8F58-1F4A-990F-CDE20ECBBC0A}" type="slidenum">
              <a:rPr lang="en-GB" smtClean="0"/>
              <a:t>‹#›</a:t>
            </a:fld>
            <a:endParaRPr lang="en-GB"/>
          </a:p>
        </p:txBody>
      </p:sp>
    </p:spTree>
    <p:extLst>
      <p:ext uri="{BB962C8B-B14F-4D97-AF65-F5344CB8AC3E}">
        <p14:creationId xmlns:p14="http://schemas.microsoft.com/office/powerpoint/2010/main" val="3671235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4DB2C1A-0BE8-3E4D-B196-4F198459B383}"/>
              </a:ext>
            </a:extLst>
          </p:cNvPr>
          <p:cNvSpPr>
            <a:spLocks noGrp="1"/>
          </p:cNvSpPr>
          <p:nvPr>
            <p:ph type="dt" sz="half" idx="10"/>
          </p:nvPr>
        </p:nvSpPr>
        <p:spPr/>
        <p:txBody>
          <a:bodyPr/>
          <a:lstStyle/>
          <a:p>
            <a:fld id="{655279B8-D8A5-FA41-919E-318ACC503F53}" type="datetimeFigureOut">
              <a:rPr lang="en-GB" smtClean="0"/>
              <a:t>15/10/2020</a:t>
            </a:fld>
            <a:endParaRPr lang="en-GB"/>
          </a:p>
        </p:txBody>
      </p:sp>
      <p:sp>
        <p:nvSpPr>
          <p:cNvPr id="3" name="Footer Placeholder 2">
            <a:extLst>
              <a:ext uri="{FF2B5EF4-FFF2-40B4-BE49-F238E27FC236}">
                <a16:creationId xmlns:a16="http://schemas.microsoft.com/office/drawing/2014/main" id="{CB2E28D1-7018-A746-9E66-2ED157679C8E}"/>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B1F88BB-36CC-E943-B6D1-C70771906F47}"/>
              </a:ext>
            </a:extLst>
          </p:cNvPr>
          <p:cNvSpPr>
            <a:spLocks noGrp="1"/>
          </p:cNvSpPr>
          <p:nvPr>
            <p:ph type="sldNum" sz="quarter" idx="12"/>
          </p:nvPr>
        </p:nvSpPr>
        <p:spPr/>
        <p:txBody>
          <a:bodyPr/>
          <a:lstStyle/>
          <a:p>
            <a:fld id="{E118163A-8F58-1F4A-990F-CDE20ECBBC0A}" type="slidenum">
              <a:rPr lang="en-GB" smtClean="0"/>
              <a:t>‹#›</a:t>
            </a:fld>
            <a:endParaRPr lang="en-GB"/>
          </a:p>
        </p:txBody>
      </p:sp>
    </p:spTree>
    <p:extLst>
      <p:ext uri="{BB962C8B-B14F-4D97-AF65-F5344CB8AC3E}">
        <p14:creationId xmlns:p14="http://schemas.microsoft.com/office/powerpoint/2010/main" val="3916945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77751-FB89-F841-B560-9D197BFB641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9F0B107F-C5C4-AC42-AA18-62B4A88B88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2E8FFB26-83BA-694F-B38F-50B6DE532A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D5CD2CB-BF9B-934C-9ED8-A4EE2150D228}"/>
              </a:ext>
            </a:extLst>
          </p:cNvPr>
          <p:cNvSpPr>
            <a:spLocks noGrp="1"/>
          </p:cNvSpPr>
          <p:nvPr>
            <p:ph type="dt" sz="half" idx="10"/>
          </p:nvPr>
        </p:nvSpPr>
        <p:spPr/>
        <p:txBody>
          <a:bodyPr/>
          <a:lstStyle/>
          <a:p>
            <a:fld id="{655279B8-D8A5-FA41-919E-318ACC503F53}" type="datetimeFigureOut">
              <a:rPr lang="en-GB" smtClean="0"/>
              <a:t>15/10/2020</a:t>
            </a:fld>
            <a:endParaRPr lang="en-GB"/>
          </a:p>
        </p:txBody>
      </p:sp>
      <p:sp>
        <p:nvSpPr>
          <p:cNvPr id="6" name="Footer Placeholder 5">
            <a:extLst>
              <a:ext uri="{FF2B5EF4-FFF2-40B4-BE49-F238E27FC236}">
                <a16:creationId xmlns:a16="http://schemas.microsoft.com/office/drawing/2014/main" id="{5E5AC61E-C78B-9A4A-8CFC-FD5A9DCD75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1FB556E-213B-0A4D-8BDD-1A86DAA11849}"/>
              </a:ext>
            </a:extLst>
          </p:cNvPr>
          <p:cNvSpPr>
            <a:spLocks noGrp="1"/>
          </p:cNvSpPr>
          <p:nvPr>
            <p:ph type="sldNum" sz="quarter" idx="12"/>
          </p:nvPr>
        </p:nvSpPr>
        <p:spPr/>
        <p:txBody>
          <a:bodyPr/>
          <a:lstStyle/>
          <a:p>
            <a:fld id="{E118163A-8F58-1F4A-990F-CDE20ECBBC0A}" type="slidenum">
              <a:rPr lang="en-GB" smtClean="0"/>
              <a:t>‹#›</a:t>
            </a:fld>
            <a:endParaRPr lang="en-GB"/>
          </a:p>
        </p:txBody>
      </p:sp>
    </p:spTree>
    <p:extLst>
      <p:ext uri="{BB962C8B-B14F-4D97-AF65-F5344CB8AC3E}">
        <p14:creationId xmlns:p14="http://schemas.microsoft.com/office/powerpoint/2010/main" val="4073529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41B4E-444A-3948-9F31-4F0FB094EF2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63E9B055-CF53-6D46-8CF9-2867F0686C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7A4338D-F8AD-C647-8BE3-0AE3717A1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ED264A6-DCBB-3148-B231-508D08258903}"/>
              </a:ext>
            </a:extLst>
          </p:cNvPr>
          <p:cNvSpPr>
            <a:spLocks noGrp="1"/>
          </p:cNvSpPr>
          <p:nvPr>
            <p:ph type="dt" sz="half" idx="10"/>
          </p:nvPr>
        </p:nvSpPr>
        <p:spPr/>
        <p:txBody>
          <a:bodyPr/>
          <a:lstStyle/>
          <a:p>
            <a:fld id="{655279B8-D8A5-FA41-919E-318ACC503F53}" type="datetimeFigureOut">
              <a:rPr lang="en-GB" smtClean="0"/>
              <a:t>15/10/2020</a:t>
            </a:fld>
            <a:endParaRPr lang="en-GB"/>
          </a:p>
        </p:txBody>
      </p:sp>
      <p:sp>
        <p:nvSpPr>
          <p:cNvPr id="6" name="Footer Placeholder 5">
            <a:extLst>
              <a:ext uri="{FF2B5EF4-FFF2-40B4-BE49-F238E27FC236}">
                <a16:creationId xmlns:a16="http://schemas.microsoft.com/office/drawing/2014/main" id="{E3F3C53E-53FD-D74C-BC12-7FADAECB644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9A6FAFA-D117-834A-8369-1C5331E16619}"/>
              </a:ext>
            </a:extLst>
          </p:cNvPr>
          <p:cNvSpPr>
            <a:spLocks noGrp="1"/>
          </p:cNvSpPr>
          <p:nvPr>
            <p:ph type="sldNum" sz="quarter" idx="12"/>
          </p:nvPr>
        </p:nvSpPr>
        <p:spPr/>
        <p:txBody>
          <a:bodyPr/>
          <a:lstStyle/>
          <a:p>
            <a:fld id="{E118163A-8F58-1F4A-990F-CDE20ECBBC0A}" type="slidenum">
              <a:rPr lang="en-GB" smtClean="0"/>
              <a:t>‹#›</a:t>
            </a:fld>
            <a:endParaRPr lang="en-GB"/>
          </a:p>
        </p:txBody>
      </p:sp>
    </p:spTree>
    <p:extLst>
      <p:ext uri="{BB962C8B-B14F-4D97-AF65-F5344CB8AC3E}">
        <p14:creationId xmlns:p14="http://schemas.microsoft.com/office/powerpoint/2010/main" val="25662886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3C8B9-6591-384C-9294-CEA6B0C07826}"/>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4E59F368-0872-EF41-9E1E-11A59B8AB45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848F62C-03AB-A945-9FDF-9326A4907805}"/>
              </a:ext>
            </a:extLst>
          </p:cNvPr>
          <p:cNvSpPr>
            <a:spLocks noGrp="1"/>
          </p:cNvSpPr>
          <p:nvPr>
            <p:ph type="dt" sz="half" idx="10"/>
          </p:nvPr>
        </p:nvSpPr>
        <p:spPr/>
        <p:txBody>
          <a:bodyPr/>
          <a:lstStyle/>
          <a:p>
            <a:fld id="{655279B8-D8A5-FA41-919E-318ACC503F53}" type="datetimeFigureOut">
              <a:rPr lang="en-GB" smtClean="0"/>
              <a:t>15/10/2020</a:t>
            </a:fld>
            <a:endParaRPr lang="en-GB"/>
          </a:p>
        </p:txBody>
      </p:sp>
      <p:sp>
        <p:nvSpPr>
          <p:cNvPr id="5" name="Footer Placeholder 4">
            <a:extLst>
              <a:ext uri="{FF2B5EF4-FFF2-40B4-BE49-F238E27FC236}">
                <a16:creationId xmlns:a16="http://schemas.microsoft.com/office/drawing/2014/main" id="{F88E2597-C012-894A-9EC3-4F0B59EED03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0292D88-0D84-9441-AD8E-E086C38F05EC}"/>
              </a:ext>
            </a:extLst>
          </p:cNvPr>
          <p:cNvSpPr>
            <a:spLocks noGrp="1"/>
          </p:cNvSpPr>
          <p:nvPr>
            <p:ph type="sldNum" sz="quarter" idx="12"/>
          </p:nvPr>
        </p:nvSpPr>
        <p:spPr/>
        <p:txBody>
          <a:bodyPr/>
          <a:lstStyle/>
          <a:p>
            <a:fld id="{E118163A-8F58-1F4A-990F-CDE20ECBBC0A}" type="slidenum">
              <a:rPr lang="en-GB" smtClean="0"/>
              <a:t>‹#›</a:t>
            </a:fld>
            <a:endParaRPr lang="en-GB"/>
          </a:p>
        </p:txBody>
      </p:sp>
    </p:spTree>
    <p:extLst>
      <p:ext uri="{BB962C8B-B14F-4D97-AF65-F5344CB8AC3E}">
        <p14:creationId xmlns:p14="http://schemas.microsoft.com/office/powerpoint/2010/main" val="24559223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A252D0-8504-134B-A934-ED5D246EBE96}"/>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B918C75F-2764-234C-B4B9-D5436148F685}"/>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18D7783-D1A7-BB48-9EAF-7C8564AEE1E1}"/>
              </a:ext>
            </a:extLst>
          </p:cNvPr>
          <p:cNvSpPr>
            <a:spLocks noGrp="1"/>
          </p:cNvSpPr>
          <p:nvPr>
            <p:ph type="dt" sz="half" idx="10"/>
          </p:nvPr>
        </p:nvSpPr>
        <p:spPr/>
        <p:txBody>
          <a:bodyPr/>
          <a:lstStyle/>
          <a:p>
            <a:fld id="{655279B8-D8A5-FA41-919E-318ACC503F53}" type="datetimeFigureOut">
              <a:rPr lang="en-GB" smtClean="0"/>
              <a:t>15/10/2020</a:t>
            </a:fld>
            <a:endParaRPr lang="en-GB"/>
          </a:p>
        </p:txBody>
      </p:sp>
      <p:sp>
        <p:nvSpPr>
          <p:cNvPr id="5" name="Footer Placeholder 4">
            <a:extLst>
              <a:ext uri="{FF2B5EF4-FFF2-40B4-BE49-F238E27FC236}">
                <a16:creationId xmlns:a16="http://schemas.microsoft.com/office/drawing/2014/main" id="{5E95BA00-3275-FC4D-A205-B41E2DE427A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72173DB-0BC6-C945-AEB9-6BE1CFFC219C}"/>
              </a:ext>
            </a:extLst>
          </p:cNvPr>
          <p:cNvSpPr>
            <a:spLocks noGrp="1"/>
          </p:cNvSpPr>
          <p:nvPr>
            <p:ph type="sldNum" sz="quarter" idx="12"/>
          </p:nvPr>
        </p:nvSpPr>
        <p:spPr/>
        <p:txBody>
          <a:bodyPr/>
          <a:lstStyle/>
          <a:p>
            <a:fld id="{E118163A-8F58-1F4A-990F-CDE20ECBBC0A}" type="slidenum">
              <a:rPr lang="en-GB" smtClean="0"/>
              <a:t>‹#›</a:t>
            </a:fld>
            <a:endParaRPr lang="en-GB"/>
          </a:p>
        </p:txBody>
      </p:sp>
    </p:spTree>
    <p:extLst>
      <p:ext uri="{BB962C8B-B14F-4D97-AF65-F5344CB8AC3E}">
        <p14:creationId xmlns:p14="http://schemas.microsoft.com/office/powerpoint/2010/main" val="1464627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89C827-0F1C-5C48-AB5B-5935E33408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880DF5D5-97BF-8E47-A257-615A3BF4CD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FBA21D3-FC6A-574B-8F84-A57A419915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5279B8-D8A5-FA41-919E-318ACC503F53}" type="datetimeFigureOut">
              <a:rPr lang="en-GB" smtClean="0"/>
              <a:t>15/10/2020</a:t>
            </a:fld>
            <a:endParaRPr lang="en-GB"/>
          </a:p>
        </p:txBody>
      </p:sp>
      <p:sp>
        <p:nvSpPr>
          <p:cNvPr id="5" name="Footer Placeholder 4">
            <a:extLst>
              <a:ext uri="{FF2B5EF4-FFF2-40B4-BE49-F238E27FC236}">
                <a16:creationId xmlns:a16="http://schemas.microsoft.com/office/drawing/2014/main" id="{644E4C81-1E00-0245-BDB0-DF24E4A7CE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83D54696-A37A-844E-B9B6-10B4660CD9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18163A-8F58-1F4A-990F-CDE20ECBBC0A}" type="slidenum">
              <a:rPr lang="en-GB" smtClean="0"/>
              <a:t>‹#›</a:t>
            </a:fld>
            <a:endParaRPr lang="en-GB"/>
          </a:p>
        </p:txBody>
      </p:sp>
    </p:spTree>
    <p:extLst>
      <p:ext uri="{BB962C8B-B14F-4D97-AF65-F5344CB8AC3E}">
        <p14:creationId xmlns:p14="http://schemas.microsoft.com/office/powerpoint/2010/main" val="2805660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0.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0.png"/><Relationship Id="rId1" Type="http://schemas.openxmlformats.org/officeDocument/2006/relationships/slideLayout" Target="../slideLayouts/slideLayout5.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22.png"/><Relationship Id="rId3" Type="http://schemas.openxmlformats.org/officeDocument/2006/relationships/image" Target="../media/image40.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0.png"/><Relationship Id="rId1" Type="http://schemas.openxmlformats.org/officeDocument/2006/relationships/slideLayout" Target="../slideLayouts/slideLayout5.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0.png"/><Relationship Id="rId7" Type="http://schemas.openxmlformats.org/officeDocument/2006/relationships/image" Target="../media/image7.png"/><Relationship Id="rId12" Type="http://schemas.openxmlformats.org/officeDocument/2006/relationships/image" Target="../media/image24.pn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23.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0.png"/><Relationship Id="rId9"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tif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EEABE-8B72-0449-923F-78525DDC3D4F}"/>
              </a:ext>
            </a:extLst>
          </p:cNvPr>
          <p:cNvSpPr>
            <a:spLocks noGrp="1"/>
          </p:cNvSpPr>
          <p:nvPr>
            <p:ph type="ctrTitle"/>
          </p:nvPr>
        </p:nvSpPr>
        <p:spPr/>
        <p:txBody>
          <a:bodyPr/>
          <a:lstStyle/>
          <a:p>
            <a:r>
              <a:rPr lang="en-GB" b="1" dirty="0"/>
              <a:t>Factor Analysis</a:t>
            </a:r>
          </a:p>
        </p:txBody>
      </p:sp>
      <p:sp>
        <p:nvSpPr>
          <p:cNvPr id="3" name="Subtitle 2">
            <a:extLst>
              <a:ext uri="{FF2B5EF4-FFF2-40B4-BE49-F238E27FC236}">
                <a16:creationId xmlns:a16="http://schemas.microsoft.com/office/drawing/2014/main" id="{E6CBCAB7-4CAB-A447-9EA2-64F5E25F56EC}"/>
              </a:ext>
            </a:extLst>
          </p:cNvPr>
          <p:cNvSpPr>
            <a:spLocks noGrp="1"/>
          </p:cNvSpPr>
          <p:nvPr>
            <p:ph type="subTitle" idx="1"/>
          </p:nvPr>
        </p:nvSpPr>
        <p:spPr/>
        <p:txBody>
          <a:bodyPr/>
          <a:lstStyle/>
          <a:p>
            <a:r>
              <a:rPr lang="en-GB" dirty="0"/>
              <a:t>Dr Quynh Nguyen</a:t>
            </a:r>
          </a:p>
          <a:p>
            <a:endParaRPr lang="en-GB" dirty="0"/>
          </a:p>
          <a:p>
            <a:r>
              <a:rPr lang="en-GB" dirty="0"/>
              <a:t>Part 1 – Introduction</a:t>
            </a:r>
          </a:p>
        </p:txBody>
      </p:sp>
    </p:spTree>
    <p:extLst>
      <p:ext uri="{BB962C8B-B14F-4D97-AF65-F5344CB8AC3E}">
        <p14:creationId xmlns:p14="http://schemas.microsoft.com/office/powerpoint/2010/main" val="2293824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30D16-3C53-364B-AE3D-5DF9B09621EF}"/>
              </a:ext>
            </a:extLst>
          </p:cNvPr>
          <p:cNvSpPr>
            <a:spLocks noGrp="1"/>
          </p:cNvSpPr>
          <p:nvPr>
            <p:ph type="title"/>
          </p:nvPr>
        </p:nvSpPr>
        <p:spPr/>
        <p:txBody>
          <a:bodyPr/>
          <a:lstStyle/>
          <a:p>
            <a:r>
              <a:rPr lang="en-GB" b="1" dirty="0"/>
              <a:t>Objectives</a:t>
            </a:r>
          </a:p>
        </p:txBody>
      </p:sp>
      <p:sp>
        <p:nvSpPr>
          <p:cNvPr id="3" name="Content Placeholder 2">
            <a:extLst>
              <a:ext uri="{FF2B5EF4-FFF2-40B4-BE49-F238E27FC236}">
                <a16:creationId xmlns:a16="http://schemas.microsoft.com/office/drawing/2014/main" id="{844D25D5-101F-8B4B-B44B-4BF0BF3B9130}"/>
              </a:ext>
            </a:extLst>
          </p:cNvPr>
          <p:cNvSpPr>
            <a:spLocks noGrp="1"/>
          </p:cNvSpPr>
          <p:nvPr>
            <p:ph idx="1"/>
          </p:nvPr>
        </p:nvSpPr>
        <p:spPr/>
        <p:txBody>
          <a:bodyPr/>
          <a:lstStyle/>
          <a:p>
            <a:r>
              <a:rPr lang="en-GB" dirty="0"/>
              <a:t>Notations and Terminology</a:t>
            </a:r>
          </a:p>
          <a:p>
            <a:r>
              <a:rPr lang="en-GB" dirty="0"/>
              <a:t>Model Assumptions</a:t>
            </a:r>
          </a:p>
          <a:p>
            <a:r>
              <a:rPr lang="en-GB" dirty="0"/>
              <a:t>Model Representation </a:t>
            </a:r>
          </a:p>
          <a:p>
            <a:r>
              <a:rPr lang="en-GB" dirty="0"/>
              <a:t>Factor Rotations</a:t>
            </a:r>
          </a:p>
          <a:p>
            <a:endParaRPr lang="en-GB" dirty="0"/>
          </a:p>
        </p:txBody>
      </p:sp>
    </p:spTree>
    <p:extLst>
      <p:ext uri="{BB962C8B-B14F-4D97-AF65-F5344CB8AC3E}">
        <p14:creationId xmlns:p14="http://schemas.microsoft.com/office/powerpoint/2010/main" val="3020780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28094-36E2-B649-AE9A-B865CC7CBA9A}"/>
              </a:ext>
            </a:extLst>
          </p:cNvPr>
          <p:cNvSpPr>
            <a:spLocks noGrp="1"/>
          </p:cNvSpPr>
          <p:nvPr>
            <p:ph type="title"/>
          </p:nvPr>
        </p:nvSpPr>
        <p:spPr/>
        <p:txBody>
          <a:bodyPr/>
          <a:lstStyle/>
          <a:p>
            <a:r>
              <a:rPr lang="en-GB" dirty="0"/>
              <a:t>Multivariate Problems</a:t>
            </a:r>
          </a:p>
        </p:txBody>
      </p:sp>
      <p:sp>
        <p:nvSpPr>
          <p:cNvPr id="3" name="Content Placeholder 2">
            <a:extLst>
              <a:ext uri="{FF2B5EF4-FFF2-40B4-BE49-F238E27FC236}">
                <a16:creationId xmlns:a16="http://schemas.microsoft.com/office/drawing/2014/main" id="{DDE37D5B-5272-F14F-B39E-29BAF3826708}"/>
              </a:ext>
            </a:extLst>
          </p:cNvPr>
          <p:cNvSpPr>
            <a:spLocks noGrp="1"/>
          </p:cNvSpPr>
          <p:nvPr>
            <p:ph idx="1"/>
          </p:nvPr>
        </p:nvSpPr>
        <p:spPr/>
        <p:txBody>
          <a:bodyPr/>
          <a:lstStyle/>
          <a:p>
            <a:r>
              <a:rPr lang="en-GB" dirty="0"/>
              <a:t>In hypothesis testing, to use techniques based on the general linear model to produce variables that are orthogonal</a:t>
            </a:r>
          </a:p>
          <a:p>
            <a:r>
              <a:rPr lang="en-GB" dirty="0"/>
              <a:t>To compress a large number of variables into a smaller, more manageable dataset</a:t>
            </a:r>
          </a:p>
          <a:p>
            <a:r>
              <a:rPr lang="en-GB" dirty="0"/>
              <a:t>To identify latent variables in large data sets that are represented by highly correlated input variables</a:t>
            </a:r>
          </a:p>
        </p:txBody>
      </p:sp>
    </p:spTree>
    <p:extLst>
      <p:ext uri="{BB962C8B-B14F-4D97-AF65-F5344CB8AC3E}">
        <p14:creationId xmlns:p14="http://schemas.microsoft.com/office/powerpoint/2010/main" val="25218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Date Placeholder 3"/>
          <p:cNvSpPr>
            <a:spLocks noGrp="1"/>
          </p:cNvSpPr>
          <p:nvPr>
            <p:ph type="dt" sz="half" idx="4294967295"/>
          </p:nvPr>
        </p:nvSpPr>
        <p:spPr>
          <a:xfrm>
            <a:off x="1524000" y="6357959"/>
            <a:ext cx="857224" cy="365125"/>
          </a:xfrm>
          <a:prstGeom prst="rect">
            <a:avLst/>
          </a:prstGeom>
        </p:spPr>
        <p:txBody>
          <a:bodyPr/>
          <a:lstStyle/>
          <a:p>
            <a:r>
              <a:rPr lang="en-US"/>
              <a:t>Slide </a:t>
            </a:r>
            <a:fld id="{FE2BCE41-578B-4206-A4DD-72D28085D209}" type="slidenum">
              <a:rPr lang="en-US"/>
              <a:pPr/>
              <a:t>4</a:t>
            </a:fld>
            <a:endParaRPr lang="en-US"/>
          </a:p>
        </p:txBody>
      </p:sp>
      <p:sp>
        <p:nvSpPr>
          <p:cNvPr id="143364" name="Rectangle 4"/>
          <p:cNvSpPr>
            <a:spLocks noGrp="1" noChangeArrowheads="1"/>
          </p:cNvSpPr>
          <p:nvPr>
            <p:ph type="title"/>
          </p:nvPr>
        </p:nvSpPr>
        <p:spPr/>
        <p:txBody>
          <a:bodyPr/>
          <a:lstStyle/>
          <a:p>
            <a:r>
              <a:rPr lang="en-US"/>
              <a:t>Graphical Representation</a:t>
            </a:r>
          </a:p>
        </p:txBody>
      </p:sp>
      <p:pic>
        <p:nvPicPr>
          <p:cNvPr id="3" name="Content Placeholder 2"/>
          <p:cNvPicPr>
            <a:picLocks noGrp="1" noChangeAspect="1"/>
          </p:cNvPicPr>
          <p:nvPr>
            <p:ph idx="1"/>
          </p:nvPr>
        </p:nvPicPr>
        <p:blipFill>
          <a:blip r:embed="rId3"/>
          <a:srcRect t="2255" b="2255"/>
          <a:stretch>
            <a:fillRect/>
          </a:stretch>
        </p:blipFill>
        <p:spPr/>
      </p:pic>
    </p:spTree>
    <p:extLst>
      <p:ext uri="{BB962C8B-B14F-4D97-AF65-F5344CB8AC3E}">
        <p14:creationId xmlns:p14="http://schemas.microsoft.com/office/powerpoint/2010/main" val="306907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3364"/>
                                        </p:tgtEl>
                                        <p:attrNameLst>
                                          <p:attrName>style.visibility</p:attrName>
                                        </p:attrNameLst>
                                      </p:cBhvr>
                                      <p:to>
                                        <p:strVal val="visible"/>
                                      </p:to>
                                    </p:set>
                                    <p:animEffect transition="in" filter="dissolve">
                                      <p:cBhvr>
                                        <p:cTn id="7" dur="500"/>
                                        <p:tgtEl>
                                          <p:spTgt spid="1433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4"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D3C59-6F1E-FE4F-9D23-7F581AFE05B5}"/>
              </a:ext>
            </a:extLst>
          </p:cNvPr>
          <p:cNvSpPr>
            <a:spLocks noGrp="1"/>
          </p:cNvSpPr>
          <p:nvPr>
            <p:ph type="title"/>
          </p:nvPr>
        </p:nvSpPr>
        <p:spPr/>
        <p:txBody>
          <a:bodyPr/>
          <a:lstStyle/>
          <a:p>
            <a:r>
              <a:rPr lang="en-GB" b="1" dirty="0"/>
              <a:t>Factors and components</a:t>
            </a:r>
            <a:endParaRPr lang="en-GB" dirty="0"/>
          </a:p>
        </p:txBody>
      </p:sp>
      <p:sp>
        <p:nvSpPr>
          <p:cNvPr id="3" name="Content Placeholder 2">
            <a:extLst>
              <a:ext uri="{FF2B5EF4-FFF2-40B4-BE49-F238E27FC236}">
                <a16:creationId xmlns:a16="http://schemas.microsoft.com/office/drawing/2014/main" id="{7445CA80-2D35-5F4B-9182-CA53AC7C13B3}"/>
              </a:ext>
            </a:extLst>
          </p:cNvPr>
          <p:cNvSpPr>
            <a:spLocks noGrp="1"/>
          </p:cNvSpPr>
          <p:nvPr>
            <p:ph idx="1"/>
          </p:nvPr>
        </p:nvSpPr>
        <p:spPr>
          <a:xfrm>
            <a:off x="838200" y="1690688"/>
            <a:ext cx="10515600" cy="4674253"/>
          </a:xfrm>
        </p:spPr>
        <p:txBody>
          <a:bodyPr>
            <a:normAutofit fontScale="92500" lnSpcReduction="10000"/>
          </a:bodyPr>
          <a:lstStyle/>
          <a:p>
            <a:r>
              <a:rPr lang="en-GB" dirty="0"/>
              <a:t>Using factor analysis to find presence of latent variables, which explains the pattern of observed variables</a:t>
            </a:r>
          </a:p>
          <a:p>
            <a:r>
              <a:rPr lang="en-GB" dirty="0">
                <a:solidFill>
                  <a:srgbClr val="C00000"/>
                </a:solidFill>
              </a:rPr>
              <a:t>Latent</a:t>
            </a:r>
            <a:r>
              <a:rPr lang="en-GB" dirty="0"/>
              <a:t> factors are assumed to actually exist, but cannot be measured directly</a:t>
            </a:r>
          </a:p>
          <a:p>
            <a:r>
              <a:rPr lang="en-GB" dirty="0"/>
              <a:t>When you are not sure, how many latent variable exists for your latent factors and you want to check whether your models are correct or not, you conduct </a:t>
            </a:r>
            <a:r>
              <a:rPr lang="en-GB" dirty="0">
                <a:solidFill>
                  <a:srgbClr val="C00000"/>
                </a:solidFill>
              </a:rPr>
              <a:t>exploratory factor analysis </a:t>
            </a:r>
            <a:r>
              <a:rPr lang="en-GB" dirty="0"/>
              <a:t>(EFA) or </a:t>
            </a:r>
            <a:r>
              <a:rPr lang="en-GB" dirty="0">
                <a:solidFill>
                  <a:srgbClr val="C00000"/>
                </a:solidFill>
              </a:rPr>
              <a:t>common factor analysis</a:t>
            </a:r>
            <a:r>
              <a:rPr lang="en-GB" dirty="0"/>
              <a:t> </a:t>
            </a:r>
          </a:p>
          <a:p>
            <a:r>
              <a:rPr lang="en-GB" dirty="0"/>
              <a:t>When you have some guesses or models for your latent factors and you want to check whether your models are correct or not, you conduct </a:t>
            </a:r>
            <a:r>
              <a:rPr lang="en-GB" dirty="0">
                <a:solidFill>
                  <a:srgbClr val="C00000"/>
                </a:solidFill>
              </a:rPr>
              <a:t>confirmatory factor analysis </a:t>
            </a:r>
            <a:r>
              <a:rPr lang="en-GB" dirty="0"/>
              <a:t>(CFA)</a:t>
            </a:r>
          </a:p>
          <a:p>
            <a:r>
              <a:rPr lang="en-GB" dirty="0"/>
              <a:t>Factor analysis assumes the normality of the data, try not to use  binary data</a:t>
            </a:r>
          </a:p>
          <a:p>
            <a:endParaRPr lang="en-GB" dirty="0"/>
          </a:p>
        </p:txBody>
      </p:sp>
    </p:spTree>
    <p:extLst>
      <p:ext uri="{BB962C8B-B14F-4D97-AF65-F5344CB8AC3E}">
        <p14:creationId xmlns:p14="http://schemas.microsoft.com/office/powerpoint/2010/main" val="1452489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E30D8-6994-424A-9BBD-983A0B5F5908}"/>
              </a:ext>
            </a:extLst>
          </p:cNvPr>
          <p:cNvSpPr>
            <a:spLocks noGrp="1"/>
          </p:cNvSpPr>
          <p:nvPr>
            <p:ph type="title"/>
          </p:nvPr>
        </p:nvSpPr>
        <p:spPr/>
        <p:txBody>
          <a:bodyPr/>
          <a:lstStyle/>
          <a:p>
            <a:r>
              <a:rPr lang="en-GB" dirty="0"/>
              <a:t>A original story of how FA came about - Measuring the Unmeasurable</a:t>
            </a:r>
          </a:p>
        </p:txBody>
      </p:sp>
      <p:sp>
        <p:nvSpPr>
          <p:cNvPr id="3" name="Content Placeholder 2">
            <a:extLst>
              <a:ext uri="{FF2B5EF4-FFF2-40B4-BE49-F238E27FC236}">
                <a16:creationId xmlns:a16="http://schemas.microsoft.com/office/drawing/2014/main" id="{6F49278F-4C58-D341-A15E-4715ED81EEA4}"/>
              </a:ext>
            </a:extLst>
          </p:cNvPr>
          <p:cNvSpPr>
            <a:spLocks noGrp="1"/>
          </p:cNvSpPr>
          <p:nvPr>
            <p:ph idx="1"/>
          </p:nvPr>
        </p:nvSpPr>
        <p:spPr/>
        <p:txBody>
          <a:bodyPr>
            <a:normAutofit fontScale="92500" lnSpcReduction="20000"/>
          </a:bodyPr>
          <a:lstStyle/>
          <a:p>
            <a:r>
              <a:rPr lang="en-GB" dirty="0"/>
              <a:t>In 1904, Charles Spearman, a British psychologist, proposed his “single factor” theory of intelligence.</a:t>
            </a:r>
          </a:p>
          <a:p>
            <a:r>
              <a:rPr lang="en-GB" dirty="0"/>
              <a:t>Spearman sought to explain the relationships among various measures of mental ability by means of a single (underlying) ability, which he called general intelligence, or “g”.</a:t>
            </a:r>
          </a:p>
          <a:p>
            <a:r>
              <a:rPr lang="en-GB" dirty="0"/>
              <a:t>Spearman believed that “g” was the common thread underlying performance on all tests of mental ability.</a:t>
            </a:r>
          </a:p>
          <a:p>
            <a:r>
              <a:rPr lang="en-GB" dirty="0"/>
              <a:t>In his view, each mental test tapped a general mental ability and a specific ability.</a:t>
            </a:r>
          </a:p>
          <a:p>
            <a:r>
              <a:rPr lang="en-GB" dirty="0"/>
              <a:t>Spearman’s g was a “latent” variable, in the sense that there did not exist independent operations and criteria for measuring it.</a:t>
            </a:r>
          </a:p>
          <a:p>
            <a:r>
              <a:rPr lang="en-GB" dirty="0"/>
              <a:t>Spearman postulated that g existed, even though it was only evidenced indirectly by the battery of mental ability tests.</a:t>
            </a:r>
          </a:p>
          <a:p>
            <a:endParaRPr lang="en-GB" dirty="0"/>
          </a:p>
          <a:p>
            <a:endParaRPr lang="en-GB" dirty="0"/>
          </a:p>
        </p:txBody>
      </p:sp>
    </p:spTree>
    <p:extLst>
      <p:ext uri="{BB962C8B-B14F-4D97-AF65-F5344CB8AC3E}">
        <p14:creationId xmlns:p14="http://schemas.microsoft.com/office/powerpoint/2010/main" val="1747364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3702A-718B-3548-B5F7-5B16C83FC6C8}"/>
              </a:ext>
            </a:extLst>
          </p:cNvPr>
          <p:cNvSpPr>
            <a:spLocks noGrp="1"/>
          </p:cNvSpPr>
          <p:nvPr>
            <p:ph type="title"/>
          </p:nvPr>
        </p:nvSpPr>
        <p:spPr/>
        <p:txBody>
          <a:bodyPr/>
          <a:lstStyle/>
          <a:p>
            <a:r>
              <a:rPr lang="en-GB" b="1" dirty="0"/>
              <a:t>PCA vs FA</a:t>
            </a:r>
            <a:endParaRPr lang="en-GB" dirty="0"/>
          </a:p>
        </p:txBody>
      </p:sp>
      <p:pic>
        <p:nvPicPr>
          <p:cNvPr id="12" name="Picture 11">
            <a:extLst>
              <a:ext uri="{FF2B5EF4-FFF2-40B4-BE49-F238E27FC236}">
                <a16:creationId xmlns:a16="http://schemas.microsoft.com/office/drawing/2014/main" id="{C80EE61F-E97F-614F-A104-B93BB94901CD}"/>
              </a:ext>
            </a:extLst>
          </p:cNvPr>
          <p:cNvPicPr>
            <a:picLocks noChangeAspect="1"/>
          </p:cNvPicPr>
          <p:nvPr/>
        </p:nvPicPr>
        <p:blipFill>
          <a:blip r:embed="rId2"/>
          <a:stretch>
            <a:fillRect/>
          </a:stretch>
        </p:blipFill>
        <p:spPr>
          <a:xfrm>
            <a:off x="4376896" y="365125"/>
            <a:ext cx="7551335" cy="3790953"/>
          </a:xfrm>
          <a:prstGeom prst="rect">
            <a:avLst/>
          </a:prstGeom>
        </p:spPr>
      </p:pic>
      <p:sp>
        <p:nvSpPr>
          <p:cNvPr id="17" name="TextBox 16">
            <a:extLst>
              <a:ext uri="{FF2B5EF4-FFF2-40B4-BE49-F238E27FC236}">
                <a16:creationId xmlns:a16="http://schemas.microsoft.com/office/drawing/2014/main" id="{EE0A7E12-9145-5C4A-B48E-F7C4C72B5043}"/>
              </a:ext>
            </a:extLst>
          </p:cNvPr>
          <p:cNvSpPr txBox="1"/>
          <p:nvPr/>
        </p:nvSpPr>
        <p:spPr>
          <a:xfrm>
            <a:off x="4861727" y="4226613"/>
            <a:ext cx="6807757" cy="2585323"/>
          </a:xfrm>
          <a:prstGeom prst="rect">
            <a:avLst/>
          </a:prstGeom>
          <a:noFill/>
        </p:spPr>
        <p:txBody>
          <a:bodyPr wrap="square" rtlCol="0">
            <a:spAutoFit/>
          </a:bodyPr>
          <a:lstStyle/>
          <a:p>
            <a:r>
              <a:rPr lang="en-GB" dirty="0"/>
              <a:t>The diagrams show the observed variables (X1 to X5), the principal components (PC1, PC2),  factors (F1, F2), and errors (e1 to e5). </a:t>
            </a:r>
          </a:p>
          <a:p>
            <a:r>
              <a:rPr lang="en-GB" dirty="0"/>
              <a:t>PCA is not testable measurement model, because how do we know if we have combined stuff correctly?</a:t>
            </a:r>
          </a:p>
          <a:p>
            <a:r>
              <a:rPr lang="en-GB" dirty="0"/>
              <a:t>FA is a testable measure model, because we are trying to predict the observed covariances between indicators by creating factor – </a:t>
            </a:r>
            <a:r>
              <a:rPr lang="en-GB" b="1" u="sng" dirty="0"/>
              <a:t>the factor is the reason for the covariance</a:t>
            </a:r>
            <a:r>
              <a:rPr lang="en-GB" dirty="0"/>
              <a:t>.</a:t>
            </a:r>
          </a:p>
          <a:p>
            <a:endParaRPr lang="en-GB" b="1" dirty="0"/>
          </a:p>
          <a:p>
            <a:endParaRPr lang="en-GB" dirty="0"/>
          </a:p>
        </p:txBody>
      </p:sp>
      <p:sp>
        <p:nvSpPr>
          <p:cNvPr id="18" name="TextBox 17">
            <a:extLst>
              <a:ext uri="{FF2B5EF4-FFF2-40B4-BE49-F238E27FC236}">
                <a16:creationId xmlns:a16="http://schemas.microsoft.com/office/drawing/2014/main" id="{12ABB1FE-3237-D040-B489-7482A3B99B9F}"/>
              </a:ext>
            </a:extLst>
          </p:cNvPr>
          <p:cNvSpPr txBox="1"/>
          <p:nvPr/>
        </p:nvSpPr>
        <p:spPr>
          <a:xfrm>
            <a:off x="522516" y="1733623"/>
            <a:ext cx="3516922" cy="3693319"/>
          </a:xfrm>
          <a:prstGeom prst="rect">
            <a:avLst/>
          </a:prstGeom>
          <a:noFill/>
        </p:spPr>
        <p:txBody>
          <a:bodyPr wrap="square" rtlCol="0">
            <a:spAutoFit/>
          </a:bodyPr>
          <a:lstStyle/>
          <a:p>
            <a:pPr marL="285750" indent="-285750">
              <a:buFont typeface="Arial" panose="020B0604020202020204" pitchFamily="34" charset="0"/>
              <a:buChar char="•"/>
            </a:pPr>
            <a:r>
              <a:rPr lang="en-GB" dirty="0"/>
              <a:t>Use PCA to reduce the data into a smaller number of components. </a:t>
            </a:r>
          </a:p>
          <a:p>
            <a:pPr marL="285750" indent="-285750">
              <a:buFont typeface="Arial" panose="020B0604020202020204" pitchFamily="34" charset="0"/>
              <a:buChar char="•"/>
            </a:pPr>
            <a:r>
              <a:rPr lang="en-GB" dirty="0"/>
              <a:t>Use FA to understand what constructs underlie the data.</a:t>
            </a:r>
          </a:p>
          <a:p>
            <a:pPr marL="285750" indent="-285750">
              <a:buFont typeface="Arial" panose="020B0604020202020204" pitchFamily="34" charset="0"/>
              <a:buChar char="•"/>
            </a:pPr>
            <a:r>
              <a:rPr lang="en-GB" dirty="0"/>
              <a:t>In PCA analysis, the goal is to explain as much of </a:t>
            </a:r>
            <a:r>
              <a:rPr lang="en-GB" u="sng" dirty="0"/>
              <a:t>the total variance </a:t>
            </a:r>
            <a:r>
              <a:rPr lang="en-GB" dirty="0"/>
              <a:t>in the variables as possible. </a:t>
            </a:r>
          </a:p>
          <a:p>
            <a:pPr marL="285750" indent="-285750">
              <a:buFont typeface="Arial" panose="020B0604020202020204" pitchFamily="34" charset="0"/>
              <a:buChar char="•"/>
            </a:pPr>
            <a:r>
              <a:rPr lang="en-GB" dirty="0"/>
              <a:t>In FA, the goal is to explain </a:t>
            </a:r>
            <a:r>
              <a:rPr lang="en-GB" u="sng" dirty="0"/>
              <a:t>the covariances or correlations </a:t>
            </a:r>
            <a:r>
              <a:rPr lang="en-GB" dirty="0"/>
              <a:t>between the variables.</a:t>
            </a:r>
          </a:p>
          <a:p>
            <a:endParaRPr lang="en-GB" dirty="0"/>
          </a:p>
        </p:txBody>
      </p:sp>
    </p:spTree>
    <p:extLst>
      <p:ext uri="{BB962C8B-B14F-4D97-AF65-F5344CB8AC3E}">
        <p14:creationId xmlns:p14="http://schemas.microsoft.com/office/powerpoint/2010/main" val="2573720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ew Course: Factor Analysis in R - DataCamp">
            <a:extLst>
              <a:ext uri="{FF2B5EF4-FFF2-40B4-BE49-F238E27FC236}">
                <a16:creationId xmlns:a16="http://schemas.microsoft.com/office/drawing/2014/main" id="{413DB4F9-29B8-6244-9DD7-1BD1397E85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428" y="734617"/>
            <a:ext cx="4324145" cy="559625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actor Analysis Path Diagram">
            <a:extLst>
              <a:ext uri="{FF2B5EF4-FFF2-40B4-BE49-F238E27FC236}">
                <a16:creationId xmlns:a16="http://schemas.microsoft.com/office/drawing/2014/main" id="{5125A478-8B8E-C140-8632-8E5EB10AA0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9007" y="103745"/>
            <a:ext cx="38608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3501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BF5B4-C6AC-7241-A405-B5AF7295A404}"/>
              </a:ext>
            </a:extLst>
          </p:cNvPr>
          <p:cNvSpPr>
            <a:spLocks noGrp="1"/>
          </p:cNvSpPr>
          <p:nvPr>
            <p:ph type="title"/>
          </p:nvPr>
        </p:nvSpPr>
        <p:spPr/>
        <p:txBody>
          <a:bodyPr/>
          <a:lstStyle/>
          <a:p>
            <a:r>
              <a:rPr lang="en-GB" dirty="0"/>
              <a:t>Type of Factor Analysis</a:t>
            </a:r>
          </a:p>
        </p:txBody>
      </p:sp>
      <p:sp>
        <p:nvSpPr>
          <p:cNvPr id="3" name="Content Placeholder 2">
            <a:extLst>
              <a:ext uri="{FF2B5EF4-FFF2-40B4-BE49-F238E27FC236}">
                <a16:creationId xmlns:a16="http://schemas.microsoft.com/office/drawing/2014/main" id="{210DCF96-8B7D-5546-BA9C-D51EE5893A1A}"/>
              </a:ext>
            </a:extLst>
          </p:cNvPr>
          <p:cNvSpPr>
            <a:spLocks noGrp="1"/>
          </p:cNvSpPr>
          <p:nvPr>
            <p:ph idx="1"/>
          </p:nvPr>
        </p:nvSpPr>
        <p:spPr/>
        <p:txBody>
          <a:bodyPr/>
          <a:lstStyle/>
          <a:p>
            <a:r>
              <a:rPr lang="en-GB" dirty="0"/>
              <a:t>Exploratory Factor Analysis (EFA)</a:t>
            </a:r>
          </a:p>
          <a:p>
            <a:pPr lvl="1"/>
            <a:r>
              <a:rPr lang="en-GB" dirty="0"/>
              <a:t>Used during development a theory</a:t>
            </a:r>
          </a:p>
          <a:p>
            <a:pPr lvl="1"/>
            <a:r>
              <a:rPr lang="en-GB" dirty="0"/>
              <a:t>Explore factor structure</a:t>
            </a:r>
          </a:p>
          <a:p>
            <a:pPr lvl="1"/>
            <a:r>
              <a:rPr lang="en-GB" dirty="0"/>
              <a:t>Evaluate items</a:t>
            </a:r>
          </a:p>
          <a:p>
            <a:pPr lvl="1"/>
            <a:endParaRPr lang="en-GB" dirty="0"/>
          </a:p>
          <a:p>
            <a:r>
              <a:rPr lang="en-GB" dirty="0"/>
              <a:t>Confirmatory Factor Analysis</a:t>
            </a:r>
          </a:p>
          <a:p>
            <a:pPr lvl="1"/>
            <a:r>
              <a:rPr lang="en-GB" dirty="0"/>
              <a:t>Validate a measure</a:t>
            </a:r>
          </a:p>
          <a:p>
            <a:pPr lvl="1"/>
            <a:r>
              <a:rPr lang="en-GB" dirty="0"/>
              <a:t>Used after development</a:t>
            </a:r>
          </a:p>
        </p:txBody>
      </p:sp>
    </p:spTree>
    <p:extLst>
      <p:ext uri="{BB962C8B-B14F-4D97-AF65-F5344CB8AC3E}">
        <p14:creationId xmlns:p14="http://schemas.microsoft.com/office/powerpoint/2010/main" val="92296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3702A-718B-3548-B5F7-5B16C83FC6C8}"/>
              </a:ext>
            </a:extLst>
          </p:cNvPr>
          <p:cNvSpPr>
            <a:spLocks noGrp="1"/>
          </p:cNvSpPr>
          <p:nvPr>
            <p:ph type="title"/>
          </p:nvPr>
        </p:nvSpPr>
        <p:spPr>
          <a:xfrm>
            <a:off x="712515" y="35526"/>
            <a:ext cx="10515600" cy="1325563"/>
          </a:xfrm>
        </p:spPr>
        <p:txBody>
          <a:bodyPr/>
          <a:lstStyle/>
          <a:p>
            <a:r>
              <a:rPr lang="en-GB" b="1" dirty="0"/>
              <a:t>PCA                                                      FA</a:t>
            </a:r>
            <a:endParaRPr lang="en-GB" dirty="0"/>
          </a:p>
        </p:txBody>
      </p:sp>
      <p:grpSp>
        <p:nvGrpSpPr>
          <p:cNvPr id="54" name="Group 53">
            <a:extLst>
              <a:ext uri="{FF2B5EF4-FFF2-40B4-BE49-F238E27FC236}">
                <a16:creationId xmlns:a16="http://schemas.microsoft.com/office/drawing/2014/main" id="{3C956501-FBF9-0441-A084-5110585F4F76}"/>
              </a:ext>
            </a:extLst>
          </p:cNvPr>
          <p:cNvGrpSpPr/>
          <p:nvPr/>
        </p:nvGrpSpPr>
        <p:grpSpPr>
          <a:xfrm>
            <a:off x="6336740" y="1338737"/>
            <a:ext cx="4477836" cy="1699746"/>
            <a:chOff x="6195060" y="1214904"/>
            <a:chExt cx="4477836" cy="1699746"/>
          </a:xfrm>
        </p:grpSpPr>
        <p:grpSp>
          <p:nvGrpSpPr>
            <p:cNvPr id="7" name="Group 6">
              <a:extLst>
                <a:ext uri="{FF2B5EF4-FFF2-40B4-BE49-F238E27FC236}">
                  <a16:creationId xmlns:a16="http://schemas.microsoft.com/office/drawing/2014/main" id="{9EF01979-E4D6-794A-A41A-33C0F1DCAE58}"/>
                </a:ext>
              </a:extLst>
            </p:cNvPr>
            <p:cNvGrpSpPr/>
            <p:nvPr/>
          </p:nvGrpSpPr>
          <p:grpSpPr>
            <a:xfrm>
              <a:off x="8353555" y="1261071"/>
              <a:ext cx="1122157" cy="538799"/>
              <a:chOff x="7313425" y="1775421"/>
              <a:chExt cx="1122157" cy="538799"/>
            </a:xfrm>
          </p:grpSpPr>
          <p:sp>
            <p:nvSpPr>
              <p:cNvPr id="5" name="Rectangle 4">
                <a:extLst>
                  <a:ext uri="{FF2B5EF4-FFF2-40B4-BE49-F238E27FC236}">
                    <a16:creationId xmlns:a16="http://schemas.microsoft.com/office/drawing/2014/main" id="{8648153B-31B6-224A-9A16-8AC9166C3687}"/>
                  </a:ext>
                </a:extLst>
              </p:cNvPr>
              <p:cNvSpPr/>
              <p:nvPr/>
            </p:nvSpPr>
            <p:spPr>
              <a:xfrm>
                <a:off x="7313425" y="1775421"/>
                <a:ext cx="1122157" cy="5387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E20EC10-6917-2343-AAE5-08D766E4FC5B}"/>
                      </a:ext>
                    </a:extLst>
                  </p:cNvPr>
                  <p:cNvSpPr txBox="1"/>
                  <p:nvPr/>
                </p:nvSpPr>
                <p:spPr>
                  <a:xfrm>
                    <a:off x="7635240" y="1860155"/>
                    <a:ext cx="47852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𝑋</m:t>
                              </m:r>
                            </m:e>
                            <m:sub>
                              <m:r>
                                <a:rPr lang="en-GB" b="0" i="1" smtClean="0">
                                  <a:latin typeface="Cambria Math" panose="02040503050406030204" pitchFamily="18" charset="0"/>
                                </a:rPr>
                                <m:t>1</m:t>
                              </m:r>
                            </m:sub>
                          </m:sSub>
                        </m:oMath>
                      </m:oMathPara>
                    </a14:m>
                    <a:endParaRPr lang="en-GB" dirty="0"/>
                  </a:p>
                </p:txBody>
              </p:sp>
            </mc:Choice>
            <mc:Fallback xmlns="">
              <p:sp>
                <p:nvSpPr>
                  <p:cNvPr id="6" name="TextBox 5">
                    <a:extLst>
                      <a:ext uri="{FF2B5EF4-FFF2-40B4-BE49-F238E27FC236}">
                        <a16:creationId xmlns:a16="http://schemas.microsoft.com/office/drawing/2014/main" id="{DE20EC10-6917-2343-AAE5-08D766E4FC5B}"/>
                      </a:ext>
                    </a:extLst>
                  </p:cNvPr>
                  <p:cNvSpPr txBox="1">
                    <a:spLocks noRot="1" noChangeAspect="1" noMove="1" noResize="1" noEditPoints="1" noAdjustHandles="1" noChangeArrowheads="1" noChangeShapeType="1" noTextEdit="1"/>
                  </p:cNvSpPr>
                  <p:nvPr/>
                </p:nvSpPr>
                <p:spPr>
                  <a:xfrm>
                    <a:off x="7635240" y="1860155"/>
                    <a:ext cx="478528" cy="369332"/>
                  </a:xfrm>
                  <a:prstGeom prst="rect">
                    <a:avLst/>
                  </a:prstGeom>
                  <a:blipFill>
                    <a:blip r:embed="rId2"/>
                    <a:stretch>
                      <a:fillRect/>
                    </a:stretch>
                  </a:blipFill>
                </p:spPr>
                <p:txBody>
                  <a:bodyPr/>
                  <a:lstStyle/>
                  <a:p>
                    <a:r>
                      <a:rPr lang="en-GB">
                        <a:noFill/>
                      </a:rPr>
                      <a:t> </a:t>
                    </a:r>
                  </a:p>
                </p:txBody>
              </p:sp>
            </mc:Fallback>
          </mc:AlternateContent>
        </p:grpSp>
        <p:grpSp>
          <p:nvGrpSpPr>
            <p:cNvPr id="11" name="Group 10">
              <a:extLst>
                <a:ext uri="{FF2B5EF4-FFF2-40B4-BE49-F238E27FC236}">
                  <a16:creationId xmlns:a16="http://schemas.microsoft.com/office/drawing/2014/main" id="{2438FE08-90B9-0149-BB6B-DC0AA29A7EF7}"/>
                </a:ext>
              </a:extLst>
            </p:cNvPr>
            <p:cNvGrpSpPr/>
            <p:nvPr/>
          </p:nvGrpSpPr>
          <p:grpSpPr>
            <a:xfrm>
              <a:off x="8353554" y="2375851"/>
              <a:ext cx="1122157" cy="538799"/>
              <a:chOff x="7313425" y="1775421"/>
              <a:chExt cx="1122157" cy="538799"/>
            </a:xfrm>
          </p:grpSpPr>
          <p:sp>
            <p:nvSpPr>
              <p:cNvPr id="13" name="Rectangle 12">
                <a:extLst>
                  <a:ext uri="{FF2B5EF4-FFF2-40B4-BE49-F238E27FC236}">
                    <a16:creationId xmlns:a16="http://schemas.microsoft.com/office/drawing/2014/main" id="{BF65AB1A-5879-7B4F-8B6E-EB8387CA5AAD}"/>
                  </a:ext>
                </a:extLst>
              </p:cNvPr>
              <p:cNvSpPr/>
              <p:nvPr/>
            </p:nvSpPr>
            <p:spPr>
              <a:xfrm>
                <a:off x="7313425" y="1775421"/>
                <a:ext cx="1122157" cy="5387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E4D3DD4-B100-7C40-A572-8CBD91F9E64B}"/>
                      </a:ext>
                    </a:extLst>
                  </p:cNvPr>
                  <p:cNvSpPr txBox="1"/>
                  <p:nvPr/>
                </p:nvSpPr>
                <p:spPr>
                  <a:xfrm>
                    <a:off x="7635240" y="1860155"/>
                    <a:ext cx="48385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𝑋</m:t>
                              </m:r>
                            </m:e>
                            <m:sub>
                              <m:r>
                                <a:rPr lang="en-GB" b="0" i="1" smtClean="0">
                                  <a:latin typeface="Cambria Math" panose="02040503050406030204" pitchFamily="18" charset="0"/>
                                </a:rPr>
                                <m:t>2</m:t>
                              </m:r>
                            </m:sub>
                          </m:sSub>
                        </m:oMath>
                      </m:oMathPara>
                    </a14:m>
                    <a:endParaRPr lang="en-GB" dirty="0"/>
                  </a:p>
                </p:txBody>
              </p:sp>
            </mc:Choice>
            <mc:Fallback xmlns="">
              <p:sp>
                <p:nvSpPr>
                  <p:cNvPr id="14" name="TextBox 13">
                    <a:extLst>
                      <a:ext uri="{FF2B5EF4-FFF2-40B4-BE49-F238E27FC236}">
                        <a16:creationId xmlns:a16="http://schemas.microsoft.com/office/drawing/2014/main" id="{7E4D3DD4-B100-7C40-A572-8CBD91F9E64B}"/>
                      </a:ext>
                    </a:extLst>
                  </p:cNvPr>
                  <p:cNvSpPr txBox="1">
                    <a:spLocks noRot="1" noChangeAspect="1" noMove="1" noResize="1" noEditPoints="1" noAdjustHandles="1" noChangeArrowheads="1" noChangeShapeType="1" noTextEdit="1"/>
                  </p:cNvSpPr>
                  <p:nvPr/>
                </p:nvSpPr>
                <p:spPr>
                  <a:xfrm>
                    <a:off x="7635240" y="1860155"/>
                    <a:ext cx="483850" cy="369332"/>
                  </a:xfrm>
                  <a:prstGeom prst="rect">
                    <a:avLst/>
                  </a:prstGeom>
                  <a:blipFill>
                    <a:blip r:embed="rId3"/>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1C964A9-DF1C-A740-89A9-4DC21C9F117B}"/>
                    </a:ext>
                  </a:extLst>
                </p:cNvPr>
                <p:cNvSpPr txBox="1"/>
                <p:nvPr/>
              </p:nvSpPr>
              <p:spPr>
                <a:xfrm>
                  <a:off x="10360230" y="1391970"/>
                  <a:ext cx="2868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1</m:t>
                            </m:r>
                          </m:sub>
                        </m:sSub>
                      </m:oMath>
                    </m:oMathPara>
                  </a14:m>
                  <a:endParaRPr lang="en-GB" dirty="0"/>
                </a:p>
              </p:txBody>
            </p:sp>
          </mc:Choice>
          <mc:Fallback xmlns="">
            <p:sp>
              <p:nvSpPr>
                <p:cNvPr id="8" name="TextBox 7">
                  <a:extLst>
                    <a:ext uri="{FF2B5EF4-FFF2-40B4-BE49-F238E27FC236}">
                      <a16:creationId xmlns:a16="http://schemas.microsoft.com/office/drawing/2014/main" id="{B1C964A9-DF1C-A740-89A9-4DC21C9F117B}"/>
                    </a:ext>
                  </a:extLst>
                </p:cNvPr>
                <p:cNvSpPr txBox="1">
                  <a:spLocks noRot="1" noChangeAspect="1" noMove="1" noResize="1" noEditPoints="1" noAdjustHandles="1" noChangeArrowheads="1" noChangeShapeType="1" noTextEdit="1"/>
                </p:cNvSpPr>
                <p:nvPr/>
              </p:nvSpPr>
              <p:spPr>
                <a:xfrm>
                  <a:off x="10360230" y="1391970"/>
                  <a:ext cx="286810" cy="276999"/>
                </a:xfrm>
                <a:prstGeom prst="rect">
                  <a:avLst/>
                </a:prstGeom>
                <a:blipFill>
                  <a:blip r:embed="rId4"/>
                  <a:stretch>
                    <a:fillRect l="-21739" r="-4348" b="-130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05F270A-99B7-B248-A6AA-D99A43041C9F}"/>
                    </a:ext>
                  </a:extLst>
                </p:cNvPr>
                <p:cNvSpPr txBox="1"/>
                <p:nvPr/>
              </p:nvSpPr>
              <p:spPr>
                <a:xfrm>
                  <a:off x="10380765" y="2506750"/>
                  <a:ext cx="2921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2</m:t>
                            </m:r>
                          </m:sub>
                        </m:sSub>
                      </m:oMath>
                    </m:oMathPara>
                  </a14:m>
                  <a:endParaRPr lang="en-GB" dirty="0"/>
                </a:p>
              </p:txBody>
            </p:sp>
          </mc:Choice>
          <mc:Fallback xmlns="">
            <p:sp>
              <p:nvSpPr>
                <p:cNvPr id="15" name="TextBox 14">
                  <a:extLst>
                    <a:ext uri="{FF2B5EF4-FFF2-40B4-BE49-F238E27FC236}">
                      <a16:creationId xmlns:a16="http://schemas.microsoft.com/office/drawing/2014/main" id="{A05F270A-99B7-B248-A6AA-D99A43041C9F}"/>
                    </a:ext>
                  </a:extLst>
                </p:cNvPr>
                <p:cNvSpPr txBox="1">
                  <a:spLocks noRot="1" noChangeAspect="1" noMove="1" noResize="1" noEditPoints="1" noAdjustHandles="1" noChangeArrowheads="1" noChangeShapeType="1" noTextEdit="1"/>
                </p:cNvSpPr>
                <p:nvPr/>
              </p:nvSpPr>
              <p:spPr>
                <a:xfrm>
                  <a:off x="10380765" y="2506750"/>
                  <a:ext cx="292131" cy="276999"/>
                </a:xfrm>
                <a:prstGeom prst="rect">
                  <a:avLst/>
                </a:prstGeom>
                <a:blipFill>
                  <a:blip r:embed="rId5"/>
                  <a:stretch>
                    <a:fillRect l="-16667" r="-4167" b="-13636"/>
                  </a:stretch>
                </a:blipFill>
              </p:spPr>
              <p:txBody>
                <a:bodyPr/>
                <a:lstStyle/>
                <a:p>
                  <a:r>
                    <a:rPr lang="en-GB">
                      <a:noFill/>
                    </a:rPr>
                    <a:t> </a:t>
                  </a:r>
                </a:p>
              </p:txBody>
            </p:sp>
          </mc:Fallback>
        </mc:AlternateContent>
        <p:cxnSp>
          <p:nvCxnSpPr>
            <p:cNvPr id="10" name="Straight Arrow Connector 9">
              <a:extLst>
                <a:ext uri="{FF2B5EF4-FFF2-40B4-BE49-F238E27FC236}">
                  <a16:creationId xmlns:a16="http://schemas.microsoft.com/office/drawing/2014/main" id="{3ABC001B-8E5F-7E45-B6F9-3ECD0BE144AC}"/>
                </a:ext>
              </a:extLst>
            </p:cNvPr>
            <p:cNvCxnSpPr>
              <a:endCxn id="5" idx="3"/>
            </p:cNvCxnSpPr>
            <p:nvPr/>
          </p:nvCxnSpPr>
          <p:spPr>
            <a:xfrm flipH="1">
              <a:off x="9475712" y="1530469"/>
              <a:ext cx="776998" cy="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FD4B352-3244-234C-BED6-E7B8EE3EA186}"/>
                </a:ext>
              </a:extLst>
            </p:cNvPr>
            <p:cNvCxnSpPr/>
            <p:nvPr/>
          </p:nvCxnSpPr>
          <p:spPr>
            <a:xfrm flipH="1">
              <a:off x="9475712" y="2645249"/>
              <a:ext cx="776998" cy="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DBD1FEF-53CC-1441-AE4C-ECDBDA1311F3}"/>
                </a:ext>
              </a:extLst>
            </p:cNvPr>
            <p:cNvCxnSpPr>
              <a:cxnSpLocks/>
              <a:endCxn id="5" idx="1"/>
            </p:cNvCxnSpPr>
            <p:nvPr/>
          </p:nvCxnSpPr>
          <p:spPr>
            <a:xfrm flipV="1">
              <a:off x="6926580" y="1530471"/>
              <a:ext cx="1426975" cy="5573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9FA24E1-968A-194D-8AB0-A9E95E05E32F}"/>
                </a:ext>
              </a:extLst>
            </p:cNvPr>
            <p:cNvCxnSpPr>
              <a:cxnSpLocks/>
              <a:endCxn id="13" idx="1"/>
            </p:cNvCxnSpPr>
            <p:nvPr/>
          </p:nvCxnSpPr>
          <p:spPr>
            <a:xfrm>
              <a:off x="6926580" y="2274570"/>
              <a:ext cx="1426974" cy="3706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93075E1A-F2F4-A148-A6AA-4C1577618AFA}"/>
                </a:ext>
              </a:extLst>
            </p:cNvPr>
            <p:cNvSpPr/>
            <p:nvPr/>
          </p:nvSpPr>
          <p:spPr>
            <a:xfrm>
              <a:off x="6195060" y="1977390"/>
              <a:ext cx="731520" cy="66785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426DE36B-D07A-A841-B03F-96A51BD01BD4}"/>
                </a:ext>
              </a:extLst>
            </p:cNvPr>
            <p:cNvSpPr txBox="1"/>
            <p:nvPr/>
          </p:nvSpPr>
          <p:spPr>
            <a:xfrm>
              <a:off x="6397549" y="2126653"/>
              <a:ext cx="290464" cy="369332"/>
            </a:xfrm>
            <a:prstGeom prst="rect">
              <a:avLst/>
            </a:prstGeom>
            <a:noFill/>
          </p:spPr>
          <p:txBody>
            <a:bodyPr wrap="none" rtlCol="0">
              <a:spAutoFit/>
            </a:bodyPr>
            <a:lstStyle/>
            <a:p>
              <a:r>
                <a:rPr lang="en-GB" dirty="0"/>
                <a:t>F</a:t>
              </a:r>
              <a:endParaRPr lang="en-GB" baseline="-25000" dirty="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4E1176D-74E3-A748-836F-5DB844142017}"/>
                    </a:ext>
                  </a:extLst>
                </p:cNvPr>
                <p:cNvSpPr txBox="1"/>
                <p:nvPr/>
              </p:nvSpPr>
              <p:spPr>
                <a:xfrm>
                  <a:off x="7266985" y="1363049"/>
                  <a:ext cx="2726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oMath>
                    </m:oMathPara>
                  </a14:m>
                  <a:endParaRPr lang="en-GB" dirty="0"/>
                </a:p>
              </p:txBody>
            </p:sp>
          </mc:Choice>
          <mc:Fallback xmlns="">
            <p:sp>
              <p:nvSpPr>
                <p:cNvPr id="28" name="TextBox 27">
                  <a:extLst>
                    <a:ext uri="{FF2B5EF4-FFF2-40B4-BE49-F238E27FC236}">
                      <a16:creationId xmlns:a16="http://schemas.microsoft.com/office/drawing/2014/main" id="{F4E1176D-74E3-A748-836F-5DB844142017}"/>
                    </a:ext>
                  </a:extLst>
                </p:cNvPr>
                <p:cNvSpPr txBox="1">
                  <a:spLocks noRot="1" noChangeAspect="1" noMove="1" noResize="1" noEditPoints="1" noAdjustHandles="1" noChangeArrowheads="1" noChangeShapeType="1" noTextEdit="1"/>
                </p:cNvSpPr>
                <p:nvPr/>
              </p:nvSpPr>
              <p:spPr>
                <a:xfrm>
                  <a:off x="7266985" y="1363049"/>
                  <a:ext cx="272639" cy="276999"/>
                </a:xfrm>
                <a:prstGeom prst="rect">
                  <a:avLst/>
                </a:prstGeom>
                <a:blipFill>
                  <a:blip r:embed="rId6"/>
                  <a:stretch>
                    <a:fillRect l="-22727" r="-9091" b="-181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534E72E-96E2-A249-A47C-6C6272982B9A}"/>
                    </a:ext>
                  </a:extLst>
                </p:cNvPr>
                <p:cNvSpPr txBox="1"/>
                <p:nvPr/>
              </p:nvSpPr>
              <p:spPr>
                <a:xfrm>
                  <a:off x="7312180" y="2495985"/>
                  <a:ext cx="27796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oMath>
                    </m:oMathPara>
                  </a14:m>
                  <a:endParaRPr lang="en-GB" dirty="0"/>
                </a:p>
              </p:txBody>
            </p:sp>
          </mc:Choice>
          <mc:Fallback xmlns="">
            <p:sp>
              <p:nvSpPr>
                <p:cNvPr id="29" name="TextBox 28">
                  <a:extLst>
                    <a:ext uri="{FF2B5EF4-FFF2-40B4-BE49-F238E27FC236}">
                      <a16:creationId xmlns:a16="http://schemas.microsoft.com/office/drawing/2014/main" id="{0534E72E-96E2-A249-A47C-6C6272982B9A}"/>
                    </a:ext>
                  </a:extLst>
                </p:cNvPr>
                <p:cNvSpPr txBox="1">
                  <a:spLocks noRot="1" noChangeAspect="1" noMove="1" noResize="1" noEditPoints="1" noAdjustHandles="1" noChangeArrowheads="1" noChangeShapeType="1" noTextEdit="1"/>
                </p:cNvSpPr>
                <p:nvPr/>
              </p:nvSpPr>
              <p:spPr>
                <a:xfrm>
                  <a:off x="7312180" y="2495985"/>
                  <a:ext cx="277961" cy="276999"/>
                </a:xfrm>
                <a:prstGeom prst="rect">
                  <a:avLst/>
                </a:prstGeom>
                <a:blipFill>
                  <a:blip r:embed="rId7"/>
                  <a:stretch>
                    <a:fillRect l="-22727" r="-9091" b="-130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4837360-8C0D-304E-B215-1F7F496CE71E}"/>
                    </a:ext>
                  </a:extLst>
                </p:cNvPr>
                <p:cNvSpPr txBox="1"/>
                <p:nvPr/>
              </p:nvSpPr>
              <p:spPr>
                <a:xfrm>
                  <a:off x="9773031" y="1214904"/>
                  <a:ext cx="2879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1</m:t>
                            </m:r>
                          </m:sub>
                        </m:sSub>
                      </m:oMath>
                    </m:oMathPara>
                  </a14:m>
                  <a:endParaRPr lang="en-GB" dirty="0"/>
                </a:p>
              </p:txBody>
            </p:sp>
          </mc:Choice>
          <mc:Fallback xmlns="">
            <p:sp>
              <p:nvSpPr>
                <p:cNvPr id="30" name="TextBox 29">
                  <a:extLst>
                    <a:ext uri="{FF2B5EF4-FFF2-40B4-BE49-F238E27FC236}">
                      <a16:creationId xmlns:a16="http://schemas.microsoft.com/office/drawing/2014/main" id="{54837360-8C0D-304E-B215-1F7F496CE71E}"/>
                    </a:ext>
                  </a:extLst>
                </p:cNvPr>
                <p:cNvSpPr txBox="1">
                  <a:spLocks noRot="1" noChangeAspect="1" noMove="1" noResize="1" noEditPoints="1" noAdjustHandles="1" noChangeArrowheads="1" noChangeShapeType="1" noTextEdit="1"/>
                </p:cNvSpPr>
                <p:nvPr/>
              </p:nvSpPr>
              <p:spPr>
                <a:xfrm>
                  <a:off x="9773031" y="1214904"/>
                  <a:ext cx="287964" cy="276999"/>
                </a:xfrm>
                <a:prstGeom prst="rect">
                  <a:avLst/>
                </a:prstGeom>
                <a:blipFill>
                  <a:blip r:embed="rId8"/>
                  <a:stretch>
                    <a:fillRect l="-16667" r="-4167" b="-130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F26E6B2-4789-694A-BDA7-919B69808A68}"/>
                    </a:ext>
                  </a:extLst>
                </p:cNvPr>
                <p:cNvSpPr txBox="1"/>
                <p:nvPr/>
              </p:nvSpPr>
              <p:spPr>
                <a:xfrm>
                  <a:off x="9791918" y="2301395"/>
                  <a:ext cx="2932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2</m:t>
                            </m:r>
                          </m:sub>
                        </m:sSub>
                      </m:oMath>
                    </m:oMathPara>
                  </a14:m>
                  <a:endParaRPr lang="en-GB" dirty="0"/>
                </a:p>
              </p:txBody>
            </p:sp>
          </mc:Choice>
          <mc:Fallback xmlns="">
            <p:sp>
              <p:nvSpPr>
                <p:cNvPr id="31" name="TextBox 30">
                  <a:extLst>
                    <a:ext uri="{FF2B5EF4-FFF2-40B4-BE49-F238E27FC236}">
                      <a16:creationId xmlns:a16="http://schemas.microsoft.com/office/drawing/2014/main" id="{7F26E6B2-4789-694A-BDA7-919B69808A68}"/>
                    </a:ext>
                  </a:extLst>
                </p:cNvPr>
                <p:cNvSpPr txBox="1">
                  <a:spLocks noRot="1" noChangeAspect="1" noMove="1" noResize="1" noEditPoints="1" noAdjustHandles="1" noChangeArrowheads="1" noChangeShapeType="1" noTextEdit="1"/>
                </p:cNvSpPr>
                <p:nvPr/>
              </p:nvSpPr>
              <p:spPr>
                <a:xfrm>
                  <a:off x="9791918" y="2301395"/>
                  <a:ext cx="293285" cy="276999"/>
                </a:xfrm>
                <a:prstGeom prst="rect">
                  <a:avLst/>
                </a:prstGeom>
                <a:blipFill>
                  <a:blip r:embed="rId9"/>
                  <a:stretch>
                    <a:fillRect l="-20833" r="-4167" b="-18182"/>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F5830B75-1AA6-374D-B64B-D15C7AD62783}"/>
                  </a:ext>
                </a:extLst>
              </p:cNvPr>
              <p:cNvSpPr/>
              <p:nvPr/>
            </p:nvSpPr>
            <p:spPr>
              <a:xfrm>
                <a:off x="7121087" y="3472934"/>
                <a:ext cx="1998176" cy="369332"/>
              </a:xfrm>
              <a:prstGeom prst="rect">
                <a:avLst/>
              </a:prstGeom>
            </p:spPr>
            <p:txBody>
              <a:bodyPr wrap="none">
                <a:spAutoFit/>
              </a:bodyPr>
              <a:lstStyle/>
              <a:p>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𝑋</m:t>
                        </m:r>
                      </m:e>
                      <m:sub>
                        <m:r>
                          <a:rPr lang="en-GB" b="0" i="1" smtClean="0">
                            <a:latin typeface="Cambria Math" panose="02040503050406030204" pitchFamily="18" charset="0"/>
                          </a:rPr>
                          <m:t>1</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𝐹</m:t>
                    </m:r>
                    <m:r>
                      <a:rPr lang="en-GB" b="0" i="1" smtClean="0">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𝑑</m:t>
                        </m:r>
                      </m:e>
                      <m:sub>
                        <m:r>
                          <a:rPr lang="en-GB" i="1">
                            <a:latin typeface="Cambria Math" panose="02040503050406030204" pitchFamily="18" charset="0"/>
                          </a:rPr>
                          <m:t>1</m:t>
                        </m:r>
                      </m:sub>
                    </m:sSub>
                  </m:oMath>
                </a14:m>
                <a:r>
                  <a:rPr lang="en-GB" dirty="0"/>
                  <a:t> </a:t>
                </a:r>
                <a14:m>
                  <m:oMath xmlns:m="http://schemas.openxmlformats.org/officeDocument/2006/math">
                    <m:sSub>
                      <m:sSubPr>
                        <m:ctrlPr>
                          <a:rPr lang="en-GB" i="1">
                            <a:latin typeface="Cambria Math" panose="02040503050406030204" pitchFamily="18" charset="0"/>
                          </a:rPr>
                        </m:ctrlPr>
                      </m:sSubPr>
                      <m:e>
                        <m:r>
                          <a:rPr lang="en-GB" b="0" i="1" smtClean="0">
                            <a:latin typeface="Cambria Math" panose="02040503050406030204" pitchFamily="18" charset="0"/>
                          </a:rPr>
                          <m:t>𝐸</m:t>
                        </m:r>
                      </m:e>
                      <m:sub>
                        <m:r>
                          <a:rPr lang="en-GB" i="1">
                            <a:latin typeface="Cambria Math" panose="02040503050406030204" pitchFamily="18" charset="0"/>
                          </a:rPr>
                          <m:t>1</m:t>
                        </m:r>
                      </m:sub>
                    </m:sSub>
                  </m:oMath>
                </a14:m>
                <a:endParaRPr lang="en-GB" dirty="0"/>
              </a:p>
            </p:txBody>
          </p:sp>
        </mc:Choice>
        <mc:Fallback xmlns="">
          <p:sp>
            <p:nvSpPr>
              <p:cNvPr id="34" name="Rectangle 33">
                <a:extLst>
                  <a:ext uri="{FF2B5EF4-FFF2-40B4-BE49-F238E27FC236}">
                    <a16:creationId xmlns:a16="http://schemas.microsoft.com/office/drawing/2014/main" id="{F5830B75-1AA6-374D-B64B-D15C7AD62783}"/>
                  </a:ext>
                </a:extLst>
              </p:cNvPr>
              <p:cNvSpPr>
                <a:spLocks noRot="1" noChangeAspect="1" noMove="1" noResize="1" noEditPoints="1" noAdjustHandles="1" noChangeArrowheads="1" noChangeShapeType="1" noTextEdit="1"/>
              </p:cNvSpPr>
              <p:nvPr/>
            </p:nvSpPr>
            <p:spPr>
              <a:xfrm>
                <a:off x="7121087" y="3472934"/>
                <a:ext cx="1998176" cy="369332"/>
              </a:xfrm>
              <a:prstGeom prst="rect">
                <a:avLst/>
              </a:prstGeom>
              <a:blipFill>
                <a:blip r:embed="rId10"/>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A9596CC5-FC6C-0942-90D1-85067F0A9111}"/>
                  </a:ext>
                </a:extLst>
              </p:cNvPr>
              <p:cNvSpPr/>
              <p:nvPr/>
            </p:nvSpPr>
            <p:spPr>
              <a:xfrm>
                <a:off x="7155722" y="4138595"/>
                <a:ext cx="2020361" cy="369332"/>
              </a:xfrm>
              <a:prstGeom prst="rect">
                <a:avLst/>
              </a:prstGeom>
            </p:spPr>
            <p:txBody>
              <a:bodyPr wrap="none">
                <a:spAutoFit/>
              </a:bodyPr>
              <a:lstStyle/>
              <a:p>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𝑋</m:t>
                        </m:r>
                      </m:e>
                      <m:sub>
                        <m:r>
                          <a:rPr lang="en-GB" b="0" i="1" smtClean="0">
                            <a:latin typeface="Cambria Math" panose="02040503050406030204" pitchFamily="18" charset="0"/>
                          </a:rPr>
                          <m:t>2</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𝐹</m:t>
                    </m:r>
                    <m:r>
                      <a:rPr lang="en-GB" b="0" i="1" smtClean="0">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𝑑</m:t>
                        </m:r>
                      </m:e>
                      <m:sub>
                        <m:r>
                          <a:rPr lang="en-GB" b="0" i="1" smtClean="0">
                            <a:latin typeface="Cambria Math" panose="02040503050406030204" pitchFamily="18" charset="0"/>
                          </a:rPr>
                          <m:t>2</m:t>
                        </m:r>
                      </m:sub>
                    </m:sSub>
                  </m:oMath>
                </a14:m>
                <a:r>
                  <a:rPr lang="en-GB" dirty="0"/>
                  <a:t> </a:t>
                </a:r>
                <a14:m>
                  <m:oMath xmlns:m="http://schemas.openxmlformats.org/officeDocument/2006/math">
                    <m:sSub>
                      <m:sSubPr>
                        <m:ctrlPr>
                          <a:rPr lang="en-GB" i="1">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2</m:t>
                        </m:r>
                      </m:sub>
                    </m:sSub>
                  </m:oMath>
                </a14:m>
                <a:endParaRPr lang="en-GB" dirty="0"/>
              </a:p>
            </p:txBody>
          </p:sp>
        </mc:Choice>
        <mc:Fallback xmlns="">
          <p:sp>
            <p:nvSpPr>
              <p:cNvPr id="35" name="Rectangle 34">
                <a:extLst>
                  <a:ext uri="{FF2B5EF4-FFF2-40B4-BE49-F238E27FC236}">
                    <a16:creationId xmlns:a16="http://schemas.microsoft.com/office/drawing/2014/main" id="{A9596CC5-FC6C-0942-90D1-85067F0A9111}"/>
                  </a:ext>
                </a:extLst>
              </p:cNvPr>
              <p:cNvSpPr>
                <a:spLocks noRot="1" noChangeAspect="1" noMove="1" noResize="1" noEditPoints="1" noAdjustHandles="1" noChangeArrowheads="1" noChangeShapeType="1" noTextEdit="1"/>
              </p:cNvSpPr>
              <p:nvPr/>
            </p:nvSpPr>
            <p:spPr>
              <a:xfrm>
                <a:off x="7155722" y="4138595"/>
                <a:ext cx="2020361" cy="369332"/>
              </a:xfrm>
              <a:prstGeom prst="rect">
                <a:avLst/>
              </a:prstGeom>
              <a:blipFill>
                <a:blip r:embed="rId11"/>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9F7EFDF-839F-0D4D-9AA1-21187B057A8B}"/>
                  </a:ext>
                </a:extLst>
              </p:cNvPr>
              <p:cNvSpPr txBox="1"/>
              <p:nvPr/>
            </p:nvSpPr>
            <p:spPr>
              <a:xfrm>
                <a:off x="6926580" y="4960620"/>
                <a:ext cx="4594860" cy="923330"/>
              </a:xfrm>
              <a:prstGeom prst="rect">
                <a:avLst/>
              </a:prstGeom>
              <a:noFill/>
            </p:spPr>
            <p:txBody>
              <a:bodyPr wrap="square" rtlCol="0">
                <a:spAutoFit/>
              </a:bodyPr>
              <a:lstStyle/>
              <a:p>
                <a:r>
                  <a:rPr lang="en-GB" dirty="0"/>
                  <a:t>The diagram also indicates that there is no covariation between F and U so</a:t>
                </a: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𝑐𝑜𝑣</m:t>
                      </m:r>
                      <m:d>
                        <m:dPr>
                          <m:ctrlPr>
                            <a:rPr lang="en-GB" b="0" i="1" smtClean="0">
                              <a:latin typeface="Cambria Math" panose="02040503050406030204" pitchFamily="18" charset="0"/>
                            </a:rPr>
                          </m:ctrlPr>
                        </m:dPr>
                        <m:e>
                          <m:r>
                            <a:rPr lang="en-GB" b="0" i="1" smtClean="0">
                              <a:latin typeface="Cambria Math" panose="02040503050406030204" pitchFamily="18" charset="0"/>
                            </a:rPr>
                            <m:t>𝐹</m:t>
                          </m:r>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1</m:t>
                              </m:r>
                            </m:sub>
                          </m:sSub>
                        </m:e>
                      </m:d>
                      <m:r>
                        <a:rPr lang="en-GB" b="0" i="1" smtClean="0">
                          <a:latin typeface="Cambria Math" panose="02040503050406030204" pitchFamily="18" charset="0"/>
                        </a:rPr>
                        <m:t>=</m:t>
                      </m:r>
                      <m:r>
                        <a:rPr lang="en-GB" i="1">
                          <a:latin typeface="Cambria Math" panose="02040503050406030204" pitchFamily="18" charset="0"/>
                        </a:rPr>
                        <m:t>𝑐𝑜𝑣</m:t>
                      </m:r>
                      <m:d>
                        <m:dPr>
                          <m:ctrlPr>
                            <a:rPr lang="en-GB" i="1">
                              <a:latin typeface="Cambria Math" panose="02040503050406030204" pitchFamily="18" charset="0"/>
                            </a:rPr>
                          </m:ctrlPr>
                        </m:dPr>
                        <m:e>
                          <m:r>
                            <a:rPr lang="en-GB" i="1">
                              <a:latin typeface="Cambria Math" panose="02040503050406030204" pitchFamily="18" charset="0"/>
                            </a:rPr>
                            <m:t>𝐹</m:t>
                          </m:r>
                          <m:r>
                            <a:rPr lang="en-GB" i="1">
                              <a:latin typeface="Cambria Math" panose="02040503050406030204" pitchFamily="18" charset="0"/>
                            </a:rPr>
                            <m:t>, </m:t>
                          </m:r>
                          <m:sSub>
                            <m:sSubPr>
                              <m:ctrlPr>
                                <a:rPr lang="en-GB" i="1">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2</m:t>
                              </m:r>
                            </m:sub>
                          </m:sSub>
                        </m:e>
                      </m:d>
                      <m:r>
                        <a:rPr lang="en-GB" b="0" i="1" smtClean="0">
                          <a:latin typeface="Cambria Math" panose="02040503050406030204" pitchFamily="18" charset="0"/>
                        </a:rPr>
                        <m:t>=</m:t>
                      </m:r>
                      <m:r>
                        <a:rPr lang="en-GB" i="1">
                          <a:latin typeface="Cambria Math" panose="02040503050406030204" pitchFamily="18" charset="0"/>
                        </a:rPr>
                        <m:t>𝑐𝑜𝑣</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2</m:t>
                              </m:r>
                            </m:sub>
                          </m:sSub>
                          <m:r>
                            <a:rPr lang="en-GB" i="1">
                              <a:latin typeface="Cambria Math" panose="02040503050406030204" pitchFamily="18" charset="0"/>
                            </a:rPr>
                            <m:t>, </m:t>
                          </m:r>
                          <m:sSub>
                            <m:sSubPr>
                              <m:ctrlPr>
                                <a:rPr lang="en-GB" i="1">
                                  <a:latin typeface="Cambria Math" panose="02040503050406030204" pitchFamily="18" charset="0"/>
                                </a:rPr>
                              </m:ctrlPr>
                            </m:sSubPr>
                            <m:e>
                              <m:r>
                                <a:rPr lang="en-GB" b="0" i="1" smtClean="0">
                                  <a:latin typeface="Cambria Math" panose="02040503050406030204" pitchFamily="18" charset="0"/>
                                </a:rPr>
                                <m:t>𝐸</m:t>
                              </m:r>
                            </m:e>
                            <m:sub>
                              <m:r>
                                <a:rPr lang="en-GB" i="1">
                                  <a:latin typeface="Cambria Math" panose="02040503050406030204" pitchFamily="18" charset="0"/>
                                </a:rPr>
                                <m:t>1</m:t>
                              </m:r>
                            </m:sub>
                          </m:sSub>
                        </m:e>
                      </m:d>
                      <m:r>
                        <a:rPr lang="en-GB" b="0" i="1" smtClean="0">
                          <a:latin typeface="Cambria Math" panose="02040503050406030204" pitchFamily="18" charset="0"/>
                        </a:rPr>
                        <m:t>=0</m:t>
                      </m:r>
                    </m:oMath>
                  </m:oMathPara>
                </a14:m>
                <a:endParaRPr lang="en-GB" dirty="0"/>
              </a:p>
            </p:txBody>
          </p:sp>
        </mc:Choice>
        <mc:Fallback xmlns="">
          <p:sp>
            <p:nvSpPr>
              <p:cNvPr id="36" name="TextBox 35">
                <a:extLst>
                  <a:ext uri="{FF2B5EF4-FFF2-40B4-BE49-F238E27FC236}">
                    <a16:creationId xmlns:a16="http://schemas.microsoft.com/office/drawing/2014/main" id="{59F7EFDF-839F-0D4D-9AA1-21187B057A8B}"/>
                  </a:ext>
                </a:extLst>
              </p:cNvPr>
              <p:cNvSpPr txBox="1">
                <a:spLocks noRot="1" noChangeAspect="1" noMove="1" noResize="1" noEditPoints="1" noAdjustHandles="1" noChangeArrowheads="1" noChangeShapeType="1" noTextEdit="1"/>
              </p:cNvSpPr>
              <p:nvPr/>
            </p:nvSpPr>
            <p:spPr>
              <a:xfrm>
                <a:off x="6926580" y="4960620"/>
                <a:ext cx="4594860" cy="923330"/>
              </a:xfrm>
              <a:prstGeom prst="rect">
                <a:avLst/>
              </a:prstGeom>
              <a:blipFill>
                <a:blip r:embed="rId12"/>
                <a:stretch>
                  <a:fillRect l="-1102" t="-2703"/>
                </a:stretch>
              </a:blipFill>
            </p:spPr>
            <p:txBody>
              <a:bodyPr/>
              <a:lstStyle/>
              <a:p>
                <a:r>
                  <a:rPr lang="en-GB">
                    <a:noFill/>
                  </a:rPr>
                  <a:t> </a:t>
                </a:r>
              </a:p>
            </p:txBody>
          </p:sp>
        </mc:Fallback>
      </mc:AlternateContent>
      <p:sp>
        <p:nvSpPr>
          <p:cNvPr id="37" name="TextBox 36">
            <a:extLst>
              <a:ext uri="{FF2B5EF4-FFF2-40B4-BE49-F238E27FC236}">
                <a16:creationId xmlns:a16="http://schemas.microsoft.com/office/drawing/2014/main" id="{7CE56B8F-66F9-1E47-BE76-DC9BBD3B9A94}"/>
              </a:ext>
            </a:extLst>
          </p:cNvPr>
          <p:cNvSpPr txBox="1"/>
          <p:nvPr/>
        </p:nvSpPr>
        <p:spPr>
          <a:xfrm>
            <a:off x="9349168" y="3777615"/>
            <a:ext cx="442750" cy="369332"/>
          </a:xfrm>
          <a:prstGeom prst="rect">
            <a:avLst/>
          </a:prstGeom>
          <a:noFill/>
        </p:spPr>
        <p:txBody>
          <a:bodyPr wrap="none" rtlCol="0">
            <a:spAutoFit/>
          </a:bodyPr>
          <a:lstStyle/>
          <a:p>
            <a:r>
              <a:rPr lang="en-GB" dirty="0"/>
              <a:t>[1]</a:t>
            </a:r>
          </a:p>
        </p:txBody>
      </p:sp>
      <p:sp>
        <p:nvSpPr>
          <p:cNvPr id="38" name="TextBox 37">
            <a:extLst>
              <a:ext uri="{FF2B5EF4-FFF2-40B4-BE49-F238E27FC236}">
                <a16:creationId xmlns:a16="http://schemas.microsoft.com/office/drawing/2014/main" id="{0B001A1C-01DB-5643-B33B-4FDE662C986F}"/>
              </a:ext>
            </a:extLst>
          </p:cNvPr>
          <p:cNvSpPr txBox="1"/>
          <p:nvPr/>
        </p:nvSpPr>
        <p:spPr>
          <a:xfrm>
            <a:off x="11355388" y="5514618"/>
            <a:ext cx="442750" cy="369332"/>
          </a:xfrm>
          <a:prstGeom prst="rect">
            <a:avLst/>
          </a:prstGeom>
          <a:noFill/>
        </p:spPr>
        <p:txBody>
          <a:bodyPr wrap="none" rtlCol="0">
            <a:spAutoFit/>
          </a:bodyPr>
          <a:lstStyle/>
          <a:p>
            <a:r>
              <a:rPr lang="en-GB" dirty="0"/>
              <a:t>[2]</a:t>
            </a:r>
          </a:p>
        </p:txBody>
      </p:sp>
      <p:sp>
        <p:nvSpPr>
          <p:cNvPr id="39" name="TextBox 38">
            <a:extLst>
              <a:ext uri="{FF2B5EF4-FFF2-40B4-BE49-F238E27FC236}">
                <a16:creationId xmlns:a16="http://schemas.microsoft.com/office/drawing/2014/main" id="{2C84B59A-65CB-6941-9FB7-1C0223EF0448}"/>
              </a:ext>
            </a:extLst>
          </p:cNvPr>
          <p:cNvSpPr txBox="1"/>
          <p:nvPr/>
        </p:nvSpPr>
        <p:spPr>
          <a:xfrm>
            <a:off x="6941446" y="6038467"/>
            <a:ext cx="4751443" cy="646331"/>
          </a:xfrm>
          <a:prstGeom prst="rect">
            <a:avLst/>
          </a:prstGeom>
          <a:noFill/>
        </p:spPr>
        <p:txBody>
          <a:bodyPr wrap="square" rtlCol="0">
            <a:spAutoFit/>
          </a:bodyPr>
          <a:lstStyle/>
          <a:p>
            <a:r>
              <a:rPr lang="en-GB" dirty="0"/>
              <a:t>[1] and [2] describe a factor analytic linear system in the diagram</a:t>
            </a:r>
          </a:p>
        </p:txBody>
      </p:sp>
      <p:sp>
        <p:nvSpPr>
          <p:cNvPr id="40" name="Rectangle 39">
            <a:extLst>
              <a:ext uri="{FF2B5EF4-FFF2-40B4-BE49-F238E27FC236}">
                <a16:creationId xmlns:a16="http://schemas.microsoft.com/office/drawing/2014/main" id="{5B7CEF93-94DE-F24C-9B2B-01429E96516A}"/>
              </a:ext>
            </a:extLst>
          </p:cNvPr>
          <p:cNvSpPr/>
          <p:nvPr/>
        </p:nvSpPr>
        <p:spPr>
          <a:xfrm>
            <a:off x="706532" y="1785540"/>
            <a:ext cx="1154430" cy="6743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TextBox 40">
            <a:extLst>
              <a:ext uri="{FF2B5EF4-FFF2-40B4-BE49-F238E27FC236}">
                <a16:creationId xmlns:a16="http://schemas.microsoft.com/office/drawing/2014/main" id="{6C915FE4-FF68-A04F-B9C6-E16CE283444E}"/>
              </a:ext>
            </a:extLst>
          </p:cNvPr>
          <p:cNvSpPr txBox="1"/>
          <p:nvPr/>
        </p:nvSpPr>
        <p:spPr>
          <a:xfrm>
            <a:off x="1154430" y="1951092"/>
            <a:ext cx="383438" cy="369332"/>
          </a:xfrm>
          <a:prstGeom prst="rect">
            <a:avLst/>
          </a:prstGeom>
          <a:noFill/>
        </p:spPr>
        <p:txBody>
          <a:bodyPr wrap="none" rtlCol="0">
            <a:spAutoFit/>
          </a:bodyPr>
          <a:lstStyle/>
          <a:p>
            <a:r>
              <a:rPr lang="en-GB" dirty="0"/>
              <a:t>X</a:t>
            </a:r>
            <a:r>
              <a:rPr lang="en-GB" baseline="-25000" dirty="0"/>
              <a:t>1</a:t>
            </a:r>
          </a:p>
        </p:txBody>
      </p:sp>
      <p:sp>
        <p:nvSpPr>
          <p:cNvPr id="42" name="Rectangle 41">
            <a:extLst>
              <a:ext uri="{FF2B5EF4-FFF2-40B4-BE49-F238E27FC236}">
                <a16:creationId xmlns:a16="http://schemas.microsoft.com/office/drawing/2014/main" id="{B89948E7-8D64-2E4E-9530-26D2AAA49039}"/>
              </a:ext>
            </a:extLst>
          </p:cNvPr>
          <p:cNvSpPr/>
          <p:nvPr/>
        </p:nvSpPr>
        <p:spPr>
          <a:xfrm>
            <a:off x="706532" y="2909864"/>
            <a:ext cx="1154430" cy="6743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TextBox 42">
            <a:extLst>
              <a:ext uri="{FF2B5EF4-FFF2-40B4-BE49-F238E27FC236}">
                <a16:creationId xmlns:a16="http://schemas.microsoft.com/office/drawing/2014/main" id="{A9662F9F-56D9-F347-AE0A-6A17CA36C20F}"/>
              </a:ext>
            </a:extLst>
          </p:cNvPr>
          <p:cNvSpPr txBox="1"/>
          <p:nvPr/>
        </p:nvSpPr>
        <p:spPr>
          <a:xfrm>
            <a:off x="1154430" y="3075416"/>
            <a:ext cx="383438" cy="369332"/>
          </a:xfrm>
          <a:prstGeom prst="rect">
            <a:avLst/>
          </a:prstGeom>
          <a:noFill/>
        </p:spPr>
        <p:txBody>
          <a:bodyPr wrap="none" rtlCol="0">
            <a:spAutoFit/>
          </a:bodyPr>
          <a:lstStyle/>
          <a:p>
            <a:r>
              <a:rPr lang="en-GB" dirty="0"/>
              <a:t>X</a:t>
            </a:r>
            <a:r>
              <a:rPr lang="en-GB" baseline="-25000" dirty="0"/>
              <a:t>2</a:t>
            </a:r>
          </a:p>
        </p:txBody>
      </p:sp>
      <p:sp>
        <p:nvSpPr>
          <p:cNvPr id="44" name="Rectangle 43">
            <a:extLst>
              <a:ext uri="{FF2B5EF4-FFF2-40B4-BE49-F238E27FC236}">
                <a16:creationId xmlns:a16="http://schemas.microsoft.com/office/drawing/2014/main" id="{DF089995-3D4D-2E40-B8A6-01F79770D4A3}"/>
              </a:ext>
            </a:extLst>
          </p:cNvPr>
          <p:cNvSpPr/>
          <p:nvPr/>
        </p:nvSpPr>
        <p:spPr>
          <a:xfrm>
            <a:off x="2455566" y="2375851"/>
            <a:ext cx="1154430" cy="6743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5" name="TextBox 44">
            <a:extLst>
              <a:ext uri="{FF2B5EF4-FFF2-40B4-BE49-F238E27FC236}">
                <a16:creationId xmlns:a16="http://schemas.microsoft.com/office/drawing/2014/main" id="{632FB29D-4046-6543-9343-82F09098E050}"/>
              </a:ext>
            </a:extLst>
          </p:cNvPr>
          <p:cNvSpPr txBox="1"/>
          <p:nvPr/>
        </p:nvSpPr>
        <p:spPr>
          <a:xfrm>
            <a:off x="2903464" y="2541403"/>
            <a:ext cx="290464" cy="369332"/>
          </a:xfrm>
          <a:prstGeom prst="rect">
            <a:avLst/>
          </a:prstGeom>
          <a:noFill/>
        </p:spPr>
        <p:txBody>
          <a:bodyPr wrap="none" rtlCol="0">
            <a:spAutoFit/>
          </a:bodyPr>
          <a:lstStyle/>
          <a:p>
            <a:r>
              <a:rPr lang="en-GB" dirty="0"/>
              <a:t>F</a:t>
            </a:r>
            <a:endParaRPr lang="en-GB" baseline="-25000" dirty="0"/>
          </a:p>
        </p:txBody>
      </p:sp>
      <p:cxnSp>
        <p:nvCxnSpPr>
          <p:cNvPr id="47" name="Straight Arrow Connector 46">
            <a:extLst>
              <a:ext uri="{FF2B5EF4-FFF2-40B4-BE49-F238E27FC236}">
                <a16:creationId xmlns:a16="http://schemas.microsoft.com/office/drawing/2014/main" id="{FD14F421-9152-2243-A114-6E9D07A9E536}"/>
              </a:ext>
            </a:extLst>
          </p:cNvPr>
          <p:cNvCxnSpPr>
            <a:stCxn id="40" idx="3"/>
          </p:cNvCxnSpPr>
          <p:nvPr/>
        </p:nvCxnSpPr>
        <p:spPr>
          <a:xfrm>
            <a:off x="1860962" y="2122725"/>
            <a:ext cx="594604" cy="4556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165F9FE2-559B-6844-88AB-7450697F70F5}"/>
              </a:ext>
            </a:extLst>
          </p:cNvPr>
          <p:cNvCxnSpPr>
            <a:cxnSpLocks/>
            <a:stCxn id="42" idx="3"/>
          </p:cNvCxnSpPr>
          <p:nvPr/>
        </p:nvCxnSpPr>
        <p:spPr>
          <a:xfrm flipV="1">
            <a:off x="1860962" y="2829917"/>
            <a:ext cx="581960" cy="4171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1" name="Rectangle 50">
                <a:extLst>
                  <a:ext uri="{FF2B5EF4-FFF2-40B4-BE49-F238E27FC236}">
                    <a16:creationId xmlns:a16="http://schemas.microsoft.com/office/drawing/2014/main" id="{BFAC411A-62FE-014E-BCD5-7A4C45B99A81}"/>
                  </a:ext>
                </a:extLst>
              </p:cNvPr>
              <p:cNvSpPr/>
              <p:nvPr/>
            </p:nvSpPr>
            <p:spPr>
              <a:xfrm>
                <a:off x="905288" y="4094941"/>
                <a:ext cx="2009717" cy="369332"/>
              </a:xfrm>
              <a:prstGeom prst="rect">
                <a:avLst/>
              </a:prstGeom>
            </p:spPr>
            <p:txBody>
              <a:bodyPr wrap="none">
                <a:spAutoFit/>
              </a:bodyPr>
              <a:lstStyle/>
              <a:p>
                <a14:m>
                  <m:oMath xmlns:m="http://schemas.openxmlformats.org/officeDocument/2006/math">
                    <m:r>
                      <a:rPr lang="en-GB" b="0" i="1" smtClean="0">
                        <a:latin typeface="Cambria Math" panose="02040503050406030204" pitchFamily="18" charset="0"/>
                      </a:rPr>
                      <m:t>𝐹</m:t>
                    </m:r>
                    <m:r>
                      <a:rPr lang="en-GB" b="0" i="1" smtClean="0">
                        <a:latin typeface="Cambria Math" panose="02040503050406030204" pitchFamily="18" charset="0"/>
                      </a:rPr>
                      <m:t> =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sSub>
                      <m:sSubPr>
                        <m:ctrlPr>
                          <a:rPr lang="en-GB" i="1">
                            <a:latin typeface="Cambria Math" panose="02040503050406030204" pitchFamily="18" charset="0"/>
                          </a:rPr>
                        </m:ctrlPr>
                      </m:sSubPr>
                      <m:e>
                        <m:r>
                          <a:rPr lang="en-GB" i="1">
                            <a:latin typeface="Cambria Math" panose="02040503050406030204" pitchFamily="18" charset="0"/>
                          </a:rPr>
                          <m:t>𝑋</m:t>
                        </m:r>
                      </m:e>
                      <m:sub>
                        <m:r>
                          <a:rPr lang="en-GB" i="1">
                            <a:latin typeface="Cambria Math" panose="02040503050406030204" pitchFamily="18" charset="0"/>
                          </a:rPr>
                          <m:t>1</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oMath>
                </a14:m>
                <a:r>
                  <a:rPr lang="en-GB" dirty="0"/>
                  <a:t> </a:t>
                </a:r>
                <a14:m>
                  <m:oMath xmlns:m="http://schemas.openxmlformats.org/officeDocument/2006/math">
                    <m:sSub>
                      <m:sSubPr>
                        <m:ctrlPr>
                          <a:rPr lang="en-GB" i="1">
                            <a:latin typeface="Cambria Math" panose="02040503050406030204" pitchFamily="18" charset="0"/>
                          </a:rPr>
                        </m:ctrlPr>
                      </m:sSubPr>
                      <m:e>
                        <m:r>
                          <a:rPr lang="en-GB" b="0" i="1" smtClean="0">
                            <a:latin typeface="Cambria Math" panose="02040503050406030204" pitchFamily="18" charset="0"/>
                          </a:rPr>
                          <m:t>𝑋</m:t>
                        </m:r>
                      </m:e>
                      <m:sub>
                        <m:r>
                          <a:rPr lang="en-GB" b="0" i="1" smtClean="0">
                            <a:latin typeface="Cambria Math" panose="02040503050406030204" pitchFamily="18" charset="0"/>
                          </a:rPr>
                          <m:t>2</m:t>
                        </m:r>
                      </m:sub>
                    </m:sSub>
                  </m:oMath>
                </a14:m>
                <a:endParaRPr lang="en-GB" dirty="0"/>
              </a:p>
            </p:txBody>
          </p:sp>
        </mc:Choice>
        <mc:Fallback xmlns="">
          <p:sp>
            <p:nvSpPr>
              <p:cNvPr id="51" name="Rectangle 50">
                <a:extLst>
                  <a:ext uri="{FF2B5EF4-FFF2-40B4-BE49-F238E27FC236}">
                    <a16:creationId xmlns:a16="http://schemas.microsoft.com/office/drawing/2014/main" id="{BFAC411A-62FE-014E-BCD5-7A4C45B99A81}"/>
                  </a:ext>
                </a:extLst>
              </p:cNvPr>
              <p:cNvSpPr>
                <a:spLocks noRot="1" noChangeAspect="1" noMove="1" noResize="1" noEditPoints="1" noAdjustHandles="1" noChangeArrowheads="1" noChangeShapeType="1" noTextEdit="1"/>
              </p:cNvSpPr>
              <p:nvPr/>
            </p:nvSpPr>
            <p:spPr>
              <a:xfrm>
                <a:off x="905288" y="4094941"/>
                <a:ext cx="2009717" cy="369332"/>
              </a:xfrm>
              <a:prstGeom prst="rect">
                <a:avLst/>
              </a:prstGeom>
              <a:blipFill>
                <a:blip r:embed="rId13"/>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CA428D8D-D9EE-FE40-83BE-B92C497D6970}"/>
                  </a:ext>
                </a:extLst>
              </p:cNvPr>
              <p:cNvSpPr txBox="1"/>
              <p:nvPr/>
            </p:nvSpPr>
            <p:spPr>
              <a:xfrm>
                <a:off x="2063451" y="1976134"/>
                <a:ext cx="2726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oMath>
                  </m:oMathPara>
                </a14:m>
                <a:endParaRPr lang="en-GB" dirty="0"/>
              </a:p>
            </p:txBody>
          </p:sp>
        </mc:Choice>
        <mc:Fallback xmlns="">
          <p:sp>
            <p:nvSpPr>
              <p:cNvPr id="52" name="TextBox 51">
                <a:extLst>
                  <a:ext uri="{FF2B5EF4-FFF2-40B4-BE49-F238E27FC236}">
                    <a16:creationId xmlns:a16="http://schemas.microsoft.com/office/drawing/2014/main" id="{CA428D8D-D9EE-FE40-83BE-B92C497D6970}"/>
                  </a:ext>
                </a:extLst>
              </p:cNvPr>
              <p:cNvSpPr txBox="1">
                <a:spLocks noRot="1" noChangeAspect="1" noMove="1" noResize="1" noEditPoints="1" noAdjustHandles="1" noChangeArrowheads="1" noChangeShapeType="1" noTextEdit="1"/>
              </p:cNvSpPr>
              <p:nvPr/>
            </p:nvSpPr>
            <p:spPr>
              <a:xfrm>
                <a:off x="2063451" y="1976134"/>
                <a:ext cx="272639" cy="276999"/>
              </a:xfrm>
              <a:prstGeom prst="rect">
                <a:avLst/>
              </a:prstGeom>
              <a:blipFill>
                <a:blip r:embed="rId14"/>
                <a:stretch>
                  <a:fillRect l="-22727" r="-9091" b="-130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1AD3E525-F9A2-544D-8866-FD532C7628DF}"/>
                  </a:ext>
                </a:extLst>
              </p:cNvPr>
              <p:cNvSpPr txBox="1"/>
              <p:nvPr/>
            </p:nvSpPr>
            <p:spPr>
              <a:xfrm>
                <a:off x="2070705" y="3121582"/>
                <a:ext cx="27796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oMath>
                  </m:oMathPara>
                </a14:m>
                <a:endParaRPr lang="en-GB" dirty="0"/>
              </a:p>
            </p:txBody>
          </p:sp>
        </mc:Choice>
        <mc:Fallback xmlns="">
          <p:sp>
            <p:nvSpPr>
              <p:cNvPr id="53" name="TextBox 52">
                <a:extLst>
                  <a:ext uri="{FF2B5EF4-FFF2-40B4-BE49-F238E27FC236}">
                    <a16:creationId xmlns:a16="http://schemas.microsoft.com/office/drawing/2014/main" id="{1AD3E525-F9A2-544D-8866-FD532C7628DF}"/>
                  </a:ext>
                </a:extLst>
              </p:cNvPr>
              <p:cNvSpPr txBox="1">
                <a:spLocks noRot="1" noChangeAspect="1" noMove="1" noResize="1" noEditPoints="1" noAdjustHandles="1" noChangeArrowheads="1" noChangeShapeType="1" noTextEdit="1"/>
              </p:cNvSpPr>
              <p:nvPr/>
            </p:nvSpPr>
            <p:spPr>
              <a:xfrm>
                <a:off x="2070705" y="3121582"/>
                <a:ext cx="277961" cy="276999"/>
              </a:xfrm>
              <a:prstGeom prst="rect">
                <a:avLst/>
              </a:prstGeom>
              <a:blipFill>
                <a:blip r:embed="rId15"/>
                <a:stretch>
                  <a:fillRect l="-22727" r="-9091" b="-13043"/>
                </a:stretch>
              </a:blipFill>
            </p:spPr>
            <p:txBody>
              <a:bodyPr/>
              <a:lstStyle/>
              <a:p>
                <a:r>
                  <a:rPr lang="en-GB">
                    <a:noFill/>
                  </a:rPr>
                  <a:t> </a:t>
                </a:r>
              </a:p>
            </p:txBody>
          </p:sp>
        </mc:Fallback>
      </mc:AlternateContent>
    </p:spTree>
    <p:extLst>
      <p:ext uri="{BB962C8B-B14F-4D97-AF65-F5344CB8AC3E}">
        <p14:creationId xmlns:p14="http://schemas.microsoft.com/office/powerpoint/2010/main" val="3827746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3720A-46D9-6945-B34C-E8098394D454}"/>
              </a:ext>
            </a:extLst>
          </p:cNvPr>
          <p:cNvSpPr>
            <a:spLocks noGrp="1"/>
          </p:cNvSpPr>
          <p:nvPr>
            <p:ph type="title"/>
          </p:nvPr>
        </p:nvSpPr>
        <p:spPr/>
        <p:txBody>
          <a:bodyPr/>
          <a:lstStyle/>
          <a:p>
            <a:r>
              <a:rPr lang="en-GB" dirty="0"/>
              <a:t>FA</a:t>
            </a:r>
          </a:p>
        </p:txBody>
      </p:sp>
      <p:sp>
        <p:nvSpPr>
          <p:cNvPr id="4" name="Content Placeholder 3">
            <a:extLst>
              <a:ext uri="{FF2B5EF4-FFF2-40B4-BE49-F238E27FC236}">
                <a16:creationId xmlns:a16="http://schemas.microsoft.com/office/drawing/2014/main" id="{FE59AAF3-6ED7-BB40-92BE-CFAB66D1A054}"/>
              </a:ext>
            </a:extLst>
          </p:cNvPr>
          <p:cNvSpPr>
            <a:spLocks noGrp="1"/>
          </p:cNvSpPr>
          <p:nvPr>
            <p:ph sz="half" idx="2"/>
          </p:nvPr>
        </p:nvSpPr>
        <p:spPr/>
        <p:txBody>
          <a:bodyPr/>
          <a:lstStyle/>
          <a:p>
            <a:r>
              <a:rPr lang="en-GB" dirty="0"/>
              <a:t>Factors (F1 and F2) are assumed to underlie or “cause” the observed variables, rather than being linear combinations of them. The errors (e1 to e5) represent the variance in the observed variables unexplained by the factors.</a:t>
            </a:r>
          </a:p>
        </p:txBody>
      </p:sp>
      <p:pic>
        <p:nvPicPr>
          <p:cNvPr id="8" name="Picture 7">
            <a:extLst>
              <a:ext uri="{FF2B5EF4-FFF2-40B4-BE49-F238E27FC236}">
                <a16:creationId xmlns:a16="http://schemas.microsoft.com/office/drawing/2014/main" id="{A67CFFDD-0150-A04B-A963-AA9DCDDE3E95}"/>
              </a:ext>
            </a:extLst>
          </p:cNvPr>
          <p:cNvPicPr>
            <a:picLocks noChangeAspect="1"/>
          </p:cNvPicPr>
          <p:nvPr/>
        </p:nvPicPr>
        <p:blipFill>
          <a:blip r:embed="rId2"/>
          <a:stretch>
            <a:fillRect/>
          </a:stretch>
        </p:blipFill>
        <p:spPr>
          <a:xfrm>
            <a:off x="6500167" y="1414375"/>
            <a:ext cx="5080000" cy="4330700"/>
          </a:xfrm>
          <a:prstGeom prst="rect">
            <a:avLst/>
          </a:prstGeom>
        </p:spPr>
      </p:pic>
    </p:spTree>
    <p:extLst>
      <p:ext uri="{BB962C8B-B14F-4D97-AF65-F5344CB8AC3E}">
        <p14:creationId xmlns:p14="http://schemas.microsoft.com/office/powerpoint/2010/main" val="862932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9B227-2C5A-5242-BA0D-80F5026B54FF}"/>
              </a:ext>
            </a:extLst>
          </p:cNvPr>
          <p:cNvSpPr>
            <a:spLocks noGrp="1"/>
          </p:cNvSpPr>
          <p:nvPr>
            <p:ph type="title"/>
          </p:nvPr>
        </p:nvSpPr>
        <p:spPr/>
        <p:txBody>
          <a:bodyPr/>
          <a:lstStyle/>
          <a:p>
            <a:r>
              <a:rPr lang="en-GB" b="1" dirty="0"/>
              <a:t>FA vs PCA</a:t>
            </a:r>
            <a:endParaRPr lang="en-GB" dirty="0"/>
          </a:p>
        </p:txBody>
      </p:sp>
      <p:sp>
        <p:nvSpPr>
          <p:cNvPr id="3" name="Text Placeholder 2">
            <a:extLst>
              <a:ext uri="{FF2B5EF4-FFF2-40B4-BE49-F238E27FC236}">
                <a16:creationId xmlns:a16="http://schemas.microsoft.com/office/drawing/2014/main" id="{958F092B-4DCD-0347-B81C-7FC0F16F8758}"/>
              </a:ext>
            </a:extLst>
          </p:cNvPr>
          <p:cNvSpPr>
            <a:spLocks noGrp="1"/>
          </p:cNvSpPr>
          <p:nvPr>
            <p:ph type="body" idx="1"/>
          </p:nvPr>
        </p:nvSpPr>
        <p:spPr/>
        <p:txBody>
          <a:bodyPr/>
          <a:lstStyle/>
          <a:p>
            <a:r>
              <a:rPr lang="en-GB" dirty="0"/>
              <a:t>Factor Analysis	</a:t>
            </a:r>
          </a:p>
        </p:txBody>
      </p:sp>
      <p:sp>
        <p:nvSpPr>
          <p:cNvPr id="4" name="Content Placeholder 3">
            <a:extLst>
              <a:ext uri="{FF2B5EF4-FFF2-40B4-BE49-F238E27FC236}">
                <a16:creationId xmlns:a16="http://schemas.microsoft.com/office/drawing/2014/main" id="{0E8CB5CF-A0C3-BB4C-8BC4-C304B9209620}"/>
              </a:ext>
            </a:extLst>
          </p:cNvPr>
          <p:cNvSpPr>
            <a:spLocks noGrp="1"/>
          </p:cNvSpPr>
          <p:nvPr>
            <p:ph sz="half" idx="2"/>
          </p:nvPr>
        </p:nvSpPr>
        <p:spPr/>
        <p:txBody>
          <a:bodyPr>
            <a:normAutofit fontScale="85000" lnSpcReduction="20000"/>
          </a:bodyPr>
          <a:lstStyle/>
          <a:p>
            <a:r>
              <a:rPr lang="en-GB" dirty="0"/>
              <a:t>Work on the basis of finding factors, eigen value, etc.</a:t>
            </a:r>
          </a:p>
          <a:p>
            <a:r>
              <a:rPr lang="en-GB" dirty="0"/>
              <a:t>Aim to find and name the latent variables based on its attributes	</a:t>
            </a:r>
          </a:p>
          <a:p>
            <a:r>
              <a:rPr lang="en-GB" dirty="0"/>
              <a:t>After the factors are loaded, you try to gauge the latent variables</a:t>
            </a:r>
          </a:p>
          <a:p>
            <a:r>
              <a:rPr lang="en-GB" dirty="0"/>
              <a:t>Attempt to achieve parsimony by explaining the maximum amount of </a:t>
            </a:r>
            <a:r>
              <a:rPr lang="en-GB" i="1" dirty="0"/>
              <a:t>common variance </a:t>
            </a:r>
            <a:r>
              <a:rPr lang="en-GB" dirty="0"/>
              <a:t>in a correlation matrix using the smallest number of constructs. These ‘constructs’ are called </a:t>
            </a:r>
            <a:r>
              <a:rPr lang="en-GB" dirty="0">
                <a:solidFill>
                  <a:schemeClr val="accent2"/>
                </a:solidFill>
              </a:rPr>
              <a:t>factors</a:t>
            </a:r>
            <a:endParaRPr lang="en-GB" dirty="0"/>
          </a:p>
        </p:txBody>
      </p:sp>
      <p:sp>
        <p:nvSpPr>
          <p:cNvPr id="5" name="Text Placeholder 4">
            <a:extLst>
              <a:ext uri="{FF2B5EF4-FFF2-40B4-BE49-F238E27FC236}">
                <a16:creationId xmlns:a16="http://schemas.microsoft.com/office/drawing/2014/main" id="{5D3ED7EE-45B7-E24F-A1A2-A0C6C4AFA7A2}"/>
              </a:ext>
            </a:extLst>
          </p:cNvPr>
          <p:cNvSpPr>
            <a:spLocks noGrp="1"/>
          </p:cNvSpPr>
          <p:nvPr>
            <p:ph type="body" sz="quarter" idx="3"/>
          </p:nvPr>
        </p:nvSpPr>
        <p:spPr/>
        <p:txBody>
          <a:bodyPr/>
          <a:lstStyle/>
          <a:p>
            <a:r>
              <a:rPr lang="en-GB" dirty="0"/>
              <a:t>PCA</a:t>
            </a:r>
          </a:p>
        </p:txBody>
      </p:sp>
      <p:sp>
        <p:nvSpPr>
          <p:cNvPr id="6" name="Content Placeholder 5">
            <a:extLst>
              <a:ext uri="{FF2B5EF4-FFF2-40B4-BE49-F238E27FC236}">
                <a16:creationId xmlns:a16="http://schemas.microsoft.com/office/drawing/2014/main" id="{40C28A91-90A0-A742-A6BE-762626856130}"/>
              </a:ext>
            </a:extLst>
          </p:cNvPr>
          <p:cNvSpPr>
            <a:spLocks noGrp="1"/>
          </p:cNvSpPr>
          <p:nvPr>
            <p:ph sz="quarter" idx="4"/>
          </p:nvPr>
        </p:nvSpPr>
        <p:spPr/>
        <p:txBody>
          <a:bodyPr>
            <a:normAutofit fontScale="85000" lnSpcReduction="20000"/>
          </a:bodyPr>
          <a:lstStyle/>
          <a:p>
            <a:r>
              <a:rPr lang="en-GB" dirty="0"/>
              <a:t>Work on the basis of finding factors, eigen value, etc</a:t>
            </a:r>
          </a:p>
          <a:p>
            <a:r>
              <a:rPr lang="en-GB" dirty="0"/>
              <a:t>No need to make sense of the latent variables (Principal components)</a:t>
            </a:r>
          </a:p>
          <a:p>
            <a:r>
              <a:rPr lang="en-GB" dirty="0"/>
              <a:t>Mostly focus on deciding a number of components</a:t>
            </a:r>
          </a:p>
          <a:p>
            <a:r>
              <a:rPr lang="en-GB" dirty="0"/>
              <a:t>Explain the maximum amount of </a:t>
            </a:r>
            <a:r>
              <a:rPr lang="en-GB" i="1" dirty="0"/>
              <a:t>total variance</a:t>
            </a:r>
            <a:r>
              <a:rPr lang="en-GB" dirty="0"/>
              <a:t> in a correlation matrix. It does this by transforming the original variables into a set of linear </a:t>
            </a:r>
            <a:r>
              <a:rPr lang="en-GB" dirty="0">
                <a:solidFill>
                  <a:schemeClr val="accent2"/>
                </a:solidFill>
              </a:rPr>
              <a:t>components</a:t>
            </a:r>
            <a:endParaRPr lang="en-GB" dirty="0"/>
          </a:p>
        </p:txBody>
      </p:sp>
    </p:spTree>
    <p:extLst>
      <p:ext uri="{BB962C8B-B14F-4D97-AF65-F5344CB8AC3E}">
        <p14:creationId xmlns:p14="http://schemas.microsoft.com/office/powerpoint/2010/main" val="3721610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9EF52-97B8-1B43-AB5F-207DC817AA98}"/>
              </a:ext>
            </a:extLst>
          </p:cNvPr>
          <p:cNvSpPr>
            <a:spLocks noGrp="1"/>
          </p:cNvSpPr>
          <p:nvPr>
            <p:ph type="title"/>
          </p:nvPr>
        </p:nvSpPr>
        <p:spPr/>
        <p:txBody>
          <a:bodyPr/>
          <a:lstStyle/>
          <a:p>
            <a:r>
              <a:rPr lang="en-GB" b="1" dirty="0"/>
              <a:t>Terminologies</a:t>
            </a:r>
          </a:p>
        </p:txBody>
      </p:sp>
      <p:sp>
        <p:nvSpPr>
          <p:cNvPr id="3" name="Content Placeholder 2">
            <a:extLst>
              <a:ext uri="{FF2B5EF4-FFF2-40B4-BE49-F238E27FC236}">
                <a16:creationId xmlns:a16="http://schemas.microsoft.com/office/drawing/2014/main" id="{167F6F24-7BAB-9C4E-AC2E-737554CEA546}"/>
              </a:ext>
            </a:extLst>
          </p:cNvPr>
          <p:cNvSpPr>
            <a:spLocks noGrp="1"/>
          </p:cNvSpPr>
          <p:nvPr>
            <p:ph idx="1"/>
          </p:nvPr>
        </p:nvSpPr>
        <p:spPr>
          <a:xfrm>
            <a:off x="838200" y="1453836"/>
            <a:ext cx="10515600" cy="4351338"/>
          </a:xfrm>
        </p:spPr>
        <p:txBody>
          <a:bodyPr/>
          <a:lstStyle/>
          <a:p>
            <a:pPr lvl="0"/>
            <a:r>
              <a:rPr lang="en-US" sz="1700" dirty="0"/>
              <a:t>Measured variables – the real scores from the experiments – squares on a diagram</a:t>
            </a:r>
          </a:p>
          <a:p>
            <a:pPr lvl="0"/>
            <a:r>
              <a:rPr lang="en-US" sz="1700" dirty="0"/>
              <a:t>Latent variables – the construct the measured variables are supposed to represents – not measured directly – circles on a diagram</a:t>
            </a:r>
          </a:p>
          <a:p>
            <a:pPr lvl="0"/>
            <a:r>
              <a:rPr lang="en-US" sz="1700" dirty="0"/>
              <a:t>Variance Types</a:t>
            </a:r>
            <a:endParaRPr lang="en-GB" sz="1700" dirty="0"/>
          </a:p>
          <a:p>
            <a:pPr lvl="1"/>
            <a:r>
              <a:rPr lang="en-US" sz="1700" dirty="0"/>
              <a:t>Common variance = overlapping variance between items (systematic variance)</a:t>
            </a:r>
            <a:endParaRPr lang="en-GB" sz="1700" dirty="0"/>
          </a:p>
          <a:p>
            <a:pPr lvl="1"/>
            <a:r>
              <a:rPr lang="en-US" sz="1700" dirty="0"/>
              <a:t>Unique variance = variance only related to that item (error variance)</a:t>
            </a:r>
            <a:endParaRPr lang="en-GB" sz="1700" dirty="0"/>
          </a:p>
          <a:p>
            <a:pPr lvl="1"/>
            <a:r>
              <a:rPr lang="en-US" sz="1700" dirty="0"/>
              <a:t>Communality – the common variance for the item</a:t>
            </a:r>
            <a:endParaRPr lang="en-GB" sz="1700" dirty="0"/>
          </a:p>
          <a:p>
            <a:pPr marL="0" indent="0">
              <a:buNone/>
            </a:pPr>
            <a:endParaRPr lang="en-GB" dirty="0"/>
          </a:p>
        </p:txBody>
      </p:sp>
      <p:pic>
        <p:nvPicPr>
          <p:cNvPr id="4" name="Picture 3">
            <a:extLst>
              <a:ext uri="{FF2B5EF4-FFF2-40B4-BE49-F238E27FC236}">
                <a16:creationId xmlns:a16="http://schemas.microsoft.com/office/drawing/2014/main" id="{4B8BFFBE-C040-C244-A5BC-17977588C43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447292" y="3629505"/>
            <a:ext cx="3449955" cy="2686050"/>
          </a:xfrm>
          <a:prstGeom prst="rect">
            <a:avLst/>
          </a:prstGeom>
          <a:noFill/>
          <a:ln>
            <a:noFill/>
          </a:ln>
        </p:spPr>
      </p:pic>
    </p:spTree>
    <p:extLst>
      <p:ext uri="{BB962C8B-B14F-4D97-AF65-F5344CB8AC3E}">
        <p14:creationId xmlns:p14="http://schemas.microsoft.com/office/powerpoint/2010/main" val="35320326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4BB14-8630-3A44-B6DD-9ED06529FC27}"/>
              </a:ext>
            </a:extLst>
          </p:cNvPr>
          <p:cNvSpPr>
            <a:spLocks noGrp="1"/>
          </p:cNvSpPr>
          <p:nvPr>
            <p:ph type="title"/>
          </p:nvPr>
        </p:nvSpPr>
        <p:spPr/>
        <p:txBody>
          <a:bodyPr/>
          <a:lstStyle/>
          <a:p>
            <a:r>
              <a:rPr lang="en-GB" dirty="0"/>
              <a:t>Partitioning the variance in Factor Analysis</a:t>
            </a:r>
          </a:p>
        </p:txBody>
      </p:sp>
      <p:sp>
        <p:nvSpPr>
          <p:cNvPr id="3" name="Content Placeholder 2">
            <a:extLst>
              <a:ext uri="{FF2B5EF4-FFF2-40B4-BE49-F238E27FC236}">
                <a16:creationId xmlns:a16="http://schemas.microsoft.com/office/drawing/2014/main" id="{6C61F845-37B0-3240-9097-2A9C9B05FCFD}"/>
              </a:ext>
            </a:extLst>
          </p:cNvPr>
          <p:cNvSpPr>
            <a:spLocks noGrp="1"/>
          </p:cNvSpPr>
          <p:nvPr>
            <p:ph idx="1"/>
          </p:nvPr>
        </p:nvSpPr>
        <p:spPr>
          <a:xfrm>
            <a:off x="838200" y="1594513"/>
            <a:ext cx="10515600" cy="4351338"/>
          </a:xfrm>
        </p:spPr>
        <p:txBody>
          <a:bodyPr/>
          <a:lstStyle/>
          <a:p>
            <a:r>
              <a:rPr lang="en-GB" dirty="0"/>
              <a:t>The goal of factor analysis is to model the interrelationships among items, we focus primarily on the variance and covariance rather than the mean. Factor analysis assumes that variance can be partitioned into two types of variance, common and unique</a:t>
            </a:r>
          </a:p>
        </p:txBody>
      </p:sp>
      <p:pic>
        <p:nvPicPr>
          <p:cNvPr id="1026" name="Picture 2" descr="fig02d">
            <a:extLst>
              <a:ext uri="{FF2B5EF4-FFF2-40B4-BE49-F238E27FC236}">
                <a16:creationId xmlns:a16="http://schemas.microsoft.com/office/drawing/2014/main" id="{2710FD6D-7516-1E4A-915E-B50B82EBB9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7504" y="3305907"/>
            <a:ext cx="5769661" cy="301553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B7C67E9-FA82-B144-B62B-7475687CDC70}"/>
              </a:ext>
            </a:extLst>
          </p:cNvPr>
          <p:cNvSpPr txBox="1"/>
          <p:nvPr/>
        </p:nvSpPr>
        <p:spPr>
          <a:xfrm>
            <a:off x="952794" y="3516922"/>
            <a:ext cx="4413025" cy="2400657"/>
          </a:xfrm>
          <a:prstGeom prst="rect">
            <a:avLst/>
          </a:prstGeom>
          <a:noFill/>
        </p:spPr>
        <p:txBody>
          <a:bodyPr wrap="square" rtlCol="0">
            <a:spAutoFit/>
          </a:bodyPr>
          <a:lstStyle/>
          <a:p>
            <a:pPr marL="285750" indent="-285750">
              <a:buFont typeface="Arial" panose="020B0604020202020204" pitchFamily="34" charset="0"/>
              <a:buChar char="•"/>
            </a:pPr>
            <a:r>
              <a:rPr lang="en-GB" sz="1500" dirty="0"/>
              <a:t>Communality (also called h</a:t>
            </a:r>
            <a:r>
              <a:rPr lang="en-GB" sz="1500" baseline="30000" dirty="0"/>
              <a:t>2</a:t>
            </a:r>
            <a:r>
              <a:rPr lang="en-GB" sz="1500" dirty="0"/>
              <a:t>) is a definition of common variance that ranges between 0 and 1. If communalities for a particular variable are low (between 0.0-0.4), then that variable may struggle to load significantly on any factor.</a:t>
            </a:r>
          </a:p>
          <a:p>
            <a:pPr marL="285750" indent="-285750">
              <a:buFont typeface="Arial" panose="020B0604020202020204" pitchFamily="34" charset="0"/>
              <a:buChar char="•"/>
            </a:pPr>
            <a:r>
              <a:rPr lang="en-GB" sz="1500" dirty="0"/>
              <a:t>Specific variance: is variance that is specific to a particular item</a:t>
            </a:r>
          </a:p>
          <a:p>
            <a:pPr marL="285750" indent="-285750">
              <a:buFont typeface="Arial" panose="020B0604020202020204" pitchFamily="34" charset="0"/>
              <a:buChar char="•"/>
            </a:pPr>
            <a:r>
              <a:rPr lang="en-GB" sz="1500" dirty="0"/>
              <a:t>Error variance: comes from errors of measurement and basically anything unexplained by common or specific variance</a:t>
            </a:r>
          </a:p>
        </p:txBody>
      </p:sp>
    </p:spTree>
    <p:extLst>
      <p:ext uri="{BB962C8B-B14F-4D97-AF65-F5344CB8AC3E}">
        <p14:creationId xmlns:p14="http://schemas.microsoft.com/office/powerpoint/2010/main" val="3983219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7E769-685E-3946-ADD1-F47B55D9DA65}"/>
              </a:ext>
            </a:extLst>
          </p:cNvPr>
          <p:cNvSpPr>
            <a:spLocks noGrp="1"/>
          </p:cNvSpPr>
          <p:nvPr>
            <p:ph type="title"/>
          </p:nvPr>
        </p:nvSpPr>
        <p:spPr/>
        <p:txBody>
          <a:bodyPr/>
          <a:lstStyle/>
          <a:p>
            <a:r>
              <a:rPr lang="en-GB" dirty="0"/>
              <a:t>Partitioning the variance in Factor Analysis</a:t>
            </a:r>
          </a:p>
        </p:txBody>
      </p:sp>
      <p:sp>
        <p:nvSpPr>
          <p:cNvPr id="3" name="Content Placeholder 2">
            <a:extLst>
              <a:ext uri="{FF2B5EF4-FFF2-40B4-BE49-F238E27FC236}">
                <a16:creationId xmlns:a16="http://schemas.microsoft.com/office/drawing/2014/main" id="{48AD7875-C5B1-8A44-B3CE-63A8B6E0E313}"/>
              </a:ext>
            </a:extLst>
          </p:cNvPr>
          <p:cNvSpPr>
            <a:spLocks noGrp="1"/>
          </p:cNvSpPr>
          <p:nvPr>
            <p:ph idx="1"/>
          </p:nvPr>
        </p:nvSpPr>
        <p:spPr/>
        <p:txBody>
          <a:bodyPr/>
          <a:lstStyle/>
          <a:p>
            <a:r>
              <a:rPr lang="en-GB" dirty="0"/>
              <a:t>The total variance is made up to common variance and unique variance, and unique variance is composed of specific and error variance. If the total variance is 1, then the communality is h</a:t>
            </a:r>
            <a:r>
              <a:rPr lang="en-GB" baseline="30000" dirty="0"/>
              <a:t>2 </a:t>
            </a:r>
            <a:r>
              <a:rPr lang="en-GB" dirty="0"/>
              <a:t>and the unique variance is 1−h</a:t>
            </a:r>
            <a:r>
              <a:rPr lang="en-GB" baseline="30000" dirty="0"/>
              <a:t>2</a:t>
            </a:r>
            <a:r>
              <a:rPr lang="en-GB" dirty="0"/>
              <a:t>. </a:t>
            </a:r>
          </a:p>
        </p:txBody>
      </p:sp>
      <p:pic>
        <p:nvPicPr>
          <p:cNvPr id="2050" name="Picture 2" descr="fig03b">
            <a:extLst>
              <a:ext uri="{FF2B5EF4-FFF2-40B4-BE49-F238E27FC236}">
                <a16:creationId xmlns:a16="http://schemas.microsoft.com/office/drawing/2014/main" id="{18969F9A-3C64-1049-8670-5607405778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0751" y="3268337"/>
            <a:ext cx="3024345" cy="3224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4233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3702A-718B-3548-B5F7-5B16C83FC6C8}"/>
              </a:ext>
            </a:extLst>
          </p:cNvPr>
          <p:cNvSpPr>
            <a:spLocks noGrp="1"/>
          </p:cNvSpPr>
          <p:nvPr>
            <p:ph type="title"/>
          </p:nvPr>
        </p:nvSpPr>
        <p:spPr>
          <a:xfrm>
            <a:off x="712515" y="35526"/>
            <a:ext cx="10515600" cy="1325563"/>
          </a:xfrm>
        </p:spPr>
        <p:txBody>
          <a:bodyPr/>
          <a:lstStyle/>
          <a:p>
            <a:r>
              <a:rPr lang="en-GB" b="1" dirty="0"/>
              <a:t>FA – Factor loadings</a:t>
            </a:r>
            <a:endParaRPr lang="en-GB" dirty="0"/>
          </a:p>
        </p:txBody>
      </p:sp>
      <p:grpSp>
        <p:nvGrpSpPr>
          <p:cNvPr id="54" name="Group 53">
            <a:extLst>
              <a:ext uri="{FF2B5EF4-FFF2-40B4-BE49-F238E27FC236}">
                <a16:creationId xmlns:a16="http://schemas.microsoft.com/office/drawing/2014/main" id="{3C956501-FBF9-0441-A084-5110585F4F76}"/>
              </a:ext>
            </a:extLst>
          </p:cNvPr>
          <p:cNvGrpSpPr/>
          <p:nvPr/>
        </p:nvGrpSpPr>
        <p:grpSpPr>
          <a:xfrm>
            <a:off x="6336740" y="1338737"/>
            <a:ext cx="4477836" cy="1699746"/>
            <a:chOff x="6195060" y="1214904"/>
            <a:chExt cx="4477836" cy="1699746"/>
          </a:xfrm>
        </p:grpSpPr>
        <p:grpSp>
          <p:nvGrpSpPr>
            <p:cNvPr id="7" name="Group 6">
              <a:extLst>
                <a:ext uri="{FF2B5EF4-FFF2-40B4-BE49-F238E27FC236}">
                  <a16:creationId xmlns:a16="http://schemas.microsoft.com/office/drawing/2014/main" id="{9EF01979-E4D6-794A-A41A-33C0F1DCAE58}"/>
                </a:ext>
              </a:extLst>
            </p:cNvPr>
            <p:cNvGrpSpPr/>
            <p:nvPr/>
          </p:nvGrpSpPr>
          <p:grpSpPr>
            <a:xfrm>
              <a:off x="8353555" y="1261071"/>
              <a:ext cx="1122157" cy="538799"/>
              <a:chOff x="7313425" y="1775421"/>
              <a:chExt cx="1122157" cy="538799"/>
            </a:xfrm>
          </p:grpSpPr>
          <p:sp>
            <p:nvSpPr>
              <p:cNvPr id="5" name="Rectangle 4">
                <a:extLst>
                  <a:ext uri="{FF2B5EF4-FFF2-40B4-BE49-F238E27FC236}">
                    <a16:creationId xmlns:a16="http://schemas.microsoft.com/office/drawing/2014/main" id="{8648153B-31B6-224A-9A16-8AC9166C3687}"/>
                  </a:ext>
                </a:extLst>
              </p:cNvPr>
              <p:cNvSpPr/>
              <p:nvPr/>
            </p:nvSpPr>
            <p:spPr>
              <a:xfrm>
                <a:off x="7313425" y="1775421"/>
                <a:ext cx="1122157" cy="5387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E20EC10-6917-2343-AAE5-08D766E4FC5B}"/>
                      </a:ext>
                    </a:extLst>
                  </p:cNvPr>
                  <p:cNvSpPr txBox="1"/>
                  <p:nvPr/>
                </p:nvSpPr>
                <p:spPr>
                  <a:xfrm>
                    <a:off x="7635240" y="1860155"/>
                    <a:ext cx="47852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𝑋</m:t>
                              </m:r>
                            </m:e>
                            <m:sub>
                              <m:r>
                                <a:rPr lang="en-GB" b="0" i="1" smtClean="0">
                                  <a:latin typeface="Cambria Math" panose="02040503050406030204" pitchFamily="18" charset="0"/>
                                </a:rPr>
                                <m:t>1</m:t>
                              </m:r>
                            </m:sub>
                          </m:sSub>
                        </m:oMath>
                      </m:oMathPara>
                    </a14:m>
                    <a:endParaRPr lang="en-GB" dirty="0"/>
                  </a:p>
                </p:txBody>
              </p:sp>
            </mc:Choice>
            <mc:Fallback xmlns="">
              <p:sp>
                <p:nvSpPr>
                  <p:cNvPr id="6" name="TextBox 5">
                    <a:extLst>
                      <a:ext uri="{FF2B5EF4-FFF2-40B4-BE49-F238E27FC236}">
                        <a16:creationId xmlns:a16="http://schemas.microsoft.com/office/drawing/2014/main" id="{DE20EC10-6917-2343-AAE5-08D766E4FC5B}"/>
                      </a:ext>
                    </a:extLst>
                  </p:cNvPr>
                  <p:cNvSpPr txBox="1">
                    <a:spLocks noRot="1" noChangeAspect="1" noMove="1" noResize="1" noEditPoints="1" noAdjustHandles="1" noChangeArrowheads="1" noChangeShapeType="1" noTextEdit="1"/>
                  </p:cNvSpPr>
                  <p:nvPr/>
                </p:nvSpPr>
                <p:spPr>
                  <a:xfrm>
                    <a:off x="7635240" y="1860155"/>
                    <a:ext cx="478528" cy="369332"/>
                  </a:xfrm>
                  <a:prstGeom prst="rect">
                    <a:avLst/>
                  </a:prstGeom>
                  <a:blipFill>
                    <a:blip r:embed="rId2"/>
                    <a:stretch>
                      <a:fillRect/>
                    </a:stretch>
                  </a:blipFill>
                </p:spPr>
                <p:txBody>
                  <a:bodyPr/>
                  <a:lstStyle/>
                  <a:p>
                    <a:r>
                      <a:rPr lang="en-GB">
                        <a:noFill/>
                      </a:rPr>
                      <a:t> </a:t>
                    </a:r>
                  </a:p>
                </p:txBody>
              </p:sp>
            </mc:Fallback>
          </mc:AlternateContent>
        </p:grpSp>
        <p:grpSp>
          <p:nvGrpSpPr>
            <p:cNvPr id="11" name="Group 10">
              <a:extLst>
                <a:ext uri="{FF2B5EF4-FFF2-40B4-BE49-F238E27FC236}">
                  <a16:creationId xmlns:a16="http://schemas.microsoft.com/office/drawing/2014/main" id="{2438FE08-90B9-0149-BB6B-DC0AA29A7EF7}"/>
                </a:ext>
              </a:extLst>
            </p:cNvPr>
            <p:cNvGrpSpPr/>
            <p:nvPr/>
          </p:nvGrpSpPr>
          <p:grpSpPr>
            <a:xfrm>
              <a:off x="8353554" y="2375851"/>
              <a:ext cx="1122157" cy="538799"/>
              <a:chOff x="7313425" y="1775421"/>
              <a:chExt cx="1122157" cy="538799"/>
            </a:xfrm>
          </p:grpSpPr>
          <p:sp>
            <p:nvSpPr>
              <p:cNvPr id="13" name="Rectangle 12">
                <a:extLst>
                  <a:ext uri="{FF2B5EF4-FFF2-40B4-BE49-F238E27FC236}">
                    <a16:creationId xmlns:a16="http://schemas.microsoft.com/office/drawing/2014/main" id="{BF65AB1A-5879-7B4F-8B6E-EB8387CA5AAD}"/>
                  </a:ext>
                </a:extLst>
              </p:cNvPr>
              <p:cNvSpPr/>
              <p:nvPr/>
            </p:nvSpPr>
            <p:spPr>
              <a:xfrm>
                <a:off x="7313425" y="1775421"/>
                <a:ext cx="1122157" cy="5387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E4D3DD4-B100-7C40-A572-8CBD91F9E64B}"/>
                      </a:ext>
                    </a:extLst>
                  </p:cNvPr>
                  <p:cNvSpPr txBox="1"/>
                  <p:nvPr/>
                </p:nvSpPr>
                <p:spPr>
                  <a:xfrm>
                    <a:off x="7635240" y="1860155"/>
                    <a:ext cx="48385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𝑋</m:t>
                              </m:r>
                            </m:e>
                            <m:sub>
                              <m:r>
                                <a:rPr lang="en-GB" b="0" i="1" smtClean="0">
                                  <a:latin typeface="Cambria Math" panose="02040503050406030204" pitchFamily="18" charset="0"/>
                                </a:rPr>
                                <m:t>2</m:t>
                              </m:r>
                            </m:sub>
                          </m:sSub>
                        </m:oMath>
                      </m:oMathPara>
                    </a14:m>
                    <a:endParaRPr lang="en-GB" dirty="0"/>
                  </a:p>
                </p:txBody>
              </p:sp>
            </mc:Choice>
            <mc:Fallback xmlns="">
              <p:sp>
                <p:nvSpPr>
                  <p:cNvPr id="14" name="TextBox 13">
                    <a:extLst>
                      <a:ext uri="{FF2B5EF4-FFF2-40B4-BE49-F238E27FC236}">
                        <a16:creationId xmlns:a16="http://schemas.microsoft.com/office/drawing/2014/main" id="{7E4D3DD4-B100-7C40-A572-8CBD91F9E64B}"/>
                      </a:ext>
                    </a:extLst>
                  </p:cNvPr>
                  <p:cNvSpPr txBox="1">
                    <a:spLocks noRot="1" noChangeAspect="1" noMove="1" noResize="1" noEditPoints="1" noAdjustHandles="1" noChangeArrowheads="1" noChangeShapeType="1" noTextEdit="1"/>
                  </p:cNvSpPr>
                  <p:nvPr/>
                </p:nvSpPr>
                <p:spPr>
                  <a:xfrm>
                    <a:off x="7635240" y="1860155"/>
                    <a:ext cx="483850" cy="369332"/>
                  </a:xfrm>
                  <a:prstGeom prst="rect">
                    <a:avLst/>
                  </a:prstGeom>
                  <a:blipFill>
                    <a:blip r:embed="rId3"/>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1C964A9-DF1C-A740-89A9-4DC21C9F117B}"/>
                    </a:ext>
                  </a:extLst>
                </p:cNvPr>
                <p:cNvSpPr txBox="1"/>
                <p:nvPr/>
              </p:nvSpPr>
              <p:spPr>
                <a:xfrm>
                  <a:off x="10360230" y="1391970"/>
                  <a:ext cx="2868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1</m:t>
                            </m:r>
                          </m:sub>
                        </m:sSub>
                      </m:oMath>
                    </m:oMathPara>
                  </a14:m>
                  <a:endParaRPr lang="en-GB" dirty="0"/>
                </a:p>
              </p:txBody>
            </p:sp>
          </mc:Choice>
          <mc:Fallback xmlns="">
            <p:sp>
              <p:nvSpPr>
                <p:cNvPr id="8" name="TextBox 7">
                  <a:extLst>
                    <a:ext uri="{FF2B5EF4-FFF2-40B4-BE49-F238E27FC236}">
                      <a16:creationId xmlns:a16="http://schemas.microsoft.com/office/drawing/2014/main" id="{B1C964A9-DF1C-A740-89A9-4DC21C9F117B}"/>
                    </a:ext>
                  </a:extLst>
                </p:cNvPr>
                <p:cNvSpPr txBox="1">
                  <a:spLocks noRot="1" noChangeAspect="1" noMove="1" noResize="1" noEditPoints="1" noAdjustHandles="1" noChangeArrowheads="1" noChangeShapeType="1" noTextEdit="1"/>
                </p:cNvSpPr>
                <p:nvPr/>
              </p:nvSpPr>
              <p:spPr>
                <a:xfrm>
                  <a:off x="10360230" y="1391970"/>
                  <a:ext cx="286810" cy="276999"/>
                </a:xfrm>
                <a:prstGeom prst="rect">
                  <a:avLst/>
                </a:prstGeom>
                <a:blipFill>
                  <a:blip r:embed="rId4"/>
                  <a:stretch>
                    <a:fillRect l="-21739" r="-4348" b="-130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A05F270A-99B7-B248-A6AA-D99A43041C9F}"/>
                    </a:ext>
                  </a:extLst>
                </p:cNvPr>
                <p:cNvSpPr txBox="1"/>
                <p:nvPr/>
              </p:nvSpPr>
              <p:spPr>
                <a:xfrm>
                  <a:off x="10380765" y="2506750"/>
                  <a:ext cx="2921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2</m:t>
                            </m:r>
                          </m:sub>
                        </m:sSub>
                      </m:oMath>
                    </m:oMathPara>
                  </a14:m>
                  <a:endParaRPr lang="en-GB" dirty="0"/>
                </a:p>
              </p:txBody>
            </p:sp>
          </mc:Choice>
          <mc:Fallback xmlns="">
            <p:sp>
              <p:nvSpPr>
                <p:cNvPr id="15" name="TextBox 14">
                  <a:extLst>
                    <a:ext uri="{FF2B5EF4-FFF2-40B4-BE49-F238E27FC236}">
                      <a16:creationId xmlns:a16="http://schemas.microsoft.com/office/drawing/2014/main" id="{A05F270A-99B7-B248-A6AA-D99A43041C9F}"/>
                    </a:ext>
                  </a:extLst>
                </p:cNvPr>
                <p:cNvSpPr txBox="1">
                  <a:spLocks noRot="1" noChangeAspect="1" noMove="1" noResize="1" noEditPoints="1" noAdjustHandles="1" noChangeArrowheads="1" noChangeShapeType="1" noTextEdit="1"/>
                </p:cNvSpPr>
                <p:nvPr/>
              </p:nvSpPr>
              <p:spPr>
                <a:xfrm>
                  <a:off x="10380765" y="2506750"/>
                  <a:ext cx="292131" cy="276999"/>
                </a:xfrm>
                <a:prstGeom prst="rect">
                  <a:avLst/>
                </a:prstGeom>
                <a:blipFill>
                  <a:blip r:embed="rId5"/>
                  <a:stretch>
                    <a:fillRect l="-16667" r="-4167" b="-13636"/>
                  </a:stretch>
                </a:blipFill>
              </p:spPr>
              <p:txBody>
                <a:bodyPr/>
                <a:lstStyle/>
                <a:p>
                  <a:r>
                    <a:rPr lang="en-GB">
                      <a:noFill/>
                    </a:rPr>
                    <a:t> </a:t>
                  </a:r>
                </a:p>
              </p:txBody>
            </p:sp>
          </mc:Fallback>
        </mc:AlternateContent>
        <p:cxnSp>
          <p:nvCxnSpPr>
            <p:cNvPr id="10" name="Straight Arrow Connector 9">
              <a:extLst>
                <a:ext uri="{FF2B5EF4-FFF2-40B4-BE49-F238E27FC236}">
                  <a16:creationId xmlns:a16="http://schemas.microsoft.com/office/drawing/2014/main" id="{3ABC001B-8E5F-7E45-B6F9-3ECD0BE144AC}"/>
                </a:ext>
              </a:extLst>
            </p:cNvPr>
            <p:cNvCxnSpPr>
              <a:endCxn id="5" idx="3"/>
            </p:cNvCxnSpPr>
            <p:nvPr/>
          </p:nvCxnSpPr>
          <p:spPr>
            <a:xfrm flipH="1">
              <a:off x="9475712" y="1530469"/>
              <a:ext cx="776998" cy="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FD4B352-3244-234C-BED6-E7B8EE3EA186}"/>
                </a:ext>
              </a:extLst>
            </p:cNvPr>
            <p:cNvCxnSpPr/>
            <p:nvPr/>
          </p:nvCxnSpPr>
          <p:spPr>
            <a:xfrm flipH="1">
              <a:off x="9475712" y="2645249"/>
              <a:ext cx="776998" cy="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5DBD1FEF-53CC-1441-AE4C-ECDBDA1311F3}"/>
                </a:ext>
              </a:extLst>
            </p:cNvPr>
            <p:cNvCxnSpPr>
              <a:cxnSpLocks/>
              <a:endCxn id="5" idx="1"/>
            </p:cNvCxnSpPr>
            <p:nvPr/>
          </p:nvCxnSpPr>
          <p:spPr>
            <a:xfrm flipV="1">
              <a:off x="6926580" y="1530471"/>
              <a:ext cx="1426975" cy="5573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9FA24E1-968A-194D-8AB0-A9E95E05E32F}"/>
                </a:ext>
              </a:extLst>
            </p:cNvPr>
            <p:cNvCxnSpPr>
              <a:cxnSpLocks/>
              <a:endCxn id="13" idx="1"/>
            </p:cNvCxnSpPr>
            <p:nvPr/>
          </p:nvCxnSpPr>
          <p:spPr>
            <a:xfrm>
              <a:off x="6926580" y="2274570"/>
              <a:ext cx="1426974" cy="3706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93075E1A-F2F4-A148-A6AA-4C1577618AFA}"/>
                </a:ext>
              </a:extLst>
            </p:cNvPr>
            <p:cNvSpPr/>
            <p:nvPr/>
          </p:nvSpPr>
          <p:spPr>
            <a:xfrm>
              <a:off x="6195060" y="1977390"/>
              <a:ext cx="731520" cy="66785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426DE36B-D07A-A841-B03F-96A51BD01BD4}"/>
                </a:ext>
              </a:extLst>
            </p:cNvPr>
            <p:cNvSpPr txBox="1"/>
            <p:nvPr/>
          </p:nvSpPr>
          <p:spPr>
            <a:xfrm>
              <a:off x="6397549" y="2126653"/>
              <a:ext cx="290464" cy="369332"/>
            </a:xfrm>
            <a:prstGeom prst="rect">
              <a:avLst/>
            </a:prstGeom>
            <a:noFill/>
          </p:spPr>
          <p:txBody>
            <a:bodyPr wrap="none" rtlCol="0">
              <a:spAutoFit/>
            </a:bodyPr>
            <a:lstStyle/>
            <a:p>
              <a:r>
                <a:rPr lang="en-GB" dirty="0"/>
                <a:t>F</a:t>
              </a:r>
              <a:endParaRPr lang="en-GB" baseline="-25000" dirty="0"/>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4E1176D-74E3-A748-836F-5DB844142017}"/>
                    </a:ext>
                  </a:extLst>
                </p:cNvPr>
                <p:cNvSpPr txBox="1"/>
                <p:nvPr/>
              </p:nvSpPr>
              <p:spPr>
                <a:xfrm>
                  <a:off x="7266985" y="1363049"/>
                  <a:ext cx="2726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oMath>
                    </m:oMathPara>
                  </a14:m>
                  <a:endParaRPr lang="en-GB" dirty="0"/>
                </a:p>
              </p:txBody>
            </p:sp>
          </mc:Choice>
          <mc:Fallback xmlns="">
            <p:sp>
              <p:nvSpPr>
                <p:cNvPr id="28" name="TextBox 27">
                  <a:extLst>
                    <a:ext uri="{FF2B5EF4-FFF2-40B4-BE49-F238E27FC236}">
                      <a16:creationId xmlns:a16="http://schemas.microsoft.com/office/drawing/2014/main" id="{F4E1176D-74E3-A748-836F-5DB844142017}"/>
                    </a:ext>
                  </a:extLst>
                </p:cNvPr>
                <p:cNvSpPr txBox="1">
                  <a:spLocks noRot="1" noChangeAspect="1" noMove="1" noResize="1" noEditPoints="1" noAdjustHandles="1" noChangeArrowheads="1" noChangeShapeType="1" noTextEdit="1"/>
                </p:cNvSpPr>
                <p:nvPr/>
              </p:nvSpPr>
              <p:spPr>
                <a:xfrm>
                  <a:off x="7266985" y="1363049"/>
                  <a:ext cx="272639" cy="276999"/>
                </a:xfrm>
                <a:prstGeom prst="rect">
                  <a:avLst/>
                </a:prstGeom>
                <a:blipFill>
                  <a:blip r:embed="rId6"/>
                  <a:stretch>
                    <a:fillRect l="-22727" r="-9091" b="-181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0534E72E-96E2-A249-A47C-6C6272982B9A}"/>
                    </a:ext>
                  </a:extLst>
                </p:cNvPr>
                <p:cNvSpPr txBox="1"/>
                <p:nvPr/>
              </p:nvSpPr>
              <p:spPr>
                <a:xfrm>
                  <a:off x="7312180" y="2495985"/>
                  <a:ext cx="27796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oMath>
                    </m:oMathPara>
                  </a14:m>
                  <a:endParaRPr lang="en-GB" dirty="0"/>
                </a:p>
              </p:txBody>
            </p:sp>
          </mc:Choice>
          <mc:Fallback xmlns="">
            <p:sp>
              <p:nvSpPr>
                <p:cNvPr id="29" name="TextBox 28">
                  <a:extLst>
                    <a:ext uri="{FF2B5EF4-FFF2-40B4-BE49-F238E27FC236}">
                      <a16:creationId xmlns:a16="http://schemas.microsoft.com/office/drawing/2014/main" id="{0534E72E-96E2-A249-A47C-6C6272982B9A}"/>
                    </a:ext>
                  </a:extLst>
                </p:cNvPr>
                <p:cNvSpPr txBox="1">
                  <a:spLocks noRot="1" noChangeAspect="1" noMove="1" noResize="1" noEditPoints="1" noAdjustHandles="1" noChangeArrowheads="1" noChangeShapeType="1" noTextEdit="1"/>
                </p:cNvSpPr>
                <p:nvPr/>
              </p:nvSpPr>
              <p:spPr>
                <a:xfrm>
                  <a:off x="7312180" y="2495985"/>
                  <a:ext cx="277961" cy="276999"/>
                </a:xfrm>
                <a:prstGeom prst="rect">
                  <a:avLst/>
                </a:prstGeom>
                <a:blipFill>
                  <a:blip r:embed="rId7"/>
                  <a:stretch>
                    <a:fillRect l="-22727" r="-9091" b="-130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4837360-8C0D-304E-B215-1F7F496CE71E}"/>
                    </a:ext>
                  </a:extLst>
                </p:cNvPr>
                <p:cNvSpPr txBox="1"/>
                <p:nvPr/>
              </p:nvSpPr>
              <p:spPr>
                <a:xfrm>
                  <a:off x="9773031" y="1214904"/>
                  <a:ext cx="2879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1</m:t>
                            </m:r>
                          </m:sub>
                        </m:sSub>
                      </m:oMath>
                    </m:oMathPara>
                  </a14:m>
                  <a:endParaRPr lang="en-GB" dirty="0"/>
                </a:p>
              </p:txBody>
            </p:sp>
          </mc:Choice>
          <mc:Fallback xmlns="">
            <p:sp>
              <p:nvSpPr>
                <p:cNvPr id="30" name="TextBox 29">
                  <a:extLst>
                    <a:ext uri="{FF2B5EF4-FFF2-40B4-BE49-F238E27FC236}">
                      <a16:creationId xmlns:a16="http://schemas.microsoft.com/office/drawing/2014/main" id="{54837360-8C0D-304E-B215-1F7F496CE71E}"/>
                    </a:ext>
                  </a:extLst>
                </p:cNvPr>
                <p:cNvSpPr txBox="1">
                  <a:spLocks noRot="1" noChangeAspect="1" noMove="1" noResize="1" noEditPoints="1" noAdjustHandles="1" noChangeArrowheads="1" noChangeShapeType="1" noTextEdit="1"/>
                </p:cNvSpPr>
                <p:nvPr/>
              </p:nvSpPr>
              <p:spPr>
                <a:xfrm>
                  <a:off x="9773031" y="1214904"/>
                  <a:ext cx="287964" cy="276999"/>
                </a:xfrm>
                <a:prstGeom prst="rect">
                  <a:avLst/>
                </a:prstGeom>
                <a:blipFill>
                  <a:blip r:embed="rId8"/>
                  <a:stretch>
                    <a:fillRect l="-16667" r="-4167" b="-130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F26E6B2-4789-694A-BDA7-919B69808A68}"/>
                    </a:ext>
                  </a:extLst>
                </p:cNvPr>
                <p:cNvSpPr txBox="1"/>
                <p:nvPr/>
              </p:nvSpPr>
              <p:spPr>
                <a:xfrm>
                  <a:off x="9791918" y="2301395"/>
                  <a:ext cx="2932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2</m:t>
                            </m:r>
                          </m:sub>
                        </m:sSub>
                      </m:oMath>
                    </m:oMathPara>
                  </a14:m>
                  <a:endParaRPr lang="en-GB" dirty="0"/>
                </a:p>
              </p:txBody>
            </p:sp>
          </mc:Choice>
          <mc:Fallback xmlns="">
            <p:sp>
              <p:nvSpPr>
                <p:cNvPr id="31" name="TextBox 30">
                  <a:extLst>
                    <a:ext uri="{FF2B5EF4-FFF2-40B4-BE49-F238E27FC236}">
                      <a16:creationId xmlns:a16="http://schemas.microsoft.com/office/drawing/2014/main" id="{7F26E6B2-4789-694A-BDA7-919B69808A68}"/>
                    </a:ext>
                  </a:extLst>
                </p:cNvPr>
                <p:cNvSpPr txBox="1">
                  <a:spLocks noRot="1" noChangeAspect="1" noMove="1" noResize="1" noEditPoints="1" noAdjustHandles="1" noChangeArrowheads="1" noChangeShapeType="1" noTextEdit="1"/>
                </p:cNvSpPr>
                <p:nvPr/>
              </p:nvSpPr>
              <p:spPr>
                <a:xfrm>
                  <a:off x="9791918" y="2301395"/>
                  <a:ext cx="293285" cy="276999"/>
                </a:xfrm>
                <a:prstGeom prst="rect">
                  <a:avLst/>
                </a:prstGeom>
                <a:blipFill>
                  <a:blip r:embed="rId9"/>
                  <a:stretch>
                    <a:fillRect l="-20833" r="-4167" b="-18182"/>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F5830B75-1AA6-374D-B64B-D15C7AD62783}"/>
                  </a:ext>
                </a:extLst>
              </p:cNvPr>
              <p:cNvSpPr/>
              <p:nvPr/>
            </p:nvSpPr>
            <p:spPr>
              <a:xfrm>
                <a:off x="7121087" y="3472934"/>
                <a:ext cx="1998176" cy="369332"/>
              </a:xfrm>
              <a:prstGeom prst="rect">
                <a:avLst/>
              </a:prstGeom>
            </p:spPr>
            <p:txBody>
              <a:bodyPr wrap="none">
                <a:spAutoFit/>
              </a:bodyPr>
              <a:lstStyle/>
              <a:p>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𝑋</m:t>
                        </m:r>
                      </m:e>
                      <m:sub>
                        <m:r>
                          <a:rPr lang="en-GB" b="0" i="1" smtClean="0">
                            <a:latin typeface="Cambria Math" panose="02040503050406030204" pitchFamily="18" charset="0"/>
                          </a:rPr>
                          <m:t>1</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𝐹</m:t>
                    </m:r>
                    <m:r>
                      <a:rPr lang="en-GB" b="0" i="1" smtClean="0">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𝑑</m:t>
                        </m:r>
                      </m:e>
                      <m:sub>
                        <m:r>
                          <a:rPr lang="en-GB" i="1">
                            <a:latin typeface="Cambria Math" panose="02040503050406030204" pitchFamily="18" charset="0"/>
                          </a:rPr>
                          <m:t>1</m:t>
                        </m:r>
                      </m:sub>
                    </m:sSub>
                  </m:oMath>
                </a14:m>
                <a:r>
                  <a:rPr lang="en-GB" dirty="0"/>
                  <a:t> </a:t>
                </a:r>
                <a14:m>
                  <m:oMath xmlns:m="http://schemas.openxmlformats.org/officeDocument/2006/math">
                    <m:sSub>
                      <m:sSubPr>
                        <m:ctrlPr>
                          <a:rPr lang="en-GB" i="1">
                            <a:latin typeface="Cambria Math" panose="02040503050406030204" pitchFamily="18" charset="0"/>
                          </a:rPr>
                        </m:ctrlPr>
                      </m:sSubPr>
                      <m:e>
                        <m:r>
                          <a:rPr lang="en-GB" b="0" i="1" smtClean="0">
                            <a:latin typeface="Cambria Math" panose="02040503050406030204" pitchFamily="18" charset="0"/>
                          </a:rPr>
                          <m:t>𝐸</m:t>
                        </m:r>
                      </m:e>
                      <m:sub>
                        <m:r>
                          <a:rPr lang="en-GB" i="1">
                            <a:latin typeface="Cambria Math" panose="02040503050406030204" pitchFamily="18" charset="0"/>
                          </a:rPr>
                          <m:t>1</m:t>
                        </m:r>
                      </m:sub>
                    </m:sSub>
                  </m:oMath>
                </a14:m>
                <a:endParaRPr lang="en-GB" dirty="0"/>
              </a:p>
            </p:txBody>
          </p:sp>
        </mc:Choice>
        <mc:Fallback xmlns="">
          <p:sp>
            <p:nvSpPr>
              <p:cNvPr id="34" name="Rectangle 33">
                <a:extLst>
                  <a:ext uri="{FF2B5EF4-FFF2-40B4-BE49-F238E27FC236}">
                    <a16:creationId xmlns:a16="http://schemas.microsoft.com/office/drawing/2014/main" id="{F5830B75-1AA6-374D-B64B-D15C7AD62783}"/>
                  </a:ext>
                </a:extLst>
              </p:cNvPr>
              <p:cNvSpPr>
                <a:spLocks noRot="1" noChangeAspect="1" noMove="1" noResize="1" noEditPoints="1" noAdjustHandles="1" noChangeArrowheads="1" noChangeShapeType="1" noTextEdit="1"/>
              </p:cNvSpPr>
              <p:nvPr/>
            </p:nvSpPr>
            <p:spPr>
              <a:xfrm>
                <a:off x="7121087" y="3472934"/>
                <a:ext cx="1998176" cy="369332"/>
              </a:xfrm>
              <a:prstGeom prst="rect">
                <a:avLst/>
              </a:prstGeom>
              <a:blipFill>
                <a:blip r:embed="rId10"/>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A9596CC5-FC6C-0942-90D1-85067F0A9111}"/>
                  </a:ext>
                </a:extLst>
              </p:cNvPr>
              <p:cNvSpPr/>
              <p:nvPr/>
            </p:nvSpPr>
            <p:spPr>
              <a:xfrm>
                <a:off x="7155722" y="4138595"/>
                <a:ext cx="2020361" cy="369332"/>
              </a:xfrm>
              <a:prstGeom prst="rect">
                <a:avLst/>
              </a:prstGeom>
            </p:spPr>
            <p:txBody>
              <a:bodyPr wrap="none">
                <a:spAutoFit/>
              </a:bodyPr>
              <a:lstStyle/>
              <a:p>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𝑋</m:t>
                        </m:r>
                      </m:e>
                      <m:sub>
                        <m:r>
                          <a:rPr lang="en-GB" b="0" i="1" smtClean="0">
                            <a:latin typeface="Cambria Math" panose="02040503050406030204" pitchFamily="18" charset="0"/>
                          </a:rPr>
                          <m:t>2</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𝐹</m:t>
                    </m:r>
                    <m:r>
                      <a:rPr lang="en-GB" b="0" i="1" smtClean="0">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𝑑</m:t>
                        </m:r>
                      </m:e>
                      <m:sub>
                        <m:r>
                          <a:rPr lang="en-GB" b="0" i="1" smtClean="0">
                            <a:latin typeface="Cambria Math" panose="02040503050406030204" pitchFamily="18" charset="0"/>
                          </a:rPr>
                          <m:t>2</m:t>
                        </m:r>
                      </m:sub>
                    </m:sSub>
                  </m:oMath>
                </a14:m>
                <a:r>
                  <a:rPr lang="en-GB" dirty="0"/>
                  <a:t> </a:t>
                </a:r>
                <a14:m>
                  <m:oMath xmlns:m="http://schemas.openxmlformats.org/officeDocument/2006/math">
                    <m:sSub>
                      <m:sSubPr>
                        <m:ctrlPr>
                          <a:rPr lang="en-GB" i="1">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2</m:t>
                        </m:r>
                      </m:sub>
                    </m:sSub>
                  </m:oMath>
                </a14:m>
                <a:endParaRPr lang="en-GB" dirty="0"/>
              </a:p>
            </p:txBody>
          </p:sp>
        </mc:Choice>
        <mc:Fallback xmlns="">
          <p:sp>
            <p:nvSpPr>
              <p:cNvPr id="35" name="Rectangle 34">
                <a:extLst>
                  <a:ext uri="{FF2B5EF4-FFF2-40B4-BE49-F238E27FC236}">
                    <a16:creationId xmlns:a16="http://schemas.microsoft.com/office/drawing/2014/main" id="{A9596CC5-FC6C-0942-90D1-85067F0A9111}"/>
                  </a:ext>
                </a:extLst>
              </p:cNvPr>
              <p:cNvSpPr>
                <a:spLocks noRot="1" noChangeAspect="1" noMove="1" noResize="1" noEditPoints="1" noAdjustHandles="1" noChangeArrowheads="1" noChangeShapeType="1" noTextEdit="1"/>
              </p:cNvSpPr>
              <p:nvPr/>
            </p:nvSpPr>
            <p:spPr>
              <a:xfrm>
                <a:off x="7155722" y="4138595"/>
                <a:ext cx="2020361" cy="369332"/>
              </a:xfrm>
              <a:prstGeom prst="rect">
                <a:avLst/>
              </a:prstGeom>
              <a:blipFill>
                <a:blip r:embed="rId11"/>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9F7EFDF-839F-0D4D-9AA1-21187B057A8B}"/>
                  </a:ext>
                </a:extLst>
              </p:cNvPr>
              <p:cNvSpPr txBox="1"/>
              <p:nvPr/>
            </p:nvSpPr>
            <p:spPr>
              <a:xfrm>
                <a:off x="6926580" y="4960620"/>
                <a:ext cx="4594860" cy="923330"/>
              </a:xfrm>
              <a:prstGeom prst="rect">
                <a:avLst/>
              </a:prstGeom>
              <a:noFill/>
            </p:spPr>
            <p:txBody>
              <a:bodyPr wrap="square" rtlCol="0">
                <a:spAutoFit/>
              </a:bodyPr>
              <a:lstStyle/>
              <a:p>
                <a:r>
                  <a:rPr lang="en-GB" dirty="0"/>
                  <a:t>The diagram also indicates that there is no covariation between F and U so</a:t>
                </a:r>
              </a:p>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𝑐𝑜𝑣</m:t>
                      </m:r>
                      <m:d>
                        <m:dPr>
                          <m:ctrlPr>
                            <a:rPr lang="en-GB" b="0" i="1" smtClean="0">
                              <a:latin typeface="Cambria Math" panose="02040503050406030204" pitchFamily="18" charset="0"/>
                            </a:rPr>
                          </m:ctrlPr>
                        </m:dPr>
                        <m:e>
                          <m:r>
                            <a:rPr lang="en-GB" b="0" i="1" smtClean="0">
                              <a:latin typeface="Cambria Math" panose="02040503050406030204" pitchFamily="18" charset="0"/>
                            </a:rPr>
                            <m:t>𝐹</m:t>
                          </m:r>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1</m:t>
                              </m:r>
                            </m:sub>
                          </m:sSub>
                        </m:e>
                      </m:d>
                      <m:r>
                        <a:rPr lang="en-GB" b="0" i="1" smtClean="0">
                          <a:latin typeface="Cambria Math" panose="02040503050406030204" pitchFamily="18" charset="0"/>
                        </a:rPr>
                        <m:t>=</m:t>
                      </m:r>
                      <m:r>
                        <a:rPr lang="en-GB" i="1">
                          <a:latin typeface="Cambria Math" panose="02040503050406030204" pitchFamily="18" charset="0"/>
                        </a:rPr>
                        <m:t>𝑐𝑜𝑣</m:t>
                      </m:r>
                      <m:d>
                        <m:dPr>
                          <m:ctrlPr>
                            <a:rPr lang="en-GB" i="1">
                              <a:latin typeface="Cambria Math" panose="02040503050406030204" pitchFamily="18" charset="0"/>
                            </a:rPr>
                          </m:ctrlPr>
                        </m:dPr>
                        <m:e>
                          <m:r>
                            <a:rPr lang="en-GB" i="1">
                              <a:latin typeface="Cambria Math" panose="02040503050406030204" pitchFamily="18" charset="0"/>
                            </a:rPr>
                            <m:t>𝐹</m:t>
                          </m:r>
                          <m:r>
                            <a:rPr lang="en-GB" i="1">
                              <a:latin typeface="Cambria Math" panose="02040503050406030204" pitchFamily="18" charset="0"/>
                            </a:rPr>
                            <m:t>, </m:t>
                          </m:r>
                          <m:sSub>
                            <m:sSubPr>
                              <m:ctrlPr>
                                <a:rPr lang="en-GB" i="1">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2</m:t>
                              </m:r>
                            </m:sub>
                          </m:sSub>
                        </m:e>
                      </m:d>
                      <m:r>
                        <a:rPr lang="en-GB" b="0" i="1" smtClean="0">
                          <a:latin typeface="Cambria Math" panose="02040503050406030204" pitchFamily="18" charset="0"/>
                        </a:rPr>
                        <m:t>=</m:t>
                      </m:r>
                      <m:r>
                        <a:rPr lang="en-GB" i="1">
                          <a:latin typeface="Cambria Math" panose="02040503050406030204" pitchFamily="18" charset="0"/>
                        </a:rPr>
                        <m:t>𝑐𝑜𝑣</m:t>
                      </m:r>
                      <m:d>
                        <m:dPr>
                          <m:ctrlPr>
                            <a:rPr lang="en-GB" i="1">
                              <a:latin typeface="Cambria Math" panose="02040503050406030204" pitchFamily="18" charset="0"/>
                            </a:rPr>
                          </m:ctrlPr>
                        </m:dPr>
                        <m:e>
                          <m:sSub>
                            <m:sSubPr>
                              <m:ctrlPr>
                                <a:rPr lang="en-GB" i="1">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2</m:t>
                              </m:r>
                            </m:sub>
                          </m:sSub>
                          <m:r>
                            <a:rPr lang="en-GB" i="1">
                              <a:latin typeface="Cambria Math" panose="02040503050406030204" pitchFamily="18" charset="0"/>
                            </a:rPr>
                            <m:t>, </m:t>
                          </m:r>
                          <m:sSub>
                            <m:sSubPr>
                              <m:ctrlPr>
                                <a:rPr lang="en-GB" i="1">
                                  <a:latin typeface="Cambria Math" panose="02040503050406030204" pitchFamily="18" charset="0"/>
                                </a:rPr>
                              </m:ctrlPr>
                            </m:sSubPr>
                            <m:e>
                              <m:r>
                                <a:rPr lang="en-GB" b="0" i="1" smtClean="0">
                                  <a:latin typeface="Cambria Math" panose="02040503050406030204" pitchFamily="18" charset="0"/>
                                </a:rPr>
                                <m:t>𝐸</m:t>
                              </m:r>
                            </m:e>
                            <m:sub>
                              <m:r>
                                <a:rPr lang="en-GB" i="1">
                                  <a:latin typeface="Cambria Math" panose="02040503050406030204" pitchFamily="18" charset="0"/>
                                </a:rPr>
                                <m:t>1</m:t>
                              </m:r>
                            </m:sub>
                          </m:sSub>
                        </m:e>
                      </m:d>
                      <m:r>
                        <a:rPr lang="en-GB" b="0" i="1" smtClean="0">
                          <a:latin typeface="Cambria Math" panose="02040503050406030204" pitchFamily="18" charset="0"/>
                        </a:rPr>
                        <m:t>=0</m:t>
                      </m:r>
                    </m:oMath>
                  </m:oMathPara>
                </a14:m>
                <a:endParaRPr lang="en-GB" dirty="0"/>
              </a:p>
            </p:txBody>
          </p:sp>
        </mc:Choice>
        <mc:Fallback xmlns="">
          <p:sp>
            <p:nvSpPr>
              <p:cNvPr id="36" name="TextBox 35">
                <a:extLst>
                  <a:ext uri="{FF2B5EF4-FFF2-40B4-BE49-F238E27FC236}">
                    <a16:creationId xmlns:a16="http://schemas.microsoft.com/office/drawing/2014/main" id="{59F7EFDF-839F-0D4D-9AA1-21187B057A8B}"/>
                  </a:ext>
                </a:extLst>
              </p:cNvPr>
              <p:cNvSpPr txBox="1">
                <a:spLocks noRot="1" noChangeAspect="1" noMove="1" noResize="1" noEditPoints="1" noAdjustHandles="1" noChangeArrowheads="1" noChangeShapeType="1" noTextEdit="1"/>
              </p:cNvSpPr>
              <p:nvPr/>
            </p:nvSpPr>
            <p:spPr>
              <a:xfrm>
                <a:off x="6926580" y="4960620"/>
                <a:ext cx="4594860" cy="923330"/>
              </a:xfrm>
              <a:prstGeom prst="rect">
                <a:avLst/>
              </a:prstGeom>
              <a:blipFill>
                <a:blip r:embed="rId12"/>
                <a:stretch>
                  <a:fillRect l="-1102" t="-2703"/>
                </a:stretch>
              </a:blipFill>
            </p:spPr>
            <p:txBody>
              <a:bodyPr/>
              <a:lstStyle/>
              <a:p>
                <a:r>
                  <a:rPr lang="en-GB">
                    <a:noFill/>
                  </a:rPr>
                  <a:t> </a:t>
                </a:r>
              </a:p>
            </p:txBody>
          </p:sp>
        </mc:Fallback>
      </mc:AlternateContent>
      <p:sp>
        <p:nvSpPr>
          <p:cNvPr id="37" name="TextBox 36">
            <a:extLst>
              <a:ext uri="{FF2B5EF4-FFF2-40B4-BE49-F238E27FC236}">
                <a16:creationId xmlns:a16="http://schemas.microsoft.com/office/drawing/2014/main" id="{7CE56B8F-66F9-1E47-BE76-DC9BBD3B9A94}"/>
              </a:ext>
            </a:extLst>
          </p:cNvPr>
          <p:cNvSpPr txBox="1"/>
          <p:nvPr/>
        </p:nvSpPr>
        <p:spPr>
          <a:xfrm>
            <a:off x="9349168" y="3777615"/>
            <a:ext cx="442750" cy="369332"/>
          </a:xfrm>
          <a:prstGeom prst="rect">
            <a:avLst/>
          </a:prstGeom>
          <a:noFill/>
        </p:spPr>
        <p:txBody>
          <a:bodyPr wrap="none" rtlCol="0">
            <a:spAutoFit/>
          </a:bodyPr>
          <a:lstStyle/>
          <a:p>
            <a:r>
              <a:rPr lang="en-GB" dirty="0"/>
              <a:t>[1]</a:t>
            </a:r>
          </a:p>
        </p:txBody>
      </p:sp>
      <p:sp>
        <p:nvSpPr>
          <p:cNvPr id="38" name="TextBox 37">
            <a:extLst>
              <a:ext uri="{FF2B5EF4-FFF2-40B4-BE49-F238E27FC236}">
                <a16:creationId xmlns:a16="http://schemas.microsoft.com/office/drawing/2014/main" id="{0B001A1C-01DB-5643-B33B-4FDE662C986F}"/>
              </a:ext>
            </a:extLst>
          </p:cNvPr>
          <p:cNvSpPr txBox="1"/>
          <p:nvPr/>
        </p:nvSpPr>
        <p:spPr>
          <a:xfrm>
            <a:off x="11355388" y="5514618"/>
            <a:ext cx="442750" cy="369332"/>
          </a:xfrm>
          <a:prstGeom prst="rect">
            <a:avLst/>
          </a:prstGeom>
          <a:noFill/>
        </p:spPr>
        <p:txBody>
          <a:bodyPr wrap="none" rtlCol="0">
            <a:spAutoFit/>
          </a:bodyPr>
          <a:lstStyle/>
          <a:p>
            <a:r>
              <a:rPr lang="en-GB" dirty="0"/>
              <a:t>[2]</a:t>
            </a:r>
          </a:p>
        </p:txBody>
      </p:sp>
      <p:sp>
        <p:nvSpPr>
          <p:cNvPr id="39" name="TextBox 38">
            <a:extLst>
              <a:ext uri="{FF2B5EF4-FFF2-40B4-BE49-F238E27FC236}">
                <a16:creationId xmlns:a16="http://schemas.microsoft.com/office/drawing/2014/main" id="{2C84B59A-65CB-6941-9FB7-1C0223EF0448}"/>
              </a:ext>
            </a:extLst>
          </p:cNvPr>
          <p:cNvSpPr txBox="1"/>
          <p:nvPr/>
        </p:nvSpPr>
        <p:spPr>
          <a:xfrm>
            <a:off x="6941446" y="6038467"/>
            <a:ext cx="4751443" cy="646331"/>
          </a:xfrm>
          <a:prstGeom prst="rect">
            <a:avLst/>
          </a:prstGeom>
          <a:noFill/>
        </p:spPr>
        <p:txBody>
          <a:bodyPr wrap="square" rtlCol="0">
            <a:spAutoFit/>
          </a:bodyPr>
          <a:lstStyle/>
          <a:p>
            <a:r>
              <a:rPr lang="en-GB" dirty="0"/>
              <a:t>[1] and [2] describe a factor analytic linear system in the diagram</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CE72EB8-EFF1-7D4F-9E63-5279ACA845C8}"/>
                  </a:ext>
                </a:extLst>
              </p:cNvPr>
              <p:cNvSpPr txBox="1"/>
              <p:nvPr/>
            </p:nvSpPr>
            <p:spPr>
              <a:xfrm>
                <a:off x="712516" y="1608136"/>
                <a:ext cx="5233588" cy="2308324"/>
              </a:xfrm>
              <a:prstGeom prst="rect">
                <a:avLst/>
              </a:prstGeom>
              <a:noFill/>
            </p:spPr>
            <p:txBody>
              <a:bodyPr wrap="square" rtlCol="0">
                <a:spAutoFit/>
              </a:bodyPr>
              <a:lstStyle/>
              <a:p>
                <a:pPr marL="285750" indent="-285750">
                  <a:buFont typeface="Arial" panose="020B0604020202020204" pitchFamily="34" charset="0"/>
                  <a:buChar char="•"/>
                </a:pPr>
                <a:r>
                  <a:rPr lang="en-GB" u="sng" dirty="0"/>
                  <a:t>Factor loadings </a:t>
                </a:r>
                <a:r>
                  <a:rPr lang="en-GB" dirty="0"/>
                  <a:t>are equivalent to correlations between factors and variables where only a single common factor is involved. </a:t>
                </a:r>
              </a:p>
              <a:p>
                <a:pPr marL="285750" indent="-285750">
                  <a:buFont typeface="Arial" panose="020B0604020202020204" pitchFamily="34" charset="0"/>
                  <a:buChar char="•"/>
                </a:pPr>
                <a:r>
                  <a:rPr lang="en-GB" u="sng" dirty="0"/>
                  <a:t>The communality </a:t>
                </a:r>
                <a14:m>
                  <m:oMath xmlns:m="http://schemas.openxmlformats.org/officeDocument/2006/math">
                    <m:sSup>
                      <m:sSupPr>
                        <m:ctrlPr>
                          <a:rPr lang="en-GB" i="1" smtClean="0">
                            <a:latin typeface="Cambria Math" panose="02040503050406030204" pitchFamily="18" charset="0"/>
                          </a:rPr>
                        </m:ctrlPr>
                      </m:sSupPr>
                      <m:e>
                        <m:r>
                          <a:rPr lang="en-GB" b="0" i="1" smtClean="0">
                            <a:latin typeface="Cambria Math" panose="02040503050406030204" pitchFamily="18" charset="0"/>
                          </a:rPr>
                          <m:t>(</m:t>
                        </m:r>
                        <m:r>
                          <a:rPr lang="en-GB" b="0" i="1" smtClean="0">
                            <a:latin typeface="Cambria Math" panose="02040503050406030204" pitchFamily="18" charset="0"/>
                          </a:rPr>
                          <m:t>h</m:t>
                        </m:r>
                      </m:e>
                      <m:sup>
                        <m:r>
                          <a:rPr lang="en-GB" b="0" i="1" smtClean="0">
                            <a:latin typeface="Cambria Math" panose="02040503050406030204" pitchFamily="18" charset="0"/>
                          </a:rPr>
                          <m:t>2</m:t>
                        </m:r>
                      </m:sup>
                    </m:sSup>
                  </m:oMath>
                </a14:m>
                <a:r>
                  <a:rPr lang="en-GB" dirty="0"/>
                  <a:t>) of an observed variable is simply the square of the factor loadings that variable.</a:t>
                </a:r>
              </a:p>
              <a:p>
                <a:pPr marL="285750" indent="-285750">
                  <a:buFont typeface="Arial" panose="020B0604020202020204" pitchFamily="34" charset="0"/>
                  <a:buChar char="•"/>
                </a:pPr>
                <a:r>
                  <a:rPr lang="en-GB" dirty="0"/>
                  <a:t>The </a:t>
                </a:r>
                <a:r>
                  <a:rPr lang="en-GB" u="sng" dirty="0"/>
                  <a:t>uniqueness</a:t>
                </a:r>
                <a:r>
                  <a:rPr lang="en-GB" dirty="0"/>
                  <a:t> component is simply 1- </a:t>
                </a:r>
                <a14:m>
                  <m:oMath xmlns:m="http://schemas.openxmlformats.org/officeDocument/2006/math">
                    <m:sSup>
                      <m:sSupPr>
                        <m:ctrlPr>
                          <a:rPr lang="en-GB" i="1">
                            <a:latin typeface="Cambria Math" panose="02040503050406030204" pitchFamily="18" charset="0"/>
                          </a:rPr>
                        </m:ctrlPr>
                      </m:sSupPr>
                      <m:e>
                        <m:r>
                          <a:rPr lang="en-GB" i="1">
                            <a:latin typeface="Cambria Math" panose="02040503050406030204" pitchFamily="18" charset="0"/>
                          </a:rPr>
                          <m:t>h</m:t>
                        </m:r>
                      </m:e>
                      <m:sup>
                        <m:r>
                          <a:rPr lang="en-GB" i="1">
                            <a:latin typeface="Cambria Math" panose="02040503050406030204" pitchFamily="18" charset="0"/>
                          </a:rPr>
                          <m:t>2</m:t>
                        </m:r>
                      </m:sup>
                    </m:sSup>
                  </m:oMath>
                </a14:m>
                <a:endParaRPr lang="en-GB" dirty="0"/>
              </a:p>
              <a:p>
                <a:endParaRPr lang="en-GB" dirty="0"/>
              </a:p>
            </p:txBody>
          </p:sp>
        </mc:Choice>
        <mc:Fallback xmlns="">
          <p:sp>
            <p:nvSpPr>
              <p:cNvPr id="3" name="TextBox 2">
                <a:extLst>
                  <a:ext uri="{FF2B5EF4-FFF2-40B4-BE49-F238E27FC236}">
                    <a16:creationId xmlns:a16="http://schemas.microsoft.com/office/drawing/2014/main" id="{DCE72EB8-EFF1-7D4F-9E63-5279ACA845C8}"/>
                  </a:ext>
                </a:extLst>
              </p:cNvPr>
              <p:cNvSpPr txBox="1">
                <a:spLocks noRot="1" noChangeAspect="1" noMove="1" noResize="1" noEditPoints="1" noAdjustHandles="1" noChangeArrowheads="1" noChangeShapeType="1" noTextEdit="1"/>
              </p:cNvSpPr>
              <p:nvPr/>
            </p:nvSpPr>
            <p:spPr>
              <a:xfrm>
                <a:off x="712516" y="1608136"/>
                <a:ext cx="5233588" cy="2308324"/>
              </a:xfrm>
              <a:prstGeom prst="rect">
                <a:avLst/>
              </a:prstGeom>
              <a:blipFill>
                <a:blip r:embed="rId13"/>
                <a:stretch>
                  <a:fillRect l="-726" t="-1093"/>
                </a:stretch>
              </a:blipFill>
            </p:spPr>
            <p:txBody>
              <a:bodyPr/>
              <a:lstStyle/>
              <a:p>
                <a:r>
                  <a:rPr lang="en-GB">
                    <a:noFill/>
                  </a:rPr>
                  <a:t> </a:t>
                </a:r>
              </a:p>
            </p:txBody>
          </p:sp>
        </mc:Fallback>
      </mc:AlternateContent>
    </p:spTree>
    <p:extLst>
      <p:ext uri="{BB962C8B-B14F-4D97-AF65-F5344CB8AC3E}">
        <p14:creationId xmlns:p14="http://schemas.microsoft.com/office/powerpoint/2010/main" val="3802227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37C84-8584-264D-AA1D-F5B3D5B0C58B}"/>
              </a:ext>
            </a:extLst>
          </p:cNvPr>
          <p:cNvSpPr>
            <a:spLocks noGrp="1"/>
          </p:cNvSpPr>
          <p:nvPr>
            <p:ph type="title"/>
          </p:nvPr>
        </p:nvSpPr>
        <p:spPr/>
        <p:txBody>
          <a:bodyPr/>
          <a:lstStyle/>
          <a:p>
            <a:r>
              <a:rPr lang="en-GB" dirty="0"/>
              <a:t>Why Do an Exploratory Factor Analysis?</a:t>
            </a:r>
          </a:p>
        </p:txBody>
      </p:sp>
      <p:sp>
        <p:nvSpPr>
          <p:cNvPr id="3" name="Content Placeholder 2">
            <a:extLst>
              <a:ext uri="{FF2B5EF4-FFF2-40B4-BE49-F238E27FC236}">
                <a16:creationId xmlns:a16="http://schemas.microsoft.com/office/drawing/2014/main" id="{6A48C451-CED0-B84D-8DA7-ED2F1B0EB633}"/>
              </a:ext>
            </a:extLst>
          </p:cNvPr>
          <p:cNvSpPr>
            <a:spLocks noGrp="1"/>
          </p:cNvSpPr>
          <p:nvPr>
            <p:ph idx="1"/>
          </p:nvPr>
        </p:nvSpPr>
        <p:spPr/>
        <p:txBody>
          <a:bodyPr/>
          <a:lstStyle/>
          <a:p>
            <a:r>
              <a:rPr lang="en-GB" dirty="0"/>
              <a:t>Structural Exploration</a:t>
            </a:r>
          </a:p>
          <a:p>
            <a:r>
              <a:rPr lang="en-GB" dirty="0"/>
              <a:t>Data Reduction</a:t>
            </a:r>
          </a:p>
          <a:p>
            <a:r>
              <a:rPr lang="en-GB" dirty="0"/>
              <a:t>Attribute Scoring</a:t>
            </a:r>
          </a:p>
        </p:txBody>
      </p:sp>
    </p:spTree>
    <p:extLst>
      <p:ext uri="{BB962C8B-B14F-4D97-AF65-F5344CB8AC3E}">
        <p14:creationId xmlns:p14="http://schemas.microsoft.com/office/powerpoint/2010/main" val="25421544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9A643-6C3B-474E-9946-F140D49FEC70}"/>
              </a:ext>
            </a:extLst>
          </p:cNvPr>
          <p:cNvSpPr>
            <a:spLocks noGrp="1"/>
          </p:cNvSpPr>
          <p:nvPr>
            <p:ph type="title"/>
          </p:nvPr>
        </p:nvSpPr>
        <p:spPr/>
        <p:txBody>
          <a:bodyPr/>
          <a:lstStyle/>
          <a:p>
            <a:r>
              <a:rPr lang="en-GB" dirty="0"/>
              <a:t>Why Do an Exploratory Factor Analysis?  - Structural Exploration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7D728B-7615-7B4A-A12F-E2AEBF45A184}"/>
                  </a:ext>
                </a:extLst>
              </p:cNvPr>
              <p:cNvSpPr>
                <a:spLocks noGrp="1"/>
              </p:cNvSpPr>
              <p:nvPr>
                <p:ph idx="1"/>
              </p:nvPr>
            </p:nvSpPr>
            <p:spPr>
              <a:xfrm>
                <a:off x="838200" y="1825625"/>
                <a:ext cx="6410228" cy="4351338"/>
              </a:xfrm>
            </p:spPr>
            <p:txBody>
              <a:bodyPr/>
              <a:lstStyle/>
              <a:p>
                <a:r>
                  <a:rPr lang="en-GB" dirty="0"/>
                  <a:t>Let’s say if we have a model of 2 factors</a:t>
                </a:r>
              </a:p>
              <a:p>
                <a:r>
                  <a:rPr lang="en-GB" dirty="0"/>
                  <a:t>The formula [1] can be written in a simple form:</a:t>
                </a:r>
              </a:p>
              <a:p>
                <a:pPr lvl="1"/>
                <a14:m>
                  <m:oMath xmlns:m="http://schemas.openxmlformats.org/officeDocument/2006/math">
                    <m:r>
                      <a:rPr lang="en-GB" b="0" i="1" smtClean="0">
                        <a:latin typeface="Cambria Math" panose="02040503050406030204" pitchFamily="18" charset="0"/>
                      </a:rPr>
                      <m:t>𝑋</m:t>
                    </m:r>
                    <m:r>
                      <a:rPr lang="en-GB" b="0" i="1" smtClean="0">
                        <a:latin typeface="Cambria Math" panose="02040503050406030204" pitchFamily="18" charset="0"/>
                      </a:rPr>
                      <m:t>=</m:t>
                    </m:r>
                    <m:r>
                      <a:rPr lang="en-GB" b="0" i="1" smtClean="0">
                        <a:latin typeface="Cambria Math" panose="02040503050406030204" pitchFamily="18" charset="0"/>
                      </a:rPr>
                      <m:t>𝑏𝐹</m:t>
                    </m:r>
                    <m:r>
                      <a:rPr lang="en-GB" b="0" i="0" smtClean="0">
                        <a:latin typeface="Cambria Math" panose="02040503050406030204" pitchFamily="18" charset="0"/>
                      </a:rPr>
                      <m:t>+</m:t>
                    </m:r>
                    <m:r>
                      <m:rPr>
                        <m:sty m:val="p"/>
                      </m:rPr>
                      <a:rPr lang="en-GB" b="0" i="0" smtClean="0">
                        <a:latin typeface="Cambria Math" panose="02040503050406030204" pitchFamily="18" charset="0"/>
                      </a:rPr>
                      <m:t>E</m:t>
                    </m:r>
                  </m:oMath>
                </a14:m>
                <a:endParaRPr lang="en-GB" b="0" dirty="0"/>
              </a:p>
              <a:p>
                <a:pPr lvl="1"/>
                <a:endParaRPr lang="en-GB" dirty="0"/>
              </a:p>
              <a:p>
                <a:pPr marL="457200" lvl="1" indent="0">
                  <a:buNone/>
                </a:pPr>
                <a:r>
                  <a:rPr lang="en-GB" dirty="0"/>
                  <a:t>F: the set of linear weights carrying the factor</a:t>
                </a:r>
              </a:p>
              <a:p>
                <a:pPr marL="457200" lvl="1" indent="0">
                  <a:buNone/>
                </a:pPr>
                <a:r>
                  <a:rPr lang="en-GB" dirty="0"/>
                  <a:t>The idea emerges that this compact F may be “a model for what underlies X.”</a:t>
                </a:r>
              </a:p>
              <a:p>
                <a:endParaRPr lang="en-GB" dirty="0"/>
              </a:p>
            </p:txBody>
          </p:sp>
        </mc:Choice>
        <mc:Fallback xmlns="">
          <p:sp>
            <p:nvSpPr>
              <p:cNvPr id="3" name="Content Placeholder 2">
                <a:extLst>
                  <a:ext uri="{FF2B5EF4-FFF2-40B4-BE49-F238E27FC236}">
                    <a16:creationId xmlns:a16="http://schemas.microsoft.com/office/drawing/2014/main" id="{617D728B-7615-7B4A-A12F-E2AEBF45A184}"/>
                  </a:ext>
                </a:extLst>
              </p:cNvPr>
              <p:cNvSpPr>
                <a:spLocks noGrp="1" noRot="1" noChangeAspect="1" noMove="1" noResize="1" noEditPoints="1" noAdjustHandles="1" noChangeArrowheads="1" noChangeShapeType="1" noTextEdit="1"/>
              </p:cNvSpPr>
              <p:nvPr>
                <p:ph idx="1"/>
              </p:nvPr>
            </p:nvSpPr>
            <p:spPr>
              <a:xfrm>
                <a:off x="838200" y="1825625"/>
                <a:ext cx="6410228" cy="4351338"/>
              </a:xfrm>
              <a:blipFill>
                <a:blip r:embed="rId2"/>
                <a:stretch>
                  <a:fillRect l="-1782" t="-2326"/>
                </a:stretch>
              </a:blipFill>
            </p:spPr>
            <p:txBody>
              <a:bodyPr/>
              <a:lstStyle/>
              <a:p>
                <a:r>
                  <a:rPr lang="en-GB">
                    <a:noFill/>
                  </a:rPr>
                  <a:t> </a:t>
                </a:r>
              </a:p>
            </p:txBody>
          </p:sp>
        </mc:Fallback>
      </mc:AlternateContent>
      <p:grpSp>
        <p:nvGrpSpPr>
          <p:cNvPr id="26" name="Group 25">
            <a:extLst>
              <a:ext uri="{FF2B5EF4-FFF2-40B4-BE49-F238E27FC236}">
                <a16:creationId xmlns:a16="http://schemas.microsoft.com/office/drawing/2014/main" id="{8EE13547-D91E-4946-8484-6F93A4EABBF0}"/>
              </a:ext>
            </a:extLst>
          </p:cNvPr>
          <p:cNvGrpSpPr/>
          <p:nvPr/>
        </p:nvGrpSpPr>
        <p:grpSpPr>
          <a:xfrm>
            <a:off x="7421962" y="2343572"/>
            <a:ext cx="4477836" cy="3169190"/>
            <a:chOff x="6336740" y="1338737"/>
            <a:chExt cx="4477836" cy="3169190"/>
          </a:xfrm>
        </p:grpSpPr>
        <p:grpSp>
          <p:nvGrpSpPr>
            <p:cNvPr id="4" name="Group 3">
              <a:extLst>
                <a:ext uri="{FF2B5EF4-FFF2-40B4-BE49-F238E27FC236}">
                  <a16:creationId xmlns:a16="http://schemas.microsoft.com/office/drawing/2014/main" id="{7A1F8469-80C8-974E-A1B0-F1748873DCDC}"/>
                </a:ext>
              </a:extLst>
            </p:cNvPr>
            <p:cNvGrpSpPr/>
            <p:nvPr/>
          </p:nvGrpSpPr>
          <p:grpSpPr>
            <a:xfrm>
              <a:off x="6336740" y="1338737"/>
              <a:ext cx="4477836" cy="1699746"/>
              <a:chOff x="6195060" y="1214904"/>
              <a:chExt cx="4477836" cy="1699746"/>
            </a:xfrm>
          </p:grpSpPr>
          <p:grpSp>
            <p:nvGrpSpPr>
              <p:cNvPr id="5" name="Group 4">
                <a:extLst>
                  <a:ext uri="{FF2B5EF4-FFF2-40B4-BE49-F238E27FC236}">
                    <a16:creationId xmlns:a16="http://schemas.microsoft.com/office/drawing/2014/main" id="{3B716FBA-0075-8B4C-A983-2B6B401C23CB}"/>
                  </a:ext>
                </a:extLst>
              </p:cNvPr>
              <p:cNvGrpSpPr/>
              <p:nvPr/>
            </p:nvGrpSpPr>
            <p:grpSpPr>
              <a:xfrm>
                <a:off x="8353555" y="1261071"/>
                <a:ext cx="1122157" cy="538799"/>
                <a:chOff x="7313425" y="1775421"/>
                <a:chExt cx="1122157" cy="538799"/>
              </a:xfrm>
            </p:grpSpPr>
            <p:sp>
              <p:nvSpPr>
                <p:cNvPr id="21" name="Rectangle 20">
                  <a:extLst>
                    <a:ext uri="{FF2B5EF4-FFF2-40B4-BE49-F238E27FC236}">
                      <a16:creationId xmlns:a16="http://schemas.microsoft.com/office/drawing/2014/main" id="{A5976196-18A6-1C4A-8F6F-423761660C2B}"/>
                    </a:ext>
                  </a:extLst>
                </p:cNvPr>
                <p:cNvSpPr/>
                <p:nvPr/>
              </p:nvSpPr>
              <p:spPr>
                <a:xfrm>
                  <a:off x="7313425" y="1775421"/>
                  <a:ext cx="1122157" cy="5387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550E325-A218-C84C-B8D8-CE1AB790E3A3}"/>
                        </a:ext>
                      </a:extLst>
                    </p:cNvPr>
                    <p:cNvSpPr txBox="1"/>
                    <p:nvPr/>
                  </p:nvSpPr>
                  <p:spPr>
                    <a:xfrm>
                      <a:off x="7635240" y="1860155"/>
                      <a:ext cx="47852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𝑋</m:t>
                                </m:r>
                              </m:e>
                              <m:sub>
                                <m:r>
                                  <a:rPr lang="en-GB" b="0" i="1" smtClean="0">
                                    <a:latin typeface="Cambria Math" panose="02040503050406030204" pitchFamily="18" charset="0"/>
                                  </a:rPr>
                                  <m:t>1</m:t>
                                </m:r>
                              </m:sub>
                            </m:sSub>
                          </m:oMath>
                        </m:oMathPara>
                      </a14:m>
                      <a:endParaRPr lang="en-GB" dirty="0"/>
                    </a:p>
                  </p:txBody>
                </p:sp>
              </mc:Choice>
              <mc:Fallback xmlns="">
                <p:sp>
                  <p:nvSpPr>
                    <p:cNvPr id="6" name="TextBox 5">
                      <a:extLst>
                        <a:ext uri="{FF2B5EF4-FFF2-40B4-BE49-F238E27FC236}">
                          <a16:creationId xmlns:a16="http://schemas.microsoft.com/office/drawing/2014/main" id="{DE20EC10-6917-2343-AAE5-08D766E4FC5B}"/>
                        </a:ext>
                      </a:extLst>
                    </p:cNvPr>
                    <p:cNvSpPr txBox="1">
                      <a:spLocks noRot="1" noChangeAspect="1" noMove="1" noResize="1" noEditPoints="1" noAdjustHandles="1" noChangeArrowheads="1" noChangeShapeType="1" noTextEdit="1"/>
                    </p:cNvSpPr>
                    <p:nvPr/>
                  </p:nvSpPr>
                  <p:spPr>
                    <a:xfrm>
                      <a:off x="7635240" y="1860155"/>
                      <a:ext cx="478528" cy="369332"/>
                    </a:xfrm>
                    <a:prstGeom prst="rect">
                      <a:avLst/>
                    </a:prstGeom>
                    <a:blipFill>
                      <a:blip r:embed="rId3"/>
                      <a:stretch>
                        <a:fillRect/>
                      </a:stretch>
                    </a:blipFill>
                  </p:spPr>
                  <p:txBody>
                    <a:bodyPr/>
                    <a:lstStyle/>
                    <a:p>
                      <a:r>
                        <a:rPr lang="en-GB">
                          <a:noFill/>
                        </a:rPr>
                        <a:t> </a:t>
                      </a:r>
                    </a:p>
                  </p:txBody>
                </p:sp>
              </mc:Fallback>
            </mc:AlternateContent>
          </p:grpSp>
          <p:grpSp>
            <p:nvGrpSpPr>
              <p:cNvPr id="6" name="Group 5">
                <a:extLst>
                  <a:ext uri="{FF2B5EF4-FFF2-40B4-BE49-F238E27FC236}">
                    <a16:creationId xmlns:a16="http://schemas.microsoft.com/office/drawing/2014/main" id="{167FB390-0EF1-5E4B-837F-8AD542117146}"/>
                  </a:ext>
                </a:extLst>
              </p:cNvPr>
              <p:cNvGrpSpPr/>
              <p:nvPr/>
            </p:nvGrpSpPr>
            <p:grpSpPr>
              <a:xfrm>
                <a:off x="8353554" y="2375851"/>
                <a:ext cx="1122157" cy="538799"/>
                <a:chOff x="7313425" y="1775421"/>
                <a:chExt cx="1122157" cy="538799"/>
              </a:xfrm>
            </p:grpSpPr>
            <p:sp>
              <p:nvSpPr>
                <p:cNvPr id="19" name="Rectangle 18">
                  <a:extLst>
                    <a:ext uri="{FF2B5EF4-FFF2-40B4-BE49-F238E27FC236}">
                      <a16:creationId xmlns:a16="http://schemas.microsoft.com/office/drawing/2014/main" id="{1BD87E72-E2A0-DC4F-B55C-42503A2D3468}"/>
                    </a:ext>
                  </a:extLst>
                </p:cNvPr>
                <p:cNvSpPr/>
                <p:nvPr/>
              </p:nvSpPr>
              <p:spPr>
                <a:xfrm>
                  <a:off x="7313425" y="1775421"/>
                  <a:ext cx="1122157" cy="53879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A0A7F8AA-A164-9144-A35E-C2445BB1706C}"/>
                        </a:ext>
                      </a:extLst>
                    </p:cNvPr>
                    <p:cNvSpPr txBox="1"/>
                    <p:nvPr/>
                  </p:nvSpPr>
                  <p:spPr>
                    <a:xfrm>
                      <a:off x="7635240" y="1860155"/>
                      <a:ext cx="48385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𝑋</m:t>
                                </m:r>
                              </m:e>
                              <m:sub>
                                <m:r>
                                  <a:rPr lang="en-GB" b="0" i="1" smtClean="0">
                                    <a:latin typeface="Cambria Math" panose="02040503050406030204" pitchFamily="18" charset="0"/>
                                  </a:rPr>
                                  <m:t>2</m:t>
                                </m:r>
                              </m:sub>
                            </m:sSub>
                          </m:oMath>
                        </m:oMathPara>
                      </a14:m>
                      <a:endParaRPr lang="en-GB" dirty="0"/>
                    </a:p>
                  </p:txBody>
                </p:sp>
              </mc:Choice>
              <mc:Fallback xmlns="">
                <p:sp>
                  <p:nvSpPr>
                    <p:cNvPr id="14" name="TextBox 13">
                      <a:extLst>
                        <a:ext uri="{FF2B5EF4-FFF2-40B4-BE49-F238E27FC236}">
                          <a16:creationId xmlns:a16="http://schemas.microsoft.com/office/drawing/2014/main" id="{7E4D3DD4-B100-7C40-A572-8CBD91F9E64B}"/>
                        </a:ext>
                      </a:extLst>
                    </p:cNvPr>
                    <p:cNvSpPr txBox="1">
                      <a:spLocks noRot="1" noChangeAspect="1" noMove="1" noResize="1" noEditPoints="1" noAdjustHandles="1" noChangeArrowheads="1" noChangeShapeType="1" noTextEdit="1"/>
                    </p:cNvSpPr>
                    <p:nvPr/>
                  </p:nvSpPr>
                  <p:spPr>
                    <a:xfrm>
                      <a:off x="7635240" y="1860155"/>
                      <a:ext cx="483850" cy="369332"/>
                    </a:xfrm>
                    <a:prstGeom prst="rect">
                      <a:avLst/>
                    </a:prstGeom>
                    <a:blipFill>
                      <a:blip r:embed="rId4"/>
                      <a:stretch>
                        <a:fillRect/>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E77281A-E100-6C40-B408-DC4D045A203D}"/>
                      </a:ext>
                    </a:extLst>
                  </p:cNvPr>
                  <p:cNvSpPr txBox="1"/>
                  <p:nvPr/>
                </p:nvSpPr>
                <p:spPr>
                  <a:xfrm>
                    <a:off x="10360230" y="1391970"/>
                    <a:ext cx="28681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1</m:t>
                              </m:r>
                            </m:sub>
                          </m:sSub>
                        </m:oMath>
                      </m:oMathPara>
                    </a14:m>
                    <a:endParaRPr lang="en-GB" dirty="0"/>
                  </a:p>
                </p:txBody>
              </p:sp>
            </mc:Choice>
            <mc:Fallback xmlns="">
              <p:sp>
                <p:nvSpPr>
                  <p:cNvPr id="8" name="TextBox 7">
                    <a:extLst>
                      <a:ext uri="{FF2B5EF4-FFF2-40B4-BE49-F238E27FC236}">
                        <a16:creationId xmlns:a16="http://schemas.microsoft.com/office/drawing/2014/main" id="{B1C964A9-DF1C-A740-89A9-4DC21C9F117B}"/>
                      </a:ext>
                    </a:extLst>
                  </p:cNvPr>
                  <p:cNvSpPr txBox="1">
                    <a:spLocks noRot="1" noChangeAspect="1" noMove="1" noResize="1" noEditPoints="1" noAdjustHandles="1" noChangeArrowheads="1" noChangeShapeType="1" noTextEdit="1"/>
                  </p:cNvSpPr>
                  <p:nvPr/>
                </p:nvSpPr>
                <p:spPr>
                  <a:xfrm>
                    <a:off x="10360230" y="1391970"/>
                    <a:ext cx="286810" cy="276999"/>
                  </a:xfrm>
                  <a:prstGeom prst="rect">
                    <a:avLst/>
                  </a:prstGeom>
                  <a:blipFill>
                    <a:blip r:embed="rId5"/>
                    <a:stretch>
                      <a:fillRect l="-21739" r="-4348" b="-130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D9AA60F-C108-EF4F-9BD6-026497D19926}"/>
                      </a:ext>
                    </a:extLst>
                  </p:cNvPr>
                  <p:cNvSpPr txBox="1"/>
                  <p:nvPr/>
                </p:nvSpPr>
                <p:spPr>
                  <a:xfrm>
                    <a:off x="10380765" y="2506750"/>
                    <a:ext cx="2921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2</m:t>
                              </m:r>
                            </m:sub>
                          </m:sSub>
                        </m:oMath>
                      </m:oMathPara>
                    </a14:m>
                    <a:endParaRPr lang="en-GB" dirty="0"/>
                  </a:p>
                </p:txBody>
              </p:sp>
            </mc:Choice>
            <mc:Fallback xmlns="">
              <p:sp>
                <p:nvSpPr>
                  <p:cNvPr id="15" name="TextBox 14">
                    <a:extLst>
                      <a:ext uri="{FF2B5EF4-FFF2-40B4-BE49-F238E27FC236}">
                        <a16:creationId xmlns:a16="http://schemas.microsoft.com/office/drawing/2014/main" id="{A05F270A-99B7-B248-A6AA-D99A43041C9F}"/>
                      </a:ext>
                    </a:extLst>
                  </p:cNvPr>
                  <p:cNvSpPr txBox="1">
                    <a:spLocks noRot="1" noChangeAspect="1" noMove="1" noResize="1" noEditPoints="1" noAdjustHandles="1" noChangeArrowheads="1" noChangeShapeType="1" noTextEdit="1"/>
                  </p:cNvSpPr>
                  <p:nvPr/>
                </p:nvSpPr>
                <p:spPr>
                  <a:xfrm>
                    <a:off x="10380765" y="2506750"/>
                    <a:ext cx="292131" cy="276999"/>
                  </a:xfrm>
                  <a:prstGeom prst="rect">
                    <a:avLst/>
                  </a:prstGeom>
                  <a:blipFill>
                    <a:blip r:embed="rId6"/>
                    <a:stretch>
                      <a:fillRect l="-16667" r="-4167" b="-13636"/>
                    </a:stretch>
                  </a:blipFill>
                </p:spPr>
                <p:txBody>
                  <a:bodyPr/>
                  <a:lstStyle/>
                  <a:p>
                    <a:r>
                      <a:rPr lang="en-GB">
                        <a:noFill/>
                      </a:rPr>
                      <a:t> </a:t>
                    </a:r>
                  </a:p>
                </p:txBody>
              </p:sp>
            </mc:Fallback>
          </mc:AlternateContent>
          <p:cxnSp>
            <p:nvCxnSpPr>
              <p:cNvPr id="9" name="Straight Arrow Connector 8">
                <a:extLst>
                  <a:ext uri="{FF2B5EF4-FFF2-40B4-BE49-F238E27FC236}">
                    <a16:creationId xmlns:a16="http://schemas.microsoft.com/office/drawing/2014/main" id="{CFF8B0CB-5B12-9647-BBB7-655B4289B20C}"/>
                  </a:ext>
                </a:extLst>
              </p:cNvPr>
              <p:cNvCxnSpPr>
                <a:endCxn id="21" idx="3"/>
              </p:cNvCxnSpPr>
              <p:nvPr/>
            </p:nvCxnSpPr>
            <p:spPr>
              <a:xfrm flipH="1">
                <a:off x="9475712" y="1530469"/>
                <a:ext cx="776998" cy="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B7B77E4-1282-5643-B55A-1245420E2289}"/>
                  </a:ext>
                </a:extLst>
              </p:cNvPr>
              <p:cNvCxnSpPr/>
              <p:nvPr/>
            </p:nvCxnSpPr>
            <p:spPr>
              <a:xfrm flipH="1">
                <a:off x="9475712" y="2645249"/>
                <a:ext cx="776998" cy="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43B3E07-6F32-D74A-92E8-C158BAC606B2}"/>
                  </a:ext>
                </a:extLst>
              </p:cNvPr>
              <p:cNvCxnSpPr>
                <a:cxnSpLocks/>
                <a:endCxn id="21" idx="1"/>
              </p:cNvCxnSpPr>
              <p:nvPr/>
            </p:nvCxnSpPr>
            <p:spPr>
              <a:xfrm flipV="1">
                <a:off x="6926580" y="1530471"/>
                <a:ext cx="1426975" cy="5573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C09F83D-04CD-4348-A811-1B64621DCEF1}"/>
                  </a:ext>
                </a:extLst>
              </p:cNvPr>
              <p:cNvCxnSpPr>
                <a:cxnSpLocks/>
                <a:endCxn id="19" idx="1"/>
              </p:cNvCxnSpPr>
              <p:nvPr/>
            </p:nvCxnSpPr>
            <p:spPr>
              <a:xfrm>
                <a:off x="6926580" y="2274570"/>
                <a:ext cx="1426974" cy="37068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41BB758B-2C03-2B4A-A2EC-F8CD1D765038}"/>
                  </a:ext>
                </a:extLst>
              </p:cNvPr>
              <p:cNvSpPr/>
              <p:nvPr/>
            </p:nvSpPr>
            <p:spPr>
              <a:xfrm>
                <a:off x="6195060" y="1977390"/>
                <a:ext cx="731520" cy="66785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extBox 13">
                <a:extLst>
                  <a:ext uri="{FF2B5EF4-FFF2-40B4-BE49-F238E27FC236}">
                    <a16:creationId xmlns:a16="http://schemas.microsoft.com/office/drawing/2014/main" id="{7E530E81-62A0-8C4E-89EA-5DA061F6610E}"/>
                  </a:ext>
                </a:extLst>
              </p:cNvPr>
              <p:cNvSpPr txBox="1"/>
              <p:nvPr/>
            </p:nvSpPr>
            <p:spPr>
              <a:xfrm>
                <a:off x="6397549" y="2126653"/>
                <a:ext cx="290464" cy="369332"/>
              </a:xfrm>
              <a:prstGeom prst="rect">
                <a:avLst/>
              </a:prstGeom>
              <a:noFill/>
            </p:spPr>
            <p:txBody>
              <a:bodyPr wrap="none" rtlCol="0">
                <a:spAutoFit/>
              </a:bodyPr>
              <a:lstStyle/>
              <a:p>
                <a:r>
                  <a:rPr lang="en-GB" dirty="0"/>
                  <a:t>F</a:t>
                </a:r>
                <a:endParaRPr lang="en-GB" baseline="-25000" dirty="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54EC1CB6-216F-494D-A6DC-9D358C836170}"/>
                      </a:ext>
                    </a:extLst>
                  </p:cNvPr>
                  <p:cNvSpPr txBox="1"/>
                  <p:nvPr/>
                </p:nvSpPr>
                <p:spPr>
                  <a:xfrm>
                    <a:off x="7266985" y="1363049"/>
                    <a:ext cx="27263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oMath>
                      </m:oMathPara>
                    </a14:m>
                    <a:endParaRPr lang="en-GB" dirty="0"/>
                  </a:p>
                </p:txBody>
              </p:sp>
            </mc:Choice>
            <mc:Fallback xmlns="">
              <p:sp>
                <p:nvSpPr>
                  <p:cNvPr id="28" name="TextBox 27">
                    <a:extLst>
                      <a:ext uri="{FF2B5EF4-FFF2-40B4-BE49-F238E27FC236}">
                        <a16:creationId xmlns:a16="http://schemas.microsoft.com/office/drawing/2014/main" id="{F4E1176D-74E3-A748-836F-5DB844142017}"/>
                      </a:ext>
                    </a:extLst>
                  </p:cNvPr>
                  <p:cNvSpPr txBox="1">
                    <a:spLocks noRot="1" noChangeAspect="1" noMove="1" noResize="1" noEditPoints="1" noAdjustHandles="1" noChangeArrowheads="1" noChangeShapeType="1" noTextEdit="1"/>
                  </p:cNvSpPr>
                  <p:nvPr/>
                </p:nvSpPr>
                <p:spPr>
                  <a:xfrm>
                    <a:off x="7266985" y="1363049"/>
                    <a:ext cx="272639" cy="276999"/>
                  </a:xfrm>
                  <a:prstGeom prst="rect">
                    <a:avLst/>
                  </a:prstGeom>
                  <a:blipFill>
                    <a:blip r:embed="rId7"/>
                    <a:stretch>
                      <a:fillRect l="-22727" r="-9091" b="-181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8143FDB6-2C62-1247-9C07-4EE2F8BCFE7E}"/>
                      </a:ext>
                    </a:extLst>
                  </p:cNvPr>
                  <p:cNvSpPr txBox="1"/>
                  <p:nvPr/>
                </p:nvSpPr>
                <p:spPr>
                  <a:xfrm>
                    <a:off x="7312180" y="2495985"/>
                    <a:ext cx="27796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oMath>
                      </m:oMathPara>
                    </a14:m>
                    <a:endParaRPr lang="en-GB" dirty="0"/>
                  </a:p>
                </p:txBody>
              </p:sp>
            </mc:Choice>
            <mc:Fallback xmlns="">
              <p:sp>
                <p:nvSpPr>
                  <p:cNvPr id="29" name="TextBox 28">
                    <a:extLst>
                      <a:ext uri="{FF2B5EF4-FFF2-40B4-BE49-F238E27FC236}">
                        <a16:creationId xmlns:a16="http://schemas.microsoft.com/office/drawing/2014/main" id="{0534E72E-96E2-A249-A47C-6C6272982B9A}"/>
                      </a:ext>
                    </a:extLst>
                  </p:cNvPr>
                  <p:cNvSpPr txBox="1">
                    <a:spLocks noRot="1" noChangeAspect="1" noMove="1" noResize="1" noEditPoints="1" noAdjustHandles="1" noChangeArrowheads="1" noChangeShapeType="1" noTextEdit="1"/>
                  </p:cNvSpPr>
                  <p:nvPr/>
                </p:nvSpPr>
                <p:spPr>
                  <a:xfrm>
                    <a:off x="7312180" y="2495985"/>
                    <a:ext cx="277961" cy="276999"/>
                  </a:xfrm>
                  <a:prstGeom prst="rect">
                    <a:avLst/>
                  </a:prstGeom>
                  <a:blipFill>
                    <a:blip r:embed="rId8"/>
                    <a:stretch>
                      <a:fillRect l="-22727" r="-9091" b="-130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7E50D44-FEFD-2943-A114-5541EF92F2DC}"/>
                      </a:ext>
                    </a:extLst>
                  </p:cNvPr>
                  <p:cNvSpPr txBox="1"/>
                  <p:nvPr/>
                </p:nvSpPr>
                <p:spPr>
                  <a:xfrm>
                    <a:off x="9773031" y="1214904"/>
                    <a:ext cx="28796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1</m:t>
                              </m:r>
                            </m:sub>
                          </m:sSub>
                        </m:oMath>
                      </m:oMathPara>
                    </a14:m>
                    <a:endParaRPr lang="en-GB" dirty="0"/>
                  </a:p>
                </p:txBody>
              </p:sp>
            </mc:Choice>
            <mc:Fallback xmlns="">
              <p:sp>
                <p:nvSpPr>
                  <p:cNvPr id="30" name="TextBox 29">
                    <a:extLst>
                      <a:ext uri="{FF2B5EF4-FFF2-40B4-BE49-F238E27FC236}">
                        <a16:creationId xmlns:a16="http://schemas.microsoft.com/office/drawing/2014/main" id="{54837360-8C0D-304E-B215-1F7F496CE71E}"/>
                      </a:ext>
                    </a:extLst>
                  </p:cNvPr>
                  <p:cNvSpPr txBox="1">
                    <a:spLocks noRot="1" noChangeAspect="1" noMove="1" noResize="1" noEditPoints="1" noAdjustHandles="1" noChangeArrowheads="1" noChangeShapeType="1" noTextEdit="1"/>
                  </p:cNvSpPr>
                  <p:nvPr/>
                </p:nvSpPr>
                <p:spPr>
                  <a:xfrm>
                    <a:off x="9773031" y="1214904"/>
                    <a:ext cx="287964" cy="276999"/>
                  </a:xfrm>
                  <a:prstGeom prst="rect">
                    <a:avLst/>
                  </a:prstGeom>
                  <a:blipFill>
                    <a:blip r:embed="rId9"/>
                    <a:stretch>
                      <a:fillRect l="-16667" r="-4167" b="-1304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C45FFD4-F350-994A-AAE9-B2553FDAE7F9}"/>
                      </a:ext>
                    </a:extLst>
                  </p:cNvPr>
                  <p:cNvSpPr txBox="1"/>
                  <p:nvPr/>
                </p:nvSpPr>
                <p:spPr>
                  <a:xfrm>
                    <a:off x="9791918" y="2301395"/>
                    <a:ext cx="29328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𝑑</m:t>
                              </m:r>
                            </m:e>
                            <m:sub>
                              <m:r>
                                <a:rPr lang="en-GB" b="0" i="1" smtClean="0">
                                  <a:latin typeface="Cambria Math" panose="02040503050406030204" pitchFamily="18" charset="0"/>
                                </a:rPr>
                                <m:t>2</m:t>
                              </m:r>
                            </m:sub>
                          </m:sSub>
                        </m:oMath>
                      </m:oMathPara>
                    </a14:m>
                    <a:endParaRPr lang="en-GB" dirty="0"/>
                  </a:p>
                </p:txBody>
              </p:sp>
            </mc:Choice>
            <mc:Fallback xmlns="">
              <p:sp>
                <p:nvSpPr>
                  <p:cNvPr id="31" name="TextBox 30">
                    <a:extLst>
                      <a:ext uri="{FF2B5EF4-FFF2-40B4-BE49-F238E27FC236}">
                        <a16:creationId xmlns:a16="http://schemas.microsoft.com/office/drawing/2014/main" id="{7F26E6B2-4789-694A-BDA7-919B69808A68}"/>
                      </a:ext>
                    </a:extLst>
                  </p:cNvPr>
                  <p:cNvSpPr txBox="1">
                    <a:spLocks noRot="1" noChangeAspect="1" noMove="1" noResize="1" noEditPoints="1" noAdjustHandles="1" noChangeArrowheads="1" noChangeShapeType="1" noTextEdit="1"/>
                  </p:cNvSpPr>
                  <p:nvPr/>
                </p:nvSpPr>
                <p:spPr>
                  <a:xfrm>
                    <a:off x="9791918" y="2301395"/>
                    <a:ext cx="293285" cy="276999"/>
                  </a:xfrm>
                  <a:prstGeom prst="rect">
                    <a:avLst/>
                  </a:prstGeom>
                  <a:blipFill>
                    <a:blip r:embed="rId10"/>
                    <a:stretch>
                      <a:fillRect l="-20833" r="-4167" b="-18182"/>
                    </a:stretch>
                  </a:blipFill>
                </p:spPr>
                <p:txBody>
                  <a:bodyPr/>
                  <a:lstStyle/>
                  <a:p>
                    <a:r>
                      <a:rPr lang="en-GB">
                        <a:noFill/>
                      </a:rPr>
                      <a:t> </a:t>
                    </a:r>
                  </a:p>
                </p:txBody>
              </p:sp>
            </mc:Fallback>
          </mc:AlternateContent>
        </p:grpSp>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E65362C0-D050-CF45-ABD7-D95FEE153B95}"/>
                    </a:ext>
                  </a:extLst>
                </p:cNvPr>
                <p:cNvSpPr/>
                <p:nvPr/>
              </p:nvSpPr>
              <p:spPr>
                <a:xfrm>
                  <a:off x="7121087" y="3472934"/>
                  <a:ext cx="1998176" cy="369332"/>
                </a:xfrm>
                <a:prstGeom prst="rect">
                  <a:avLst/>
                </a:prstGeom>
              </p:spPr>
              <p:txBody>
                <a:bodyPr wrap="none">
                  <a:spAutoFit/>
                </a:bodyPr>
                <a:lstStyle/>
                <a:p>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𝑋</m:t>
                          </m:r>
                        </m:e>
                        <m:sub>
                          <m:r>
                            <a:rPr lang="en-GB" b="0" i="1" smtClean="0">
                              <a:latin typeface="Cambria Math" panose="02040503050406030204" pitchFamily="18" charset="0"/>
                            </a:rPr>
                            <m:t>1</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1</m:t>
                          </m:r>
                        </m:sub>
                      </m:sSub>
                      <m:r>
                        <a:rPr lang="en-GB" b="0" i="1" smtClean="0">
                          <a:latin typeface="Cambria Math" panose="02040503050406030204" pitchFamily="18" charset="0"/>
                        </a:rPr>
                        <m:t>𝐹</m:t>
                      </m:r>
                      <m:r>
                        <a:rPr lang="en-GB" b="0" i="1" smtClean="0">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𝑑</m:t>
                          </m:r>
                        </m:e>
                        <m:sub>
                          <m:r>
                            <a:rPr lang="en-GB" i="1">
                              <a:latin typeface="Cambria Math" panose="02040503050406030204" pitchFamily="18" charset="0"/>
                            </a:rPr>
                            <m:t>1</m:t>
                          </m:r>
                        </m:sub>
                      </m:sSub>
                    </m:oMath>
                  </a14:m>
                  <a:r>
                    <a:rPr lang="en-GB" dirty="0"/>
                    <a:t> </a:t>
                  </a:r>
                  <a14:m>
                    <m:oMath xmlns:m="http://schemas.openxmlformats.org/officeDocument/2006/math">
                      <m:sSub>
                        <m:sSubPr>
                          <m:ctrlPr>
                            <a:rPr lang="en-GB" i="1">
                              <a:latin typeface="Cambria Math" panose="02040503050406030204" pitchFamily="18" charset="0"/>
                            </a:rPr>
                          </m:ctrlPr>
                        </m:sSubPr>
                        <m:e>
                          <m:r>
                            <a:rPr lang="en-GB" b="0" i="1" smtClean="0">
                              <a:latin typeface="Cambria Math" panose="02040503050406030204" pitchFamily="18" charset="0"/>
                            </a:rPr>
                            <m:t>𝐸</m:t>
                          </m:r>
                        </m:e>
                        <m:sub>
                          <m:r>
                            <a:rPr lang="en-GB" i="1">
                              <a:latin typeface="Cambria Math" panose="02040503050406030204" pitchFamily="18" charset="0"/>
                            </a:rPr>
                            <m:t>1</m:t>
                          </m:r>
                        </m:sub>
                      </m:sSub>
                    </m:oMath>
                  </a14:m>
                  <a:endParaRPr lang="en-GB" dirty="0"/>
                </a:p>
              </p:txBody>
            </p:sp>
          </mc:Choice>
          <mc:Fallback xmlns="">
            <p:sp>
              <p:nvSpPr>
                <p:cNvPr id="23" name="Rectangle 22">
                  <a:extLst>
                    <a:ext uri="{FF2B5EF4-FFF2-40B4-BE49-F238E27FC236}">
                      <a16:creationId xmlns:a16="http://schemas.microsoft.com/office/drawing/2014/main" id="{E65362C0-D050-CF45-ABD7-D95FEE153B95}"/>
                    </a:ext>
                  </a:extLst>
                </p:cNvPr>
                <p:cNvSpPr>
                  <a:spLocks noRot="1" noChangeAspect="1" noMove="1" noResize="1" noEditPoints="1" noAdjustHandles="1" noChangeArrowheads="1" noChangeShapeType="1" noTextEdit="1"/>
                </p:cNvSpPr>
                <p:nvPr/>
              </p:nvSpPr>
              <p:spPr>
                <a:xfrm>
                  <a:off x="7121087" y="3472934"/>
                  <a:ext cx="1998176" cy="369332"/>
                </a:xfrm>
                <a:prstGeom prst="rect">
                  <a:avLst/>
                </a:prstGeom>
                <a:blipFill>
                  <a:blip r:embed="rId11"/>
                  <a:stretch>
                    <a:fillRect b="-166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1764A849-B191-7548-BE4D-0DBA272A08B8}"/>
                    </a:ext>
                  </a:extLst>
                </p:cNvPr>
                <p:cNvSpPr/>
                <p:nvPr/>
              </p:nvSpPr>
              <p:spPr>
                <a:xfrm>
                  <a:off x="7155722" y="4138595"/>
                  <a:ext cx="2020361" cy="369332"/>
                </a:xfrm>
                <a:prstGeom prst="rect">
                  <a:avLst/>
                </a:prstGeom>
              </p:spPr>
              <p:txBody>
                <a:bodyPr wrap="none">
                  <a:spAutoFit/>
                </a:bodyPr>
                <a:lstStyle/>
                <a:p>
                  <a14:m>
                    <m:oMath xmlns:m="http://schemas.openxmlformats.org/officeDocument/2006/math">
                      <m:sSub>
                        <m:sSubPr>
                          <m:ctrlPr>
                            <a:rPr lang="en-GB" i="1" smtClean="0">
                              <a:latin typeface="Cambria Math" panose="02040503050406030204" pitchFamily="18" charset="0"/>
                            </a:rPr>
                          </m:ctrlPr>
                        </m:sSubPr>
                        <m:e>
                          <m:r>
                            <a:rPr lang="en-GB" b="0" i="1" smtClean="0">
                              <a:latin typeface="Cambria Math" panose="02040503050406030204" pitchFamily="18" charset="0"/>
                            </a:rPr>
                            <m:t>𝑋</m:t>
                          </m:r>
                        </m:e>
                        <m:sub>
                          <m:r>
                            <a:rPr lang="en-GB" b="0" i="1" smtClean="0">
                              <a:latin typeface="Cambria Math" panose="02040503050406030204" pitchFamily="18" charset="0"/>
                            </a:rPr>
                            <m:t>2</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𝑏</m:t>
                          </m:r>
                        </m:e>
                        <m:sub>
                          <m:r>
                            <a:rPr lang="en-GB" b="0" i="1" smtClean="0">
                              <a:latin typeface="Cambria Math" panose="02040503050406030204" pitchFamily="18" charset="0"/>
                            </a:rPr>
                            <m:t>2</m:t>
                          </m:r>
                        </m:sub>
                      </m:sSub>
                      <m:r>
                        <a:rPr lang="en-GB" b="0" i="1" smtClean="0">
                          <a:latin typeface="Cambria Math" panose="02040503050406030204" pitchFamily="18" charset="0"/>
                        </a:rPr>
                        <m:t>𝐹</m:t>
                      </m:r>
                      <m:r>
                        <a:rPr lang="en-GB" b="0" i="1" smtClean="0">
                          <a:latin typeface="Cambria Math" panose="02040503050406030204" pitchFamily="18" charset="0"/>
                        </a:rPr>
                        <m:t> +</m:t>
                      </m:r>
                      <m:sSub>
                        <m:sSubPr>
                          <m:ctrlPr>
                            <a:rPr lang="en-GB" i="1">
                              <a:latin typeface="Cambria Math" panose="02040503050406030204" pitchFamily="18" charset="0"/>
                            </a:rPr>
                          </m:ctrlPr>
                        </m:sSubPr>
                        <m:e>
                          <m:r>
                            <a:rPr lang="en-GB" i="1">
                              <a:latin typeface="Cambria Math" panose="02040503050406030204" pitchFamily="18" charset="0"/>
                            </a:rPr>
                            <m:t>𝑑</m:t>
                          </m:r>
                        </m:e>
                        <m:sub>
                          <m:r>
                            <a:rPr lang="en-GB" b="0" i="1" smtClean="0">
                              <a:latin typeface="Cambria Math" panose="02040503050406030204" pitchFamily="18" charset="0"/>
                            </a:rPr>
                            <m:t>2</m:t>
                          </m:r>
                        </m:sub>
                      </m:sSub>
                    </m:oMath>
                  </a14:m>
                  <a:r>
                    <a:rPr lang="en-GB" dirty="0"/>
                    <a:t> </a:t>
                  </a:r>
                  <a14:m>
                    <m:oMath xmlns:m="http://schemas.openxmlformats.org/officeDocument/2006/math">
                      <m:sSub>
                        <m:sSubPr>
                          <m:ctrlPr>
                            <a:rPr lang="en-GB" i="1">
                              <a:latin typeface="Cambria Math" panose="02040503050406030204" pitchFamily="18" charset="0"/>
                            </a:rPr>
                          </m:ctrlPr>
                        </m:sSubPr>
                        <m:e>
                          <m:r>
                            <a:rPr lang="en-GB" b="0" i="1" smtClean="0">
                              <a:latin typeface="Cambria Math" panose="02040503050406030204" pitchFamily="18" charset="0"/>
                            </a:rPr>
                            <m:t>𝐸</m:t>
                          </m:r>
                        </m:e>
                        <m:sub>
                          <m:r>
                            <a:rPr lang="en-GB" b="0" i="1" smtClean="0">
                              <a:latin typeface="Cambria Math" panose="02040503050406030204" pitchFamily="18" charset="0"/>
                            </a:rPr>
                            <m:t>2</m:t>
                          </m:r>
                        </m:sub>
                      </m:sSub>
                    </m:oMath>
                  </a14:m>
                  <a:endParaRPr lang="en-GB" dirty="0"/>
                </a:p>
              </p:txBody>
            </p:sp>
          </mc:Choice>
          <mc:Fallback xmlns="">
            <p:sp>
              <p:nvSpPr>
                <p:cNvPr id="24" name="Rectangle 23">
                  <a:extLst>
                    <a:ext uri="{FF2B5EF4-FFF2-40B4-BE49-F238E27FC236}">
                      <a16:creationId xmlns:a16="http://schemas.microsoft.com/office/drawing/2014/main" id="{1764A849-B191-7548-BE4D-0DBA272A08B8}"/>
                    </a:ext>
                  </a:extLst>
                </p:cNvPr>
                <p:cNvSpPr>
                  <a:spLocks noRot="1" noChangeAspect="1" noMove="1" noResize="1" noEditPoints="1" noAdjustHandles="1" noChangeArrowheads="1" noChangeShapeType="1" noTextEdit="1"/>
                </p:cNvSpPr>
                <p:nvPr/>
              </p:nvSpPr>
              <p:spPr>
                <a:xfrm>
                  <a:off x="7155722" y="4138595"/>
                  <a:ext cx="2020361" cy="369332"/>
                </a:xfrm>
                <a:prstGeom prst="rect">
                  <a:avLst/>
                </a:prstGeom>
                <a:blipFill>
                  <a:blip r:embed="rId12"/>
                  <a:stretch>
                    <a:fillRect b="-17241"/>
                  </a:stretch>
                </a:blipFill>
              </p:spPr>
              <p:txBody>
                <a:bodyPr/>
                <a:lstStyle/>
                <a:p>
                  <a:r>
                    <a:rPr lang="en-GB">
                      <a:noFill/>
                    </a:rPr>
                    <a:t> </a:t>
                  </a:r>
                </a:p>
              </p:txBody>
            </p:sp>
          </mc:Fallback>
        </mc:AlternateContent>
        <p:sp>
          <p:nvSpPr>
            <p:cNvPr id="25" name="TextBox 24">
              <a:extLst>
                <a:ext uri="{FF2B5EF4-FFF2-40B4-BE49-F238E27FC236}">
                  <a16:creationId xmlns:a16="http://schemas.microsoft.com/office/drawing/2014/main" id="{9B4A7B9F-8A74-4342-A2B7-C44FBF36275A}"/>
                </a:ext>
              </a:extLst>
            </p:cNvPr>
            <p:cNvSpPr txBox="1"/>
            <p:nvPr/>
          </p:nvSpPr>
          <p:spPr>
            <a:xfrm>
              <a:off x="9349168" y="3777615"/>
              <a:ext cx="442750" cy="369332"/>
            </a:xfrm>
            <a:prstGeom prst="rect">
              <a:avLst/>
            </a:prstGeom>
            <a:noFill/>
          </p:spPr>
          <p:txBody>
            <a:bodyPr wrap="none" rtlCol="0">
              <a:spAutoFit/>
            </a:bodyPr>
            <a:lstStyle/>
            <a:p>
              <a:r>
                <a:rPr lang="en-GB" dirty="0"/>
                <a:t>[1]</a:t>
              </a:r>
            </a:p>
          </p:txBody>
        </p:sp>
      </p:grpSp>
    </p:spTree>
    <p:extLst>
      <p:ext uri="{BB962C8B-B14F-4D97-AF65-F5344CB8AC3E}">
        <p14:creationId xmlns:p14="http://schemas.microsoft.com/office/powerpoint/2010/main" val="1480564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85567-E91C-9F45-BFEF-972E602C9719}"/>
              </a:ext>
            </a:extLst>
          </p:cNvPr>
          <p:cNvSpPr>
            <a:spLocks noGrp="1"/>
          </p:cNvSpPr>
          <p:nvPr>
            <p:ph type="title"/>
          </p:nvPr>
        </p:nvSpPr>
        <p:spPr/>
        <p:txBody>
          <a:bodyPr/>
          <a:lstStyle/>
          <a:p>
            <a:r>
              <a:rPr lang="en-GB" dirty="0"/>
              <a:t>Two main steps in Factor Analysis</a:t>
            </a:r>
          </a:p>
        </p:txBody>
      </p:sp>
      <p:sp>
        <p:nvSpPr>
          <p:cNvPr id="3" name="Content Placeholder 2">
            <a:extLst>
              <a:ext uri="{FF2B5EF4-FFF2-40B4-BE49-F238E27FC236}">
                <a16:creationId xmlns:a16="http://schemas.microsoft.com/office/drawing/2014/main" id="{8327F162-6DFB-6B4E-9F2A-BD036C4504D0}"/>
              </a:ext>
            </a:extLst>
          </p:cNvPr>
          <p:cNvSpPr>
            <a:spLocks noGrp="1"/>
          </p:cNvSpPr>
          <p:nvPr>
            <p:ph idx="1"/>
          </p:nvPr>
        </p:nvSpPr>
        <p:spPr/>
        <p:txBody>
          <a:bodyPr/>
          <a:lstStyle/>
          <a:p>
            <a:pPr marL="514350" indent="-514350">
              <a:buFont typeface="+mj-lt"/>
              <a:buAutoNum type="arabicPeriod"/>
            </a:pPr>
            <a:r>
              <a:rPr lang="en-GB" dirty="0"/>
              <a:t>Extracting Factors: involves making a choice about the type of model as well the number of factors to extract</a:t>
            </a:r>
          </a:p>
          <a:p>
            <a:pPr marL="514350" indent="-514350">
              <a:buFont typeface="+mj-lt"/>
              <a:buAutoNum type="arabicPeriod"/>
            </a:pPr>
            <a:r>
              <a:rPr lang="en-GB" dirty="0"/>
              <a:t>Rotating Factors: comes after the factors are extracted, with the goal of achieving simple structure in order to improve interpretability.</a:t>
            </a:r>
          </a:p>
          <a:p>
            <a:pPr marL="514350" indent="-514350">
              <a:buFont typeface="+mj-lt"/>
              <a:buAutoNum type="arabicPeriod"/>
            </a:pPr>
            <a:endParaRPr lang="en-GB" dirty="0"/>
          </a:p>
          <a:p>
            <a:pPr marL="514350" indent="-514350">
              <a:buFont typeface="+mj-lt"/>
              <a:buAutoNum type="arabicPeriod"/>
            </a:pPr>
            <a:endParaRPr lang="en-GB" dirty="0"/>
          </a:p>
        </p:txBody>
      </p:sp>
    </p:spTree>
    <p:extLst>
      <p:ext uri="{BB962C8B-B14F-4D97-AF65-F5344CB8AC3E}">
        <p14:creationId xmlns:p14="http://schemas.microsoft.com/office/powerpoint/2010/main" val="35255042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83EA0-7542-F643-869D-714C0026FEB3}"/>
              </a:ext>
            </a:extLst>
          </p:cNvPr>
          <p:cNvSpPr>
            <a:spLocks noGrp="1"/>
          </p:cNvSpPr>
          <p:nvPr>
            <p:ph type="title"/>
          </p:nvPr>
        </p:nvSpPr>
        <p:spPr/>
        <p:txBody>
          <a:bodyPr/>
          <a:lstStyle/>
          <a:p>
            <a:r>
              <a:rPr lang="en-GB" dirty="0"/>
              <a:t>1. Extracting Factors</a:t>
            </a:r>
          </a:p>
        </p:txBody>
      </p:sp>
      <p:sp>
        <p:nvSpPr>
          <p:cNvPr id="3" name="Content Placeholder 2">
            <a:extLst>
              <a:ext uri="{FF2B5EF4-FFF2-40B4-BE49-F238E27FC236}">
                <a16:creationId xmlns:a16="http://schemas.microsoft.com/office/drawing/2014/main" id="{FF998FAA-D488-D744-A39E-D2FDA77E5775}"/>
              </a:ext>
            </a:extLst>
          </p:cNvPr>
          <p:cNvSpPr>
            <a:spLocks noGrp="1"/>
          </p:cNvSpPr>
          <p:nvPr>
            <p:ph idx="1"/>
          </p:nvPr>
        </p:nvSpPr>
        <p:spPr>
          <a:xfrm>
            <a:off x="838200" y="1528445"/>
            <a:ext cx="10515600" cy="4964430"/>
          </a:xfrm>
        </p:spPr>
        <p:txBody>
          <a:bodyPr>
            <a:normAutofit/>
          </a:bodyPr>
          <a:lstStyle/>
          <a:p>
            <a:r>
              <a:rPr lang="en-GB" sz="2400" dirty="0"/>
              <a:t>Principal components analysis: PCA makes the assumption that there is no unique variance, the total variance is equal to common variance. If there is no unique variance then common variance takes up total variance</a:t>
            </a:r>
          </a:p>
          <a:p>
            <a:pPr lvl="1"/>
            <a:endParaRPr lang="en-GB" dirty="0"/>
          </a:p>
          <a:p>
            <a:endParaRPr lang="en-GB" sz="2400" dirty="0"/>
          </a:p>
          <a:p>
            <a:endParaRPr lang="en-GB" sz="2400" dirty="0"/>
          </a:p>
          <a:p>
            <a:endParaRPr lang="en-GB" sz="2400" dirty="0"/>
          </a:p>
          <a:p>
            <a:r>
              <a:rPr lang="en-GB" sz="2400" dirty="0"/>
              <a:t>Common factor analysis: assumes that total variance can be partitioned into common and unique variance. It is usually more reasonable to assume that you have not measured your set of items perfectly. The unobserved or latent variable that makes up common variance is called a factor. If you believe there is some latent construct that defines the interrelationship among items, then factor analysis may be more appropriate</a:t>
            </a:r>
          </a:p>
        </p:txBody>
      </p:sp>
      <p:pic>
        <p:nvPicPr>
          <p:cNvPr id="3074" name="Picture 2" descr="fig05">
            <a:extLst>
              <a:ext uri="{FF2B5EF4-FFF2-40B4-BE49-F238E27FC236}">
                <a16:creationId xmlns:a16="http://schemas.microsoft.com/office/drawing/2014/main" id="{4117B716-9428-7946-BA8A-EF89A2BAEA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8219" y="2399582"/>
            <a:ext cx="3963670" cy="1885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0442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FF5A7-734E-7545-90FE-85217327D190}"/>
              </a:ext>
            </a:extLst>
          </p:cNvPr>
          <p:cNvSpPr>
            <a:spLocks noGrp="1"/>
          </p:cNvSpPr>
          <p:nvPr>
            <p:ph type="title"/>
          </p:nvPr>
        </p:nvSpPr>
        <p:spPr/>
        <p:txBody>
          <a:bodyPr/>
          <a:lstStyle/>
          <a:p>
            <a:r>
              <a:rPr lang="en-GB" dirty="0"/>
              <a:t>1. Common factor analysis</a:t>
            </a:r>
          </a:p>
        </p:txBody>
      </p:sp>
      <p:sp>
        <p:nvSpPr>
          <p:cNvPr id="3" name="Content Placeholder 2">
            <a:extLst>
              <a:ext uri="{FF2B5EF4-FFF2-40B4-BE49-F238E27FC236}">
                <a16:creationId xmlns:a16="http://schemas.microsoft.com/office/drawing/2014/main" id="{BEF58C21-7143-1946-BB86-C832D1659F91}"/>
              </a:ext>
            </a:extLst>
          </p:cNvPr>
          <p:cNvSpPr>
            <a:spLocks noGrp="1"/>
          </p:cNvSpPr>
          <p:nvPr>
            <p:ph idx="1"/>
          </p:nvPr>
        </p:nvSpPr>
        <p:spPr/>
        <p:txBody>
          <a:bodyPr/>
          <a:lstStyle/>
          <a:p>
            <a:r>
              <a:rPr lang="en-GB" dirty="0"/>
              <a:t>Maximum likelihood (ml) – </a:t>
            </a:r>
            <a:r>
              <a:rPr lang="en-GB" i="1" dirty="0" err="1"/>
              <a:t>factanal</a:t>
            </a:r>
            <a:r>
              <a:rPr lang="en-GB" i="1" dirty="0"/>
              <a:t>()</a:t>
            </a:r>
            <a:r>
              <a:rPr lang="en-GB" dirty="0"/>
              <a:t> in the </a:t>
            </a:r>
            <a:r>
              <a:rPr lang="en-GB" i="1" dirty="0"/>
              <a:t>stats</a:t>
            </a:r>
            <a:r>
              <a:rPr lang="en-GB" dirty="0"/>
              <a:t> package or </a:t>
            </a:r>
            <a:r>
              <a:rPr lang="en-GB" i="1" dirty="0"/>
              <a:t>fa()</a:t>
            </a:r>
            <a:r>
              <a:rPr lang="en-GB" dirty="0"/>
              <a:t> in psych package</a:t>
            </a:r>
          </a:p>
          <a:p>
            <a:r>
              <a:rPr lang="en-GB" dirty="0"/>
              <a:t>Weighted least square (</a:t>
            </a:r>
            <a:r>
              <a:rPr lang="en-GB" dirty="0" err="1"/>
              <a:t>wls</a:t>
            </a:r>
            <a:r>
              <a:rPr lang="en-GB" dirty="0"/>
              <a:t>)</a:t>
            </a:r>
          </a:p>
          <a:p>
            <a:r>
              <a:rPr lang="en-GB" dirty="0"/>
              <a:t>Generalized weighted least squares (</a:t>
            </a:r>
            <a:r>
              <a:rPr lang="en-GB" dirty="0" err="1"/>
              <a:t>gls</a:t>
            </a:r>
            <a:r>
              <a:rPr lang="en-GB" dirty="0"/>
              <a:t>)</a:t>
            </a:r>
          </a:p>
          <a:p>
            <a:r>
              <a:rPr lang="en-GB" dirty="0"/>
              <a:t>Minimum residual (</a:t>
            </a:r>
            <a:r>
              <a:rPr lang="en-GB" dirty="0" err="1"/>
              <a:t>minres</a:t>
            </a:r>
            <a:r>
              <a:rPr lang="en-GB" dirty="0"/>
              <a:t>)</a:t>
            </a:r>
          </a:p>
          <a:p>
            <a:r>
              <a:rPr lang="en-GB" dirty="0"/>
              <a:t>iterated principal axis (pa),</a:t>
            </a:r>
          </a:p>
        </p:txBody>
      </p:sp>
    </p:spTree>
    <p:extLst>
      <p:ext uri="{BB962C8B-B14F-4D97-AF65-F5344CB8AC3E}">
        <p14:creationId xmlns:p14="http://schemas.microsoft.com/office/powerpoint/2010/main" val="2132613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23064-6E26-7544-AB50-4D2A17AD2311}"/>
              </a:ext>
            </a:extLst>
          </p:cNvPr>
          <p:cNvSpPr>
            <a:spLocks noGrp="1"/>
          </p:cNvSpPr>
          <p:nvPr>
            <p:ph type="title"/>
          </p:nvPr>
        </p:nvSpPr>
        <p:spPr/>
        <p:txBody>
          <a:bodyPr/>
          <a:lstStyle/>
          <a:p>
            <a:r>
              <a:rPr lang="en-GB" dirty="0"/>
              <a:t>Step to conduct EFA</a:t>
            </a:r>
          </a:p>
        </p:txBody>
      </p:sp>
      <p:pic>
        <p:nvPicPr>
          <p:cNvPr id="4" name="Picture 3">
            <a:extLst>
              <a:ext uri="{FF2B5EF4-FFF2-40B4-BE49-F238E27FC236}">
                <a16:creationId xmlns:a16="http://schemas.microsoft.com/office/drawing/2014/main" id="{822EC051-3872-4544-8A96-91A148268BAF}"/>
              </a:ext>
            </a:extLst>
          </p:cNvPr>
          <p:cNvPicPr>
            <a:picLocks noChangeAspect="1"/>
          </p:cNvPicPr>
          <p:nvPr/>
        </p:nvPicPr>
        <p:blipFill>
          <a:blip r:embed="rId2"/>
          <a:stretch>
            <a:fillRect/>
          </a:stretch>
        </p:blipFill>
        <p:spPr>
          <a:xfrm>
            <a:off x="3979148" y="1478253"/>
            <a:ext cx="5247332" cy="5289311"/>
          </a:xfrm>
          <a:prstGeom prst="rect">
            <a:avLst/>
          </a:prstGeom>
        </p:spPr>
      </p:pic>
    </p:spTree>
    <p:extLst>
      <p:ext uri="{BB962C8B-B14F-4D97-AF65-F5344CB8AC3E}">
        <p14:creationId xmlns:p14="http://schemas.microsoft.com/office/powerpoint/2010/main" val="12670906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 data suitable for the FA test – sample size</a:t>
            </a:r>
          </a:p>
        </p:txBody>
      </p:sp>
      <p:sp>
        <p:nvSpPr>
          <p:cNvPr id="3" name="Content Placeholder 2"/>
          <p:cNvSpPr>
            <a:spLocks noGrp="1"/>
          </p:cNvSpPr>
          <p:nvPr>
            <p:ph idx="1"/>
          </p:nvPr>
        </p:nvSpPr>
        <p:spPr/>
        <p:txBody>
          <a:bodyPr/>
          <a:lstStyle/>
          <a:p>
            <a:r>
              <a:rPr lang="en-US" dirty="0"/>
              <a:t>The normal set of data screening rules.</a:t>
            </a:r>
          </a:p>
          <a:p>
            <a:r>
              <a:rPr lang="en-US" dirty="0"/>
              <a:t>What about additivity?</a:t>
            </a:r>
          </a:p>
          <a:p>
            <a:pPr lvl="1"/>
            <a:r>
              <a:rPr lang="en-US" dirty="0"/>
              <a:t>You </a:t>
            </a:r>
            <a:r>
              <a:rPr lang="en-US" i="1" dirty="0"/>
              <a:t>want</a:t>
            </a:r>
            <a:r>
              <a:rPr lang="en-US" dirty="0"/>
              <a:t> items to be correlated</a:t>
            </a:r>
          </a:p>
          <a:p>
            <a:pPr lvl="1"/>
            <a:r>
              <a:rPr lang="en-US" dirty="0"/>
              <a:t>Correlation test</a:t>
            </a:r>
          </a:p>
          <a:p>
            <a:pPr lvl="1"/>
            <a:r>
              <a:rPr lang="en-US" dirty="0"/>
              <a:t>Correlation adequacy Bartlett's test: Bartlett's test of sphericity tests the hypothesis that your correlation matrix is an identity matrix, which would indicate that your variables are unrelated and therefore unsuitable for structure detection. Small values (less than 0.05) of the significance level indicate that a factor analysis may be useful with your data</a:t>
            </a:r>
          </a:p>
        </p:txBody>
      </p:sp>
    </p:spTree>
    <p:extLst>
      <p:ext uri="{BB962C8B-B14F-4D97-AF65-F5344CB8AC3E}">
        <p14:creationId xmlns:p14="http://schemas.microsoft.com/office/powerpoint/2010/main" val="3263301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 data suitable for the FA test – Power</a:t>
            </a:r>
          </a:p>
        </p:txBody>
      </p:sp>
      <p:sp>
        <p:nvSpPr>
          <p:cNvPr id="3" name="Content Placeholder 2"/>
          <p:cNvSpPr>
            <a:spLocks noGrp="1"/>
          </p:cNvSpPr>
          <p:nvPr>
            <p:ph idx="1"/>
          </p:nvPr>
        </p:nvSpPr>
        <p:spPr>
          <a:xfrm>
            <a:off x="838200" y="1443488"/>
            <a:ext cx="10515600" cy="4351338"/>
          </a:xfrm>
        </p:spPr>
        <p:txBody>
          <a:bodyPr>
            <a:normAutofit fontScale="92500" lnSpcReduction="20000"/>
          </a:bodyPr>
          <a:lstStyle/>
          <a:p>
            <a:r>
              <a:rPr lang="en-US" dirty="0"/>
              <a:t>Sample size suggestions</a:t>
            </a:r>
          </a:p>
          <a:p>
            <a:pPr lvl="1"/>
            <a:r>
              <a:rPr lang="en-US" dirty="0"/>
              <a:t>10-15 participants per item or 20 participants per item</a:t>
            </a:r>
          </a:p>
          <a:p>
            <a:pPr lvl="1"/>
            <a:r>
              <a:rPr lang="en-US" dirty="0"/>
              <a:t>&lt;100 is not acceptable</a:t>
            </a:r>
          </a:p>
          <a:p>
            <a:pPr lvl="1"/>
            <a:r>
              <a:rPr lang="en-US" dirty="0"/>
              <a:t>ARGUE LOTS OF MONTE CARLOS!</a:t>
            </a:r>
          </a:p>
          <a:p>
            <a:pPr lvl="1"/>
            <a:r>
              <a:rPr lang="en-US" dirty="0"/>
              <a:t>300 is the most agreed upon best bet</a:t>
            </a:r>
          </a:p>
          <a:p>
            <a:pPr lvl="1"/>
            <a:r>
              <a:rPr lang="en-US" dirty="0"/>
              <a:t>1000+ would be considered as excellent for FA/EFA/CFA</a:t>
            </a:r>
          </a:p>
          <a:p>
            <a:pPr marL="0" indent="0">
              <a:buNone/>
            </a:pPr>
            <a:r>
              <a:rPr lang="en-US" dirty="0"/>
              <a:t>Now data is a lot hence, we might not face with the issue of small sample size. Even when the sample size is very large and if the communality is low, no matter how large the sample size is, the estimation of the factor loadings (pattern/structure coefficients) will not be accurate.</a:t>
            </a:r>
          </a:p>
          <a:p>
            <a:pPr marL="0" indent="0">
              <a:buNone/>
            </a:pPr>
            <a:r>
              <a:rPr lang="en-US" dirty="0"/>
              <a:t>KMO measure of sampling adequacy is used to compare the magnitudes of the observed correlation coefficients in relation to the magnitudes of the partial correlation coefficient. Large KMO values are good because between pairs of variables can be explained by the other variables. </a:t>
            </a:r>
          </a:p>
          <a:p>
            <a:pPr lvl="1"/>
            <a:endParaRPr lang="en-US" dirty="0"/>
          </a:p>
          <a:p>
            <a:pPr lvl="1"/>
            <a:endParaRPr lang="en-US" dirty="0"/>
          </a:p>
        </p:txBody>
      </p:sp>
    </p:spTree>
    <p:extLst>
      <p:ext uri="{BB962C8B-B14F-4D97-AF65-F5344CB8AC3E}">
        <p14:creationId xmlns:p14="http://schemas.microsoft.com/office/powerpoint/2010/main" val="40762852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many </a:t>
            </a:r>
            <a:r>
              <a:rPr lang="en-US" i="1" dirty="0"/>
              <a:t>factors/components </a:t>
            </a:r>
            <a:r>
              <a:rPr lang="en-US" dirty="0"/>
              <a:t>do I have?</a:t>
            </a:r>
          </a:p>
        </p:txBody>
      </p:sp>
      <p:sp>
        <p:nvSpPr>
          <p:cNvPr id="6" name="Content Placeholder 2">
            <a:extLst>
              <a:ext uri="{FF2B5EF4-FFF2-40B4-BE49-F238E27FC236}">
                <a16:creationId xmlns:a16="http://schemas.microsoft.com/office/drawing/2014/main" id="{1D43BB6C-7E2D-BE4D-88AC-C636A37794D6}"/>
              </a:ext>
            </a:extLst>
          </p:cNvPr>
          <p:cNvSpPr>
            <a:spLocks noGrp="1"/>
          </p:cNvSpPr>
          <p:nvPr>
            <p:ph idx="1"/>
          </p:nvPr>
        </p:nvSpPr>
        <p:spPr>
          <a:xfrm>
            <a:off x="838200" y="1825625"/>
            <a:ext cx="10515600" cy="4351338"/>
          </a:xfrm>
        </p:spPr>
        <p:txBody>
          <a:bodyPr/>
          <a:lstStyle/>
          <a:p>
            <a:r>
              <a:rPr lang="en-US" dirty="0"/>
              <a:t>Ways to determine number to </a:t>
            </a:r>
            <a:r>
              <a:rPr lang="en-US" i="1" dirty="0"/>
              <a:t>extract</a:t>
            </a:r>
            <a:endParaRPr lang="en-US" dirty="0"/>
          </a:p>
          <a:p>
            <a:pPr lvl="1"/>
            <a:r>
              <a:rPr lang="en-US" dirty="0"/>
              <a:t>Theory</a:t>
            </a:r>
          </a:p>
          <a:p>
            <a:pPr lvl="1"/>
            <a:r>
              <a:rPr lang="en-US" dirty="0"/>
              <a:t>Kaiser criterion</a:t>
            </a:r>
          </a:p>
          <a:p>
            <a:pPr lvl="1"/>
            <a:r>
              <a:rPr lang="en-US" dirty="0"/>
              <a:t>Scree Plots</a:t>
            </a:r>
          </a:p>
          <a:p>
            <a:pPr lvl="1"/>
            <a:r>
              <a:rPr lang="en-US" dirty="0"/>
              <a:t>Parallel Analysis</a:t>
            </a:r>
          </a:p>
        </p:txBody>
      </p:sp>
    </p:spTree>
    <p:extLst>
      <p:ext uri="{BB962C8B-B14F-4D97-AF65-F5344CB8AC3E}">
        <p14:creationId xmlns:p14="http://schemas.microsoft.com/office/powerpoint/2010/main" val="35551833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many </a:t>
            </a:r>
            <a:r>
              <a:rPr lang="en-US" i="1" dirty="0"/>
              <a:t>factors/components </a:t>
            </a:r>
            <a:r>
              <a:rPr lang="en-US" dirty="0"/>
              <a:t>do I have?</a:t>
            </a:r>
          </a:p>
        </p:txBody>
      </p:sp>
      <p:sp>
        <p:nvSpPr>
          <p:cNvPr id="3" name="Content Placeholder 2"/>
          <p:cNvSpPr>
            <a:spLocks noGrp="1"/>
          </p:cNvSpPr>
          <p:nvPr>
            <p:ph idx="1"/>
          </p:nvPr>
        </p:nvSpPr>
        <p:spPr/>
        <p:txBody>
          <a:bodyPr/>
          <a:lstStyle/>
          <a:p>
            <a:r>
              <a:rPr lang="en-US" dirty="0"/>
              <a:t>Theory</a:t>
            </a:r>
          </a:p>
          <a:p>
            <a:pPr lvl="1"/>
            <a:r>
              <a:rPr lang="en-US" dirty="0"/>
              <a:t>Usually you have an idea of the number of latent constructs you expect</a:t>
            </a:r>
          </a:p>
          <a:p>
            <a:pPr lvl="1"/>
            <a:r>
              <a:rPr lang="en-US" dirty="0"/>
              <a:t>You made the scale that way</a:t>
            </a:r>
          </a:p>
          <a:p>
            <a:pPr lvl="1"/>
            <a:r>
              <a:rPr lang="en-US" dirty="0"/>
              <a:t>Previous research</a:t>
            </a:r>
          </a:p>
          <a:p>
            <a:pPr lvl="1"/>
            <a:endParaRPr lang="en-US" dirty="0"/>
          </a:p>
        </p:txBody>
      </p:sp>
    </p:spTree>
    <p:extLst>
      <p:ext uri="{BB962C8B-B14F-4D97-AF65-F5344CB8AC3E}">
        <p14:creationId xmlns:p14="http://schemas.microsoft.com/office/powerpoint/2010/main" val="7909657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many </a:t>
            </a:r>
            <a:r>
              <a:rPr lang="en-US" i="1" dirty="0"/>
              <a:t>factors/components </a:t>
            </a:r>
            <a:r>
              <a:rPr lang="en-US" dirty="0"/>
              <a:t>do I have?</a:t>
            </a:r>
          </a:p>
        </p:txBody>
      </p:sp>
      <p:sp>
        <p:nvSpPr>
          <p:cNvPr id="3" name="Content Placeholder 2"/>
          <p:cNvSpPr>
            <a:spLocks noGrp="1"/>
          </p:cNvSpPr>
          <p:nvPr>
            <p:ph idx="1"/>
          </p:nvPr>
        </p:nvSpPr>
        <p:spPr/>
        <p:txBody>
          <a:bodyPr/>
          <a:lstStyle/>
          <a:p>
            <a:r>
              <a:rPr lang="en-US" dirty="0"/>
              <a:t>Kaiser criterion</a:t>
            </a:r>
          </a:p>
          <a:p>
            <a:pPr lvl="1"/>
            <a:r>
              <a:rPr lang="en-US" i="1" dirty="0"/>
              <a:t>Note</a:t>
            </a:r>
            <a:r>
              <a:rPr lang="en-US" dirty="0"/>
              <a:t> this is sometimes still used, but usually not recommended</a:t>
            </a:r>
          </a:p>
          <a:p>
            <a:pPr lvl="1"/>
            <a:r>
              <a:rPr lang="en-US" dirty="0"/>
              <a:t>Old rule: extract the number of </a:t>
            </a:r>
            <a:r>
              <a:rPr lang="en-US" i="1" dirty="0"/>
              <a:t>eigenvalues </a:t>
            </a:r>
            <a:r>
              <a:rPr lang="en-US" dirty="0"/>
              <a:t>over 1</a:t>
            </a:r>
          </a:p>
          <a:p>
            <a:pPr lvl="1"/>
            <a:r>
              <a:rPr lang="en-US" dirty="0"/>
              <a:t>New rule: extract the number of </a:t>
            </a:r>
            <a:r>
              <a:rPr lang="en-US" i="1" dirty="0"/>
              <a:t>eigenvalues </a:t>
            </a:r>
            <a:r>
              <a:rPr lang="en-US" dirty="0"/>
              <a:t>over .7</a:t>
            </a:r>
          </a:p>
        </p:txBody>
      </p:sp>
    </p:spTree>
    <p:extLst>
      <p:ext uri="{BB962C8B-B14F-4D97-AF65-F5344CB8AC3E}">
        <p14:creationId xmlns:p14="http://schemas.microsoft.com/office/powerpoint/2010/main" val="34306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many </a:t>
            </a:r>
            <a:r>
              <a:rPr lang="en-US" i="1" dirty="0"/>
              <a:t>factors/components </a:t>
            </a:r>
            <a:r>
              <a:rPr lang="en-US" dirty="0"/>
              <a:t>do I have?</a:t>
            </a:r>
          </a:p>
        </p:txBody>
      </p:sp>
      <p:sp>
        <p:nvSpPr>
          <p:cNvPr id="3" name="Content Placeholder 2"/>
          <p:cNvSpPr>
            <a:spLocks noGrp="1"/>
          </p:cNvSpPr>
          <p:nvPr>
            <p:ph idx="1"/>
          </p:nvPr>
        </p:nvSpPr>
        <p:spPr>
          <a:xfrm>
            <a:off x="1981200" y="1544373"/>
            <a:ext cx="8229600" cy="4525963"/>
          </a:xfrm>
        </p:spPr>
        <p:txBody>
          <a:bodyPr/>
          <a:lstStyle/>
          <a:p>
            <a:r>
              <a:rPr lang="en-US" dirty="0"/>
              <a:t>Scree plot – a graphical representation of eigenvalues</a:t>
            </a:r>
          </a:p>
          <a:p>
            <a:pPr lvl="1"/>
            <a:r>
              <a:rPr lang="en-US" dirty="0"/>
              <a:t>Look for a large drop</a:t>
            </a:r>
          </a:p>
        </p:txBody>
      </p:sp>
      <p:pic>
        <p:nvPicPr>
          <p:cNvPr id="4" name="Picture 3" descr="figure1.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3096156"/>
            <a:ext cx="9144000" cy="3761844"/>
          </a:xfrm>
          <a:prstGeom prst="rect">
            <a:avLst/>
          </a:prstGeom>
        </p:spPr>
      </p:pic>
    </p:spTree>
    <p:extLst>
      <p:ext uri="{BB962C8B-B14F-4D97-AF65-F5344CB8AC3E}">
        <p14:creationId xmlns:p14="http://schemas.microsoft.com/office/powerpoint/2010/main" val="8714401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many </a:t>
            </a:r>
            <a:r>
              <a:rPr lang="en-US" i="1" dirty="0"/>
              <a:t>factors/components </a:t>
            </a:r>
            <a:r>
              <a:rPr lang="en-US" dirty="0"/>
              <a:t>do I have?</a:t>
            </a:r>
          </a:p>
        </p:txBody>
      </p:sp>
      <p:sp>
        <p:nvSpPr>
          <p:cNvPr id="3" name="Content Placeholder 2"/>
          <p:cNvSpPr>
            <a:spLocks noGrp="1"/>
          </p:cNvSpPr>
          <p:nvPr>
            <p:ph idx="1"/>
          </p:nvPr>
        </p:nvSpPr>
        <p:spPr/>
        <p:txBody>
          <a:bodyPr/>
          <a:lstStyle/>
          <a:p>
            <a:r>
              <a:rPr lang="en-US" dirty="0"/>
              <a:t>Parallel Analysis – a statistical test to tell you how many eigenvalues are greater than chance</a:t>
            </a:r>
          </a:p>
          <a:p>
            <a:pPr lvl="1"/>
            <a:r>
              <a:rPr lang="en-US" dirty="0"/>
              <a:t>Calculates the eigenvalues for your data</a:t>
            </a:r>
          </a:p>
          <a:p>
            <a:pPr lvl="1"/>
            <a:r>
              <a:rPr lang="en-US" dirty="0"/>
              <a:t>Randomizes your data and recalculates the eigenvalues</a:t>
            </a:r>
          </a:p>
          <a:p>
            <a:pPr lvl="1"/>
            <a:r>
              <a:rPr lang="en-US" dirty="0"/>
              <a:t>Then compares them to determine if they are equal</a:t>
            </a:r>
          </a:p>
          <a:p>
            <a:r>
              <a:rPr lang="en-US" dirty="0"/>
              <a:t>Parallel Analysis in R: </a:t>
            </a:r>
            <a:r>
              <a:rPr lang="en-US" i="1" dirty="0" err="1"/>
              <a:t>fa.parallel</a:t>
            </a:r>
            <a:r>
              <a:rPr lang="en-US" i="1" dirty="0"/>
              <a:t>()</a:t>
            </a:r>
          </a:p>
          <a:p>
            <a:endParaRPr lang="en-US" dirty="0"/>
          </a:p>
        </p:txBody>
      </p:sp>
    </p:spTree>
    <p:extLst>
      <p:ext uri="{BB962C8B-B14F-4D97-AF65-F5344CB8AC3E}">
        <p14:creationId xmlns:p14="http://schemas.microsoft.com/office/powerpoint/2010/main" val="23613122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many </a:t>
            </a:r>
            <a:r>
              <a:rPr lang="en-US" i="1" dirty="0"/>
              <a:t>factors/components </a:t>
            </a:r>
            <a:r>
              <a:rPr lang="en-US" dirty="0"/>
              <a:t>do I have?</a:t>
            </a:r>
          </a:p>
        </p:txBody>
      </p:sp>
      <p:sp>
        <p:nvSpPr>
          <p:cNvPr id="3" name="Content Placeholder 2"/>
          <p:cNvSpPr>
            <a:spLocks noGrp="1"/>
          </p:cNvSpPr>
          <p:nvPr>
            <p:ph idx="1"/>
          </p:nvPr>
        </p:nvSpPr>
        <p:spPr/>
        <p:txBody>
          <a:bodyPr/>
          <a:lstStyle/>
          <a:p>
            <a:r>
              <a:rPr lang="en-US" dirty="0"/>
              <a:t>What to do if they disagree?</a:t>
            </a:r>
          </a:p>
          <a:p>
            <a:pPr lvl="1"/>
            <a:r>
              <a:rPr lang="en-US" dirty="0"/>
              <a:t>Test both models to determine which works </a:t>
            </a:r>
            <a:r>
              <a:rPr lang="en-US"/>
              <a:t>better </a:t>
            </a:r>
          </a:p>
          <a:p>
            <a:pPr lvl="1"/>
            <a:r>
              <a:rPr lang="en-US"/>
              <a:t>Simpler </a:t>
            </a:r>
            <a:r>
              <a:rPr lang="en-US" dirty="0"/>
              <a:t>solutions are better (i.e. less factors)</a:t>
            </a:r>
          </a:p>
        </p:txBody>
      </p:sp>
    </p:spTree>
    <p:extLst>
      <p:ext uri="{BB962C8B-B14F-4D97-AF65-F5344CB8AC3E}">
        <p14:creationId xmlns:p14="http://schemas.microsoft.com/office/powerpoint/2010/main" val="2917101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01B6E-E344-2F45-8CB5-E30876CAA350}"/>
              </a:ext>
            </a:extLst>
          </p:cNvPr>
          <p:cNvSpPr>
            <a:spLocks noGrp="1"/>
          </p:cNvSpPr>
          <p:nvPr>
            <p:ph type="title"/>
          </p:nvPr>
        </p:nvSpPr>
        <p:spPr/>
        <p:txBody>
          <a:bodyPr/>
          <a:lstStyle/>
          <a:p>
            <a:r>
              <a:rPr lang="en-GB" dirty="0"/>
              <a:t>Factor Rotation</a:t>
            </a:r>
          </a:p>
        </p:txBody>
      </p:sp>
      <p:sp>
        <p:nvSpPr>
          <p:cNvPr id="3" name="Content Placeholder 2">
            <a:extLst>
              <a:ext uri="{FF2B5EF4-FFF2-40B4-BE49-F238E27FC236}">
                <a16:creationId xmlns:a16="http://schemas.microsoft.com/office/drawing/2014/main" id="{E1B4FAF0-E743-7543-93A8-F77DCCDE4A71}"/>
              </a:ext>
            </a:extLst>
          </p:cNvPr>
          <p:cNvSpPr>
            <a:spLocks noGrp="1"/>
          </p:cNvSpPr>
          <p:nvPr>
            <p:ph idx="1"/>
          </p:nvPr>
        </p:nvSpPr>
        <p:spPr>
          <a:xfrm>
            <a:off x="838199" y="1611569"/>
            <a:ext cx="10783529" cy="4881305"/>
          </a:xfrm>
        </p:spPr>
        <p:txBody>
          <a:bodyPr>
            <a:normAutofit fontScale="92500" lnSpcReduction="20000"/>
          </a:bodyPr>
          <a:lstStyle/>
          <a:p>
            <a:r>
              <a:rPr lang="en-GB" dirty="0"/>
              <a:t>Even though EFA identifies latent directions in the data, there is no guarantee that these directions are inherently interpretable</a:t>
            </a:r>
          </a:p>
          <a:p>
            <a:r>
              <a:rPr lang="en-GB" dirty="0"/>
              <a:t>Rotation the axes of the factor so that low loadings become lower and high loadings larger</a:t>
            </a:r>
          </a:p>
          <a:p>
            <a:r>
              <a:rPr lang="en-GB" dirty="0"/>
              <a:t>Rotation redistributes the variance across factors to aid in interpretation</a:t>
            </a:r>
          </a:p>
          <a:p>
            <a:r>
              <a:rPr lang="en-GB" dirty="0"/>
              <a:t>This may change the eigenvalues of each factor, but not their sum (because that rotation does not change the fit or the amount of variance explained)</a:t>
            </a:r>
          </a:p>
          <a:p>
            <a:r>
              <a:rPr lang="en-GB" dirty="0"/>
              <a:t>Orthogonal rotations such as ‘varimax’ try to rotate the factors to obtain simple structure while keeping the directions at 90 degrees to each other (uncorrelated). -&gt; This has the advantage of keeping the standardized factor loadings in correlational units.</a:t>
            </a:r>
          </a:p>
          <a:p>
            <a:r>
              <a:rPr lang="en-GB" dirty="0"/>
              <a:t>Oblique rotations allow for the factors to correlate, but are still motivated to achieve simple structure of the loading matrix. In general, assuming that factors are uncorrelated is probably a bad, or at least questionable</a:t>
            </a:r>
          </a:p>
          <a:p>
            <a:endParaRPr lang="en-GB" dirty="0"/>
          </a:p>
        </p:txBody>
      </p:sp>
    </p:spTree>
    <p:extLst>
      <p:ext uri="{BB962C8B-B14F-4D97-AF65-F5344CB8AC3E}">
        <p14:creationId xmlns:p14="http://schemas.microsoft.com/office/powerpoint/2010/main" val="1113182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5C759-15E4-D74A-9343-3E333A6814C6}"/>
              </a:ext>
            </a:extLst>
          </p:cNvPr>
          <p:cNvSpPr>
            <a:spLocks noGrp="1"/>
          </p:cNvSpPr>
          <p:nvPr>
            <p:ph type="title"/>
          </p:nvPr>
        </p:nvSpPr>
        <p:spPr/>
        <p:txBody>
          <a:bodyPr/>
          <a:lstStyle/>
          <a:p>
            <a:r>
              <a:rPr lang="en-GB" dirty="0"/>
              <a:t>Factor Rotation Example – No Rotation</a:t>
            </a:r>
          </a:p>
        </p:txBody>
      </p:sp>
      <p:pic>
        <p:nvPicPr>
          <p:cNvPr id="5" name="Content Placeholder 4">
            <a:extLst>
              <a:ext uri="{FF2B5EF4-FFF2-40B4-BE49-F238E27FC236}">
                <a16:creationId xmlns:a16="http://schemas.microsoft.com/office/drawing/2014/main" id="{B15D60DD-8B34-2842-9F2B-9D6D3754F1A4}"/>
              </a:ext>
            </a:extLst>
          </p:cNvPr>
          <p:cNvPicPr>
            <a:picLocks noGrp="1" noChangeAspect="1"/>
          </p:cNvPicPr>
          <p:nvPr>
            <p:ph idx="1"/>
          </p:nvPr>
        </p:nvPicPr>
        <p:blipFill>
          <a:blip r:embed="rId2"/>
          <a:stretch>
            <a:fillRect/>
          </a:stretch>
        </p:blipFill>
        <p:spPr>
          <a:xfrm>
            <a:off x="1929468" y="1825625"/>
            <a:ext cx="8333064" cy="4351338"/>
          </a:xfrm>
        </p:spPr>
      </p:pic>
    </p:spTree>
    <p:extLst>
      <p:ext uri="{BB962C8B-B14F-4D97-AF65-F5344CB8AC3E}">
        <p14:creationId xmlns:p14="http://schemas.microsoft.com/office/powerpoint/2010/main" val="25237610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CCB7A-F131-C447-A2CF-FCD512176E94}"/>
              </a:ext>
            </a:extLst>
          </p:cNvPr>
          <p:cNvSpPr>
            <a:spLocks noGrp="1"/>
          </p:cNvSpPr>
          <p:nvPr>
            <p:ph type="title"/>
          </p:nvPr>
        </p:nvSpPr>
        <p:spPr/>
        <p:txBody>
          <a:bodyPr/>
          <a:lstStyle/>
          <a:p>
            <a:r>
              <a:rPr lang="en-GB" dirty="0"/>
              <a:t>Factor Rotation Example – Orthogonal Rotation</a:t>
            </a:r>
          </a:p>
        </p:txBody>
      </p:sp>
      <p:pic>
        <p:nvPicPr>
          <p:cNvPr id="5" name="Content Placeholder 4">
            <a:extLst>
              <a:ext uri="{FF2B5EF4-FFF2-40B4-BE49-F238E27FC236}">
                <a16:creationId xmlns:a16="http://schemas.microsoft.com/office/drawing/2014/main" id="{7D9135CE-DA1A-6645-BD14-8094FC98E7C4}"/>
              </a:ext>
            </a:extLst>
          </p:cNvPr>
          <p:cNvPicPr>
            <a:picLocks noGrp="1" noChangeAspect="1"/>
          </p:cNvPicPr>
          <p:nvPr>
            <p:ph idx="1"/>
          </p:nvPr>
        </p:nvPicPr>
        <p:blipFill>
          <a:blip r:embed="rId2"/>
          <a:stretch>
            <a:fillRect/>
          </a:stretch>
        </p:blipFill>
        <p:spPr>
          <a:xfrm>
            <a:off x="1702498" y="1825625"/>
            <a:ext cx="8787004" cy="4351338"/>
          </a:xfrm>
        </p:spPr>
      </p:pic>
    </p:spTree>
    <p:extLst>
      <p:ext uri="{BB962C8B-B14F-4D97-AF65-F5344CB8AC3E}">
        <p14:creationId xmlns:p14="http://schemas.microsoft.com/office/powerpoint/2010/main" val="29729957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41427-1091-9045-9B17-31B6F7FF324F}"/>
              </a:ext>
            </a:extLst>
          </p:cNvPr>
          <p:cNvSpPr>
            <a:spLocks noGrp="1"/>
          </p:cNvSpPr>
          <p:nvPr>
            <p:ph type="title"/>
          </p:nvPr>
        </p:nvSpPr>
        <p:spPr/>
        <p:txBody>
          <a:bodyPr/>
          <a:lstStyle/>
          <a:p>
            <a:r>
              <a:rPr lang="en-GB" dirty="0"/>
              <a:t>Factor Rotation Example – Oblique</a:t>
            </a:r>
          </a:p>
        </p:txBody>
      </p:sp>
      <p:pic>
        <p:nvPicPr>
          <p:cNvPr id="5" name="Picture 4">
            <a:extLst>
              <a:ext uri="{FF2B5EF4-FFF2-40B4-BE49-F238E27FC236}">
                <a16:creationId xmlns:a16="http://schemas.microsoft.com/office/drawing/2014/main" id="{25706479-7D9A-B345-A03B-D0CC9C8BB2DF}"/>
              </a:ext>
            </a:extLst>
          </p:cNvPr>
          <p:cNvPicPr>
            <a:picLocks noChangeAspect="1"/>
          </p:cNvPicPr>
          <p:nvPr/>
        </p:nvPicPr>
        <p:blipFill>
          <a:blip r:embed="rId2"/>
          <a:stretch>
            <a:fillRect/>
          </a:stretch>
        </p:blipFill>
        <p:spPr>
          <a:xfrm>
            <a:off x="1157748" y="1690688"/>
            <a:ext cx="9552039" cy="4582872"/>
          </a:xfrm>
          <a:prstGeom prst="rect">
            <a:avLst/>
          </a:prstGeom>
        </p:spPr>
      </p:pic>
    </p:spTree>
    <p:extLst>
      <p:ext uri="{BB962C8B-B14F-4D97-AF65-F5344CB8AC3E}">
        <p14:creationId xmlns:p14="http://schemas.microsoft.com/office/powerpoint/2010/main" val="1636290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2249</TotalTime>
  <Words>2326</Words>
  <Application>Microsoft Macintosh PowerPoint</Application>
  <PresentationFormat>Widescreen</PresentationFormat>
  <Paragraphs>228</Paragraphs>
  <Slides>34</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Calibri Light</vt:lpstr>
      <vt:lpstr>Cambria Math</vt:lpstr>
      <vt:lpstr>Office Theme</vt:lpstr>
      <vt:lpstr>Factor Analysis</vt:lpstr>
      <vt:lpstr>Objectives</vt:lpstr>
      <vt:lpstr>Multivariate Problems</vt:lpstr>
      <vt:lpstr>Graphical Representation</vt:lpstr>
      <vt:lpstr>Factors and components</vt:lpstr>
      <vt:lpstr>A original story of how FA came about - Measuring the Unmeasurable</vt:lpstr>
      <vt:lpstr>PCA vs FA</vt:lpstr>
      <vt:lpstr>PowerPoint Presentation</vt:lpstr>
      <vt:lpstr>Type of Factor Analysis</vt:lpstr>
      <vt:lpstr>PCA                                                      FA</vt:lpstr>
      <vt:lpstr>FA</vt:lpstr>
      <vt:lpstr>FA vs PCA</vt:lpstr>
      <vt:lpstr>Terminologies</vt:lpstr>
      <vt:lpstr>Partitioning the variance in Factor Analysis</vt:lpstr>
      <vt:lpstr>Partitioning the variance in Factor Analysis</vt:lpstr>
      <vt:lpstr>FA – Factor loadings</vt:lpstr>
      <vt:lpstr>Why Do an Exploratory Factor Analysis?</vt:lpstr>
      <vt:lpstr>Why Do an Exploratory Factor Analysis?  - Structural Exploration</vt:lpstr>
      <vt:lpstr>Two main steps in Factor Analysis</vt:lpstr>
      <vt:lpstr>1. Extracting Factors</vt:lpstr>
      <vt:lpstr>1. Common factor analysis</vt:lpstr>
      <vt:lpstr>Step to conduct EFA</vt:lpstr>
      <vt:lpstr>Is data suitable for the FA test – sample size</vt:lpstr>
      <vt:lpstr>Is data suitable for the FA test – Power</vt:lpstr>
      <vt:lpstr>How many factors/components do I have?</vt:lpstr>
      <vt:lpstr>How many factors/components do I have?</vt:lpstr>
      <vt:lpstr>How many factors/components do I have?</vt:lpstr>
      <vt:lpstr>How many factors/components do I have?</vt:lpstr>
      <vt:lpstr>How many factors/components do I have?</vt:lpstr>
      <vt:lpstr>How many factors/components do I have?</vt:lpstr>
      <vt:lpstr>Factor Rotation</vt:lpstr>
      <vt:lpstr>Factor Rotation Example – No Rotation</vt:lpstr>
      <vt:lpstr>Factor Rotation Example – Orthogonal Rotation</vt:lpstr>
      <vt:lpstr>Factor Rotation Example – Oblique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Factor Analysis</dc:title>
  <dc:creator>Microsoft Office User</dc:creator>
  <cp:lastModifiedBy>Microsoft Office User</cp:lastModifiedBy>
  <cp:revision>65</cp:revision>
  <dcterms:created xsi:type="dcterms:W3CDTF">2020-05-27T11:01:24Z</dcterms:created>
  <dcterms:modified xsi:type="dcterms:W3CDTF">2020-10-16T01:16:08Z</dcterms:modified>
</cp:coreProperties>
</file>