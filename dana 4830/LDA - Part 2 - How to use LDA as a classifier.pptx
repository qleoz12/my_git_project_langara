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30"/>
  </p:notesMasterIdLst>
  <p:sldIdLst>
    <p:sldId id="257" r:id="rId2"/>
    <p:sldId id="258" r:id="rId3"/>
    <p:sldId id="261" r:id="rId4"/>
    <p:sldId id="262" r:id="rId5"/>
    <p:sldId id="263" r:id="rId6"/>
    <p:sldId id="264" r:id="rId7"/>
    <p:sldId id="265" r:id="rId8"/>
    <p:sldId id="266" r:id="rId9"/>
    <p:sldId id="267"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16"/>
    <p:restoredTop sz="82157"/>
  </p:normalViewPr>
  <p:slideViewPr>
    <p:cSldViewPr snapToGrid="0" snapToObjects="1">
      <p:cViewPr varScale="1">
        <p:scale>
          <a:sx n="102" d="100"/>
          <a:sy n="102" d="100"/>
        </p:scale>
        <p:origin x="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0B1523-E45E-9646-80F0-C86A1CF8826A}" type="datetimeFigureOut">
              <a:rPr lang="en-US" smtClean="0"/>
              <a:t>1/8/22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0485B2-F723-BF4B-9D7E-ECD23B42BCD0}" type="slidenum">
              <a:rPr lang="en-US" smtClean="0"/>
              <a:t>‹#›</a:t>
            </a:fld>
            <a:endParaRPr lang="en-US"/>
          </a:p>
        </p:txBody>
      </p:sp>
    </p:spTree>
    <p:extLst>
      <p:ext uri="{BB962C8B-B14F-4D97-AF65-F5344CB8AC3E}">
        <p14:creationId xmlns:p14="http://schemas.microsoft.com/office/powerpoint/2010/main" val="934580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0485B2-F723-BF4B-9D7E-ECD23B42BCD0}" type="slidenum">
              <a:rPr lang="en-US" smtClean="0"/>
              <a:t>2</a:t>
            </a:fld>
            <a:endParaRPr lang="en-US"/>
          </a:p>
        </p:txBody>
      </p:sp>
    </p:spTree>
    <p:extLst>
      <p:ext uri="{BB962C8B-B14F-4D97-AF65-F5344CB8AC3E}">
        <p14:creationId xmlns:p14="http://schemas.microsoft.com/office/powerpoint/2010/main" val="457608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data contains information on 12 patients. </a:t>
            </a:r>
          </a:p>
          <a:p>
            <a:r>
              <a:rPr lang="en-US" dirty="0"/>
              <a:t>The method combines variables, so that the linear combination has a maximal separation between the groups. To achieve maximal separation, it finds optimal values of these weights. LDA will put more weights on variables that are good in separating the groups. The blood concentration of the c-reactive protein as well as the body temperature have been measured on 12 patients that have entered a hospital. Once the patients had entered the hospital, the presence of bacteria and viruses were analyzed from different samples. However, it usually takes several hours or days to determine if a patient has a viral infection or a bacterial infection. After 2 days at the hospital, these 6 patients were found to be infected by a virus whereas these 6 patients were confirmed to have a bacterial infection. Since antibiotics are only effective on bacteria , only these patients were treated with antibiotics.</a:t>
            </a:r>
          </a:p>
          <a:p>
            <a:r>
              <a:rPr lang="en-US" dirty="0"/>
              <a:t>The problem is that we have to wait about 2 days to confirm the type of pathogen. Therefore, we need to wait 2 days know if antibiotic treatment is appropriate or not. It would be great if we could use the CRP concentration or the body temperature to tell if a patient has a bacterial or viral infection because the measurements of these variables can be done within just 1 hour.</a:t>
            </a:r>
          </a:p>
          <a:p>
            <a:r>
              <a:rPr lang="en-US" dirty="0"/>
              <a:t>If we plot the CRP concentration of the 12 patients, we see that no simple cutoff line can be used to separate the ones with a bacterial infection from the ones with a viral infection.</a:t>
            </a:r>
          </a:p>
          <a:p>
            <a:r>
              <a:rPr lang="en-US" dirty="0"/>
              <a:t>The same is also true for the body temperature, because we can’t separate the patients with a bacterial infection from the patients with a viral infection by using only the body temperature.	</a:t>
            </a:r>
          </a:p>
        </p:txBody>
      </p:sp>
      <p:sp>
        <p:nvSpPr>
          <p:cNvPr id="4" name="Slide Number Placeholder 3"/>
          <p:cNvSpPr>
            <a:spLocks noGrp="1"/>
          </p:cNvSpPr>
          <p:nvPr>
            <p:ph type="sldNum" sz="quarter" idx="5"/>
          </p:nvPr>
        </p:nvSpPr>
        <p:spPr/>
        <p:txBody>
          <a:bodyPr/>
          <a:lstStyle/>
          <a:p>
            <a:fld id="{3F0485B2-F723-BF4B-9D7E-ECD23B42BCD0}" type="slidenum">
              <a:rPr lang="en-US" smtClean="0"/>
              <a:t>3</a:t>
            </a:fld>
            <a:endParaRPr lang="en-US"/>
          </a:p>
        </p:txBody>
      </p:sp>
    </p:spTree>
    <p:extLst>
      <p:ext uri="{BB962C8B-B14F-4D97-AF65-F5344CB8AC3E}">
        <p14:creationId xmlns:p14="http://schemas.microsoft.com/office/powerpoint/2010/main" val="2576222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if we plot the CRP concentration and the body temperature in the same plot and use different colors for patients with a viral infection and bacterial infection.</a:t>
            </a:r>
          </a:p>
          <a:p>
            <a:r>
              <a:rPr lang="en-US" dirty="0"/>
              <a:t>We can see that the line can separate the 2 groups completely. This indicates that LDA would do a good job in separating the groups by combining the 2 variables.</a:t>
            </a:r>
          </a:p>
          <a:p>
            <a:r>
              <a:rPr lang="en-US" dirty="0"/>
              <a:t>Just as PCA, LDA can be seen as we rotate the data into 2 new dimensions, which are here called discriminant function 1 and 2.</a:t>
            </a:r>
          </a:p>
        </p:txBody>
      </p:sp>
      <p:sp>
        <p:nvSpPr>
          <p:cNvPr id="4" name="Slide Number Placeholder 3"/>
          <p:cNvSpPr>
            <a:spLocks noGrp="1"/>
          </p:cNvSpPr>
          <p:nvPr>
            <p:ph type="sldNum" sz="quarter" idx="5"/>
          </p:nvPr>
        </p:nvSpPr>
        <p:spPr/>
        <p:txBody>
          <a:bodyPr/>
          <a:lstStyle/>
          <a:p>
            <a:fld id="{3F0485B2-F723-BF4B-9D7E-ECD23B42BCD0}" type="slidenum">
              <a:rPr lang="en-US" smtClean="0"/>
              <a:t>4</a:t>
            </a:fld>
            <a:endParaRPr lang="en-US"/>
          </a:p>
        </p:txBody>
      </p:sp>
    </p:spTree>
    <p:extLst>
      <p:ext uri="{BB962C8B-B14F-4D97-AF65-F5344CB8AC3E}">
        <p14:creationId xmlns:p14="http://schemas.microsoft.com/office/powerpoint/2010/main" val="3667022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that the first discriminant function can be used to separate the two groups perfectly. In contrast, we can’t see separate the groups based on a horizontal line, which means that the second discriminant function is not useful for separation. </a:t>
            </a:r>
          </a:p>
        </p:txBody>
      </p:sp>
      <p:sp>
        <p:nvSpPr>
          <p:cNvPr id="4" name="Slide Number Placeholder 3"/>
          <p:cNvSpPr>
            <a:spLocks noGrp="1"/>
          </p:cNvSpPr>
          <p:nvPr>
            <p:ph type="sldNum" sz="quarter" idx="5"/>
          </p:nvPr>
        </p:nvSpPr>
        <p:spPr/>
        <p:txBody>
          <a:bodyPr/>
          <a:lstStyle/>
          <a:p>
            <a:fld id="{3F0485B2-F723-BF4B-9D7E-ECD23B42BCD0}" type="slidenum">
              <a:rPr lang="en-US" smtClean="0"/>
              <a:t>5</a:t>
            </a:fld>
            <a:endParaRPr lang="en-US"/>
          </a:p>
        </p:txBody>
      </p:sp>
    </p:spTree>
    <p:extLst>
      <p:ext uri="{BB962C8B-B14F-4D97-AF65-F5344CB8AC3E}">
        <p14:creationId xmlns:p14="http://schemas.microsoft.com/office/powerpoint/2010/main" val="2173004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 we can delete the second discriminant function and place all data points on just one line. We rotate the plot so that the data points are plotted vertically</a:t>
            </a:r>
          </a:p>
        </p:txBody>
      </p:sp>
      <p:sp>
        <p:nvSpPr>
          <p:cNvPr id="4" name="Slide Number Placeholder 3"/>
          <p:cNvSpPr>
            <a:spLocks noGrp="1"/>
          </p:cNvSpPr>
          <p:nvPr>
            <p:ph type="sldNum" sz="quarter" idx="5"/>
          </p:nvPr>
        </p:nvSpPr>
        <p:spPr/>
        <p:txBody>
          <a:bodyPr/>
          <a:lstStyle/>
          <a:p>
            <a:fld id="{3F0485B2-F723-BF4B-9D7E-ECD23B42BCD0}" type="slidenum">
              <a:rPr lang="en-US" smtClean="0"/>
              <a:t>6</a:t>
            </a:fld>
            <a:endParaRPr lang="en-US"/>
          </a:p>
        </p:txBody>
      </p:sp>
    </p:spTree>
    <p:extLst>
      <p:ext uri="{BB962C8B-B14F-4D97-AF65-F5344CB8AC3E}">
        <p14:creationId xmlns:p14="http://schemas.microsoft.com/office/powerpoint/2010/main" val="912284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use LDA, we can plot the so-called discriminant scores like this. We can place a cut-off value like this that gives us a perfect separation between 2 groups. By using LDA we have combined the two variables, CRP and body temperature in a way that has maximized the separation between the two groups. </a:t>
            </a:r>
          </a:p>
          <a:p>
            <a:r>
              <a:rPr lang="en-US" dirty="0"/>
              <a:t>The linear discriminant scores in this plot can be obtained by this equation. We can replace X1 and X2 with the variable names CRP and Temp.</a:t>
            </a:r>
          </a:p>
          <a:p>
            <a:r>
              <a:rPr lang="en-US" dirty="0"/>
              <a:t>The values of the weights , alpha 1 and alpha 2, were computed with a statistical software to 0.11 and 0.7. These values give us the optimal separation between the groups.</a:t>
            </a:r>
          </a:p>
        </p:txBody>
      </p:sp>
      <p:sp>
        <p:nvSpPr>
          <p:cNvPr id="4" name="Slide Number Placeholder 3"/>
          <p:cNvSpPr>
            <a:spLocks noGrp="1"/>
          </p:cNvSpPr>
          <p:nvPr>
            <p:ph type="sldNum" sz="quarter" idx="5"/>
          </p:nvPr>
        </p:nvSpPr>
        <p:spPr/>
        <p:txBody>
          <a:bodyPr/>
          <a:lstStyle/>
          <a:p>
            <a:fld id="{3F0485B2-F723-BF4B-9D7E-ECD23B42BCD0}" type="slidenum">
              <a:rPr lang="en-US" smtClean="0"/>
              <a:t>7</a:t>
            </a:fld>
            <a:endParaRPr lang="en-US"/>
          </a:p>
        </p:txBody>
      </p:sp>
    </p:spTree>
    <p:extLst>
      <p:ext uri="{BB962C8B-B14F-4D97-AF65-F5344CB8AC3E}">
        <p14:creationId xmlns:p14="http://schemas.microsoft.com/office/powerpoint/2010/main" val="1601229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use this equation to calculate the discriminant scores. We can see that the scores for the ones with a viral infection are lower compared to the ones who have a bacterial infection.</a:t>
            </a:r>
          </a:p>
          <a:p>
            <a:r>
              <a:rPr lang="en-US" dirty="0"/>
              <a:t>One way to find a good cut-off value is to calculate the means of the discriminant scores of each group. We see that the mean discriminant score of the viral group is 28.9 and 32.3 for the bacterial group, the mean of these two means is 30.6. We can see that 30.6 is a good cut-off value to use since it separates the two groups completely. </a:t>
            </a:r>
          </a:p>
        </p:txBody>
      </p:sp>
      <p:sp>
        <p:nvSpPr>
          <p:cNvPr id="4" name="Slide Number Placeholder 3"/>
          <p:cNvSpPr>
            <a:spLocks noGrp="1"/>
          </p:cNvSpPr>
          <p:nvPr>
            <p:ph type="sldNum" sz="quarter" idx="5"/>
          </p:nvPr>
        </p:nvSpPr>
        <p:spPr/>
        <p:txBody>
          <a:bodyPr/>
          <a:lstStyle/>
          <a:p>
            <a:fld id="{3F0485B2-F723-BF4B-9D7E-ECD23B42BCD0}" type="slidenum">
              <a:rPr lang="en-US" smtClean="0"/>
              <a:t>8</a:t>
            </a:fld>
            <a:endParaRPr lang="en-US"/>
          </a:p>
        </p:txBody>
      </p:sp>
    </p:spTree>
    <p:extLst>
      <p:ext uri="{BB962C8B-B14F-4D97-AF65-F5344CB8AC3E}">
        <p14:creationId xmlns:p14="http://schemas.microsoft.com/office/powerpoint/2010/main" val="2532010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it is common to center the discriminant scores by first subtracting the means from the original values. By using this equation, the centered scores are calculated.</a:t>
            </a:r>
          </a:p>
          <a:p>
            <a:r>
              <a:rPr lang="en-US" dirty="0"/>
              <a:t>If we plot the centered scores, we can see that the scores center around zero since the mean of these scores is equal to 0. The means of these centered scores for the two groups are -1.71 and 1.71. The mean of these 2 means is equal to 0.</a:t>
            </a:r>
          </a:p>
          <a:p>
            <a:r>
              <a:rPr lang="en-US" dirty="0"/>
              <a:t>A reasonable cut-off value based on the centered scores is 0.</a:t>
            </a:r>
          </a:p>
        </p:txBody>
      </p:sp>
      <p:sp>
        <p:nvSpPr>
          <p:cNvPr id="4" name="Slide Number Placeholder 3"/>
          <p:cNvSpPr>
            <a:spLocks noGrp="1"/>
          </p:cNvSpPr>
          <p:nvPr>
            <p:ph type="sldNum" sz="quarter" idx="5"/>
          </p:nvPr>
        </p:nvSpPr>
        <p:spPr/>
        <p:txBody>
          <a:bodyPr/>
          <a:lstStyle/>
          <a:p>
            <a:fld id="{3F0485B2-F723-BF4B-9D7E-ECD23B42BCD0}" type="slidenum">
              <a:rPr lang="en-US" smtClean="0"/>
              <a:t>9</a:t>
            </a:fld>
            <a:endParaRPr lang="en-US"/>
          </a:p>
        </p:txBody>
      </p:sp>
    </p:spTree>
    <p:extLst>
      <p:ext uri="{BB962C8B-B14F-4D97-AF65-F5344CB8AC3E}">
        <p14:creationId xmlns:p14="http://schemas.microsoft.com/office/powerpoint/2010/main" val="3369349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how to calculate sensitivity and specificity based on the predictions by the LDA model. Note that, we use the original scores to predict if a person has a bacterial or viral infection. We use cutoff 30.6, which is the mean of the two means.</a:t>
            </a:r>
          </a:p>
          <a:p>
            <a:r>
              <a:rPr lang="en-US" dirty="0"/>
              <a:t>A person with a discriminant score greater than 30.6, will be predicted to have a bacterial infection whereas a person with a discriminant score less than 30.6 will be predicted to have a viral infection.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897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add  an additional column in the table that shows the predicted class based on LDA function. Since the discriminant scores for these first 6 individuals are less than 30.6, LDA predict that these individuals have a viral infection. And  the discriminant scores are greater than 30.6, LDA predict that these individuals have a bacterial infection. We see that all individuals with a viral infection are correctly predicted by LDA to have a viral infection and the same with bacterial infection.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440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decide a bacterial infection is associated with a positive test result, whereas a viral infection is associated with a negative test result. Note that the selection, in this case, is arbitrary in this example since we don’t have disease vs healthy. Since the bacterial infection is associated with a positive test result, we have 6 true positives and no false negatives.</a:t>
            </a:r>
          </a:p>
          <a:p>
            <a:r>
              <a:rPr lang="en-US" dirty="0"/>
              <a:t>Remember that the sensitivity is how often the test shows a positive result out of the ones who have the disease, which is defined as having a bacterial infection. Since all patients with a bacterial infection are correctly predicted, the sensitivity is in this example 100%. Remember that the specificity is how often the test shows a negative result out of the ones who don’t have the disease, which in this example represents the ones with a viral infection. Since all patients with a viral infection are correctly predicted, we have 6 true negatives no false positives, which result in a specificity of 100%.</a:t>
            </a:r>
          </a:p>
          <a:p>
            <a:r>
              <a:rPr lang="en-US" dirty="0"/>
              <a:t>We can calculate the accuracy. Since all patients are correctly predicted, the accuracy is 100%,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2836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we can change the cutoff value depending on if we think that the sensitivity is more important than the specificity. If we like to be more certain to detect all bacterial infections to future data, we could use the lower cutoff value. By using a cutoff value at 29, we will be more confident that we identify all patients with bacterial infections and treat these with antibiotics. However, it means that some patients with a viral infection will be predicted to have a bacterial infection and will incorrectly be treated with antibiotics.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4117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how we can create an ROC curve based on the discriminant scores. Bu using a very low cutoff value, all individuals will be predicted to have a bacterial infection since they all have discriminant score great than the cutoff value. This will result in 100% sensitivity and 0% specificity. If we increase the cutoff value to 28, one of the individuals infected by a virus is correctly predicted to have a viral infection which increases the specificity from 0% to 17%. If we continue to increase the cutoff value, two of the individuals infected by a virus are now correctly predicted to have a viral infection, which increases the specificity from 17% to 100%. At this cutoff value, we get a complete separation between the groups which gives 100% sensitivity and 100% specificity.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8130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continue to increase the cutoff value, the sensitivity is reduced from 100% to 83%. If we test all possible cutoff values, we can generate the full ROC curve. </a:t>
            </a:r>
          </a:p>
          <a:p>
            <a:r>
              <a:rPr lang="en-US" dirty="0"/>
              <a:t>Note that, since we have a complete separation between the groups, the area under the ROC curve is equal to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65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how we can compute probabilities based on the discriminant scores.</a:t>
            </a:r>
          </a:p>
          <a:p>
            <a:r>
              <a:rPr lang="en-US" dirty="0"/>
              <a:t>These probabilities were calculated, they represent the probability of having a bacterial infection because we previously decided that the bacterial infection was associated with a positive test result. These probabilities can be computed by assuming that the scores are normally distributed. The shape and location of these two normal distribution curves are based on the pooled standard deviation and the mean scores of the two groups.</a:t>
            </a:r>
          </a:p>
          <a:p>
            <a:r>
              <a:rPr lang="en-US" dirty="0"/>
              <a:t>The curve for the viral group has a mean of 28.9 whereas the curve for the bacterial group has a mean of 32.3. These probabilities have been computed based on the heights of the two curves.</a:t>
            </a:r>
          </a:p>
          <a:p>
            <a:r>
              <a:rPr lang="en-US" dirty="0"/>
              <a:t>For example, a score of 30.8 results in a probability of 69.5% that this data point is of class bacterial.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9111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using these probabilities, we can see that a probability value less than 0.5 should result in that we classify the patient as having a viral infection, where as probability greater than 0.5 should be classified as a bacterial infection.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3526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the LDA, we could split data into a training data set and testing data set. Then we use the training data to compute the linear discriminant function. We determine an appropriate cutoff value. Next we remove the training data and use the test data to calculate the discriminant scores with the weights that were estimated based on the training data. Then we use these discriminant scores to compute metrics such as sensitivity, specificity and accuracy by using the given cutoff value we decided based on the training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647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validated the model and decided on an appropriate cutoff value, we could use model to make prediction.</a:t>
            </a:r>
          </a:p>
          <a:p>
            <a:r>
              <a:rPr lang="en-US" dirty="0"/>
              <a:t>In this example we cutoff value of 30.6. </a:t>
            </a:r>
          </a:p>
          <a:p>
            <a:r>
              <a:rPr lang="en-US" dirty="0"/>
              <a:t>For example, if a person has a CRP value of 45 and Temp value of 38, we can predict the class based on our discriminant function. We have the discriminant score is 31.5, which is greater than the cutoff value of 30.6. we would predict that the person has a bacterial infection.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906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heights of the two normal distribution curves at the value 31.5, we can compute the probability for a bacterial infection to 95%</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5316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comparison to, for example, logistic regression, LDA can be used with more than two groups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6766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how we can use LDA to discriminate between the three species in the classical Iris flower data set. This data set consists of measurements of the sepal length, sepal width, petal length, and petal width. These 4 variables were measured on 50 </a:t>
            </a:r>
            <a:r>
              <a:rPr lang="en-US" dirty="0" err="1"/>
              <a:t>setosas</a:t>
            </a:r>
            <a:r>
              <a:rPr lang="en-US" dirty="0"/>
              <a:t>, 50 </a:t>
            </a:r>
            <a:r>
              <a:rPr lang="en-US" dirty="0" err="1"/>
              <a:t>versicolors</a:t>
            </a:r>
            <a:r>
              <a:rPr lang="en-US" dirty="0"/>
              <a:t> and 50 </a:t>
            </a:r>
            <a:r>
              <a:rPr lang="en-US" dirty="0" err="1"/>
              <a:t>virginicas</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804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has 150 rows, where each row represents the measurements of one Iris flower. These columns show the sepal length and width, as well as the petal length and width in centimeters of the first 18 flowers in the Iris data set. The last column shows the three species: </a:t>
            </a:r>
            <a:r>
              <a:rPr lang="en-US" dirty="0" err="1"/>
              <a:t>setosa</a:t>
            </a:r>
            <a:r>
              <a:rPr lang="en-US" dirty="0"/>
              <a:t>, versicolor and virginica.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0732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using a statistical software, the following weights were computed for the first discriminant function, which generates a maximal separation between the three groups, based on the sepal length, sepal width, petal length and petal width.</a:t>
            </a:r>
          </a:p>
          <a:p>
            <a:r>
              <a:rPr lang="en-US" dirty="0"/>
              <a:t>If we plot the discriminant scores of the first discriminant function for the 150 flowers, we see that the </a:t>
            </a:r>
            <a:r>
              <a:rPr lang="en-US" dirty="0" err="1"/>
              <a:t>setosa</a:t>
            </a:r>
            <a:r>
              <a:rPr lang="en-US" dirty="0"/>
              <a:t> flowers separate well from the other two species whereas there is some overlap in the scores between versicolor and virginica.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984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use the following cutoff values, based on the average of the means of the neighboring groups, then we see that all </a:t>
            </a:r>
            <a:r>
              <a:rPr lang="en-US" dirty="0" err="1"/>
              <a:t>setosa</a:t>
            </a:r>
            <a:r>
              <a:rPr lang="en-US" dirty="0"/>
              <a:t> and virginica flowers are correctly classified whereas two </a:t>
            </a:r>
            <a:r>
              <a:rPr lang="en-US" dirty="0" err="1"/>
              <a:t>versicolors</a:t>
            </a:r>
            <a:r>
              <a:rPr lang="en-US" dirty="0"/>
              <a:t> are predicted as </a:t>
            </a:r>
            <a:r>
              <a:rPr lang="en-US" dirty="0" err="1"/>
              <a:t>virginicas</a:t>
            </a:r>
            <a:r>
              <a:rPr lang="en-US" dirty="0"/>
              <a:t>.</a:t>
            </a:r>
          </a:p>
          <a:p>
            <a:r>
              <a:rPr lang="en-US" dirty="0"/>
              <a:t>Since we make 148 correct predictions out of 150, the accuracy of our classifier is 98.7%.</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9303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linear discriminant function to make predictions. Suppose that we find an Iris flower that might either be a </a:t>
            </a:r>
            <a:r>
              <a:rPr lang="en-US" dirty="0" err="1"/>
              <a:t>setosa</a:t>
            </a:r>
            <a:r>
              <a:rPr lang="en-US" dirty="0"/>
              <a:t>, versicolor or virginica. To determine its species, we measure the sepal length and width, and the petal length and width in centimeters. Then we plug in the measurements in the equation and do the math. We see that the discriminant score is -3.1, is located between the two cutoff lines. The model predict that this Iris flower is a versicolor.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8945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previously used LDA to classify bacterial and viral infections. If we use data on parasitic infections as well as on other clinical variables, such as the PCT concentration in blood then we could combine the variables and use the discriminant function to predict if someone has a viral, bacterial or parasitic infection. Since these three clinical variables can be measured within just an hour, an early decision can be made about how to treat the patients long before the actual type of infection can be determined, which usually takes days to confirm.</a:t>
            </a:r>
          </a:p>
          <a:p>
            <a:r>
              <a:rPr lang="en-US" dirty="0"/>
              <a:t>However, remember that we first need to validate our model before we use it for predictions. </a:t>
            </a:r>
          </a:p>
          <a:p>
            <a:r>
              <a:rPr lang="en-US" dirty="0"/>
              <a:t>Note that, when we have 3 groups, there will be two useful discriminant functions, and if we have 4 groups there will be three useful discriminant functions and so on. However, the first discriminant function generates the best separation, whereas the other discriminant functions don’t usually improve the separation that much, which is the reason why just one discriminant function is commonly used because it simplifies the predictions.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0485B2-F723-BF4B-9D7E-ECD23B42BC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9669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1/8/22</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975143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59556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1/8/22</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371136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65105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1/8/22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9020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1/8/22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68262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1/8/22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04271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1/8/22</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62780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1/8/22</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7942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2512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26010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1/8/22</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16387101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hf sldNum="0" hdr="0" ftr="0" dt="0"/>
  <p:txStyles>
    <p:titleStyle>
      <a:lvl1pPr algn="l" defTabSz="914400" rtl="0" eaLnBrk="1" latinLnBrk="0" hangingPunct="1">
        <a:lnSpc>
          <a:spcPct val="90000"/>
        </a:lnSpc>
        <a:spcBef>
          <a:spcPct val="0"/>
        </a:spcBef>
        <a:buNone/>
        <a:defRPr lang="en-US" sz="44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3">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 name="Rectangle 35">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20300CF0-4299-984D-90FA-38FB3CD37083}"/>
              </a:ext>
            </a:extLst>
          </p:cNvPr>
          <p:cNvSpPr>
            <a:spLocks noGrp="1"/>
          </p:cNvSpPr>
          <p:nvPr>
            <p:ph type="title"/>
          </p:nvPr>
        </p:nvSpPr>
        <p:spPr>
          <a:xfrm>
            <a:off x="1025236" y="346364"/>
            <a:ext cx="9942484" cy="2050846"/>
          </a:xfrm>
        </p:spPr>
        <p:txBody>
          <a:bodyPr>
            <a:normAutofit/>
          </a:bodyPr>
          <a:lstStyle/>
          <a:p>
            <a:pPr algn="ctr">
              <a:spcAft>
                <a:spcPts val="600"/>
              </a:spcAft>
            </a:pPr>
            <a:r>
              <a:rPr lang="en-US" sz="4000" b="1" cap="all" spc="-100" dirty="0"/>
              <a:t>Linear Discriminant Analysis  </a:t>
            </a:r>
            <a:br>
              <a:rPr lang="en-US" sz="2400" b="1" cap="all" spc="-100" dirty="0"/>
            </a:br>
            <a:br>
              <a:rPr lang="en-US" sz="2400" b="1" cap="all" spc="-100" dirty="0"/>
            </a:br>
            <a:r>
              <a:rPr lang="en-US" sz="2400" b="1" cap="all" spc="-100" dirty="0"/>
              <a:t>How  to use it as  a classifier </a:t>
            </a:r>
            <a:br>
              <a:rPr lang="en-US" sz="2400" cap="all" spc="-100" dirty="0"/>
            </a:br>
            <a:endParaRPr lang="en-US" sz="2400" dirty="0"/>
          </a:p>
        </p:txBody>
      </p:sp>
      <p:sp>
        <p:nvSpPr>
          <p:cNvPr id="3" name="Content Placeholder 2">
            <a:extLst>
              <a:ext uri="{FF2B5EF4-FFF2-40B4-BE49-F238E27FC236}">
                <a16:creationId xmlns:a16="http://schemas.microsoft.com/office/drawing/2014/main" id="{107FD238-872E-D949-945F-AF47D8933843}"/>
              </a:ext>
            </a:extLst>
          </p:cNvPr>
          <p:cNvSpPr>
            <a:spLocks noGrp="1"/>
          </p:cNvSpPr>
          <p:nvPr>
            <p:ph idx="1"/>
          </p:nvPr>
        </p:nvSpPr>
        <p:spPr>
          <a:xfrm>
            <a:off x="1224280" y="2397210"/>
            <a:ext cx="9743440" cy="3568501"/>
          </a:xfrm>
        </p:spPr>
        <p:txBody>
          <a:bodyPr>
            <a:normAutofit/>
          </a:bodyPr>
          <a:lstStyle/>
          <a:p>
            <a:pPr>
              <a:buFont typeface="Arial" panose="020B0604020202020204" pitchFamily="34" charset="0"/>
              <a:buChar char="•"/>
            </a:pPr>
            <a:r>
              <a:rPr lang="en-US" sz="2800" dirty="0"/>
              <a:t>How LDA combines variables</a:t>
            </a:r>
          </a:p>
          <a:p>
            <a:pPr>
              <a:buFont typeface="Arial" panose="020B0604020202020204" pitchFamily="34" charset="0"/>
              <a:buChar char="•"/>
            </a:pPr>
            <a:r>
              <a:rPr lang="en-US" sz="2800" dirty="0"/>
              <a:t>Find an appropriate cutoff value</a:t>
            </a:r>
          </a:p>
          <a:p>
            <a:pPr>
              <a:buFont typeface="Arial" panose="020B0604020202020204" pitchFamily="34" charset="0"/>
              <a:buChar char="•"/>
            </a:pPr>
            <a:r>
              <a:rPr lang="en-US" sz="2800" dirty="0"/>
              <a:t>Calculate sensitivity and specificity and how to generate an ROC curve </a:t>
            </a:r>
          </a:p>
          <a:p>
            <a:pPr>
              <a:buFont typeface="Arial" panose="020B0604020202020204" pitchFamily="34" charset="0"/>
              <a:buChar char="•"/>
            </a:pPr>
            <a:r>
              <a:rPr lang="en-US" sz="2800" dirty="0"/>
              <a:t>Validation </a:t>
            </a:r>
          </a:p>
          <a:p>
            <a:pPr>
              <a:buFont typeface="Arial" panose="020B0604020202020204" pitchFamily="34" charset="0"/>
              <a:buChar char="•"/>
            </a:pPr>
            <a:r>
              <a:rPr lang="en-US" sz="2800" dirty="0"/>
              <a:t>Classify with more than two groups</a:t>
            </a:r>
          </a:p>
        </p:txBody>
      </p:sp>
    </p:spTree>
    <p:extLst>
      <p:ext uri="{BB962C8B-B14F-4D97-AF65-F5344CB8AC3E}">
        <p14:creationId xmlns:p14="http://schemas.microsoft.com/office/powerpoint/2010/main" val="138830096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1175512" y="870132"/>
            <a:ext cx="9792208" cy="1527078"/>
          </a:xfrm>
        </p:spPr>
        <p:txBody>
          <a:bodyPr>
            <a:normAutofit/>
          </a:bodyPr>
          <a:lstStyle/>
          <a:p>
            <a:pPr algn="ctr"/>
            <a:r>
              <a:rPr lang="en-US" dirty="0"/>
              <a:t>LDA</a:t>
            </a:r>
          </a:p>
        </p:txBody>
      </p:sp>
      <p:sp>
        <p:nvSpPr>
          <p:cNvPr id="3" name="Content Placeholder 2">
            <a:extLst>
              <a:ext uri="{FF2B5EF4-FFF2-40B4-BE49-F238E27FC236}">
                <a16:creationId xmlns:a16="http://schemas.microsoft.com/office/drawing/2014/main" id="{C6449D8D-1DF3-D343-9422-2F094AC1E5B0}"/>
              </a:ext>
            </a:extLst>
          </p:cNvPr>
          <p:cNvSpPr>
            <a:spLocks noGrp="1"/>
          </p:cNvSpPr>
          <p:nvPr>
            <p:ph idx="1"/>
          </p:nvPr>
        </p:nvSpPr>
        <p:spPr>
          <a:xfrm>
            <a:off x="1175512" y="2557849"/>
            <a:ext cx="9792208" cy="3407862"/>
          </a:xfrm>
        </p:spPr>
        <p:txBody>
          <a:bodyPr>
            <a:normAutofit/>
          </a:bodyPr>
          <a:lstStyle/>
          <a:p>
            <a:r>
              <a:rPr lang="en-US" sz="2400" dirty="0"/>
              <a:t>LDA is a method that aims to maximize the separation between two or more groups.</a:t>
            </a:r>
          </a:p>
        </p:txBody>
      </p:sp>
      <p:pic>
        <p:nvPicPr>
          <p:cNvPr id="6" name="Picture 5">
            <a:extLst>
              <a:ext uri="{FF2B5EF4-FFF2-40B4-BE49-F238E27FC236}">
                <a16:creationId xmlns:a16="http://schemas.microsoft.com/office/drawing/2014/main" id="{BAC08B47-060B-1742-AEC7-706222C9A290}"/>
              </a:ext>
            </a:extLst>
          </p:cNvPr>
          <p:cNvPicPr>
            <a:picLocks noChangeAspect="1"/>
          </p:cNvPicPr>
          <p:nvPr/>
        </p:nvPicPr>
        <p:blipFill>
          <a:blip r:embed="rId3"/>
          <a:stretch>
            <a:fillRect/>
          </a:stretch>
        </p:blipFill>
        <p:spPr>
          <a:xfrm>
            <a:off x="3223261" y="3718855"/>
            <a:ext cx="5892800" cy="698500"/>
          </a:xfrm>
          <a:prstGeom prst="rect">
            <a:avLst/>
          </a:prstGeom>
        </p:spPr>
      </p:pic>
    </p:spTree>
    <p:extLst>
      <p:ext uri="{BB962C8B-B14F-4D97-AF65-F5344CB8AC3E}">
        <p14:creationId xmlns:p14="http://schemas.microsoft.com/office/powerpoint/2010/main" val="2383597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Example data – combine variables</a:t>
            </a:r>
          </a:p>
        </p:txBody>
      </p:sp>
      <p:graphicFrame>
        <p:nvGraphicFramePr>
          <p:cNvPr id="7" name="Table 6">
            <a:extLst>
              <a:ext uri="{FF2B5EF4-FFF2-40B4-BE49-F238E27FC236}">
                <a16:creationId xmlns:a16="http://schemas.microsoft.com/office/drawing/2014/main" id="{728FC5D1-F376-C643-A034-C330F5A97144}"/>
              </a:ext>
            </a:extLst>
          </p:cNvPr>
          <p:cNvGraphicFramePr>
            <a:graphicFrameLocks noGrp="1"/>
          </p:cNvGraphicFramePr>
          <p:nvPr>
            <p:extLst>
              <p:ext uri="{D42A27DB-BD31-4B8C-83A1-F6EECF244321}">
                <p14:modId xmlns:p14="http://schemas.microsoft.com/office/powerpoint/2010/main" val="4184520070"/>
              </p:ext>
            </p:extLst>
          </p:nvPr>
        </p:nvGraphicFramePr>
        <p:xfrm>
          <a:off x="807718" y="1854297"/>
          <a:ext cx="2794464" cy="3438136"/>
        </p:xfrm>
        <a:graphic>
          <a:graphicData uri="http://schemas.openxmlformats.org/drawingml/2006/table">
            <a:tbl>
              <a:tblPr>
                <a:tableStyleId>{5C22544A-7EE6-4342-B048-85BDC9FD1C3A}</a:tableStyleId>
              </a:tblPr>
              <a:tblGrid>
                <a:gridCol w="931488">
                  <a:extLst>
                    <a:ext uri="{9D8B030D-6E8A-4147-A177-3AD203B41FA5}">
                      <a16:colId xmlns:a16="http://schemas.microsoft.com/office/drawing/2014/main" val="522457182"/>
                    </a:ext>
                  </a:extLst>
                </a:gridCol>
                <a:gridCol w="931488">
                  <a:extLst>
                    <a:ext uri="{9D8B030D-6E8A-4147-A177-3AD203B41FA5}">
                      <a16:colId xmlns:a16="http://schemas.microsoft.com/office/drawing/2014/main" val="1383214557"/>
                    </a:ext>
                  </a:extLst>
                </a:gridCol>
                <a:gridCol w="931488">
                  <a:extLst>
                    <a:ext uri="{9D8B030D-6E8A-4147-A177-3AD203B41FA5}">
                      <a16:colId xmlns:a16="http://schemas.microsoft.com/office/drawing/2014/main" val="554864602"/>
                    </a:ext>
                  </a:extLst>
                </a:gridCol>
              </a:tblGrid>
              <a:tr h="264472">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8188516"/>
                  </a:ext>
                </a:extLst>
              </a:tr>
              <a:tr h="264472">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40</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0262813"/>
                  </a:ext>
                </a:extLst>
              </a:tr>
              <a:tr h="264472">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11.1</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37.2</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79856579"/>
                  </a:ext>
                </a:extLst>
              </a:tr>
              <a:tr h="264472">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30</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accent1">
                              <a:lumMod val="75000"/>
                            </a:schemeClr>
                          </a:solidFill>
                          <a:effectLst/>
                        </a:rPr>
                        <a:t>36.5</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77923399"/>
                  </a:ext>
                </a:extLst>
              </a:tr>
              <a:tr h="264472">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21.4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18019763"/>
                  </a:ext>
                </a:extLst>
              </a:tr>
              <a:tr h="264472">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10.7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39.6</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2154701"/>
                  </a:ext>
                </a:extLst>
              </a:tr>
              <a:tr h="264472">
                <a:tc>
                  <a:txBody>
                    <a:bodyPr/>
                    <a:lstStyle/>
                    <a:p>
                      <a:pPr algn="ctr" fontAlgn="b"/>
                      <a:r>
                        <a:rPr lang="en-CA" sz="1200" u="none" strike="noStrike">
                          <a:solidFill>
                            <a:schemeClr val="accent1">
                              <a:lumMod val="75000"/>
                            </a:schemeClr>
                          </a:solidFill>
                          <a:effectLst/>
                        </a:rPr>
                        <a:t>Viral</a:t>
                      </a:r>
                      <a:endParaRPr lang="en-CA" sz="1200" b="0" i="0" u="none" strike="noStrike">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3.4</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40.7</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3184265"/>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0619042"/>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31.1</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0243220"/>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13021495"/>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99801892"/>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7223466"/>
                  </a:ext>
                </a:extLst>
              </a:tr>
              <a:tr h="264472">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9024676"/>
                  </a:ext>
                </a:extLst>
              </a:tr>
            </a:tbl>
          </a:graphicData>
        </a:graphic>
      </p:graphicFrame>
      <p:pic>
        <p:nvPicPr>
          <p:cNvPr id="11" name="Picture 10" descr="Chart, scatter chart&#10;&#10;Description automatically generated">
            <a:extLst>
              <a:ext uri="{FF2B5EF4-FFF2-40B4-BE49-F238E27FC236}">
                <a16:creationId xmlns:a16="http://schemas.microsoft.com/office/drawing/2014/main" id="{32BC1A02-F747-4741-90B3-1B6A5569A110}"/>
              </a:ext>
            </a:extLst>
          </p:cNvPr>
          <p:cNvPicPr>
            <a:picLocks noChangeAspect="1"/>
          </p:cNvPicPr>
          <p:nvPr/>
        </p:nvPicPr>
        <p:blipFill>
          <a:blip r:embed="rId3"/>
          <a:stretch>
            <a:fillRect/>
          </a:stretch>
        </p:blipFill>
        <p:spPr>
          <a:xfrm>
            <a:off x="4424827" y="1854297"/>
            <a:ext cx="2824183" cy="3438136"/>
          </a:xfrm>
          <a:prstGeom prst="rect">
            <a:avLst/>
          </a:prstGeom>
        </p:spPr>
      </p:pic>
      <p:pic>
        <p:nvPicPr>
          <p:cNvPr id="13" name="Picture 12" descr="Chart&#10;&#10;Description automatically generated">
            <a:extLst>
              <a:ext uri="{FF2B5EF4-FFF2-40B4-BE49-F238E27FC236}">
                <a16:creationId xmlns:a16="http://schemas.microsoft.com/office/drawing/2014/main" id="{9D2D6A1F-D60C-B549-84EA-EE680F977780}"/>
              </a:ext>
            </a:extLst>
          </p:cNvPr>
          <p:cNvPicPr>
            <a:picLocks noChangeAspect="1"/>
          </p:cNvPicPr>
          <p:nvPr/>
        </p:nvPicPr>
        <p:blipFill>
          <a:blip r:embed="rId4"/>
          <a:stretch>
            <a:fillRect/>
          </a:stretch>
        </p:blipFill>
        <p:spPr>
          <a:xfrm>
            <a:off x="8089598" y="1854297"/>
            <a:ext cx="2861801" cy="3438136"/>
          </a:xfrm>
          <a:prstGeom prst="rect">
            <a:avLst/>
          </a:prstGeom>
        </p:spPr>
      </p:pic>
    </p:spTree>
    <p:extLst>
      <p:ext uri="{BB962C8B-B14F-4D97-AF65-F5344CB8AC3E}">
        <p14:creationId xmlns:p14="http://schemas.microsoft.com/office/powerpoint/2010/main" val="386480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 – cutoff value</a:t>
            </a:r>
          </a:p>
        </p:txBody>
      </p:sp>
      <p:pic>
        <p:nvPicPr>
          <p:cNvPr id="4" name="Picture 3" descr="Chart, bubble chart&#10;&#10;Description automatically generated">
            <a:extLst>
              <a:ext uri="{FF2B5EF4-FFF2-40B4-BE49-F238E27FC236}">
                <a16:creationId xmlns:a16="http://schemas.microsoft.com/office/drawing/2014/main" id="{9B37EF72-733D-5540-89C5-F1A5D8671439}"/>
              </a:ext>
            </a:extLst>
          </p:cNvPr>
          <p:cNvPicPr>
            <a:picLocks noChangeAspect="1"/>
          </p:cNvPicPr>
          <p:nvPr/>
        </p:nvPicPr>
        <p:blipFill>
          <a:blip r:embed="rId3"/>
          <a:stretch>
            <a:fillRect/>
          </a:stretch>
        </p:blipFill>
        <p:spPr>
          <a:xfrm>
            <a:off x="1335936" y="2083267"/>
            <a:ext cx="3735618" cy="2669308"/>
          </a:xfrm>
          <a:prstGeom prst="rect">
            <a:avLst/>
          </a:prstGeom>
        </p:spPr>
      </p:pic>
      <p:pic>
        <p:nvPicPr>
          <p:cNvPr id="6" name="Picture 5" descr="Chart, scatter chart&#10;&#10;Description automatically generated">
            <a:extLst>
              <a:ext uri="{FF2B5EF4-FFF2-40B4-BE49-F238E27FC236}">
                <a16:creationId xmlns:a16="http://schemas.microsoft.com/office/drawing/2014/main" id="{02E0CBF9-3CEB-D245-A843-E3BC203A456B}"/>
              </a:ext>
            </a:extLst>
          </p:cNvPr>
          <p:cNvPicPr>
            <a:picLocks noChangeAspect="1"/>
          </p:cNvPicPr>
          <p:nvPr/>
        </p:nvPicPr>
        <p:blipFill>
          <a:blip r:embed="rId4"/>
          <a:stretch>
            <a:fillRect/>
          </a:stretch>
        </p:blipFill>
        <p:spPr>
          <a:xfrm>
            <a:off x="6711253" y="2072437"/>
            <a:ext cx="3898596" cy="2669309"/>
          </a:xfrm>
          <a:prstGeom prst="rect">
            <a:avLst/>
          </a:prstGeom>
        </p:spPr>
      </p:pic>
      <p:sp>
        <p:nvSpPr>
          <p:cNvPr id="15" name="TextBox 14">
            <a:extLst>
              <a:ext uri="{FF2B5EF4-FFF2-40B4-BE49-F238E27FC236}">
                <a16:creationId xmlns:a16="http://schemas.microsoft.com/office/drawing/2014/main" id="{6CB7F41F-8EF5-5D46-9F60-9FC4A4F34974}"/>
              </a:ext>
            </a:extLst>
          </p:cNvPr>
          <p:cNvSpPr txBox="1"/>
          <p:nvPr/>
        </p:nvSpPr>
        <p:spPr>
          <a:xfrm>
            <a:off x="6711253" y="4959883"/>
            <a:ext cx="4635620" cy="461665"/>
          </a:xfrm>
          <a:prstGeom prst="rect">
            <a:avLst/>
          </a:prstGeom>
          <a:noFill/>
        </p:spPr>
        <p:txBody>
          <a:bodyPr wrap="square" rtlCol="0">
            <a:spAutoFit/>
          </a:bodyPr>
          <a:lstStyle/>
          <a:p>
            <a:r>
              <a:rPr lang="en-US" sz="2400" dirty="0"/>
              <a:t>Separate the 2 groups completely</a:t>
            </a:r>
          </a:p>
        </p:txBody>
      </p:sp>
    </p:spTree>
    <p:extLst>
      <p:ext uri="{BB962C8B-B14F-4D97-AF65-F5344CB8AC3E}">
        <p14:creationId xmlns:p14="http://schemas.microsoft.com/office/powerpoint/2010/main" val="3731746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 – cutoff value</a:t>
            </a:r>
          </a:p>
        </p:txBody>
      </p:sp>
      <p:sp>
        <p:nvSpPr>
          <p:cNvPr id="17" name="TextBox 16">
            <a:extLst>
              <a:ext uri="{FF2B5EF4-FFF2-40B4-BE49-F238E27FC236}">
                <a16:creationId xmlns:a16="http://schemas.microsoft.com/office/drawing/2014/main" id="{A72ECA5D-D229-BA45-92D9-358A1A73C329}"/>
              </a:ext>
            </a:extLst>
          </p:cNvPr>
          <p:cNvSpPr txBox="1"/>
          <p:nvPr/>
        </p:nvSpPr>
        <p:spPr>
          <a:xfrm>
            <a:off x="1616813" y="4524386"/>
            <a:ext cx="3072785" cy="1569660"/>
          </a:xfrm>
          <a:prstGeom prst="rect">
            <a:avLst/>
          </a:prstGeom>
          <a:noFill/>
        </p:spPr>
        <p:txBody>
          <a:bodyPr wrap="square" rtlCol="0">
            <a:spAutoFit/>
          </a:bodyPr>
          <a:lstStyle/>
          <a:p>
            <a:r>
              <a:rPr lang="en-US" sz="2400" dirty="0"/>
              <a:t>The first discriminant function can be used to separate the two groups perfectly.</a:t>
            </a:r>
          </a:p>
        </p:txBody>
      </p:sp>
      <p:pic>
        <p:nvPicPr>
          <p:cNvPr id="5" name="Picture 4">
            <a:extLst>
              <a:ext uri="{FF2B5EF4-FFF2-40B4-BE49-F238E27FC236}">
                <a16:creationId xmlns:a16="http://schemas.microsoft.com/office/drawing/2014/main" id="{CB28B723-90F3-F346-B687-491985C187E7}"/>
              </a:ext>
            </a:extLst>
          </p:cNvPr>
          <p:cNvPicPr>
            <a:picLocks noChangeAspect="1"/>
          </p:cNvPicPr>
          <p:nvPr/>
        </p:nvPicPr>
        <p:blipFill>
          <a:blip r:embed="rId3"/>
          <a:stretch>
            <a:fillRect/>
          </a:stretch>
        </p:blipFill>
        <p:spPr>
          <a:xfrm>
            <a:off x="1616813" y="2027348"/>
            <a:ext cx="3072785" cy="2204389"/>
          </a:xfrm>
          <a:prstGeom prst="rect">
            <a:avLst/>
          </a:prstGeom>
        </p:spPr>
      </p:pic>
      <p:pic>
        <p:nvPicPr>
          <p:cNvPr id="9" name="Picture 8" descr="Chart, bubble chart&#10;&#10;Description automatically generated">
            <a:extLst>
              <a:ext uri="{FF2B5EF4-FFF2-40B4-BE49-F238E27FC236}">
                <a16:creationId xmlns:a16="http://schemas.microsoft.com/office/drawing/2014/main" id="{CB888D3C-864C-1A44-B67C-E34911BE42D1}"/>
              </a:ext>
            </a:extLst>
          </p:cNvPr>
          <p:cNvPicPr>
            <a:picLocks noChangeAspect="1"/>
          </p:cNvPicPr>
          <p:nvPr/>
        </p:nvPicPr>
        <p:blipFill>
          <a:blip r:embed="rId4"/>
          <a:stretch>
            <a:fillRect/>
          </a:stretch>
        </p:blipFill>
        <p:spPr>
          <a:xfrm>
            <a:off x="6524690" y="2027348"/>
            <a:ext cx="3227801" cy="2204388"/>
          </a:xfrm>
          <a:prstGeom prst="rect">
            <a:avLst/>
          </a:prstGeom>
        </p:spPr>
      </p:pic>
      <p:sp>
        <p:nvSpPr>
          <p:cNvPr id="16" name="TextBox 15">
            <a:extLst>
              <a:ext uri="{FF2B5EF4-FFF2-40B4-BE49-F238E27FC236}">
                <a16:creationId xmlns:a16="http://schemas.microsoft.com/office/drawing/2014/main" id="{7241DBB3-8E7F-EF49-9904-5F3F6F87CB91}"/>
              </a:ext>
            </a:extLst>
          </p:cNvPr>
          <p:cNvSpPr txBox="1"/>
          <p:nvPr/>
        </p:nvSpPr>
        <p:spPr>
          <a:xfrm rot="10800000" flipV="1">
            <a:off x="6524693" y="4524386"/>
            <a:ext cx="3256616" cy="1200329"/>
          </a:xfrm>
          <a:prstGeom prst="rect">
            <a:avLst/>
          </a:prstGeom>
          <a:noFill/>
        </p:spPr>
        <p:txBody>
          <a:bodyPr wrap="square">
            <a:spAutoFit/>
          </a:bodyPr>
          <a:lstStyle/>
          <a:p>
            <a:r>
              <a:rPr lang="en-US" sz="2400" dirty="0"/>
              <a:t>The second discriminant function is not useful for separation.</a:t>
            </a:r>
          </a:p>
        </p:txBody>
      </p:sp>
    </p:spTree>
    <p:extLst>
      <p:ext uri="{BB962C8B-B14F-4D97-AF65-F5344CB8AC3E}">
        <p14:creationId xmlns:p14="http://schemas.microsoft.com/office/powerpoint/2010/main" val="4189487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a:t>
            </a:r>
          </a:p>
        </p:txBody>
      </p:sp>
      <p:pic>
        <p:nvPicPr>
          <p:cNvPr id="14" name="Picture 13" descr="Chart, bubble chart&#10;&#10;Description automatically generated">
            <a:extLst>
              <a:ext uri="{FF2B5EF4-FFF2-40B4-BE49-F238E27FC236}">
                <a16:creationId xmlns:a16="http://schemas.microsoft.com/office/drawing/2014/main" id="{6F47179C-86C1-4D4E-B695-A0C9E64840A2}"/>
              </a:ext>
            </a:extLst>
          </p:cNvPr>
          <p:cNvPicPr>
            <a:picLocks noChangeAspect="1"/>
          </p:cNvPicPr>
          <p:nvPr/>
        </p:nvPicPr>
        <p:blipFill>
          <a:blip r:embed="rId3"/>
          <a:stretch>
            <a:fillRect/>
          </a:stretch>
        </p:blipFill>
        <p:spPr>
          <a:xfrm>
            <a:off x="1031258" y="2234997"/>
            <a:ext cx="3270055" cy="2098522"/>
          </a:xfrm>
          <a:prstGeom prst="rect">
            <a:avLst/>
          </a:prstGeom>
        </p:spPr>
      </p:pic>
      <p:sp>
        <p:nvSpPr>
          <p:cNvPr id="18" name="TextBox 17">
            <a:extLst>
              <a:ext uri="{FF2B5EF4-FFF2-40B4-BE49-F238E27FC236}">
                <a16:creationId xmlns:a16="http://schemas.microsoft.com/office/drawing/2014/main" id="{748EF9C2-67F5-3F48-BD40-C43202D7EF73}"/>
              </a:ext>
            </a:extLst>
          </p:cNvPr>
          <p:cNvSpPr txBox="1"/>
          <p:nvPr/>
        </p:nvSpPr>
        <p:spPr>
          <a:xfrm>
            <a:off x="969818" y="4446851"/>
            <a:ext cx="3401235" cy="830997"/>
          </a:xfrm>
          <a:prstGeom prst="rect">
            <a:avLst/>
          </a:prstGeom>
          <a:noFill/>
        </p:spPr>
        <p:txBody>
          <a:bodyPr wrap="square" rtlCol="0">
            <a:spAutoFit/>
          </a:bodyPr>
          <a:lstStyle/>
          <a:p>
            <a:r>
              <a:rPr lang="en-US" sz="2400" dirty="0"/>
              <a:t>Delete the second discriminant function</a:t>
            </a:r>
          </a:p>
        </p:txBody>
      </p:sp>
      <p:pic>
        <p:nvPicPr>
          <p:cNvPr id="4" name="Picture 3" descr="Chart&#10;&#10;Description automatically generated">
            <a:extLst>
              <a:ext uri="{FF2B5EF4-FFF2-40B4-BE49-F238E27FC236}">
                <a16:creationId xmlns:a16="http://schemas.microsoft.com/office/drawing/2014/main" id="{7DCCD04F-B3AE-234E-AA01-480DA9FE013A}"/>
              </a:ext>
            </a:extLst>
          </p:cNvPr>
          <p:cNvPicPr>
            <a:picLocks noChangeAspect="1"/>
          </p:cNvPicPr>
          <p:nvPr/>
        </p:nvPicPr>
        <p:blipFill>
          <a:blip r:embed="rId4"/>
          <a:stretch>
            <a:fillRect/>
          </a:stretch>
        </p:blipFill>
        <p:spPr>
          <a:xfrm>
            <a:off x="4703512" y="3514021"/>
            <a:ext cx="3310129" cy="819498"/>
          </a:xfrm>
          <a:prstGeom prst="rect">
            <a:avLst/>
          </a:prstGeom>
        </p:spPr>
      </p:pic>
      <p:pic>
        <p:nvPicPr>
          <p:cNvPr id="7" name="Picture 6" descr="A picture containing bubble chart&#10;&#10;Description automatically generated">
            <a:extLst>
              <a:ext uri="{FF2B5EF4-FFF2-40B4-BE49-F238E27FC236}">
                <a16:creationId xmlns:a16="http://schemas.microsoft.com/office/drawing/2014/main" id="{FF53415F-7EF2-0B49-AAE8-15AE50539318}"/>
              </a:ext>
            </a:extLst>
          </p:cNvPr>
          <p:cNvPicPr>
            <a:picLocks noChangeAspect="1"/>
          </p:cNvPicPr>
          <p:nvPr/>
        </p:nvPicPr>
        <p:blipFill>
          <a:blip r:embed="rId5"/>
          <a:stretch>
            <a:fillRect/>
          </a:stretch>
        </p:blipFill>
        <p:spPr>
          <a:xfrm>
            <a:off x="9583629" y="1244477"/>
            <a:ext cx="779302" cy="3089042"/>
          </a:xfrm>
          <a:prstGeom prst="rect">
            <a:avLst/>
          </a:prstGeom>
        </p:spPr>
      </p:pic>
      <p:sp>
        <p:nvSpPr>
          <p:cNvPr id="19" name="TextBox 18">
            <a:extLst>
              <a:ext uri="{FF2B5EF4-FFF2-40B4-BE49-F238E27FC236}">
                <a16:creationId xmlns:a16="http://schemas.microsoft.com/office/drawing/2014/main" id="{E3173483-A28D-9040-A955-A4F9CB98AA36}"/>
              </a:ext>
            </a:extLst>
          </p:cNvPr>
          <p:cNvSpPr txBox="1"/>
          <p:nvPr/>
        </p:nvSpPr>
        <p:spPr>
          <a:xfrm>
            <a:off x="8686801" y="4173648"/>
            <a:ext cx="2895600" cy="1138794"/>
          </a:xfrm>
          <a:prstGeom prst="rect">
            <a:avLst/>
          </a:prstGeom>
          <a:noFill/>
        </p:spPr>
        <p:txBody>
          <a:bodyPr wrap="square">
            <a:spAutoFit/>
          </a:bodyPr>
          <a:lstStyle/>
          <a:p>
            <a:endParaRPr lang="en-US" dirty="0"/>
          </a:p>
          <a:p>
            <a:r>
              <a:rPr lang="en-US" sz="2400" dirty="0"/>
              <a:t>The data points are plotted vertically</a:t>
            </a:r>
          </a:p>
        </p:txBody>
      </p:sp>
      <p:sp>
        <p:nvSpPr>
          <p:cNvPr id="5" name="TextBox 4">
            <a:extLst>
              <a:ext uri="{FF2B5EF4-FFF2-40B4-BE49-F238E27FC236}">
                <a16:creationId xmlns:a16="http://schemas.microsoft.com/office/drawing/2014/main" id="{39DC4E80-EF43-864D-A3CD-1CE17AECEB76}"/>
              </a:ext>
            </a:extLst>
          </p:cNvPr>
          <p:cNvSpPr txBox="1"/>
          <p:nvPr/>
        </p:nvSpPr>
        <p:spPr>
          <a:xfrm>
            <a:off x="4724630" y="4446852"/>
            <a:ext cx="3401235" cy="830997"/>
          </a:xfrm>
          <a:prstGeom prst="rect">
            <a:avLst/>
          </a:prstGeom>
          <a:noFill/>
        </p:spPr>
        <p:txBody>
          <a:bodyPr wrap="square" rtlCol="0">
            <a:spAutoFit/>
          </a:bodyPr>
          <a:lstStyle/>
          <a:p>
            <a:r>
              <a:rPr lang="en-US" sz="2400" dirty="0"/>
              <a:t>Place all data points on just one line</a:t>
            </a:r>
          </a:p>
        </p:txBody>
      </p:sp>
    </p:spTree>
    <p:extLst>
      <p:ext uri="{BB962C8B-B14F-4D97-AF65-F5344CB8AC3E}">
        <p14:creationId xmlns:p14="http://schemas.microsoft.com/office/powerpoint/2010/main" val="118231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a:t>
            </a:r>
          </a:p>
        </p:txBody>
      </p:sp>
      <p:pic>
        <p:nvPicPr>
          <p:cNvPr id="5" name="Picture 4" descr="Chart, bubble chart&#10;&#10;Description automatically generated">
            <a:extLst>
              <a:ext uri="{FF2B5EF4-FFF2-40B4-BE49-F238E27FC236}">
                <a16:creationId xmlns:a16="http://schemas.microsoft.com/office/drawing/2014/main" id="{06001B21-9D9F-9746-A961-5351098FC6C0}"/>
              </a:ext>
            </a:extLst>
          </p:cNvPr>
          <p:cNvPicPr>
            <a:picLocks noChangeAspect="1"/>
          </p:cNvPicPr>
          <p:nvPr/>
        </p:nvPicPr>
        <p:blipFill>
          <a:blip r:embed="rId3"/>
          <a:stretch>
            <a:fillRect/>
          </a:stretch>
        </p:blipFill>
        <p:spPr>
          <a:xfrm>
            <a:off x="1185515" y="1697986"/>
            <a:ext cx="2999757" cy="2802630"/>
          </a:xfrm>
          <a:prstGeom prst="rect">
            <a:avLst/>
          </a:prstGeom>
        </p:spPr>
      </p:pic>
      <p:pic>
        <p:nvPicPr>
          <p:cNvPr id="9" name="Picture 8" descr="Chart&#10;&#10;Description automatically generated">
            <a:extLst>
              <a:ext uri="{FF2B5EF4-FFF2-40B4-BE49-F238E27FC236}">
                <a16:creationId xmlns:a16="http://schemas.microsoft.com/office/drawing/2014/main" id="{D02D0FCE-7393-FF48-B4C0-86E7C0B3C472}"/>
              </a:ext>
            </a:extLst>
          </p:cNvPr>
          <p:cNvPicPr>
            <a:picLocks noChangeAspect="1"/>
          </p:cNvPicPr>
          <p:nvPr/>
        </p:nvPicPr>
        <p:blipFill>
          <a:blip r:embed="rId4"/>
          <a:stretch>
            <a:fillRect/>
          </a:stretch>
        </p:blipFill>
        <p:spPr>
          <a:xfrm>
            <a:off x="7562825" y="1612278"/>
            <a:ext cx="2999757" cy="2888338"/>
          </a:xfrm>
          <a:prstGeom prst="rect">
            <a:avLst/>
          </a:prstGeom>
        </p:spPr>
      </p:pic>
      <p:sp>
        <p:nvSpPr>
          <p:cNvPr id="11" name="TextBox 10">
            <a:extLst>
              <a:ext uri="{FF2B5EF4-FFF2-40B4-BE49-F238E27FC236}">
                <a16:creationId xmlns:a16="http://schemas.microsoft.com/office/drawing/2014/main" id="{1A860355-E3D5-AC40-B767-AACFF29C2DE2}"/>
              </a:ext>
            </a:extLst>
          </p:cNvPr>
          <p:cNvSpPr txBox="1"/>
          <p:nvPr/>
        </p:nvSpPr>
        <p:spPr>
          <a:xfrm>
            <a:off x="4893584" y="2437957"/>
            <a:ext cx="2075253" cy="461665"/>
          </a:xfrm>
          <a:prstGeom prst="rect">
            <a:avLst/>
          </a:prstGeom>
          <a:noFill/>
        </p:spPr>
        <p:txBody>
          <a:bodyPr wrap="square" rtlCol="0">
            <a:spAutoFit/>
          </a:bodyPr>
          <a:lstStyle/>
          <a:p>
            <a:r>
              <a:rPr lang="en-US" sz="2400" dirty="0"/>
              <a:t>   Cut-off</a:t>
            </a:r>
          </a:p>
        </p:txBody>
      </p:sp>
      <p:sp>
        <p:nvSpPr>
          <p:cNvPr id="12" name="Right Arrow 11">
            <a:extLst>
              <a:ext uri="{FF2B5EF4-FFF2-40B4-BE49-F238E27FC236}">
                <a16:creationId xmlns:a16="http://schemas.microsoft.com/office/drawing/2014/main" id="{E56EEA52-5A5A-4944-B34C-AEDEDD1B7DEF}"/>
              </a:ext>
            </a:extLst>
          </p:cNvPr>
          <p:cNvSpPr/>
          <p:nvPr/>
        </p:nvSpPr>
        <p:spPr>
          <a:xfrm>
            <a:off x="4893584" y="2823019"/>
            <a:ext cx="1643062" cy="1571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icture containing text, clock, watch&#10;&#10;Description automatically generated">
            <a:extLst>
              <a:ext uri="{FF2B5EF4-FFF2-40B4-BE49-F238E27FC236}">
                <a16:creationId xmlns:a16="http://schemas.microsoft.com/office/drawing/2014/main" id="{3487C1B5-10E2-A84E-B477-522DF597CB11}"/>
              </a:ext>
            </a:extLst>
          </p:cNvPr>
          <p:cNvPicPr>
            <a:picLocks noChangeAspect="1"/>
          </p:cNvPicPr>
          <p:nvPr/>
        </p:nvPicPr>
        <p:blipFill>
          <a:blip r:embed="rId5"/>
          <a:stretch>
            <a:fillRect/>
          </a:stretch>
        </p:blipFill>
        <p:spPr>
          <a:xfrm>
            <a:off x="3925569" y="4920852"/>
            <a:ext cx="3822700" cy="546100"/>
          </a:xfrm>
          <a:prstGeom prst="rect">
            <a:avLst/>
          </a:prstGeom>
        </p:spPr>
      </p:pic>
      <p:pic>
        <p:nvPicPr>
          <p:cNvPr id="21" name="Picture 20">
            <a:extLst>
              <a:ext uri="{FF2B5EF4-FFF2-40B4-BE49-F238E27FC236}">
                <a16:creationId xmlns:a16="http://schemas.microsoft.com/office/drawing/2014/main" id="{B0F3E0E3-86D3-2B4C-B096-434C3109A66A}"/>
              </a:ext>
            </a:extLst>
          </p:cNvPr>
          <p:cNvPicPr>
            <a:picLocks noChangeAspect="1"/>
          </p:cNvPicPr>
          <p:nvPr/>
        </p:nvPicPr>
        <p:blipFill>
          <a:blip r:embed="rId6"/>
          <a:stretch>
            <a:fillRect/>
          </a:stretch>
        </p:blipFill>
        <p:spPr>
          <a:xfrm>
            <a:off x="3265853" y="5727063"/>
            <a:ext cx="5296256" cy="592721"/>
          </a:xfrm>
          <a:prstGeom prst="rect">
            <a:avLst/>
          </a:prstGeom>
        </p:spPr>
      </p:pic>
    </p:spTree>
    <p:extLst>
      <p:ext uri="{BB962C8B-B14F-4D97-AF65-F5344CB8AC3E}">
        <p14:creationId xmlns:p14="http://schemas.microsoft.com/office/powerpoint/2010/main" val="4011142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20" y="226666"/>
            <a:ext cx="9998826" cy="1209847"/>
          </a:xfrm>
        </p:spPr>
        <p:txBody>
          <a:bodyPr>
            <a:normAutofit/>
          </a:bodyPr>
          <a:lstStyle/>
          <a:p>
            <a:pPr algn="ctr"/>
            <a:r>
              <a:rPr lang="en-US" dirty="0"/>
              <a:t>Calculate the scores</a:t>
            </a:r>
          </a:p>
        </p:txBody>
      </p:sp>
      <p:pic>
        <p:nvPicPr>
          <p:cNvPr id="4" name="Picture 3">
            <a:extLst>
              <a:ext uri="{FF2B5EF4-FFF2-40B4-BE49-F238E27FC236}">
                <a16:creationId xmlns:a16="http://schemas.microsoft.com/office/drawing/2014/main" id="{CBCBAC66-C38E-4346-9066-1CDA8E033E02}"/>
              </a:ext>
            </a:extLst>
          </p:cNvPr>
          <p:cNvPicPr>
            <a:picLocks noChangeAspect="1"/>
          </p:cNvPicPr>
          <p:nvPr/>
        </p:nvPicPr>
        <p:blipFill>
          <a:blip r:embed="rId3"/>
          <a:stretch>
            <a:fillRect/>
          </a:stretch>
        </p:blipFill>
        <p:spPr>
          <a:xfrm>
            <a:off x="743669" y="1598582"/>
            <a:ext cx="4631895" cy="467673"/>
          </a:xfrm>
          <a:prstGeom prst="rect">
            <a:avLst/>
          </a:prstGeom>
        </p:spPr>
      </p:pic>
      <p:graphicFrame>
        <p:nvGraphicFramePr>
          <p:cNvPr id="6" name="Table 5">
            <a:extLst>
              <a:ext uri="{FF2B5EF4-FFF2-40B4-BE49-F238E27FC236}">
                <a16:creationId xmlns:a16="http://schemas.microsoft.com/office/drawing/2014/main" id="{91381EEC-C9D7-534A-8626-F9DF03B1C49E}"/>
              </a:ext>
            </a:extLst>
          </p:cNvPr>
          <p:cNvGraphicFramePr>
            <a:graphicFrameLocks noGrp="1"/>
          </p:cNvGraphicFramePr>
          <p:nvPr>
            <p:extLst>
              <p:ext uri="{D42A27DB-BD31-4B8C-83A1-F6EECF244321}">
                <p14:modId xmlns:p14="http://schemas.microsoft.com/office/powerpoint/2010/main" val="3212780745"/>
              </p:ext>
            </p:extLst>
          </p:nvPr>
        </p:nvGraphicFramePr>
        <p:xfrm>
          <a:off x="743669" y="2193829"/>
          <a:ext cx="3750884" cy="3533595"/>
        </p:xfrm>
        <a:graphic>
          <a:graphicData uri="http://schemas.openxmlformats.org/drawingml/2006/table">
            <a:tbl>
              <a:tblPr>
                <a:tableStyleId>{5C22544A-7EE6-4342-B048-85BDC9FD1C3A}</a:tableStyleId>
              </a:tblPr>
              <a:tblGrid>
                <a:gridCol w="937721">
                  <a:extLst>
                    <a:ext uri="{9D8B030D-6E8A-4147-A177-3AD203B41FA5}">
                      <a16:colId xmlns:a16="http://schemas.microsoft.com/office/drawing/2014/main" val="1052948551"/>
                    </a:ext>
                  </a:extLst>
                </a:gridCol>
                <a:gridCol w="937721">
                  <a:extLst>
                    <a:ext uri="{9D8B030D-6E8A-4147-A177-3AD203B41FA5}">
                      <a16:colId xmlns:a16="http://schemas.microsoft.com/office/drawing/2014/main" val="918453378"/>
                    </a:ext>
                  </a:extLst>
                </a:gridCol>
                <a:gridCol w="937721">
                  <a:extLst>
                    <a:ext uri="{9D8B030D-6E8A-4147-A177-3AD203B41FA5}">
                      <a16:colId xmlns:a16="http://schemas.microsoft.com/office/drawing/2014/main" val="3442848613"/>
                    </a:ext>
                  </a:extLst>
                </a:gridCol>
                <a:gridCol w="937721">
                  <a:extLst>
                    <a:ext uri="{9D8B030D-6E8A-4147-A177-3AD203B41FA5}">
                      <a16:colId xmlns:a16="http://schemas.microsoft.com/office/drawing/2014/main" val="276695279"/>
                    </a:ext>
                  </a:extLst>
                </a:gridCol>
              </a:tblGrid>
              <a:tr h="271815">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Scores</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15041426"/>
                  </a:ext>
                </a:extLst>
              </a:tr>
              <a:tr h="271815">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29.5</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23189245"/>
                  </a:ext>
                </a:extLst>
              </a:tr>
              <a:tr h="271815">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27.3</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03402776"/>
                  </a:ext>
                </a:extLst>
              </a:tr>
              <a:tr h="271815">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28.8</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08055659"/>
                  </a:ext>
                </a:extLst>
              </a:tr>
              <a:tr h="271815">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21.4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29.9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08224433"/>
                  </a:ext>
                </a:extLst>
              </a:tr>
              <a:tr h="271815">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38722960"/>
                  </a:ext>
                </a:extLst>
              </a:tr>
              <a:tr h="271815">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40.7</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9817177"/>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37.6</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30.8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43430885"/>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43555245"/>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38.5</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76299089"/>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39.4</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19200539"/>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38.6</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44846898"/>
                  </a:ext>
                </a:extLst>
              </a:tr>
              <a:tr h="27181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42.7</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6785511"/>
                  </a:ext>
                </a:extLst>
              </a:tr>
            </a:tbl>
          </a:graphicData>
        </a:graphic>
      </p:graphicFrame>
      <p:pic>
        <p:nvPicPr>
          <p:cNvPr id="13" name="Picture 12">
            <a:extLst>
              <a:ext uri="{FF2B5EF4-FFF2-40B4-BE49-F238E27FC236}">
                <a16:creationId xmlns:a16="http://schemas.microsoft.com/office/drawing/2014/main" id="{ABDF610D-D92F-CC49-946D-53573300144D}"/>
              </a:ext>
            </a:extLst>
          </p:cNvPr>
          <p:cNvPicPr>
            <a:picLocks noChangeAspect="1"/>
          </p:cNvPicPr>
          <p:nvPr/>
        </p:nvPicPr>
        <p:blipFill>
          <a:blip r:embed="rId4"/>
          <a:stretch>
            <a:fillRect/>
          </a:stretch>
        </p:blipFill>
        <p:spPr>
          <a:xfrm>
            <a:off x="8047336" y="2166118"/>
            <a:ext cx="3600087" cy="3533594"/>
          </a:xfrm>
          <a:prstGeom prst="rect">
            <a:avLst/>
          </a:prstGeom>
        </p:spPr>
      </p:pic>
      <p:sp>
        <p:nvSpPr>
          <p:cNvPr id="14" name="Right Brace 13">
            <a:extLst>
              <a:ext uri="{FF2B5EF4-FFF2-40B4-BE49-F238E27FC236}">
                <a16:creationId xmlns:a16="http://schemas.microsoft.com/office/drawing/2014/main" id="{50D0A64C-A646-CC48-BFD9-D10B750A28E2}"/>
              </a:ext>
            </a:extLst>
          </p:cNvPr>
          <p:cNvSpPr/>
          <p:nvPr/>
        </p:nvSpPr>
        <p:spPr>
          <a:xfrm>
            <a:off x="4530435" y="2507673"/>
            <a:ext cx="512620" cy="1648691"/>
          </a:xfrm>
          <a:prstGeom prst="rightBrace">
            <a:avLst>
              <a:gd name="adj1" fmla="val 8333"/>
              <a:gd name="adj2" fmla="val 4916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2060"/>
              </a:solidFill>
            </a:endParaRPr>
          </a:p>
        </p:txBody>
      </p:sp>
      <p:sp>
        <p:nvSpPr>
          <p:cNvPr id="18" name="Right Brace 17">
            <a:extLst>
              <a:ext uri="{FF2B5EF4-FFF2-40B4-BE49-F238E27FC236}">
                <a16:creationId xmlns:a16="http://schemas.microsoft.com/office/drawing/2014/main" id="{963FEE4A-0C02-8444-94EE-068CE26466C4}"/>
              </a:ext>
            </a:extLst>
          </p:cNvPr>
          <p:cNvSpPr/>
          <p:nvPr/>
        </p:nvSpPr>
        <p:spPr>
          <a:xfrm>
            <a:off x="4530435" y="4156364"/>
            <a:ext cx="548503" cy="15710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00093B3F-7A04-994F-BD4E-B94B17EF0C60}"/>
              </a:ext>
            </a:extLst>
          </p:cNvPr>
          <p:cNvSpPr txBox="1"/>
          <p:nvPr/>
        </p:nvSpPr>
        <p:spPr>
          <a:xfrm>
            <a:off x="5140037" y="3162638"/>
            <a:ext cx="596066" cy="369332"/>
          </a:xfrm>
          <a:prstGeom prst="rect">
            <a:avLst/>
          </a:prstGeom>
          <a:noFill/>
        </p:spPr>
        <p:txBody>
          <a:bodyPr wrap="square" rtlCol="0">
            <a:spAutoFit/>
          </a:bodyPr>
          <a:lstStyle/>
          <a:p>
            <a:r>
              <a:rPr lang="en-US" dirty="0"/>
              <a:t>28.9</a:t>
            </a:r>
          </a:p>
        </p:txBody>
      </p:sp>
      <p:sp>
        <p:nvSpPr>
          <p:cNvPr id="19" name="TextBox 18">
            <a:extLst>
              <a:ext uri="{FF2B5EF4-FFF2-40B4-BE49-F238E27FC236}">
                <a16:creationId xmlns:a16="http://schemas.microsoft.com/office/drawing/2014/main" id="{18543796-0012-BD4B-BB14-F8EEDDFE0640}"/>
              </a:ext>
            </a:extLst>
          </p:cNvPr>
          <p:cNvSpPr txBox="1"/>
          <p:nvPr/>
        </p:nvSpPr>
        <p:spPr>
          <a:xfrm>
            <a:off x="5114820" y="4727445"/>
            <a:ext cx="607427" cy="369332"/>
          </a:xfrm>
          <a:prstGeom prst="rect">
            <a:avLst/>
          </a:prstGeom>
          <a:noFill/>
        </p:spPr>
        <p:txBody>
          <a:bodyPr wrap="square" rtlCol="0">
            <a:spAutoFit/>
          </a:bodyPr>
          <a:lstStyle/>
          <a:p>
            <a:r>
              <a:rPr lang="en-US" dirty="0"/>
              <a:t>32.3</a:t>
            </a:r>
          </a:p>
        </p:txBody>
      </p:sp>
      <p:sp>
        <p:nvSpPr>
          <p:cNvPr id="20" name="Right Brace 19">
            <a:extLst>
              <a:ext uri="{FF2B5EF4-FFF2-40B4-BE49-F238E27FC236}">
                <a16:creationId xmlns:a16="http://schemas.microsoft.com/office/drawing/2014/main" id="{788401C4-FD57-1249-B42C-ECC774160C37}"/>
              </a:ext>
            </a:extLst>
          </p:cNvPr>
          <p:cNvSpPr/>
          <p:nvPr/>
        </p:nvSpPr>
        <p:spPr>
          <a:xfrm>
            <a:off x="5638481" y="3325091"/>
            <a:ext cx="457519" cy="1648691"/>
          </a:xfrm>
          <a:prstGeom prst="rightBrace">
            <a:avLst>
              <a:gd name="adj1" fmla="val 8333"/>
              <a:gd name="adj2" fmla="val 5177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2FF184D5-2333-D445-8217-E76753AC0C44}"/>
              </a:ext>
            </a:extLst>
          </p:cNvPr>
          <p:cNvSpPr txBox="1"/>
          <p:nvPr/>
        </p:nvSpPr>
        <p:spPr>
          <a:xfrm>
            <a:off x="6096000" y="3906617"/>
            <a:ext cx="1987219" cy="1200329"/>
          </a:xfrm>
          <a:prstGeom prst="rect">
            <a:avLst/>
          </a:prstGeom>
          <a:noFill/>
        </p:spPr>
        <p:txBody>
          <a:bodyPr wrap="square" rtlCol="0">
            <a:spAutoFit/>
          </a:bodyPr>
          <a:lstStyle/>
          <a:p>
            <a:r>
              <a:rPr lang="en-US" sz="2400" dirty="0"/>
              <a:t>30.6 is a </a:t>
            </a:r>
          </a:p>
          <a:p>
            <a:r>
              <a:rPr lang="en-US" sz="2400" dirty="0"/>
              <a:t>good cut-off value</a:t>
            </a:r>
          </a:p>
        </p:txBody>
      </p:sp>
    </p:spTree>
    <p:extLst>
      <p:ext uri="{BB962C8B-B14F-4D97-AF65-F5344CB8AC3E}">
        <p14:creationId xmlns:p14="http://schemas.microsoft.com/office/powerpoint/2010/main" val="195757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155675"/>
          </a:xfrm>
        </p:spPr>
        <p:txBody>
          <a:bodyPr>
            <a:normAutofit/>
          </a:bodyPr>
          <a:lstStyle/>
          <a:p>
            <a:pPr algn="ctr"/>
            <a:r>
              <a:rPr lang="en-US" dirty="0"/>
              <a:t>Calculate the centered scores</a:t>
            </a:r>
          </a:p>
        </p:txBody>
      </p:sp>
      <p:pic>
        <p:nvPicPr>
          <p:cNvPr id="5" name="Picture 4">
            <a:extLst>
              <a:ext uri="{FF2B5EF4-FFF2-40B4-BE49-F238E27FC236}">
                <a16:creationId xmlns:a16="http://schemas.microsoft.com/office/drawing/2014/main" id="{8A097009-6588-C140-A2A5-10E0E4ED7399}"/>
              </a:ext>
            </a:extLst>
          </p:cNvPr>
          <p:cNvPicPr>
            <a:picLocks noChangeAspect="1"/>
          </p:cNvPicPr>
          <p:nvPr/>
        </p:nvPicPr>
        <p:blipFill>
          <a:blip r:embed="rId3"/>
          <a:stretch>
            <a:fillRect/>
          </a:stretch>
        </p:blipFill>
        <p:spPr>
          <a:xfrm>
            <a:off x="1066800" y="1598883"/>
            <a:ext cx="4670028" cy="551100"/>
          </a:xfrm>
          <a:prstGeom prst="rect">
            <a:avLst/>
          </a:prstGeom>
        </p:spPr>
      </p:pic>
      <p:graphicFrame>
        <p:nvGraphicFramePr>
          <p:cNvPr id="7" name="Table 6">
            <a:extLst>
              <a:ext uri="{FF2B5EF4-FFF2-40B4-BE49-F238E27FC236}">
                <a16:creationId xmlns:a16="http://schemas.microsoft.com/office/drawing/2014/main" id="{A3D63D34-348D-9B46-9A2C-DA59E5823611}"/>
              </a:ext>
            </a:extLst>
          </p:cNvPr>
          <p:cNvGraphicFramePr>
            <a:graphicFrameLocks noGrp="1"/>
          </p:cNvGraphicFramePr>
          <p:nvPr>
            <p:extLst>
              <p:ext uri="{D42A27DB-BD31-4B8C-83A1-F6EECF244321}">
                <p14:modId xmlns:p14="http://schemas.microsoft.com/office/powerpoint/2010/main" val="958145086"/>
              </p:ext>
            </p:extLst>
          </p:nvPr>
        </p:nvGraphicFramePr>
        <p:xfrm>
          <a:off x="1066800" y="2279928"/>
          <a:ext cx="4133851" cy="3480750"/>
        </p:xfrm>
        <a:graphic>
          <a:graphicData uri="http://schemas.openxmlformats.org/drawingml/2006/table">
            <a:tbl>
              <a:tblPr>
                <a:tableStyleId>{5C22544A-7EE6-4342-B048-85BDC9FD1C3A}</a:tableStyleId>
              </a:tblPr>
              <a:tblGrid>
                <a:gridCol w="802779">
                  <a:extLst>
                    <a:ext uri="{9D8B030D-6E8A-4147-A177-3AD203B41FA5}">
                      <a16:colId xmlns:a16="http://schemas.microsoft.com/office/drawing/2014/main" val="2479498827"/>
                    </a:ext>
                  </a:extLst>
                </a:gridCol>
                <a:gridCol w="802779">
                  <a:extLst>
                    <a:ext uri="{9D8B030D-6E8A-4147-A177-3AD203B41FA5}">
                      <a16:colId xmlns:a16="http://schemas.microsoft.com/office/drawing/2014/main" val="1858808248"/>
                    </a:ext>
                  </a:extLst>
                </a:gridCol>
                <a:gridCol w="802779">
                  <a:extLst>
                    <a:ext uri="{9D8B030D-6E8A-4147-A177-3AD203B41FA5}">
                      <a16:colId xmlns:a16="http://schemas.microsoft.com/office/drawing/2014/main" val="4067983239"/>
                    </a:ext>
                  </a:extLst>
                </a:gridCol>
                <a:gridCol w="802779">
                  <a:extLst>
                    <a:ext uri="{9D8B030D-6E8A-4147-A177-3AD203B41FA5}">
                      <a16:colId xmlns:a16="http://schemas.microsoft.com/office/drawing/2014/main" val="2937096166"/>
                    </a:ext>
                  </a:extLst>
                </a:gridCol>
                <a:gridCol w="922735">
                  <a:extLst>
                    <a:ext uri="{9D8B030D-6E8A-4147-A177-3AD203B41FA5}">
                      <a16:colId xmlns:a16="http://schemas.microsoft.com/office/drawing/2014/main" val="3307359378"/>
                    </a:ext>
                  </a:extLst>
                </a:gridCol>
              </a:tblGrid>
              <a:tr h="267750">
                <a:tc>
                  <a:txBody>
                    <a:bodyPr/>
                    <a:lstStyle/>
                    <a:p>
                      <a:pPr algn="ctr" fontAlgn="b"/>
                      <a:r>
                        <a:rPr lang="en-CA" sz="1200"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Scores</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Center scores</a:t>
                      </a:r>
                      <a:endParaRPr lang="en-CA"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94542752"/>
                  </a:ext>
                </a:extLst>
              </a:tr>
              <a:tr h="267750">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-1.1</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04026313"/>
                  </a:ext>
                </a:extLst>
              </a:tr>
              <a:tr h="267750">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11.1</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-3.3</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56927162"/>
                  </a:ext>
                </a:extLst>
              </a:tr>
              <a:tr h="267750">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-1.8</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11980459"/>
                  </a:ext>
                </a:extLst>
              </a:tr>
              <a:tr h="267750">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-0.7</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10266453"/>
                  </a:ext>
                </a:extLst>
              </a:tr>
              <a:tr h="267750">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10.7</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-1.7</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54081998"/>
                  </a:ext>
                </a:extLst>
              </a:tr>
              <a:tr h="267750">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-1.7</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26082147"/>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30.8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0.2</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33773847"/>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2.3</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4226703"/>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63539871"/>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3.5</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27437409"/>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1.3</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88125815"/>
                  </a:ext>
                </a:extLst>
              </a:tr>
              <a:tr h="267750">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1.2</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01274735"/>
                  </a:ext>
                </a:extLst>
              </a:tr>
            </a:tbl>
          </a:graphicData>
        </a:graphic>
      </p:graphicFrame>
      <p:pic>
        <p:nvPicPr>
          <p:cNvPr id="11" name="Picture 10" descr="Text&#10;&#10;Description automatically generated">
            <a:extLst>
              <a:ext uri="{FF2B5EF4-FFF2-40B4-BE49-F238E27FC236}">
                <a16:creationId xmlns:a16="http://schemas.microsoft.com/office/drawing/2014/main" id="{6BF3E3AB-649D-F74E-926C-BEC0A827819F}"/>
              </a:ext>
            </a:extLst>
          </p:cNvPr>
          <p:cNvPicPr>
            <a:picLocks noChangeAspect="1"/>
          </p:cNvPicPr>
          <p:nvPr/>
        </p:nvPicPr>
        <p:blipFill>
          <a:blip r:embed="rId4"/>
          <a:stretch>
            <a:fillRect/>
          </a:stretch>
        </p:blipFill>
        <p:spPr>
          <a:xfrm>
            <a:off x="1002326" y="5837482"/>
            <a:ext cx="4486564" cy="653717"/>
          </a:xfrm>
          <a:prstGeom prst="rect">
            <a:avLst/>
          </a:prstGeom>
        </p:spPr>
      </p:pic>
      <p:sp>
        <p:nvSpPr>
          <p:cNvPr id="21" name="Right Brace 20">
            <a:extLst>
              <a:ext uri="{FF2B5EF4-FFF2-40B4-BE49-F238E27FC236}">
                <a16:creationId xmlns:a16="http://schemas.microsoft.com/office/drawing/2014/main" id="{C64A53A7-B5DC-3F49-88C3-3D133A7F237A}"/>
              </a:ext>
            </a:extLst>
          </p:cNvPr>
          <p:cNvSpPr/>
          <p:nvPr/>
        </p:nvSpPr>
        <p:spPr>
          <a:xfrm rot="10800000" flipH="1">
            <a:off x="5195454" y="2538865"/>
            <a:ext cx="653472" cy="1626925"/>
          </a:xfrm>
          <a:prstGeom prst="rightBrace">
            <a:avLst>
              <a:gd name="adj1" fmla="val 8333"/>
              <a:gd name="adj2" fmla="val 5084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E4AD4C75-BC38-044B-8819-3FC2E247C848}"/>
              </a:ext>
            </a:extLst>
          </p:cNvPr>
          <p:cNvSpPr/>
          <p:nvPr/>
        </p:nvSpPr>
        <p:spPr>
          <a:xfrm>
            <a:off x="5240952" y="4178869"/>
            <a:ext cx="495876" cy="1581809"/>
          </a:xfrm>
          <a:prstGeom prst="rightBrace">
            <a:avLst>
              <a:gd name="adj1" fmla="val 8333"/>
              <a:gd name="adj2" fmla="val 5212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1BAEB120-7E76-0E46-8CFF-0A9381647368}"/>
              </a:ext>
            </a:extLst>
          </p:cNvPr>
          <p:cNvSpPr txBox="1"/>
          <p:nvPr/>
        </p:nvSpPr>
        <p:spPr>
          <a:xfrm>
            <a:off x="5848926" y="3125996"/>
            <a:ext cx="710662" cy="369332"/>
          </a:xfrm>
          <a:prstGeom prst="rect">
            <a:avLst/>
          </a:prstGeom>
          <a:noFill/>
        </p:spPr>
        <p:txBody>
          <a:bodyPr wrap="square" rtlCol="0">
            <a:spAutoFit/>
          </a:bodyPr>
          <a:lstStyle/>
          <a:p>
            <a:r>
              <a:rPr lang="en-US" dirty="0"/>
              <a:t>-1.71</a:t>
            </a:r>
          </a:p>
        </p:txBody>
      </p:sp>
      <p:sp>
        <p:nvSpPr>
          <p:cNvPr id="24" name="TextBox 23">
            <a:extLst>
              <a:ext uri="{FF2B5EF4-FFF2-40B4-BE49-F238E27FC236}">
                <a16:creationId xmlns:a16="http://schemas.microsoft.com/office/drawing/2014/main" id="{33EBAE25-A505-D946-A1C7-5FDE7D496E8B}"/>
              </a:ext>
            </a:extLst>
          </p:cNvPr>
          <p:cNvSpPr txBox="1"/>
          <p:nvPr/>
        </p:nvSpPr>
        <p:spPr>
          <a:xfrm>
            <a:off x="5736828" y="4554674"/>
            <a:ext cx="607974" cy="646331"/>
          </a:xfrm>
          <a:prstGeom prst="rect">
            <a:avLst/>
          </a:prstGeom>
          <a:noFill/>
        </p:spPr>
        <p:txBody>
          <a:bodyPr wrap="square" rtlCol="0">
            <a:spAutoFit/>
          </a:bodyPr>
          <a:lstStyle/>
          <a:p>
            <a:endParaRPr lang="en-US" dirty="0"/>
          </a:p>
          <a:p>
            <a:r>
              <a:rPr lang="en-US" dirty="0"/>
              <a:t>1.71</a:t>
            </a:r>
          </a:p>
        </p:txBody>
      </p:sp>
      <p:sp>
        <p:nvSpPr>
          <p:cNvPr id="25" name="Right Brace 24">
            <a:extLst>
              <a:ext uri="{FF2B5EF4-FFF2-40B4-BE49-F238E27FC236}">
                <a16:creationId xmlns:a16="http://schemas.microsoft.com/office/drawing/2014/main" id="{CBEE5D0C-4B64-984B-9ABB-AA54790B90C7}"/>
              </a:ext>
            </a:extLst>
          </p:cNvPr>
          <p:cNvSpPr/>
          <p:nvPr/>
        </p:nvSpPr>
        <p:spPr>
          <a:xfrm>
            <a:off x="5848926" y="3429000"/>
            <a:ext cx="495876" cy="1572056"/>
          </a:xfrm>
          <a:prstGeom prst="rightBrace">
            <a:avLst>
              <a:gd name="adj1" fmla="val 8333"/>
              <a:gd name="adj2" fmla="val 4908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3E777BD4-317E-0740-AD55-510238F1169D}"/>
              </a:ext>
            </a:extLst>
          </p:cNvPr>
          <p:cNvSpPr txBox="1"/>
          <p:nvPr/>
        </p:nvSpPr>
        <p:spPr>
          <a:xfrm>
            <a:off x="6385103" y="4010050"/>
            <a:ext cx="1215892" cy="369332"/>
          </a:xfrm>
          <a:prstGeom prst="rect">
            <a:avLst/>
          </a:prstGeom>
          <a:noFill/>
        </p:spPr>
        <p:txBody>
          <a:bodyPr wrap="square" rtlCol="0">
            <a:spAutoFit/>
          </a:bodyPr>
          <a:lstStyle/>
          <a:p>
            <a:r>
              <a:rPr lang="en-US" dirty="0"/>
              <a:t>0</a:t>
            </a:r>
          </a:p>
        </p:txBody>
      </p:sp>
      <p:pic>
        <p:nvPicPr>
          <p:cNvPr id="28" name="Picture 27" descr="Chart, bubble chart&#10;&#10;Description automatically generated">
            <a:extLst>
              <a:ext uri="{FF2B5EF4-FFF2-40B4-BE49-F238E27FC236}">
                <a16:creationId xmlns:a16="http://schemas.microsoft.com/office/drawing/2014/main" id="{FFD3A970-E2FA-8745-ADFB-22FB3AE0E351}"/>
              </a:ext>
            </a:extLst>
          </p:cNvPr>
          <p:cNvPicPr>
            <a:picLocks noChangeAspect="1"/>
          </p:cNvPicPr>
          <p:nvPr/>
        </p:nvPicPr>
        <p:blipFill>
          <a:blip r:embed="rId5"/>
          <a:stretch>
            <a:fillRect/>
          </a:stretch>
        </p:blipFill>
        <p:spPr>
          <a:xfrm>
            <a:off x="7600995" y="2170556"/>
            <a:ext cx="2762205" cy="3650406"/>
          </a:xfrm>
          <a:prstGeom prst="rect">
            <a:avLst/>
          </a:prstGeom>
        </p:spPr>
      </p:pic>
    </p:spTree>
    <p:extLst>
      <p:ext uri="{BB962C8B-B14F-4D97-AF65-F5344CB8AC3E}">
        <p14:creationId xmlns:p14="http://schemas.microsoft.com/office/powerpoint/2010/main" val="3271345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31271" y="-31320"/>
            <a:ext cx="10058401" cy="1627632"/>
          </a:xfrm>
        </p:spPr>
        <p:txBody>
          <a:bodyPr>
            <a:normAutofit/>
          </a:bodyPr>
          <a:lstStyle/>
          <a:p>
            <a:pPr algn="ctr"/>
            <a:r>
              <a:rPr lang="en-US" dirty="0"/>
              <a:t>Sensitivity and specificity</a:t>
            </a:r>
          </a:p>
        </p:txBody>
      </p:sp>
      <p:pic>
        <p:nvPicPr>
          <p:cNvPr id="4" name="Picture 3">
            <a:extLst>
              <a:ext uri="{FF2B5EF4-FFF2-40B4-BE49-F238E27FC236}">
                <a16:creationId xmlns:a16="http://schemas.microsoft.com/office/drawing/2014/main" id="{CBCBAC66-C38E-4346-9066-1CDA8E033E02}"/>
              </a:ext>
            </a:extLst>
          </p:cNvPr>
          <p:cNvPicPr>
            <a:picLocks noChangeAspect="1"/>
          </p:cNvPicPr>
          <p:nvPr/>
        </p:nvPicPr>
        <p:blipFill>
          <a:blip r:embed="rId3"/>
          <a:stretch>
            <a:fillRect/>
          </a:stretch>
        </p:blipFill>
        <p:spPr>
          <a:xfrm>
            <a:off x="1052945" y="1617992"/>
            <a:ext cx="4669302" cy="532530"/>
          </a:xfrm>
          <a:prstGeom prst="rect">
            <a:avLst/>
          </a:prstGeom>
        </p:spPr>
      </p:pic>
      <p:graphicFrame>
        <p:nvGraphicFramePr>
          <p:cNvPr id="6" name="Table 5">
            <a:extLst>
              <a:ext uri="{FF2B5EF4-FFF2-40B4-BE49-F238E27FC236}">
                <a16:creationId xmlns:a16="http://schemas.microsoft.com/office/drawing/2014/main" id="{91381EEC-C9D7-534A-8626-F9DF03B1C49E}"/>
              </a:ext>
            </a:extLst>
          </p:cNvPr>
          <p:cNvGraphicFramePr>
            <a:graphicFrameLocks noGrp="1"/>
          </p:cNvGraphicFramePr>
          <p:nvPr>
            <p:extLst>
              <p:ext uri="{D42A27DB-BD31-4B8C-83A1-F6EECF244321}">
                <p14:modId xmlns:p14="http://schemas.microsoft.com/office/powerpoint/2010/main" val="3701328400"/>
              </p:ext>
            </p:extLst>
          </p:nvPr>
        </p:nvGraphicFramePr>
        <p:xfrm>
          <a:off x="1197172" y="2281733"/>
          <a:ext cx="3297380" cy="3445689"/>
        </p:xfrm>
        <a:graphic>
          <a:graphicData uri="http://schemas.openxmlformats.org/drawingml/2006/table">
            <a:tbl>
              <a:tblPr>
                <a:tableStyleId>{5C22544A-7EE6-4342-B048-85BDC9FD1C3A}</a:tableStyleId>
              </a:tblPr>
              <a:tblGrid>
                <a:gridCol w="824345">
                  <a:extLst>
                    <a:ext uri="{9D8B030D-6E8A-4147-A177-3AD203B41FA5}">
                      <a16:colId xmlns:a16="http://schemas.microsoft.com/office/drawing/2014/main" val="1052948551"/>
                    </a:ext>
                  </a:extLst>
                </a:gridCol>
                <a:gridCol w="824345">
                  <a:extLst>
                    <a:ext uri="{9D8B030D-6E8A-4147-A177-3AD203B41FA5}">
                      <a16:colId xmlns:a16="http://schemas.microsoft.com/office/drawing/2014/main" val="918453378"/>
                    </a:ext>
                  </a:extLst>
                </a:gridCol>
                <a:gridCol w="824345">
                  <a:extLst>
                    <a:ext uri="{9D8B030D-6E8A-4147-A177-3AD203B41FA5}">
                      <a16:colId xmlns:a16="http://schemas.microsoft.com/office/drawing/2014/main" val="3442848613"/>
                    </a:ext>
                  </a:extLst>
                </a:gridCol>
                <a:gridCol w="824345">
                  <a:extLst>
                    <a:ext uri="{9D8B030D-6E8A-4147-A177-3AD203B41FA5}">
                      <a16:colId xmlns:a16="http://schemas.microsoft.com/office/drawing/2014/main" val="276695279"/>
                    </a:ext>
                  </a:extLst>
                </a:gridCol>
              </a:tblGrid>
              <a:tr h="265053">
                <a:tc>
                  <a:txBody>
                    <a:bodyPr/>
                    <a:lstStyle/>
                    <a:p>
                      <a:pPr algn="ctr" fontAlgn="b"/>
                      <a:r>
                        <a:rPr lang="en-CA" sz="1200" u="none" strike="noStrike">
                          <a:effectLst/>
                        </a:rPr>
                        <a:t>Infection</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CRP(mg/L)</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Scores</a:t>
                      </a:r>
                      <a:endParaRPr lang="en-CA"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15041426"/>
                  </a:ext>
                </a:extLst>
              </a:tr>
              <a:tr h="265053">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29.5</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23189245"/>
                  </a:ext>
                </a:extLst>
              </a:tr>
              <a:tr h="265053">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27.3</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03402776"/>
                  </a:ext>
                </a:extLst>
              </a:tr>
              <a:tr h="265053">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36.5</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28.8</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08055659"/>
                  </a:ext>
                </a:extLst>
              </a:tr>
              <a:tr h="265053">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29.9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08224433"/>
                  </a:ext>
                </a:extLst>
              </a:tr>
              <a:tr h="265053">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38722960"/>
                  </a:ext>
                </a:extLst>
              </a:tr>
              <a:tr h="265053">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9817177"/>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30.8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43430885"/>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43555245"/>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76299089"/>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19200539"/>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44846898"/>
                  </a:ext>
                </a:extLst>
              </a:tr>
              <a:tr h="265053">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31.8</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6785511"/>
                  </a:ext>
                </a:extLst>
              </a:tr>
            </a:tbl>
          </a:graphicData>
        </a:graphic>
      </p:graphicFrame>
      <p:sp>
        <p:nvSpPr>
          <p:cNvPr id="14" name="Right Brace 13">
            <a:extLst>
              <a:ext uri="{FF2B5EF4-FFF2-40B4-BE49-F238E27FC236}">
                <a16:creationId xmlns:a16="http://schemas.microsoft.com/office/drawing/2014/main" id="{50D0A64C-A646-CC48-BFD9-D10B750A28E2}"/>
              </a:ext>
            </a:extLst>
          </p:cNvPr>
          <p:cNvSpPr/>
          <p:nvPr/>
        </p:nvSpPr>
        <p:spPr>
          <a:xfrm>
            <a:off x="4530435" y="2507673"/>
            <a:ext cx="512620" cy="16486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MT" panose="02020404030301010803"/>
              <a:ea typeface="+mn-ea"/>
              <a:cs typeface="+mn-cs"/>
            </a:endParaRPr>
          </a:p>
        </p:txBody>
      </p:sp>
      <p:sp>
        <p:nvSpPr>
          <p:cNvPr id="18" name="Right Brace 17">
            <a:extLst>
              <a:ext uri="{FF2B5EF4-FFF2-40B4-BE49-F238E27FC236}">
                <a16:creationId xmlns:a16="http://schemas.microsoft.com/office/drawing/2014/main" id="{963FEE4A-0C02-8444-94EE-068CE26466C4}"/>
              </a:ext>
            </a:extLst>
          </p:cNvPr>
          <p:cNvSpPr/>
          <p:nvPr/>
        </p:nvSpPr>
        <p:spPr>
          <a:xfrm>
            <a:off x="4530435" y="4156364"/>
            <a:ext cx="548503" cy="15710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MT" panose="02020404030301010803"/>
              <a:ea typeface="+mn-ea"/>
              <a:cs typeface="+mn-cs"/>
            </a:endParaRPr>
          </a:p>
        </p:txBody>
      </p:sp>
      <p:sp>
        <p:nvSpPr>
          <p:cNvPr id="16" name="TextBox 15">
            <a:extLst>
              <a:ext uri="{FF2B5EF4-FFF2-40B4-BE49-F238E27FC236}">
                <a16:creationId xmlns:a16="http://schemas.microsoft.com/office/drawing/2014/main" id="{00093B3F-7A04-994F-BD4E-B94B17EF0C60}"/>
              </a:ext>
            </a:extLst>
          </p:cNvPr>
          <p:cNvSpPr txBox="1"/>
          <p:nvPr/>
        </p:nvSpPr>
        <p:spPr>
          <a:xfrm>
            <a:off x="5153891" y="3297382"/>
            <a:ext cx="5822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Gill Sans MT" panose="02020404030301010803"/>
                <a:ea typeface="+mn-ea"/>
                <a:cs typeface="+mn-cs"/>
              </a:rPr>
              <a:t>28.9</a:t>
            </a:r>
          </a:p>
        </p:txBody>
      </p:sp>
      <p:sp>
        <p:nvSpPr>
          <p:cNvPr id="19" name="TextBox 18">
            <a:extLst>
              <a:ext uri="{FF2B5EF4-FFF2-40B4-BE49-F238E27FC236}">
                <a16:creationId xmlns:a16="http://schemas.microsoft.com/office/drawing/2014/main" id="{18543796-0012-BD4B-BB14-F8EEDDFE0640}"/>
              </a:ext>
            </a:extLst>
          </p:cNvPr>
          <p:cNvSpPr txBox="1"/>
          <p:nvPr/>
        </p:nvSpPr>
        <p:spPr>
          <a:xfrm>
            <a:off x="5140036" y="4793673"/>
            <a:ext cx="5822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Gill Sans MT" panose="02020404030301010803"/>
                <a:ea typeface="+mn-ea"/>
                <a:cs typeface="+mn-cs"/>
              </a:rPr>
              <a:t>32.3</a:t>
            </a:r>
          </a:p>
        </p:txBody>
      </p:sp>
      <p:sp>
        <p:nvSpPr>
          <p:cNvPr id="20" name="Right Brace 19">
            <a:extLst>
              <a:ext uri="{FF2B5EF4-FFF2-40B4-BE49-F238E27FC236}">
                <a16:creationId xmlns:a16="http://schemas.microsoft.com/office/drawing/2014/main" id="{788401C4-FD57-1249-B42C-ECC774160C37}"/>
              </a:ext>
            </a:extLst>
          </p:cNvPr>
          <p:cNvSpPr/>
          <p:nvPr/>
        </p:nvSpPr>
        <p:spPr>
          <a:xfrm>
            <a:off x="5624945" y="3464790"/>
            <a:ext cx="471055" cy="1571058"/>
          </a:xfrm>
          <a:prstGeom prst="rightBrace">
            <a:avLst>
              <a:gd name="adj1" fmla="val 8333"/>
              <a:gd name="adj2" fmla="val 5177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MT" panose="02020404030301010803"/>
              <a:ea typeface="+mn-ea"/>
              <a:cs typeface="+mn-cs"/>
            </a:endParaRPr>
          </a:p>
        </p:txBody>
      </p:sp>
      <p:sp>
        <p:nvSpPr>
          <p:cNvPr id="22" name="TextBox 21">
            <a:extLst>
              <a:ext uri="{FF2B5EF4-FFF2-40B4-BE49-F238E27FC236}">
                <a16:creationId xmlns:a16="http://schemas.microsoft.com/office/drawing/2014/main" id="{2FF184D5-2333-D445-8217-E76753AC0C44}"/>
              </a:ext>
            </a:extLst>
          </p:cNvPr>
          <p:cNvSpPr txBox="1"/>
          <p:nvPr/>
        </p:nvSpPr>
        <p:spPr>
          <a:xfrm>
            <a:off x="6206836" y="4059382"/>
            <a:ext cx="14320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Gill Sans MT" panose="02020404030301010803"/>
                <a:ea typeface="+mn-ea"/>
                <a:cs typeface="+mn-cs"/>
              </a:rPr>
              <a:t>30.6 </a:t>
            </a:r>
            <a:r>
              <a:rPr lang="en-US" dirty="0">
                <a:solidFill>
                  <a:srgbClr val="000000"/>
                </a:solidFill>
                <a:latin typeface="Gill Sans MT" panose="02020404030301010803"/>
              </a:rPr>
              <a:t> </a:t>
            </a:r>
            <a:r>
              <a:rPr kumimoji="0" lang="en-US" sz="1800" b="0" i="0" u="none" strike="noStrike" kern="1200" cap="none" spc="0" normalizeH="0" baseline="0" noProof="0" dirty="0">
                <a:ln>
                  <a:noFill/>
                </a:ln>
                <a:solidFill>
                  <a:srgbClr val="000000"/>
                </a:solidFill>
                <a:effectLst/>
                <a:uLnTx/>
                <a:uFillTx/>
                <a:latin typeface="Gill Sans MT" panose="02020404030301010803"/>
                <a:ea typeface="+mn-ea"/>
                <a:cs typeface="+mn-cs"/>
              </a:rPr>
              <a:t>cut-off</a:t>
            </a:r>
          </a:p>
        </p:txBody>
      </p:sp>
      <p:pic>
        <p:nvPicPr>
          <p:cNvPr id="15" name="Picture 14" descr="Chart, bubble chart&#10;&#10;Description automatically generated">
            <a:extLst>
              <a:ext uri="{FF2B5EF4-FFF2-40B4-BE49-F238E27FC236}">
                <a16:creationId xmlns:a16="http://schemas.microsoft.com/office/drawing/2014/main" id="{F08B5686-9134-3A4E-8C59-4B12F55E6F47}"/>
              </a:ext>
            </a:extLst>
          </p:cNvPr>
          <p:cNvPicPr>
            <a:picLocks noChangeAspect="1"/>
          </p:cNvPicPr>
          <p:nvPr/>
        </p:nvPicPr>
        <p:blipFill>
          <a:blip r:embed="rId4"/>
          <a:stretch>
            <a:fillRect/>
          </a:stretch>
        </p:blipFill>
        <p:spPr>
          <a:xfrm>
            <a:off x="7718653" y="2281734"/>
            <a:ext cx="3769317" cy="3415092"/>
          </a:xfrm>
          <a:prstGeom prst="rect">
            <a:avLst/>
          </a:prstGeom>
        </p:spPr>
      </p:pic>
    </p:spTree>
    <p:extLst>
      <p:ext uri="{BB962C8B-B14F-4D97-AF65-F5344CB8AC3E}">
        <p14:creationId xmlns:p14="http://schemas.microsoft.com/office/powerpoint/2010/main" val="3838302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03018"/>
          </a:xfrm>
        </p:spPr>
        <p:txBody>
          <a:bodyPr>
            <a:normAutofit/>
          </a:bodyPr>
          <a:lstStyle/>
          <a:p>
            <a:pPr algn="ctr"/>
            <a:r>
              <a:rPr lang="en-US" dirty="0"/>
              <a:t>Sensitivity and specificity</a:t>
            </a:r>
          </a:p>
        </p:txBody>
      </p:sp>
      <p:pic>
        <p:nvPicPr>
          <p:cNvPr id="4" name="Picture 3">
            <a:extLst>
              <a:ext uri="{FF2B5EF4-FFF2-40B4-BE49-F238E27FC236}">
                <a16:creationId xmlns:a16="http://schemas.microsoft.com/office/drawing/2014/main" id="{CBCBAC66-C38E-4346-9066-1CDA8E033E02}"/>
              </a:ext>
            </a:extLst>
          </p:cNvPr>
          <p:cNvPicPr>
            <a:picLocks noChangeAspect="1"/>
          </p:cNvPicPr>
          <p:nvPr/>
        </p:nvPicPr>
        <p:blipFill>
          <a:blip r:embed="rId3"/>
          <a:stretch>
            <a:fillRect/>
          </a:stretch>
        </p:blipFill>
        <p:spPr>
          <a:xfrm>
            <a:off x="975361" y="1530527"/>
            <a:ext cx="4192384" cy="469184"/>
          </a:xfrm>
          <a:prstGeom prst="rect">
            <a:avLst/>
          </a:prstGeom>
        </p:spPr>
      </p:pic>
      <p:pic>
        <p:nvPicPr>
          <p:cNvPr id="5" name="Picture 4" descr="Chart, bubble chart&#10;&#10;Description automatically generated">
            <a:extLst>
              <a:ext uri="{FF2B5EF4-FFF2-40B4-BE49-F238E27FC236}">
                <a16:creationId xmlns:a16="http://schemas.microsoft.com/office/drawing/2014/main" id="{74F659E8-2B43-0747-AF0E-CAE553B2E5A0}"/>
              </a:ext>
            </a:extLst>
          </p:cNvPr>
          <p:cNvPicPr>
            <a:picLocks noChangeAspect="1"/>
          </p:cNvPicPr>
          <p:nvPr/>
        </p:nvPicPr>
        <p:blipFill>
          <a:blip r:embed="rId4"/>
          <a:stretch>
            <a:fillRect/>
          </a:stretch>
        </p:blipFill>
        <p:spPr>
          <a:xfrm>
            <a:off x="7069042" y="2248533"/>
            <a:ext cx="3797078" cy="3341793"/>
          </a:xfrm>
          <a:prstGeom prst="rect">
            <a:avLst/>
          </a:prstGeom>
        </p:spPr>
      </p:pic>
      <p:graphicFrame>
        <p:nvGraphicFramePr>
          <p:cNvPr id="7" name="Table 6">
            <a:extLst>
              <a:ext uri="{FF2B5EF4-FFF2-40B4-BE49-F238E27FC236}">
                <a16:creationId xmlns:a16="http://schemas.microsoft.com/office/drawing/2014/main" id="{181633B4-05D5-8A48-A37A-AAFD03E25283}"/>
              </a:ext>
            </a:extLst>
          </p:cNvPr>
          <p:cNvGraphicFramePr>
            <a:graphicFrameLocks noGrp="1"/>
          </p:cNvGraphicFramePr>
          <p:nvPr>
            <p:extLst>
              <p:ext uri="{D42A27DB-BD31-4B8C-83A1-F6EECF244321}">
                <p14:modId xmlns:p14="http://schemas.microsoft.com/office/powerpoint/2010/main" val="2255503770"/>
              </p:ext>
            </p:extLst>
          </p:nvPr>
        </p:nvGraphicFramePr>
        <p:xfrm>
          <a:off x="975361" y="2248534"/>
          <a:ext cx="4903067" cy="3341793"/>
        </p:xfrm>
        <a:graphic>
          <a:graphicData uri="http://schemas.openxmlformats.org/drawingml/2006/table">
            <a:tbl>
              <a:tblPr>
                <a:tableStyleId>{5C22544A-7EE6-4342-B048-85BDC9FD1C3A}</a:tableStyleId>
              </a:tblPr>
              <a:tblGrid>
                <a:gridCol w="927319">
                  <a:extLst>
                    <a:ext uri="{9D8B030D-6E8A-4147-A177-3AD203B41FA5}">
                      <a16:colId xmlns:a16="http://schemas.microsoft.com/office/drawing/2014/main" val="2388713410"/>
                    </a:ext>
                  </a:extLst>
                </a:gridCol>
                <a:gridCol w="927319">
                  <a:extLst>
                    <a:ext uri="{9D8B030D-6E8A-4147-A177-3AD203B41FA5}">
                      <a16:colId xmlns:a16="http://schemas.microsoft.com/office/drawing/2014/main" val="3419838346"/>
                    </a:ext>
                  </a:extLst>
                </a:gridCol>
                <a:gridCol w="927319">
                  <a:extLst>
                    <a:ext uri="{9D8B030D-6E8A-4147-A177-3AD203B41FA5}">
                      <a16:colId xmlns:a16="http://schemas.microsoft.com/office/drawing/2014/main" val="2708042629"/>
                    </a:ext>
                  </a:extLst>
                </a:gridCol>
                <a:gridCol w="927319">
                  <a:extLst>
                    <a:ext uri="{9D8B030D-6E8A-4147-A177-3AD203B41FA5}">
                      <a16:colId xmlns:a16="http://schemas.microsoft.com/office/drawing/2014/main" val="1427365352"/>
                    </a:ext>
                  </a:extLst>
                </a:gridCol>
                <a:gridCol w="1193791">
                  <a:extLst>
                    <a:ext uri="{9D8B030D-6E8A-4147-A177-3AD203B41FA5}">
                      <a16:colId xmlns:a16="http://schemas.microsoft.com/office/drawing/2014/main" val="976016304"/>
                    </a:ext>
                  </a:extLst>
                </a:gridCol>
              </a:tblGrid>
              <a:tr h="257061">
                <a:tc>
                  <a:txBody>
                    <a:bodyPr/>
                    <a:lstStyle/>
                    <a:p>
                      <a:pPr algn="ctr" fontAlgn="b"/>
                      <a:r>
                        <a:rPr lang="en-CA" sz="1200"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CRP(mg/L)</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Scores</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Predicted class</a:t>
                      </a:r>
                      <a:endParaRPr lang="en-CA"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5081241"/>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17205780"/>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11.1</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65405988"/>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97176618"/>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21.4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59895515"/>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10.7</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73869618"/>
                  </a:ext>
                </a:extLst>
              </a:tr>
              <a:tr h="25706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40.7</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5028618"/>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42</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37.6</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30.8</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04426958"/>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31.1</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42.2</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32.9</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9744973"/>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50</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38.5</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32.3</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85256395"/>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60.4</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39.4</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34</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28298100"/>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45.7</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38.6</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31.9</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37656174"/>
                  </a:ext>
                </a:extLst>
              </a:tr>
              <a:tr h="257061">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17.3</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42.7</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31.8</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48284249"/>
                  </a:ext>
                </a:extLst>
              </a:tr>
            </a:tbl>
          </a:graphicData>
        </a:graphic>
      </p:graphicFrame>
    </p:spTree>
    <p:extLst>
      <p:ext uri="{BB962C8B-B14F-4D97-AF65-F5344CB8AC3E}">
        <p14:creationId xmlns:p14="http://schemas.microsoft.com/office/powerpoint/2010/main" val="689924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20" y="226666"/>
            <a:ext cx="9943408" cy="1060637"/>
          </a:xfrm>
        </p:spPr>
        <p:txBody>
          <a:bodyPr>
            <a:normAutofit/>
          </a:bodyPr>
          <a:lstStyle/>
          <a:p>
            <a:pPr algn="ctr"/>
            <a:r>
              <a:rPr lang="en-US" dirty="0"/>
              <a:t>Sensitivity and specificity</a:t>
            </a:r>
          </a:p>
        </p:txBody>
      </p:sp>
      <p:graphicFrame>
        <p:nvGraphicFramePr>
          <p:cNvPr id="3" name="Table 2">
            <a:extLst>
              <a:ext uri="{FF2B5EF4-FFF2-40B4-BE49-F238E27FC236}">
                <a16:creationId xmlns:a16="http://schemas.microsoft.com/office/drawing/2014/main" id="{03FC06E3-4EC5-4746-B8E3-3B7E4A5CC5B5}"/>
              </a:ext>
            </a:extLst>
          </p:cNvPr>
          <p:cNvGraphicFramePr>
            <a:graphicFrameLocks noGrp="1"/>
          </p:cNvGraphicFramePr>
          <p:nvPr>
            <p:extLst>
              <p:ext uri="{D42A27DB-BD31-4B8C-83A1-F6EECF244321}">
                <p14:modId xmlns:p14="http://schemas.microsoft.com/office/powerpoint/2010/main" val="2343719819"/>
              </p:ext>
            </p:extLst>
          </p:nvPr>
        </p:nvGraphicFramePr>
        <p:xfrm>
          <a:off x="807719" y="1854298"/>
          <a:ext cx="4013665" cy="4130867"/>
        </p:xfrm>
        <a:graphic>
          <a:graphicData uri="http://schemas.openxmlformats.org/drawingml/2006/table">
            <a:tbl>
              <a:tblPr>
                <a:tableStyleId>{5C22544A-7EE6-4342-B048-85BDC9FD1C3A}</a:tableStyleId>
              </a:tblPr>
              <a:tblGrid>
                <a:gridCol w="759106">
                  <a:extLst>
                    <a:ext uri="{9D8B030D-6E8A-4147-A177-3AD203B41FA5}">
                      <a16:colId xmlns:a16="http://schemas.microsoft.com/office/drawing/2014/main" val="1448149358"/>
                    </a:ext>
                  </a:extLst>
                </a:gridCol>
                <a:gridCol w="759106">
                  <a:extLst>
                    <a:ext uri="{9D8B030D-6E8A-4147-A177-3AD203B41FA5}">
                      <a16:colId xmlns:a16="http://schemas.microsoft.com/office/drawing/2014/main" val="3981737472"/>
                    </a:ext>
                  </a:extLst>
                </a:gridCol>
                <a:gridCol w="759106">
                  <a:extLst>
                    <a:ext uri="{9D8B030D-6E8A-4147-A177-3AD203B41FA5}">
                      <a16:colId xmlns:a16="http://schemas.microsoft.com/office/drawing/2014/main" val="3480585227"/>
                    </a:ext>
                  </a:extLst>
                </a:gridCol>
                <a:gridCol w="759106">
                  <a:extLst>
                    <a:ext uri="{9D8B030D-6E8A-4147-A177-3AD203B41FA5}">
                      <a16:colId xmlns:a16="http://schemas.microsoft.com/office/drawing/2014/main" val="3405885537"/>
                    </a:ext>
                  </a:extLst>
                </a:gridCol>
                <a:gridCol w="977241">
                  <a:extLst>
                    <a:ext uri="{9D8B030D-6E8A-4147-A177-3AD203B41FA5}">
                      <a16:colId xmlns:a16="http://schemas.microsoft.com/office/drawing/2014/main" val="3425962343"/>
                    </a:ext>
                  </a:extLst>
                </a:gridCol>
              </a:tblGrid>
              <a:tr h="317759">
                <a:tc>
                  <a:txBody>
                    <a:bodyPr/>
                    <a:lstStyle/>
                    <a:p>
                      <a:pPr algn="ctr" fontAlgn="b"/>
                      <a:r>
                        <a:rPr lang="en-CA" sz="1200"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CRP(mg/L)</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Scores</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Predicted class</a:t>
                      </a:r>
                      <a:endParaRPr lang="en-CA"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4846721"/>
                  </a:ext>
                </a:extLst>
              </a:tr>
              <a:tr h="317759">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85274583"/>
                  </a:ext>
                </a:extLst>
              </a:tr>
              <a:tr h="31775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82960687"/>
                  </a:ext>
                </a:extLst>
              </a:tr>
              <a:tr h="31775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58988226"/>
                  </a:ext>
                </a:extLst>
              </a:tr>
              <a:tr h="31775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21.4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4700810"/>
                  </a:ext>
                </a:extLst>
              </a:tr>
              <a:tr h="31775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3549872"/>
                  </a:ext>
                </a:extLst>
              </a:tr>
              <a:tr h="317759">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40.7</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28.9</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5037291"/>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42</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37.6</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30.8</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59113943"/>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31.1</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42.2</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32.9</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13779250"/>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50</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38.5</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32.3</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55459116"/>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60.4</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39.4</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34</a:t>
                      </a:r>
                      <a:endParaRPr lang="en-CA" sz="1200" b="0"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38227254"/>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45.7</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38.6</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31.9</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91198874"/>
                  </a:ext>
                </a:extLst>
              </a:tr>
              <a:tr h="317759">
                <a:tc>
                  <a:txBody>
                    <a:bodyPr/>
                    <a:lstStyle/>
                    <a:p>
                      <a:pPr algn="ctr" fontAlgn="b"/>
                      <a:r>
                        <a:rPr lang="en-CA" sz="1200" u="none" strike="noStrike">
                          <a:solidFill>
                            <a:schemeClr val="tx1"/>
                          </a:solidFill>
                          <a:effectLst/>
                        </a:rPr>
                        <a:t>Bacterial</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17.3</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42.7</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chemeClr val="tx1"/>
                          </a:solidFill>
                          <a:effectLst/>
                        </a:rPr>
                        <a:t>31.8</a:t>
                      </a:r>
                      <a:endParaRPr lang="en-CA" sz="1200" b="0" i="0" u="none" strike="noStrike">
                        <a:solidFill>
                          <a:schemeClr val="tx1"/>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tx1"/>
                          </a:solidFill>
                          <a:effectLst/>
                        </a:rPr>
                        <a:t>Bacterial</a:t>
                      </a:r>
                      <a:endParaRPr lang="en-CA" sz="1200" b="0"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37258196"/>
                  </a:ext>
                </a:extLst>
              </a:tr>
            </a:tbl>
          </a:graphicData>
        </a:graphic>
      </p:graphicFrame>
      <p:sp>
        <p:nvSpPr>
          <p:cNvPr id="6" name="TextBox 5">
            <a:extLst>
              <a:ext uri="{FF2B5EF4-FFF2-40B4-BE49-F238E27FC236}">
                <a16:creationId xmlns:a16="http://schemas.microsoft.com/office/drawing/2014/main" id="{22620618-0701-7349-BED1-8871D33F9F24}"/>
              </a:ext>
            </a:extLst>
          </p:cNvPr>
          <p:cNvSpPr txBox="1"/>
          <p:nvPr/>
        </p:nvSpPr>
        <p:spPr>
          <a:xfrm>
            <a:off x="5493328" y="1953490"/>
            <a:ext cx="5346700" cy="1200329"/>
          </a:xfrm>
          <a:prstGeom prst="rect">
            <a:avLst/>
          </a:prstGeom>
          <a:noFill/>
        </p:spPr>
        <p:txBody>
          <a:bodyPr wrap="square" rtlCol="0">
            <a:spAutoFit/>
          </a:bodyPr>
          <a:lstStyle/>
          <a:p>
            <a:r>
              <a:rPr lang="en-US" sz="2400" dirty="0"/>
              <a:t>Positive test result = bacterial infection</a:t>
            </a:r>
          </a:p>
          <a:p>
            <a:endParaRPr lang="en-US" sz="2400" dirty="0"/>
          </a:p>
          <a:p>
            <a:r>
              <a:rPr lang="en-US" sz="2400" dirty="0"/>
              <a:t>Negative test result = viral infection</a:t>
            </a:r>
          </a:p>
        </p:txBody>
      </p:sp>
      <p:pic>
        <p:nvPicPr>
          <p:cNvPr id="11" name="Picture 10" descr="Text&#10;&#10;Description automatically generated">
            <a:extLst>
              <a:ext uri="{FF2B5EF4-FFF2-40B4-BE49-F238E27FC236}">
                <a16:creationId xmlns:a16="http://schemas.microsoft.com/office/drawing/2014/main" id="{162E48CF-E8DA-E048-93ED-A31518269C16}"/>
              </a:ext>
            </a:extLst>
          </p:cNvPr>
          <p:cNvPicPr>
            <a:picLocks noChangeAspect="1"/>
          </p:cNvPicPr>
          <p:nvPr/>
        </p:nvPicPr>
        <p:blipFill>
          <a:blip r:embed="rId3"/>
          <a:stretch>
            <a:fillRect/>
          </a:stretch>
        </p:blipFill>
        <p:spPr>
          <a:xfrm>
            <a:off x="5493328" y="3419133"/>
            <a:ext cx="5257800" cy="762000"/>
          </a:xfrm>
          <a:prstGeom prst="rect">
            <a:avLst/>
          </a:prstGeom>
        </p:spPr>
      </p:pic>
      <p:pic>
        <p:nvPicPr>
          <p:cNvPr id="13" name="Picture 12" descr="Text&#10;&#10;Description automatically generated">
            <a:extLst>
              <a:ext uri="{FF2B5EF4-FFF2-40B4-BE49-F238E27FC236}">
                <a16:creationId xmlns:a16="http://schemas.microsoft.com/office/drawing/2014/main" id="{1116F356-FC57-6249-AE03-866E26958B65}"/>
              </a:ext>
            </a:extLst>
          </p:cNvPr>
          <p:cNvPicPr>
            <a:picLocks noChangeAspect="1"/>
          </p:cNvPicPr>
          <p:nvPr/>
        </p:nvPicPr>
        <p:blipFill>
          <a:blip r:embed="rId4"/>
          <a:stretch>
            <a:fillRect/>
          </a:stretch>
        </p:blipFill>
        <p:spPr>
          <a:xfrm>
            <a:off x="5493328" y="4407798"/>
            <a:ext cx="5346700" cy="812800"/>
          </a:xfrm>
          <a:prstGeom prst="rect">
            <a:avLst/>
          </a:prstGeom>
        </p:spPr>
      </p:pic>
      <p:pic>
        <p:nvPicPr>
          <p:cNvPr id="15" name="Picture 14" descr="Text&#10;&#10;Description automatically generated">
            <a:extLst>
              <a:ext uri="{FF2B5EF4-FFF2-40B4-BE49-F238E27FC236}">
                <a16:creationId xmlns:a16="http://schemas.microsoft.com/office/drawing/2014/main" id="{8CA7E319-9E46-D345-AAEA-285900612CA3}"/>
              </a:ext>
            </a:extLst>
          </p:cNvPr>
          <p:cNvPicPr>
            <a:picLocks noChangeAspect="1"/>
          </p:cNvPicPr>
          <p:nvPr/>
        </p:nvPicPr>
        <p:blipFill>
          <a:blip r:embed="rId5"/>
          <a:stretch>
            <a:fillRect/>
          </a:stretch>
        </p:blipFill>
        <p:spPr>
          <a:xfrm>
            <a:off x="5493328" y="5314951"/>
            <a:ext cx="5997286" cy="1028700"/>
          </a:xfrm>
          <a:prstGeom prst="rect">
            <a:avLst/>
          </a:prstGeom>
        </p:spPr>
      </p:pic>
    </p:spTree>
    <p:extLst>
      <p:ext uri="{BB962C8B-B14F-4D97-AF65-F5344CB8AC3E}">
        <p14:creationId xmlns:p14="http://schemas.microsoft.com/office/powerpoint/2010/main" val="3322961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99609"/>
          </a:xfrm>
        </p:spPr>
        <p:txBody>
          <a:bodyPr>
            <a:normAutofit/>
          </a:bodyPr>
          <a:lstStyle/>
          <a:p>
            <a:pPr algn="ctr"/>
            <a:r>
              <a:rPr lang="en-US" dirty="0"/>
              <a:t>Change the cutoff value	</a:t>
            </a:r>
          </a:p>
        </p:txBody>
      </p:sp>
      <p:pic>
        <p:nvPicPr>
          <p:cNvPr id="5" name="Picture 4" descr="Chart, bubble chart&#10;&#10;Description automatically generated">
            <a:extLst>
              <a:ext uri="{FF2B5EF4-FFF2-40B4-BE49-F238E27FC236}">
                <a16:creationId xmlns:a16="http://schemas.microsoft.com/office/drawing/2014/main" id="{74F659E8-2B43-0747-AF0E-CAE553B2E5A0}"/>
              </a:ext>
            </a:extLst>
          </p:cNvPr>
          <p:cNvPicPr>
            <a:picLocks noChangeAspect="1"/>
          </p:cNvPicPr>
          <p:nvPr/>
        </p:nvPicPr>
        <p:blipFill>
          <a:blip r:embed="rId3"/>
          <a:stretch>
            <a:fillRect/>
          </a:stretch>
        </p:blipFill>
        <p:spPr>
          <a:xfrm>
            <a:off x="1311969" y="2080963"/>
            <a:ext cx="3920893" cy="3450762"/>
          </a:xfrm>
          <a:prstGeom prst="rect">
            <a:avLst/>
          </a:prstGeom>
        </p:spPr>
      </p:pic>
      <p:pic>
        <p:nvPicPr>
          <p:cNvPr id="6" name="Picture 5" descr="Chart, bubble chart&#10;&#10;Description automatically generated">
            <a:extLst>
              <a:ext uri="{FF2B5EF4-FFF2-40B4-BE49-F238E27FC236}">
                <a16:creationId xmlns:a16="http://schemas.microsoft.com/office/drawing/2014/main" id="{34E2CC08-6BD3-554E-8B84-4BD7616BF961}"/>
              </a:ext>
            </a:extLst>
          </p:cNvPr>
          <p:cNvPicPr>
            <a:picLocks noChangeAspect="1"/>
          </p:cNvPicPr>
          <p:nvPr/>
        </p:nvPicPr>
        <p:blipFill>
          <a:blip r:embed="rId4"/>
          <a:stretch>
            <a:fillRect/>
          </a:stretch>
        </p:blipFill>
        <p:spPr>
          <a:xfrm>
            <a:off x="7085330" y="2080963"/>
            <a:ext cx="3741893" cy="3450762"/>
          </a:xfrm>
          <a:prstGeom prst="rect">
            <a:avLst/>
          </a:prstGeom>
        </p:spPr>
      </p:pic>
    </p:spTree>
    <p:extLst>
      <p:ext uri="{BB962C8B-B14F-4D97-AF65-F5344CB8AC3E}">
        <p14:creationId xmlns:p14="http://schemas.microsoft.com/office/powerpoint/2010/main" val="2861564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27321"/>
          </a:xfrm>
        </p:spPr>
        <p:txBody>
          <a:bodyPr>
            <a:normAutofit/>
          </a:bodyPr>
          <a:lstStyle/>
          <a:p>
            <a:pPr algn="ctr"/>
            <a:r>
              <a:rPr lang="en-US" dirty="0"/>
              <a:t>ROC curve	</a:t>
            </a:r>
          </a:p>
        </p:txBody>
      </p:sp>
      <p:pic>
        <p:nvPicPr>
          <p:cNvPr id="4" name="Picture 3" descr="Chart, bubble chart&#10;&#10;Description automatically generated">
            <a:extLst>
              <a:ext uri="{FF2B5EF4-FFF2-40B4-BE49-F238E27FC236}">
                <a16:creationId xmlns:a16="http://schemas.microsoft.com/office/drawing/2014/main" id="{7FCA164E-8D4F-BB46-83C5-F6AFFB47506C}"/>
              </a:ext>
            </a:extLst>
          </p:cNvPr>
          <p:cNvPicPr>
            <a:picLocks noChangeAspect="1"/>
          </p:cNvPicPr>
          <p:nvPr/>
        </p:nvPicPr>
        <p:blipFill>
          <a:blip r:embed="rId3"/>
          <a:stretch>
            <a:fillRect/>
          </a:stretch>
        </p:blipFill>
        <p:spPr>
          <a:xfrm>
            <a:off x="1117462" y="1360122"/>
            <a:ext cx="2230727" cy="2135908"/>
          </a:xfrm>
          <a:prstGeom prst="rect">
            <a:avLst/>
          </a:prstGeom>
        </p:spPr>
      </p:pic>
      <p:pic>
        <p:nvPicPr>
          <p:cNvPr id="9" name="Picture 8" descr="Chart&#10;&#10;Description automatically generated">
            <a:extLst>
              <a:ext uri="{FF2B5EF4-FFF2-40B4-BE49-F238E27FC236}">
                <a16:creationId xmlns:a16="http://schemas.microsoft.com/office/drawing/2014/main" id="{48BA17A9-F44F-8A4B-983D-9C6599695B02}"/>
              </a:ext>
            </a:extLst>
          </p:cNvPr>
          <p:cNvPicPr>
            <a:picLocks noChangeAspect="1"/>
          </p:cNvPicPr>
          <p:nvPr/>
        </p:nvPicPr>
        <p:blipFill>
          <a:blip r:embed="rId4"/>
          <a:stretch>
            <a:fillRect/>
          </a:stretch>
        </p:blipFill>
        <p:spPr>
          <a:xfrm>
            <a:off x="958123" y="3907303"/>
            <a:ext cx="2381131" cy="2212030"/>
          </a:xfrm>
          <a:prstGeom prst="rect">
            <a:avLst/>
          </a:prstGeom>
        </p:spPr>
      </p:pic>
      <p:pic>
        <p:nvPicPr>
          <p:cNvPr id="12" name="Picture 11" descr="Chart&#10;&#10;Description automatically generated">
            <a:extLst>
              <a:ext uri="{FF2B5EF4-FFF2-40B4-BE49-F238E27FC236}">
                <a16:creationId xmlns:a16="http://schemas.microsoft.com/office/drawing/2014/main" id="{55A57B53-B80F-8641-A8B1-25DD60098BA8}"/>
              </a:ext>
            </a:extLst>
          </p:cNvPr>
          <p:cNvPicPr>
            <a:picLocks noChangeAspect="1"/>
          </p:cNvPicPr>
          <p:nvPr/>
        </p:nvPicPr>
        <p:blipFill>
          <a:blip r:embed="rId5"/>
          <a:stretch>
            <a:fillRect/>
          </a:stretch>
        </p:blipFill>
        <p:spPr>
          <a:xfrm>
            <a:off x="4586099" y="3907303"/>
            <a:ext cx="2352837" cy="2212030"/>
          </a:xfrm>
          <a:prstGeom prst="rect">
            <a:avLst/>
          </a:prstGeom>
        </p:spPr>
      </p:pic>
      <p:pic>
        <p:nvPicPr>
          <p:cNvPr id="14" name="Picture 13" descr="Chart&#10;&#10;Description automatically generated">
            <a:extLst>
              <a:ext uri="{FF2B5EF4-FFF2-40B4-BE49-F238E27FC236}">
                <a16:creationId xmlns:a16="http://schemas.microsoft.com/office/drawing/2014/main" id="{0DA753F3-826E-C349-8874-1009317D544E}"/>
              </a:ext>
            </a:extLst>
          </p:cNvPr>
          <p:cNvPicPr>
            <a:picLocks noChangeAspect="1"/>
          </p:cNvPicPr>
          <p:nvPr/>
        </p:nvPicPr>
        <p:blipFill>
          <a:blip r:embed="rId6"/>
          <a:stretch>
            <a:fillRect/>
          </a:stretch>
        </p:blipFill>
        <p:spPr>
          <a:xfrm>
            <a:off x="4586099" y="1326303"/>
            <a:ext cx="2230728" cy="2091618"/>
          </a:xfrm>
          <a:prstGeom prst="rect">
            <a:avLst/>
          </a:prstGeom>
        </p:spPr>
      </p:pic>
      <p:pic>
        <p:nvPicPr>
          <p:cNvPr id="21" name="Picture 20" descr="Chart&#10;&#10;Description automatically generated">
            <a:extLst>
              <a:ext uri="{FF2B5EF4-FFF2-40B4-BE49-F238E27FC236}">
                <a16:creationId xmlns:a16="http://schemas.microsoft.com/office/drawing/2014/main" id="{4EEEBA2B-EC1C-2943-A250-018EBC528548}"/>
              </a:ext>
            </a:extLst>
          </p:cNvPr>
          <p:cNvPicPr>
            <a:picLocks noChangeAspect="1"/>
          </p:cNvPicPr>
          <p:nvPr/>
        </p:nvPicPr>
        <p:blipFill>
          <a:blip r:embed="rId7"/>
          <a:stretch>
            <a:fillRect/>
          </a:stretch>
        </p:blipFill>
        <p:spPr>
          <a:xfrm>
            <a:off x="8356224" y="1360122"/>
            <a:ext cx="2302792" cy="2091619"/>
          </a:xfrm>
          <a:prstGeom prst="rect">
            <a:avLst/>
          </a:prstGeom>
        </p:spPr>
      </p:pic>
      <p:pic>
        <p:nvPicPr>
          <p:cNvPr id="23" name="Picture 22" descr="Chart&#10;&#10;Description automatically generated">
            <a:extLst>
              <a:ext uri="{FF2B5EF4-FFF2-40B4-BE49-F238E27FC236}">
                <a16:creationId xmlns:a16="http://schemas.microsoft.com/office/drawing/2014/main" id="{EECDBC90-1360-8849-92A7-9F3041459BCC}"/>
              </a:ext>
            </a:extLst>
          </p:cNvPr>
          <p:cNvPicPr>
            <a:picLocks noChangeAspect="1"/>
          </p:cNvPicPr>
          <p:nvPr/>
        </p:nvPicPr>
        <p:blipFill>
          <a:blip r:embed="rId8"/>
          <a:stretch>
            <a:fillRect/>
          </a:stretch>
        </p:blipFill>
        <p:spPr>
          <a:xfrm>
            <a:off x="8356224" y="3907303"/>
            <a:ext cx="2362230" cy="2212030"/>
          </a:xfrm>
          <a:prstGeom prst="rect">
            <a:avLst/>
          </a:prstGeom>
        </p:spPr>
      </p:pic>
    </p:spTree>
    <p:extLst>
      <p:ext uri="{BB962C8B-B14F-4D97-AF65-F5344CB8AC3E}">
        <p14:creationId xmlns:p14="http://schemas.microsoft.com/office/powerpoint/2010/main" val="544734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01424"/>
          </a:xfrm>
        </p:spPr>
        <p:txBody>
          <a:bodyPr>
            <a:normAutofit/>
          </a:bodyPr>
          <a:lstStyle/>
          <a:p>
            <a:pPr algn="ctr"/>
            <a:r>
              <a:rPr lang="en-US" dirty="0"/>
              <a:t>ROC curve	</a:t>
            </a:r>
          </a:p>
        </p:txBody>
      </p:sp>
      <p:pic>
        <p:nvPicPr>
          <p:cNvPr id="5" name="Picture 4" descr="Chart, bubble chart&#10;&#10;Description automatically generated">
            <a:extLst>
              <a:ext uri="{FF2B5EF4-FFF2-40B4-BE49-F238E27FC236}">
                <a16:creationId xmlns:a16="http://schemas.microsoft.com/office/drawing/2014/main" id="{79550DEB-B174-484A-82CE-A0AD01549039}"/>
              </a:ext>
            </a:extLst>
          </p:cNvPr>
          <p:cNvPicPr>
            <a:picLocks noChangeAspect="1"/>
          </p:cNvPicPr>
          <p:nvPr/>
        </p:nvPicPr>
        <p:blipFill>
          <a:blip r:embed="rId3"/>
          <a:stretch>
            <a:fillRect/>
          </a:stretch>
        </p:blipFill>
        <p:spPr>
          <a:xfrm>
            <a:off x="1866061" y="1444244"/>
            <a:ext cx="2620107" cy="2467707"/>
          </a:xfrm>
          <a:prstGeom prst="rect">
            <a:avLst/>
          </a:prstGeom>
        </p:spPr>
      </p:pic>
      <p:pic>
        <p:nvPicPr>
          <p:cNvPr id="7" name="Picture 6" descr="Chart&#10;&#10;Description automatically generated">
            <a:extLst>
              <a:ext uri="{FF2B5EF4-FFF2-40B4-BE49-F238E27FC236}">
                <a16:creationId xmlns:a16="http://schemas.microsoft.com/office/drawing/2014/main" id="{E23A730A-BF8A-A34C-B06E-0E17B66EC64F}"/>
              </a:ext>
            </a:extLst>
          </p:cNvPr>
          <p:cNvPicPr>
            <a:picLocks noChangeAspect="1"/>
          </p:cNvPicPr>
          <p:nvPr/>
        </p:nvPicPr>
        <p:blipFill>
          <a:blip r:embed="rId4"/>
          <a:stretch>
            <a:fillRect/>
          </a:stretch>
        </p:blipFill>
        <p:spPr>
          <a:xfrm>
            <a:off x="1866060" y="4128105"/>
            <a:ext cx="2710493" cy="2414252"/>
          </a:xfrm>
          <a:prstGeom prst="rect">
            <a:avLst/>
          </a:prstGeom>
        </p:spPr>
      </p:pic>
      <p:pic>
        <p:nvPicPr>
          <p:cNvPr id="13" name="Picture 12">
            <a:extLst>
              <a:ext uri="{FF2B5EF4-FFF2-40B4-BE49-F238E27FC236}">
                <a16:creationId xmlns:a16="http://schemas.microsoft.com/office/drawing/2014/main" id="{73E54CCB-FE0C-3E42-905B-01DDE4D47362}"/>
              </a:ext>
            </a:extLst>
          </p:cNvPr>
          <p:cNvPicPr>
            <a:picLocks noChangeAspect="1"/>
          </p:cNvPicPr>
          <p:nvPr/>
        </p:nvPicPr>
        <p:blipFill>
          <a:blip r:embed="rId5"/>
          <a:stretch>
            <a:fillRect/>
          </a:stretch>
        </p:blipFill>
        <p:spPr>
          <a:xfrm>
            <a:off x="7051777" y="1463064"/>
            <a:ext cx="2575753" cy="2430066"/>
          </a:xfrm>
          <a:prstGeom prst="rect">
            <a:avLst/>
          </a:prstGeom>
        </p:spPr>
      </p:pic>
      <p:pic>
        <p:nvPicPr>
          <p:cNvPr id="16" name="Picture 15" descr="Chart&#10;&#10;Description automatically generated">
            <a:extLst>
              <a:ext uri="{FF2B5EF4-FFF2-40B4-BE49-F238E27FC236}">
                <a16:creationId xmlns:a16="http://schemas.microsoft.com/office/drawing/2014/main" id="{3CDC6219-F76E-C84C-A3C3-B1B9AE724427}"/>
              </a:ext>
            </a:extLst>
          </p:cNvPr>
          <p:cNvPicPr>
            <a:picLocks noChangeAspect="1"/>
          </p:cNvPicPr>
          <p:nvPr/>
        </p:nvPicPr>
        <p:blipFill>
          <a:blip r:embed="rId6"/>
          <a:stretch>
            <a:fillRect/>
          </a:stretch>
        </p:blipFill>
        <p:spPr>
          <a:xfrm>
            <a:off x="7051777" y="4143925"/>
            <a:ext cx="2710493" cy="2404308"/>
          </a:xfrm>
          <a:prstGeom prst="rect">
            <a:avLst/>
          </a:prstGeom>
        </p:spPr>
      </p:pic>
    </p:spTree>
    <p:extLst>
      <p:ext uri="{BB962C8B-B14F-4D97-AF65-F5344CB8AC3E}">
        <p14:creationId xmlns:p14="http://schemas.microsoft.com/office/powerpoint/2010/main" val="78039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89516"/>
          </a:xfrm>
        </p:spPr>
        <p:txBody>
          <a:bodyPr>
            <a:normAutofit/>
          </a:bodyPr>
          <a:lstStyle/>
          <a:p>
            <a:pPr algn="ctr"/>
            <a:r>
              <a:rPr lang="en-US" dirty="0"/>
              <a:t>Probabilities	</a:t>
            </a:r>
          </a:p>
        </p:txBody>
      </p:sp>
      <p:graphicFrame>
        <p:nvGraphicFramePr>
          <p:cNvPr id="9" name="Table 8">
            <a:extLst>
              <a:ext uri="{FF2B5EF4-FFF2-40B4-BE49-F238E27FC236}">
                <a16:creationId xmlns:a16="http://schemas.microsoft.com/office/drawing/2014/main" id="{BC6D1313-15DA-2E40-B5D4-C295D0E93CD1}"/>
              </a:ext>
            </a:extLst>
          </p:cNvPr>
          <p:cNvGraphicFramePr>
            <a:graphicFrameLocks noGrp="1"/>
          </p:cNvGraphicFramePr>
          <p:nvPr>
            <p:extLst>
              <p:ext uri="{D42A27DB-BD31-4B8C-83A1-F6EECF244321}">
                <p14:modId xmlns:p14="http://schemas.microsoft.com/office/powerpoint/2010/main" val="2828228141"/>
              </p:ext>
            </p:extLst>
          </p:nvPr>
        </p:nvGraphicFramePr>
        <p:xfrm>
          <a:off x="1039091" y="1803714"/>
          <a:ext cx="5536817" cy="4195308"/>
        </p:xfrm>
        <a:graphic>
          <a:graphicData uri="http://schemas.openxmlformats.org/drawingml/2006/table">
            <a:tbl>
              <a:tblPr>
                <a:tableStyleId>{5C22544A-7EE6-4342-B048-85BDC9FD1C3A}</a:tableStyleId>
              </a:tblPr>
              <a:tblGrid>
                <a:gridCol w="1047181">
                  <a:extLst>
                    <a:ext uri="{9D8B030D-6E8A-4147-A177-3AD203B41FA5}">
                      <a16:colId xmlns:a16="http://schemas.microsoft.com/office/drawing/2014/main" val="3523372250"/>
                    </a:ext>
                  </a:extLst>
                </a:gridCol>
                <a:gridCol w="1047181">
                  <a:extLst>
                    <a:ext uri="{9D8B030D-6E8A-4147-A177-3AD203B41FA5}">
                      <a16:colId xmlns:a16="http://schemas.microsoft.com/office/drawing/2014/main" val="3346853276"/>
                    </a:ext>
                  </a:extLst>
                </a:gridCol>
                <a:gridCol w="1047181">
                  <a:extLst>
                    <a:ext uri="{9D8B030D-6E8A-4147-A177-3AD203B41FA5}">
                      <a16:colId xmlns:a16="http://schemas.microsoft.com/office/drawing/2014/main" val="2061178496"/>
                    </a:ext>
                  </a:extLst>
                </a:gridCol>
                <a:gridCol w="1047181">
                  <a:extLst>
                    <a:ext uri="{9D8B030D-6E8A-4147-A177-3AD203B41FA5}">
                      <a16:colId xmlns:a16="http://schemas.microsoft.com/office/drawing/2014/main" val="4281797885"/>
                    </a:ext>
                  </a:extLst>
                </a:gridCol>
                <a:gridCol w="1348093">
                  <a:extLst>
                    <a:ext uri="{9D8B030D-6E8A-4147-A177-3AD203B41FA5}">
                      <a16:colId xmlns:a16="http://schemas.microsoft.com/office/drawing/2014/main" val="2782196497"/>
                    </a:ext>
                  </a:extLst>
                </a:gridCol>
              </a:tblGrid>
              <a:tr h="322716">
                <a:tc>
                  <a:txBody>
                    <a:bodyPr/>
                    <a:lstStyle/>
                    <a:p>
                      <a:pPr algn="ctr" fontAlgn="b"/>
                      <a:r>
                        <a:rPr lang="en-CA" sz="1200" u="none" strike="noStrike">
                          <a:effectLst/>
                        </a:rPr>
                        <a:t>Infection</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CRP(mg/L)</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Scores</a:t>
                      </a:r>
                      <a:endParaRPr lang="en-CA"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Probabilities</a:t>
                      </a:r>
                      <a:endParaRPr lang="en-CA"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54976072"/>
                  </a:ext>
                </a:extLst>
              </a:tr>
              <a:tr h="322716">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29.5</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0.023</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0066445"/>
                  </a:ext>
                </a:extLst>
              </a:tr>
              <a:tr h="322716">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11.1</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27.3</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0.000</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65493224"/>
                  </a:ext>
                </a:extLst>
              </a:tr>
              <a:tr h="322716">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36.5</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28.8</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0.002</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49764832"/>
                  </a:ext>
                </a:extLst>
              </a:tr>
              <a:tr h="322716">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39.4</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29.9</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0.088</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38932486"/>
                  </a:ext>
                </a:extLst>
              </a:tr>
              <a:tr h="322716">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39.6</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0.003</a:t>
                      </a:r>
                      <a:endParaRPr lang="en-CA" sz="1200" b="0" i="0" u="none" strike="noStrike">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07567069"/>
                  </a:ext>
                </a:extLst>
              </a:tr>
              <a:tr h="322716">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28.9</a:t>
                      </a:r>
                      <a:endParaRPr lang="en-CA" sz="1200" b="0" i="0" u="none" strike="noStrike" dirty="0">
                        <a:solidFill>
                          <a:srgbClr val="0070C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rgbClr val="0070C0"/>
                          </a:solidFill>
                          <a:effectLst/>
                        </a:rPr>
                        <a:t>0.003</a:t>
                      </a:r>
                      <a:endParaRPr lang="en-CA" sz="1200" b="0" i="0" u="none" strike="noStrike" dirty="0">
                        <a:solidFill>
                          <a:srgbClr val="0070C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25525871"/>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30.8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0.695</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05019799"/>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1.000</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94562099"/>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0.997</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531430"/>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1.000</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20314814"/>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0.990</a:t>
                      </a:r>
                      <a:endParaRPr lang="en-CA"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7455487"/>
                  </a:ext>
                </a:extLst>
              </a:tr>
              <a:tr h="322716">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0.984</a:t>
                      </a:r>
                      <a:endParaRPr lang="en-CA"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68167888"/>
                  </a:ext>
                </a:extLst>
              </a:tr>
            </a:tbl>
          </a:graphicData>
        </a:graphic>
      </p:graphicFrame>
      <p:pic>
        <p:nvPicPr>
          <p:cNvPr id="18" name="Picture 17" descr="Chart&#10;&#10;Description automatically generated">
            <a:extLst>
              <a:ext uri="{FF2B5EF4-FFF2-40B4-BE49-F238E27FC236}">
                <a16:creationId xmlns:a16="http://schemas.microsoft.com/office/drawing/2014/main" id="{916EFDDE-5E40-5240-884F-F65E3DD7CE1C}"/>
              </a:ext>
            </a:extLst>
          </p:cNvPr>
          <p:cNvPicPr>
            <a:picLocks noChangeAspect="1"/>
          </p:cNvPicPr>
          <p:nvPr/>
        </p:nvPicPr>
        <p:blipFill>
          <a:blip r:embed="rId3"/>
          <a:stretch>
            <a:fillRect/>
          </a:stretch>
        </p:blipFill>
        <p:spPr>
          <a:xfrm>
            <a:off x="7578434" y="1685514"/>
            <a:ext cx="3574475" cy="4313508"/>
          </a:xfrm>
          <a:prstGeom prst="rect">
            <a:avLst/>
          </a:prstGeom>
        </p:spPr>
      </p:pic>
      <p:sp>
        <p:nvSpPr>
          <p:cNvPr id="20" name="TextBox 19">
            <a:extLst>
              <a:ext uri="{FF2B5EF4-FFF2-40B4-BE49-F238E27FC236}">
                <a16:creationId xmlns:a16="http://schemas.microsoft.com/office/drawing/2014/main" id="{70BA1189-5CE9-C145-B8D1-850B7E247B27}"/>
              </a:ext>
            </a:extLst>
          </p:cNvPr>
          <p:cNvSpPr txBox="1"/>
          <p:nvPr/>
        </p:nvSpPr>
        <p:spPr>
          <a:xfrm>
            <a:off x="807719" y="1316182"/>
            <a:ext cx="6770715" cy="369332"/>
          </a:xfrm>
          <a:prstGeom prst="rect">
            <a:avLst/>
          </a:prstGeom>
          <a:noFill/>
        </p:spPr>
        <p:txBody>
          <a:bodyPr wrap="square">
            <a:spAutoFit/>
          </a:bodyPr>
          <a:lstStyle/>
          <a:p>
            <a:r>
              <a:rPr lang="en-US" dirty="0"/>
              <a:t>Probabilities are computed based on the heights of the two curves</a:t>
            </a:r>
          </a:p>
        </p:txBody>
      </p:sp>
    </p:spTree>
    <p:extLst>
      <p:ext uri="{BB962C8B-B14F-4D97-AF65-F5344CB8AC3E}">
        <p14:creationId xmlns:p14="http://schemas.microsoft.com/office/powerpoint/2010/main" val="2534239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977294"/>
          </a:xfrm>
        </p:spPr>
        <p:txBody>
          <a:bodyPr>
            <a:normAutofit/>
          </a:bodyPr>
          <a:lstStyle/>
          <a:p>
            <a:pPr algn="ctr"/>
            <a:r>
              <a:rPr lang="en-US" dirty="0"/>
              <a:t>Probabilities	</a:t>
            </a:r>
          </a:p>
        </p:txBody>
      </p:sp>
      <p:pic>
        <p:nvPicPr>
          <p:cNvPr id="18" name="Picture 17" descr="Chart&#10;&#10;Description automatically generated">
            <a:extLst>
              <a:ext uri="{FF2B5EF4-FFF2-40B4-BE49-F238E27FC236}">
                <a16:creationId xmlns:a16="http://schemas.microsoft.com/office/drawing/2014/main" id="{916EFDDE-5E40-5240-884F-F65E3DD7CE1C}"/>
              </a:ext>
            </a:extLst>
          </p:cNvPr>
          <p:cNvPicPr>
            <a:picLocks noChangeAspect="1"/>
          </p:cNvPicPr>
          <p:nvPr/>
        </p:nvPicPr>
        <p:blipFill>
          <a:blip r:embed="rId3"/>
          <a:stretch>
            <a:fillRect/>
          </a:stretch>
        </p:blipFill>
        <p:spPr>
          <a:xfrm>
            <a:off x="7330105" y="1721293"/>
            <a:ext cx="4222423" cy="4207061"/>
          </a:xfrm>
          <a:prstGeom prst="rect">
            <a:avLst/>
          </a:prstGeom>
        </p:spPr>
      </p:pic>
      <p:graphicFrame>
        <p:nvGraphicFramePr>
          <p:cNvPr id="4" name="Table 3">
            <a:extLst>
              <a:ext uri="{FF2B5EF4-FFF2-40B4-BE49-F238E27FC236}">
                <a16:creationId xmlns:a16="http://schemas.microsoft.com/office/drawing/2014/main" id="{DAD31318-8B1A-7842-B6E5-49500AF2F1C5}"/>
              </a:ext>
            </a:extLst>
          </p:cNvPr>
          <p:cNvGraphicFramePr>
            <a:graphicFrameLocks noGrp="1"/>
          </p:cNvGraphicFramePr>
          <p:nvPr>
            <p:extLst>
              <p:ext uri="{D42A27DB-BD31-4B8C-83A1-F6EECF244321}">
                <p14:modId xmlns:p14="http://schemas.microsoft.com/office/powerpoint/2010/main" val="2532626794"/>
              </p:ext>
            </p:extLst>
          </p:nvPr>
        </p:nvGraphicFramePr>
        <p:xfrm>
          <a:off x="807719" y="1721294"/>
          <a:ext cx="5593079" cy="4207061"/>
        </p:xfrm>
        <a:graphic>
          <a:graphicData uri="http://schemas.openxmlformats.org/drawingml/2006/table">
            <a:tbl>
              <a:tblPr>
                <a:tableStyleId>{5C22544A-7EE6-4342-B048-85BDC9FD1C3A}</a:tableStyleId>
              </a:tblPr>
              <a:tblGrid>
                <a:gridCol w="840411">
                  <a:extLst>
                    <a:ext uri="{9D8B030D-6E8A-4147-A177-3AD203B41FA5}">
                      <a16:colId xmlns:a16="http://schemas.microsoft.com/office/drawing/2014/main" val="338205467"/>
                    </a:ext>
                  </a:extLst>
                </a:gridCol>
                <a:gridCol w="840411">
                  <a:extLst>
                    <a:ext uri="{9D8B030D-6E8A-4147-A177-3AD203B41FA5}">
                      <a16:colId xmlns:a16="http://schemas.microsoft.com/office/drawing/2014/main" val="1695346251"/>
                    </a:ext>
                  </a:extLst>
                </a:gridCol>
                <a:gridCol w="840411">
                  <a:extLst>
                    <a:ext uri="{9D8B030D-6E8A-4147-A177-3AD203B41FA5}">
                      <a16:colId xmlns:a16="http://schemas.microsoft.com/office/drawing/2014/main" val="1118247008"/>
                    </a:ext>
                  </a:extLst>
                </a:gridCol>
                <a:gridCol w="840411">
                  <a:extLst>
                    <a:ext uri="{9D8B030D-6E8A-4147-A177-3AD203B41FA5}">
                      <a16:colId xmlns:a16="http://schemas.microsoft.com/office/drawing/2014/main" val="1305074552"/>
                    </a:ext>
                  </a:extLst>
                </a:gridCol>
                <a:gridCol w="1081908">
                  <a:extLst>
                    <a:ext uri="{9D8B030D-6E8A-4147-A177-3AD203B41FA5}">
                      <a16:colId xmlns:a16="http://schemas.microsoft.com/office/drawing/2014/main" val="3229272913"/>
                    </a:ext>
                  </a:extLst>
                </a:gridCol>
                <a:gridCol w="1149527">
                  <a:extLst>
                    <a:ext uri="{9D8B030D-6E8A-4147-A177-3AD203B41FA5}">
                      <a16:colId xmlns:a16="http://schemas.microsoft.com/office/drawing/2014/main" val="2361558097"/>
                    </a:ext>
                  </a:extLst>
                </a:gridCol>
              </a:tblGrid>
              <a:tr h="481001">
                <a:tc>
                  <a:txBody>
                    <a:bodyPr/>
                    <a:lstStyle/>
                    <a:p>
                      <a:pPr algn="ctr" fontAlgn="b"/>
                      <a:r>
                        <a:rPr lang="en-CA" sz="1200" b="1" u="none" strike="noStrike" dirty="0">
                          <a:effectLst/>
                        </a:rPr>
                        <a:t>Infection</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CRP(mg/L)</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Temp (C)</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Scores</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Probabilities</a:t>
                      </a:r>
                      <a:endParaRPr lang="en-CA"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b="1" u="none" strike="noStrike" dirty="0">
                          <a:effectLst/>
                        </a:rPr>
                        <a:t>Predicted class</a:t>
                      </a:r>
                      <a:endParaRPr lang="en-CA"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84215733"/>
                  </a:ext>
                </a:extLst>
              </a:tr>
              <a:tr h="310505">
                <a:tc>
                  <a:txBody>
                    <a:bodyPr/>
                    <a:lstStyle/>
                    <a:p>
                      <a:pPr algn="ctr" fontAlgn="b"/>
                      <a:r>
                        <a:rPr lang="en-CA" sz="1200" u="none" strike="noStrike" dirty="0">
                          <a:effectLst/>
                        </a:rPr>
                        <a:t>Viral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29.5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0.023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94973034"/>
                  </a:ext>
                </a:extLst>
              </a:tr>
              <a:tr h="310505">
                <a:tc>
                  <a:txBody>
                    <a:bodyPr/>
                    <a:lstStyle/>
                    <a:p>
                      <a:pPr algn="ctr" fontAlgn="b"/>
                      <a:r>
                        <a:rPr lang="en-CA" sz="1200" u="none" strike="noStrike" dirty="0">
                          <a:effectLst/>
                        </a:rPr>
                        <a:t>Viral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0.000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71507351"/>
                  </a:ext>
                </a:extLst>
              </a:tr>
              <a:tr h="310505">
                <a:tc>
                  <a:txBody>
                    <a:bodyPr/>
                    <a:lstStyle/>
                    <a:p>
                      <a:pPr algn="ctr" fontAlgn="b"/>
                      <a:r>
                        <a:rPr lang="en-CA" sz="1200" u="none" strike="noStrike" dirty="0">
                          <a:effectLst/>
                        </a:rPr>
                        <a:t>Viral</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36.5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28.8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0.002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91893274"/>
                  </a:ext>
                </a:extLst>
              </a:tr>
              <a:tr h="310505">
                <a:tc>
                  <a:txBody>
                    <a:bodyPr/>
                    <a:lstStyle/>
                    <a:p>
                      <a:pPr algn="ctr" fontAlgn="b"/>
                      <a:r>
                        <a:rPr lang="en-CA" sz="1200" u="none" strike="noStrike">
                          <a:effectLst/>
                        </a:rPr>
                        <a:t>Viral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21.4</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29.9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0.088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50435565"/>
                  </a:ext>
                </a:extLst>
              </a:tr>
              <a:tr h="310505">
                <a:tc>
                  <a:txBody>
                    <a:bodyPr/>
                    <a:lstStyle/>
                    <a:p>
                      <a:pPr algn="ctr" fontAlgn="b"/>
                      <a:r>
                        <a:rPr lang="en-CA" sz="1200" u="none" strike="noStrike">
                          <a:effectLst/>
                        </a:rPr>
                        <a:t>Viral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10.7</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39.6</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28.9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0.003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3987907"/>
                  </a:ext>
                </a:extLst>
              </a:tr>
              <a:tr h="310505">
                <a:tc>
                  <a:txBody>
                    <a:bodyPr/>
                    <a:lstStyle/>
                    <a:p>
                      <a:pPr algn="ctr" fontAlgn="b"/>
                      <a:r>
                        <a:rPr lang="en-CA" sz="1200" u="none" strike="noStrike">
                          <a:effectLst/>
                        </a:rPr>
                        <a:t>Viral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40.7</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28.9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0.003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Viral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12384210"/>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30.8</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0.695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0289482"/>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32.9</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1.000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2356184"/>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32.3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0.997</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58626510"/>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1.000</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92853261"/>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31.9</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effectLst/>
                        </a:rPr>
                        <a:t>0.990</a:t>
                      </a:r>
                      <a:endParaRPr lang="en-CA"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60371233"/>
                  </a:ext>
                </a:extLst>
              </a:tr>
              <a:tr h="310505">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31.8</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a:effectLst/>
                        </a:rPr>
                        <a:t>0.984</a:t>
                      </a:r>
                      <a:endParaRPr lang="en-CA"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200" u="none" strike="noStrike" dirty="0">
                          <a:solidFill>
                            <a:schemeClr val="accent1">
                              <a:lumMod val="75000"/>
                            </a:schemeClr>
                          </a:solidFill>
                          <a:effectLst/>
                        </a:rPr>
                        <a:t>Bacterial</a:t>
                      </a:r>
                      <a:endParaRPr lang="en-CA" sz="1200" b="0" i="0" u="none" strike="noStrike" dirty="0">
                        <a:solidFill>
                          <a:schemeClr val="accent1">
                            <a:lumMod val="75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36370131"/>
                  </a:ext>
                </a:extLst>
              </a:tr>
            </a:tbl>
          </a:graphicData>
        </a:graphic>
      </p:graphicFrame>
    </p:spTree>
    <p:extLst>
      <p:ext uri="{BB962C8B-B14F-4D97-AF65-F5344CB8AC3E}">
        <p14:creationId xmlns:p14="http://schemas.microsoft.com/office/powerpoint/2010/main" val="329916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972056"/>
          </a:xfrm>
        </p:spPr>
        <p:txBody>
          <a:bodyPr>
            <a:normAutofit/>
          </a:bodyPr>
          <a:lstStyle/>
          <a:p>
            <a:pPr algn="ctr"/>
            <a:r>
              <a:rPr lang="en-US" dirty="0"/>
              <a:t>Validation	</a:t>
            </a:r>
          </a:p>
        </p:txBody>
      </p:sp>
      <p:pic>
        <p:nvPicPr>
          <p:cNvPr id="7" name="Picture 6">
            <a:extLst>
              <a:ext uri="{FF2B5EF4-FFF2-40B4-BE49-F238E27FC236}">
                <a16:creationId xmlns:a16="http://schemas.microsoft.com/office/drawing/2014/main" id="{FDAFDBB8-C23B-0F49-8F8B-06DBE7867659}"/>
              </a:ext>
            </a:extLst>
          </p:cNvPr>
          <p:cNvPicPr>
            <a:picLocks noChangeAspect="1"/>
          </p:cNvPicPr>
          <p:nvPr/>
        </p:nvPicPr>
        <p:blipFill>
          <a:blip r:embed="rId3"/>
          <a:stretch>
            <a:fillRect/>
          </a:stretch>
        </p:blipFill>
        <p:spPr>
          <a:xfrm>
            <a:off x="690372" y="1156699"/>
            <a:ext cx="3398520" cy="341877"/>
          </a:xfrm>
          <a:prstGeom prst="rect">
            <a:avLst/>
          </a:prstGeom>
        </p:spPr>
      </p:pic>
      <p:pic>
        <p:nvPicPr>
          <p:cNvPr id="5" name="Picture 4" descr="Chart&#10;&#10;Description automatically generated">
            <a:extLst>
              <a:ext uri="{FF2B5EF4-FFF2-40B4-BE49-F238E27FC236}">
                <a16:creationId xmlns:a16="http://schemas.microsoft.com/office/drawing/2014/main" id="{65DF63E6-FF7A-0945-A773-CA82A6022A8F}"/>
              </a:ext>
            </a:extLst>
          </p:cNvPr>
          <p:cNvPicPr>
            <a:picLocks noChangeAspect="1"/>
          </p:cNvPicPr>
          <p:nvPr/>
        </p:nvPicPr>
        <p:blipFill>
          <a:blip r:embed="rId4"/>
          <a:stretch>
            <a:fillRect/>
          </a:stretch>
        </p:blipFill>
        <p:spPr>
          <a:xfrm>
            <a:off x="807719" y="2443383"/>
            <a:ext cx="1820672" cy="2560320"/>
          </a:xfrm>
          <a:prstGeom prst="rect">
            <a:avLst/>
          </a:prstGeom>
        </p:spPr>
      </p:pic>
      <p:pic>
        <p:nvPicPr>
          <p:cNvPr id="9" name="Picture 8" descr="Chart&#10;&#10;Description automatically generated">
            <a:extLst>
              <a:ext uri="{FF2B5EF4-FFF2-40B4-BE49-F238E27FC236}">
                <a16:creationId xmlns:a16="http://schemas.microsoft.com/office/drawing/2014/main" id="{AD4FCE10-F563-164C-9F60-36A2B39B3A21}"/>
              </a:ext>
            </a:extLst>
          </p:cNvPr>
          <p:cNvPicPr>
            <a:picLocks noChangeAspect="1"/>
          </p:cNvPicPr>
          <p:nvPr/>
        </p:nvPicPr>
        <p:blipFill>
          <a:blip r:embed="rId5"/>
          <a:stretch>
            <a:fillRect/>
          </a:stretch>
        </p:blipFill>
        <p:spPr>
          <a:xfrm>
            <a:off x="4893237" y="2308604"/>
            <a:ext cx="1830916" cy="2713018"/>
          </a:xfrm>
          <a:prstGeom prst="rect">
            <a:avLst/>
          </a:prstGeom>
        </p:spPr>
      </p:pic>
      <p:pic>
        <p:nvPicPr>
          <p:cNvPr id="12" name="Picture 11" descr="Chart, bubble chart&#10;&#10;Description automatically generated">
            <a:extLst>
              <a:ext uri="{FF2B5EF4-FFF2-40B4-BE49-F238E27FC236}">
                <a16:creationId xmlns:a16="http://schemas.microsoft.com/office/drawing/2014/main" id="{3B99F509-95CF-BF45-A1B2-EB6C76C10C28}"/>
              </a:ext>
            </a:extLst>
          </p:cNvPr>
          <p:cNvPicPr>
            <a:picLocks noChangeAspect="1"/>
          </p:cNvPicPr>
          <p:nvPr/>
        </p:nvPicPr>
        <p:blipFill>
          <a:blip r:embed="rId6"/>
          <a:stretch>
            <a:fillRect/>
          </a:stretch>
        </p:blipFill>
        <p:spPr>
          <a:xfrm>
            <a:off x="8809215" y="2471560"/>
            <a:ext cx="1840102" cy="2550062"/>
          </a:xfrm>
          <a:prstGeom prst="rect">
            <a:avLst/>
          </a:prstGeom>
        </p:spPr>
      </p:pic>
      <p:sp>
        <p:nvSpPr>
          <p:cNvPr id="13" name="TextBox 12">
            <a:extLst>
              <a:ext uri="{FF2B5EF4-FFF2-40B4-BE49-F238E27FC236}">
                <a16:creationId xmlns:a16="http://schemas.microsoft.com/office/drawing/2014/main" id="{076E410B-2803-084A-8ED2-7C4CFE44B16C}"/>
              </a:ext>
            </a:extLst>
          </p:cNvPr>
          <p:cNvSpPr txBox="1"/>
          <p:nvPr/>
        </p:nvSpPr>
        <p:spPr>
          <a:xfrm>
            <a:off x="690372" y="1598968"/>
            <a:ext cx="5059264" cy="369332"/>
          </a:xfrm>
          <a:prstGeom prst="rect">
            <a:avLst/>
          </a:prstGeom>
          <a:noFill/>
        </p:spPr>
        <p:txBody>
          <a:bodyPr wrap="square" rtlCol="0">
            <a:spAutoFit/>
          </a:bodyPr>
          <a:lstStyle/>
          <a:p>
            <a:r>
              <a:rPr lang="en-US" dirty="0"/>
              <a:t>Split data into a training data and a testing data </a:t>
            </a:r>
          </a:p>
        </p:txBody>
      </p:sp>
      <p:sp>
        <p:nvSpPr>
          <p:cNvPr id="14" name="TextBox 13">
            <a:extLst>
              <a:ext uri="{FF2B5EF4-FFF2-40B4-BE49-F238E27FC236}">
                <a16:creationId xmlns:a16="http://schemas.microsoft.com/office/drawing/2014/main" id="{73238903-6BCC-B542-8C28-197E0EAA80BF}"/>
              </a:ext>
            </a:extLst>
          </p:cNvPr>
          <p:cNvSpPr txBox="1"/>
          <p:nvPr/>
        </p:nvSpPr>
        <p:spPr>
          <a:xfrm>
            <a:off x="690372" y="5478786"/>
            <a:ext cx="3285884" cy="646331"/>
          </a:xfrm>
          <a:prstGeom prst="rect">
            <a:avLst/>
          </a:prstGeom>
          <a:noFill/>
        </p:spPr>
        <p:txBody>
          <a:bodyPr wrap="square" rtlCol="0">
            <a:spAutoFit/>
          </a:bodyPr>
          <a:lstStyle/>
          <a:p>
            <a:r>
              <a:rPr lang="en-US" dirty="0"/>
              <a:t>Determine an appropriate cutoff value </a:t>
            </a:r>
          </a:p>
        </p:txBody>
      </p:sp>
      <p:sp>
        <p:nvSpPr>
          <p:cNvPr id="15" name="TextBox 14">
            <a:extLst>
              <a:ext uri="{FF2B5EF4-FFF2-40B4-BE49-F238E27FC236}">
                <a16:creationId xmlns:a16="http://schemas.microsoft.com/office/drawing/2014/main" id="{B5A90F8C-C481-2B47-93C8-B2D82B0511D5}"/>
              </a:ext>
            </a:extLst>
          </p:cNvPr>
          <p:cNvSpPr txBox="1"/>
          <p:nvPr/>
        </p:nvSpPr>
        <p:spPr>
          <a:xfrm>
            <a:off x="4724400" y="5514201"/>
            <a:ext cx="3005960" cy="369332"/>
          </a:xfrm>
          <a:prstGeom prst="rect">
            <a:avLst/>
          </a:prstGeom>
          <a:noFill/>
        </p:spPr>
        <p:txBody>
          <a:bodyPr wrap="square" rtlCol="0">
            <a:spAutoFit/>
          </a:bodyPr>
          <a:lstStyle/>
          <a:p>
            <a:r>
              <a:rPr lang="en-US" dirty="0"/>
              <a:t>Remove the training data </a:t>
            </a:r>
          </a:p>
        </p:txBody>
      </p:sp>
      <p:sp>
        <p:nvSpPr>
          <p:cNvPr id="16" name="TextBox 15">
            <a:extLst>
              <a:ext uri="{FF2B5EF4-FFF2-40B4-BE49-F238E27FC236}">
                <a16:creationId xmlns:a16="http://schemas.microsoft.com/office/drawing/2014/main" id="{C4130C22-2460-1147-98B5-4DA3F665D65E}"/>
              </a:ext>
            </a:extLst>
          </p:cNvPr>
          <p:cNvSpPr txBox="1"/>
          <p:nvPr/>
        </p:nvSpPr>
        <p:spPr>
          <a:xfrm>
            <a:off x="8215747" y="5514201"/>
            <a:ext cx="3269672" cy="646331"/>
          </a:xfrm>
          <a:prstGeom prst="rect">
            <a:avLst/>
          </a:prstGeom>
          <a:noFill/>
        </p:spPr>
        <p:txBody>
          <a:bodyPr wrap="square" rtlCol="0">
            <a:spAutoFit/>
          </a:bodyPr>
          <a:lstStyle/>
          <a:p>
            <a:r>
              <a:rPr lang="en-US" dirty="0"/>
              <a:t>Use the test data to calculate the discriminant scores </a:t>
            </a:r>
          </a:p>
        </p:txBody>
      </p:sp>
    </p:spTree>
    <p:extLst>
      <p:ext uri="{BB962C8B-B14F-4D97-AF65-F5344CB8AC3E}">
        <p14:creationId xmlns:p14="http://schemas.microsoft.com/office/powerpoint/2010/main" val="270994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32686"/>
          </a:xfrm>
        </p:spPr>
        <p:txBody>
          <a:bodyPr>
            <a:normAutofit/>
          </a:bodyPr>
          <a:lstStyle/>
          <a:p>
            <a:pPr algn="ctr"/>
            <a:r>
              <a:rPr lang="en-US" dirty="0"/>
              <a:t>Predict	</a:t>
            </a:r>
          </a:p>
        </p:txBody>
      </p:sp>
      <p:pic>
        <p:nvPicPr>
          <p:cNvPr id="7" name="Picture 6">
            <a:extLst>
              <a:ext uri="{FF2B5EF4-FFF2-40B4-BE49-F238E27FC236}">
                <a16:creationId xmlns:a16="http://schemas.microsoft.com/office/drawing/2014/main" id="{FDAFDBB8-C23B-0F49-8F8B-06DBE7867659}"/>
              </a:ext>
            </a:extLst>
          </p:cNvPr>
          <p:cNvPicPr>
            <a:picLocks noChangeAspect="1"/>
          </p:cNvPicPr>
          <p:nvPr/>
        </p:nvPicPr>
        <p:blipFill>
          <a:blip r:embed="rId3"/>
          <a:stretch>
            <a:fillRect/>
          </a:stretch>
        </p:blipFill>
        <p:spPr>
          <a:xfrm>
            <a:off x="1067686" y="1604106"/>
            <a:ext cx="4125206" cy="461665"/>
          </a:xfrm>
          <a:prstGeom prst="rect">
            <a:avLst/>
          </a:prstGeom>
        </p:spPr>
      </p:pic>
      <p:pic>
        <p:nvPicPr>
          <p:cNvPr id="4" name="Picture 3" descr="Shape&#10;&#10;Description automatically generated with medium confidence">
            <a:extLst>
              <a:ext uri="{FF2B5EF4-FFF2-40B4-BE49-F238E27FC236}">
                <a16:creationId xmlns:a16="http://schemas.microsoft.com/office/drawing/2014/main" id="{57E47B63-5D6E-6D4C-B217-BB6DCB496139}"/>
              </a:ext>
            </a:extLst>
          </p:cNvPr>
          <p:cNvPicPr>
            <a:picLocks noChangeAspect="1"/>
          </p:cNvPicPr>
          <p:nvPr/>
        </p:nvPicPr>
        <p:blipFill>
          <a:blip r:embed="rId4"/>
          <a:stretch>
            <a:fillRect/>
          </a:stretch>
        </p:blipFill>
        <p:spPr>
          <a:xfrm>
            <a:off x="6441057" y="1604106"/>
            <a:ext cx="4597331" cy="3224508"/>
          </a:xfrm>
          <a:prstGeom prst="rect">
            <a:avLst/>
          </a:prstGeom>
        </p:spPr>
      </p:pic>
      <p:pic>
        <p:nvPicPr>
          <p:cNvPr id="11" name="Picture 10" descr="Text&#10;&#10;Description automatically generated with low confidence">
            <a:extLst>
              <a:ext uri="{FF2B5EF4-FFF2-40B4-BE49-F238E27FC236}">
                <a16:creationId xmlns:a16="http://schemas.microsoft.com/office/drawing/2014/main" id="{CBB251E8-2040-034D-9763-4FDDE839331B}"/>
              </a:ext>
            </a:extLst>
          </p:cNvPr>
          <p:cNvPicPr>
            <a:picLocks noChangeAspect="1"/>
          </p:cNvPicPr>
          <p:nvPr/>
        </p:nvPicPr>
        <p:blipFill>
          <a:blip r:embed="rId5"/>
          <a:stretch>
            <a:fillRect/>
          </a:stretch>
        </p:blipFill>
        <p:spPr>
          <a:xfrm>
            <a:off x="1038548" y="2956799"/>
            <a:ext cx="2126223" cy="1187518"/>
          </a:xfrm>
          <a:prstGeom prst="rect">
            <a:avLst/>
          </a:prstGeom>
        </p:spPr>
      </p:pic>
      <p:sp>
        <p:nvSpPr>
          <p:cNvPr id="17" name="TextBox 16">
            <a:extLst>
              <a:ext uri="{FF2B5EF4-FFF2-40B4-BE49-F238E27FC236}">
                <a16:creationId xmlns:a16="http://schemas.microsoft.com/office/drawing/2014/main" id="{B7C8F30C-6FF3-0D4D-B10B-945DE86D5317}"/>
              </a:ext>
            </a:extLst>
          </p:cNvPr>
          <p:cNvSpPr txBox="1"/>
          <p:nvPr/>
        </p:nvSpPr>
        <p:spPr>
          <a:xfrm>
            <a:off x="3840481" y="3292564"/>
            <a:ext cx="1585974" cy="461665"/>
          </a:xfrm>
          <a:prstGeom prst="rect">
            <a:avLst/>
          </a:prstGeom>
          <a:noFill/>
        </p:spPr>
        <p:txBody>
          <a:bodyPr wrap="square" rtlCol="0">
            <a:spAutoFit/>
          </a:bodyPr>
          <a:lstStyle/>
          <a:p>
            <a:r>
              <a:rPr lang="en-US" sz="2400" dirty="0"/>
              <a:t>LD = 31.5</a:t>
            </a:r>
          </a:p>
        </p:txBody>
      </p:sp>
      <p:sp>
        <p:nvSpPr>
          <p:cNvPr id="18" name="Right Brace 17">
            <a:extLst>
              <a:ext uri="{FF2B5EF4-FFF2-40B4-BE49-F238E27FC236}">
                <a16:creationId xmlns:a16="http://schemas.microsoft.com/office/drawing/2014/main" id="{0AA5E6C8-4E30-7C48-99B4-EE5AEC5A2375}"/>
              </a:ext>
            </a:extLst>
          </p:cNvPr>
          <p:cNvSpPr/>
          <p:nvPr/>
        </p:nvSpPr>
        <p:spPr>
          <a:xfrm>
            <a:off x="3054013" y="3131128"/>
            <a:ext cx="786467" cy="733886"/>
          </a:xfrm>
          <a:prstGeom prst="rightBrace">
            <a:avLst>
              <a:gd name="adj1" fmla="val 8333"/>
              <a:gd name="adj2" fmla="val 5177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ill Sans MT" panose="02020404030301010803"/>
              <a:ea typeface="+mn-ea"/>
              <a:cs typeface="+mn-cs"/>
            </a:endParaRPr>
          </a:p>
        </p:txBody>
      </p:sp>
      <p:sp>
        <p:nvSpPr>
          <p:cNvPr id="20" name="TextBox 19">
            <a:extLst>
              <a:ext uri="{FF2B5EF4-FFF2-40B4-BE49-F238E27FC236}">
                <a16:creationId xmlns:a16="http://schemas.microsoft.com/office/drawing/2014/main" id="{93696F15-4864-0240-89D5-19D7D779B4F7}"/>
              </a:ext>
            </a:extLst>
          </p:cNvPr>
          <p:cNvSpPr txBox="1"/>
          <p:nvPr/>
        </p:nvSpPr>
        <p:spPr>
          <a:xfrm>
            <a:off x="2434043" y="5366579"/>
            <a:ext cx="6298477" cy="461665"/>
          </a:xfrm>
          <a:prstGeom prst="rect">
            <a:avLst/>
          </a:prstGeom>
          <a:noFill/>
        </p:spPr>
        <p:txBody>
          <a:bodyPr wrap="square" rtlCol="0">
            <a:spAutoFit/>
          </a:bodyPr>
          <a:lstStyle/>
          <a:p>
            <a:r>
              <a:rPr lang="en-US" sz="2400" dirty="0"/>
              <a:t>Predict that the person has a bacterial infection</a:t>
            </a:r>
          </a:p>
        </p:txBody>
      </p:sp>
      <p:sp>
        <p:nvSpPr>
          <p:cNvPr id="21" name="Down Arrow 20">
            <a:extLst>
              <a:ext uri="{FF2B5EF4-FFF2-40B4-BE49-F238E27FC236}">
                <a16:creationId xmlns:a16="http://schemas.microsoft.com/office/drawing/2014/main" id="{3F6CECC8-5358-8648-84D4-B359C92C4654}"/>
              </a:ext>
            </a:extLst>
          </p:cNvPr>
          <p:cNvSpPr/>
          <p:nvPr/>
        </p:nvSpPr>
        <p:spPr>
          <a:xfrm>
            <a:off x="4480743" y="4073496"/>
            <a:ext cx="197937" cy="964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961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057824"/>
          </a:xfrm>
        </p:spPr>
        <p:txBody>
          <a:bodyPr>
            <a:normAutofit/>
          </a:bodyPr>
          <a:lstStyle/>
          <a:p>
            <a:pPr algn="ctr"/>
            <a:r>
              <a:rPr lang="en-US" dirty="0"/>
              <a:t>Predict	</a:t>
            </a:r>
          </a:p>
        </p:txBody>
      </p:sp>
      <p:sp>
        <p:nvSpPr>
          <p:cNvPr id="17" name="TextBox 16">
            <a:extLst>
              <a:ext uri="{FF2B5EF4-FFF2-40B4-BE49-F238E27FC236}">
                <a16:creationId xmlns:a16="http://schemas.microsoft.com/office/drawing/2014/main" id="{B7C8F30C-6FF3-0D4D-B10B-945DE86D5317}"/>
              </a:ext>
            </a:extLst>
          </p:cNvPr>
          <p:cNvSpPr txBox="1"/>
          <p:nvPr/>
        </p:nvSpPr>
        <p:spPr>
          <a:xfrm>
            <a:off x="1162396" y="1741987"/>
            <a:ext cx="2673928" cy="461665"/>
          </a:xfrm>
          <a:prstGeom prst="rect">
            <a:avLst/>
          </a:prstGeom>
          <a:noFill/>
        </p:spPr>
        <p:txBody>
          <a:bodyPr wrap="square" rtlCol="0">
            <a:spAutoFit/>
          </a:bodyPr>
          <a:lstStyle/>
          <a:p>
            <a:r>
              <a:rPr lang="en-US" sz="2400" dirty="0"/>
              <a:t>LD = 31.5</a:t>
            </a:r>
          </a:p>
        </p:txBody>
      </p:sp>
      <p:sp>
        <p:nvSpPr>
          <p:cNvPr id="3" name="TextBox 2">
            <a:extLst>
              <a:ext uri="{FF2B5EF4-FFF2-40B4-BE49-F238E27FC236}">
                <a16:creationId xmlns:a16="http://schemas.microsoft.com/office/drawing/2014/main" id="{6BEF4809-9626-5048-B81B-144E0DC16CCD}"/>
              </a:ext>
            </a:extLst>
          </p:cNvPr>
          <p:cNvSpPr txBox="1"/>
          <p:nvPr/>
        </p:nvSpPr>
        <p:spPr>
          <a:xfrm>
            <a:off x="720436" y="4364182"/>
            <a:ext cx="3502708" cy="461665"/>
          </a:xfrm>
          <a:prstGeom prst="rect">
            <a:avLst/>
          </a:prstGeom>
          <a:noFill/>
        </p:spPr>
        <p:txBody>
          <a:bodyPr wrap="square" rtlCol="0">
            <a:spAutoFit/>
          </a:bodyPr>
          <a:lstStyle/>
          <a:p>
            <a:r>
              <a:rPr lang="en-US" sz="2400" dirty="0"/>
              <a:t>         P (bacterial) = 0.95 </a:t>
            </a:r>
          </a:p>
        </p:txBody>
      </p:sp>
      <p:pic>
        <p:nvPicPr>
          <p:cNvPr id="6" name="Picture 5" descr="Chart&#10;&#10;Description automatically generated">
            <a:extLst>
              <a:ext uri="{FF2B5EF4-FFF2-40B4-BE49-F238E27FC236}">
                <a16:creationId xmlns:a16="http://schemas.microsoft.com/office/drawing/2014/main" id="{7C318A77-8765-6A4D-B68C-CD0EAE3B9287}"/>
              </a:ext>
            </a:extLst>
          </p:cNvPr>
          <p:cNvPicPr>
            <a:picLocks noChangeAspect="1"/>
          </p:cNvPicPr>
          <p:nvPr/>
        </p:nvPicPr>
        <p:blipFill>
          <a:blip r:embed="rId3"/>
          <a:stretch>
            <a:fillRect/>
          </a:stretch>
        </p:blipFill>
        <p:spPr>
          <a:xfrm>
            <a:off x="3961570" y="1915604"/>
            <a:ext cx="4530852" cy="3377872"/>
          </a:xfrm>
          <a:prstGeom prst="rect">
            <a:avLst/>
          </a:prstGeom>
        </p:spPr>
      </p:pic>
    </p:spTree>
    <p:extLst>
      <p:ext uri="{BB962C8B-B14F-4D97-AF65-F5344CB8AC3E}">
        <p14:creationId xmlns:p14="http://schemas.microsoft.com/office/powerpoint/2010/main" val="4117306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	</a:t>
            </a:r>
          </a:p>
        </p:txBody>
      </p:sp>
      <p:sp>
        <p:nvSpPr>
          <p:cNvPr id="4" name="TextBox 3">
            <a:extLst>
              <a:ext uri="{FF2B5EF4-FFF2-40B4-BE49-F238E27FC236}">
                <a16:creationId xmlns:a16="http://schemas.microsoft.com/office/drawing/2014/main" id="{47663217-6A11-8243-9798-FA1415CEE77B}"/>
              </a:ext>
            </a:extLst>
          </p:cNvPr>
          <p:cNvSpPr txBox="1"/>
          <p:nvPr/>
        </p:nvSpPr>
        <p:spPr>
          <a:xfrm>
            <a:off x="3635433" y="1854298"/>
            <a:ext cx="4182687" cy="646331"/>
          </a:xfrm>
          <a:prstGeom prst="rect">
            <a:avLst/>
          </a:prstGeom>
          <a:noFill/>
        </p:spPr>
        <p:txBody>
          <a:bodyPr wrap="square" rtlCol="0">
            <a:spAutoFit/>
          </a:bodyPr>
          <a:lstStyle/>
          <a:p>
            <a:r>
              <a:rPr lang="en-US" sz="3600" dirty="0"/>
              <a:t>More than two group</a:t>
            </a:r>
          </a:p>
        </p:txBody>
      </p:sp>
    </p:spTree>
    <p:extLst>
      <p:ext uri="{BB962C8B-B14F-4D97-AF65-F5344CB8AC3E}">
        <p14:creationId xmlns:p14="http://schemas.microsoft.com/office/powerpoint/2010/main" val="174312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388774"/>
          </a:xfrm>
        </p:spPr>
        <p:txBody>
          <a:bodyPr>
            <a:normAutofit/>
          </a:bodyPr>
          <a:lstStyle/>
          <a:p>
            <a:pPr algn="ctr"/>
            <a:r>
              <a:rPr lang="en-US" dirty="0"/>
              <a:t>The Iris data set	</a:t>
            </a:r>
          </a:p>
        </p:txBody>
      </p:sp>
      <p:pic>
        <p:nvPicPr>
          <p:cNvPr id="5" name="Picture 4" descr="A group of flowers&#10;&#10;Description automatically generated with low confidence">
            <a:extLst>
              <a:ext uri="{FF2B5EF4-FFF2-40B4-BE49-F238E27FC236}">
                <a16:creationId xmlns:a16="http://schemas.microsoft.com/office/drawing/2014/main" id="{604D500E-D632-434B-B3A5-88702FC9F474}"/>
              </a:ext>
            </a:extLst>
          </p:cNvPr>
          <p:cNvPicPr>
            <a:picLocks noChangeAspect="1"/>
          </p:cNvPicPr>
          <p:nvPr/>
        </p:nvPicPr>
        <p:blipFill>
          <a:blip r:embed="rId3"/>
          <a:stretch>
            <a:fillRect/>
          </a:stretch>
        </p:blipFill>
        <p:spPr>
          <a:xfrm>
            <a:off x="1691639" y="2307164"/>
            <a:ext cx="8290560" cy="2696539"/>
          </a:xfrm>
          <a:prstGeom prst="rect">
            <a:avLst/>
          </a:prstGeom>
        </p:spPr>
      </p:pic>
    </p:spTree>
    <p:extLst>
      <p:ext uri="{BB962C8B-B14F-4D97-AF65-F5344CB8AC3E}">
        <p14:creationId xmlns:p14="http://schemas.microsoft.com/office/powerpoint/2010/main" val="31841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962054"/>
          </a:xfrm>
        </p:spPr>
        <p:txBody>
          <a:bodyPr>
            <a:normAutofit/>
          </a:bodyPr>
          <a:lstStyle/>
          <a:p>
            <a:pPr algn="ctr"/>
            <a:r>
              <a:rPr lang="en-US" dirty="0"/>
              <a:t>The Iris data set	</a:t>
            </a:r>
          </a:p>
        </p:txBody>
      </p:sp>
      <p:pic>
        <p:nvPicPr>
          <p:cNvPr id="4" name="Picture 3" descr="Table&#10;&#10;Description automatically generated with low confidence">
            <a:extLst>
              <a:ext uri="{FF2B5EF4-FFF2-40B4-BE49-F238E27FC236}">
                <a16:creationId xmlns:a16="http://schemas.microsoft.com/office/drawing/2014/main" id="{F362C8B8-868C-CD46-8A0A-05191745C6ED}"/>
              </a:ext>
            </a:extLst>
          </p:cNvPr>
          <p:cNvPicPr>
            <a:picLocks noChangeAspect="1"/>
          </p:cNvPicPr>
          <p:nvPr/>
        </p:nvPicPr>
        <p:blipFill>
          <a:blip r:embed="rId3"/>
          <a:stretch>
            <a:fillRect/>
          </a:stretch>
        </p:blipFill>
        <p:spPr>
          <a:xfrm>
            <a:off x="1693944" y="1554479"/>
            <a:ext cx="8166336" cy="4234047"/>
          </a:xfrm>
          <a:prstGeom prst="rect">
            <a:avLst/>
          </a:prstGeom>
        </p:spPr>
      </p:pic>
    </p:spTree>
    <p:extLst>
      <p:ext uri="{BB962C8B-B14F-4D97-AF65-F5344CB8AC3E}">
        <p14:creationId xmlns:p14="http://schemas.microsoft.com/office/powerpoint/2010/main" val="945724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134921"/>
          </a:xfrm>
        </p:spPr>
        <p:txBody>
          <a:bodyPr>
            <a:normAutofit/>
          </a:bodyPr>
          <a:lstStyle/>
          <a:p>
            <a:pPr algn="ctr"/>
            <a:r>
              <a:rPr lang="en-US" dirty="0"/>
              <a:t>LDA 	</a:t>
            </a:r>
          </a:p>
        </p:txBody>
      </p:sp>
      <p:pic>
        <p:nvPicPr>
          <p:cNvPr id="5" name="Picture 4">
            <a:extLst>
              <a:ext uri="{FF2B5EF4-FFF2-40B4-BE49-F238E27FC236}">
                <a16:creationId xmlns:a16="http://schemas.microsoft.com/office/drawing/2014/main" id="{35EE5DCD-339C-744E-BE15-34153E5B7C6E}"/>
              </a:ext>
            </a:extLst>
          </p:cNvPr>
          <p:cNvPicPr>
            <a:picLocks noChangeAspect="1"/>
          </p:cNvPicPr>
          <p:nvPr/>
        </p:nvPicPr>
        <p:blipFill>
          <a:blip r:embed="rId3"/>
          <a:stretch>
            <a:fillRect/>
          </a:stretch>
        </p:blipFill>
        <p:spPr>
          <a:xfrm>
            <a:off x="848361" y="1610410"/>
            <a:ext cx="7076439" cy="513684"/>
          </a:xfrm>
          <a:prstGeom prst="rect">
            <a:avLst/>
          </a:prstGeom>
        </p:spPr>
      </p:pic>
      <p:pic>
        <p:nvPicPr>
          <p:cNvPr id="7" name="Picture 6" descr="Chart, scatter chart&#10;&#10;Description automatically generated">
            <a:extLst>
              <a:ext uri="{FF2B5EF4-FFF2-40B4-BE49-F238E27FC236}">
                <a16:creationId xmlns:a16="http://schemas.microsoft.com/office/drawing/2014/main" id="{E1403BCC-A02A-374D-9982-3F8BD5DB21CF}"/>
              </a:ext>
            </a:extLst>
          </p:cNvPr>
          <p:cNvPicPr>
            <a:picLocks noChangeAspect="1"/>
          </p:cNvPicPr>
          <p:nvPr/>
        </p:nvPicPr>
        <p:blipFill>
          <a:blip r:embed="rId4"/>
          <a:stretch>
            <a:fillRect/>
          </a:stretch>
        </p:blipFill>
        <p:spPr>
          <a:xfrm>
            <a:off x="3749040" y="2692541"/>
            <a:ext cx="5010119" cy="3313430"/>
          </a:xfrm>
          <a:prstGeom prst="rect">
            <a:avLst/>
          </a:prstGeom>
        </p:spPr>
      </p:pic>
    </p:spTree>
    <p:extLst>
      <p:ext uri="{BB962C8B-B14F-4D97-AF65-F5344CB8AC3E}">
        <p14:creationId xmlns:p14="http://schemas.microsoft.com/office/powerpoint/2010/main" val="4043734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627632"/>
          </a:xfrm>
        </p:spPr>
        <p:txBody>
          <a:bodyPr>
            <a:normAutofit/>
          </a:bodyPr>
          <a:lstStyle/>
          <a:p>
            <a:pPr algn="ctr"/>
            <a:r>
              <a:rPr lang="en-US" dirty="0"/>
              <a:t>LDA - cutoff	</a:t>
            </a:r>
          </a:p>
        </p:txBody>
      </p:sp>
      <p:pic>
        <p:nvPicPr>
          <p:cNvPr id="4" name="Picture 3" descr="Chart, scatter chart&#10;&#10;Description automatically generated">
            <a:extLst>
              <a:ext uri="{FF2B5EF4-FFF2-40B4-BE49-F238E27FC236}">
                <a16:creationId xmlns:a16="http://schemas.microsoft.com/office/drawing/2014/main" id="{0AE48DCD-37C7-B94D-8B54-7A2055F2A81B}"/>
              </a:ext>
            </a:extLst>
          </p:cNvPr>
          <p:cNvPicPr>
            <a:picLocks noChangeAspect="1"/>
          </p:cNvPicPr>
          <p:nvPr/>
        </p:nvPicPr>
        <p:blipFill>
          <a:blip r:embed="rId3"/>
          <a:stretch>
            <a:fillRect/>
          </a:stretch>
        </p:blipFill>
        <p:spPr>
          <a:xfrm>
            <a:off x="995044" y="2999904"/>
            <a:ext cx="4500680" cy="2684616"/>
          </a:xfrm>
          <a:prstGeom prst="rect">
            <a:avLst/>
          </a:prstGeom>
        </p:spPr>
      </p:pic>
      <p:pic>
        <p:nvPicPr>
          <p:cNvPr id="9" name="Picture 8" descr="A picture containing table&#10;&#10;Description automatically generated">
            <a:extLst>
              <a:ext uri="{FF2B5EF4-FFF2-40B4-BE49-F238E27FC236}">
                <a16:creationId xmlns:a16="http://schemas.microsoft.com/office/drawing/2014/main" id="{5B199BD6-A8F1-A043-92F5-85501755843D}"/>
              </a:ext>
            </a:extLst>
          </p:cNvPr>
          <p:cNvPicPr>
            <a:picLocks noChangeAspect="1"/>
          </p:cNvPicPr>
          <p:nvPr/>
        </p:nvPicPr>
        <p:blipFill>
          <a:blip r:embed="rId4"/>
          <a:stretch>
            <a:fillRect/>
          </a:stretch>
        </p:blipFill>
        <p:spPr>
          <a:xfrm>
            <a:off x="6509385" y="3694292"/>
            <a:ext cx="4017281" cy="803456"/>
          </a:xfrm>
          <a:prstGeom prst="rect">
            <a:avLst/>
          </a:prstGeom>
        </p:spPr>
      </p:pic>
      <p:pic>
        <p:nvPicPr>
          <p:cNvPr id="11" name="Picture 10">
            <a:extLst>
              <a:ext uri="{FF2B5EF4-FFF2-40B4-BE49-F238E27FC236}">
                <a16:creationId xmlns:a16="http://schemas.microsoft.com/office/drawing/2014/main" id="{F4DDF181-ADEF-174C-8191-3B954FF7F58B}"/>
              </a:ext>
            </a:extLst>
          </p:cNvPr>
          <p:cNvPicPr>
            <a:picLocks noChangeAspect="1"/>
          </p:cNvPicPr>
          <p:nvPr/>
        </p:nvPicPr>
        <p:blipFill>
          <a:blip r:embed="rId5"/>
          <a:stretch>
            <a:fillRect/>
          </a:stretch>
        </p:blipFill>
        <p:spPr>
          <a:xfrm>
            <a:off x="995044" y="1801672"/>
            <a:ext cx="7694930" cy="558581"/>
          </a:xfrm>
          <a:prstGeom prst="rect">
            <a:avLst/>
          </a:prstGeom>
        </p:spPr>
      </p:pic>
    </p:spTree>
    <p:extLst>
      <p:ext uri="{BB962C8B-B14F-4D97-AF65-F5344CB8AC3E}">
        <p14:creationId xmlns:p14="http://schemas.microsoft.com/office/powerpoint/2010/main" val="2494252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1117697"/>
          </a:xfrm>
        </p:spPr>
        <p:txBody>
          <a:bodyPr>
            <a:normAutofit/>
          </a:bodyPr>
          <a:lstStyle/>
          <a:p>
            <a:pPr algn="ctr"/>
            <a:r>
              <a:rPr lang="en-US" dirty="0"/>
              <a:t>LDA - predict	</a:t>
            </a:r>
          </a:p>
        </p:txBody>
      </p:sp>
      <p:pic>
        <p:nvPicPr>
          <p:cNvPr id="4" name="Picture 3" descr="Chart, scatter chart&#10;&#10;Description automatically generated">
            <a:extLst>
              <a:ext uri="{FF2B5EF4-FFF2-40B4-BE49-F238E27FC236}">
                <a16:creationId xmlns:a16="http://schemas.microsoft.com/office/drawing/2014/main" id="{0AE48DCD-37C7-B94D-8B54-7A2055F2A81B}"/>
              </a:ext>
            </a:extLst>
          </p:cNvPr>
          <p:cNvPicPr>
            <a:picLocks noChangeAspect="1"/>
          </p:cNvPicPr>
          <p:nvPr/>
        </p:nvPicPr>
        <p:blipFill>
          <a:blip r:embed="rId3"/>
          <a:stretch>
            <a:fillRect/>
          </a:stretch>
        </p:blipFill>
        <p:spPr>
          <a:xfrm>
            <a:off x="1443990" y="2387350"/>
            <a:ext cx="3874770" cy="2311266"/>
          </a:xfrm>
          <a:prstGeom prst="rect">
            <a:avLst/>
          </a:prstGeom>
        </p:spPr>
      </p:pic>
      <p:pic>
        <p:nvPicPr>
          <p:cNvPr id="11" name="Picture 10">
            <a:extLst>
              <a:ext uri="{FF2B5EF4-FFF2-40B4-BE49-F238E27FC236}">
                <a16:creationId xmlns:a16="http://schemas.microsoft.com/office/drawing/2014/main" id="{F4DDF181-ADEF-174C-8191-3B954FF7F58B}"/>
              </a:ext>
            </a:extLst>
          </p:cNvPr>
          <p:cNvPicPr>
            <a:picLocks noChangeAspect="1"/>
          </p:cNvPicPr>
          <p:nvPr/>
        </p:nvPicPr>
        <p:blipFill>
          <a:blip r:embed="rId4"/>
          <a:stretch>
            <a:fillRect/>
          </a:stretch>
        </p:blipFill>
        <p:spPr>
          <a:xfrm>
            <a:off x="619761" y="1536785"/>
            <a:ext cx="6320159" cy="458785"/>
          </a:xfrm>
          <a:prstGeom prst="rect">
            <a:avLst/>
          </a:prstGeom>
        </p:spPr>
      </p:pic>
      <p:pic>
        <p:nvPicPr>
          <p:cNvPr id="5" name="Picture 4" descr="Text&#10;&#10;Description automatically generated">
            <a:extLst>
              <a:ext uri="{FF2B5EF4-FFF2-40B4-BE49-F238E27FC236}">
                <a16:creationId xmlns:a16="http://schemas.microsoft.com/office/drawing/2014/main" id="{436ECACD-E756-5344-96E1-DFB8A7B6D4F9}"/>
              </a:ext>
            </a:extLst>
          </p:cNvPr>
          <p:cNvPicPr>
            <a:picLocks noChangeAspect="1"/>
          </p:cNvPicPr>
          <p:nvPr/>
        </p:nvPicPr>
        <p:blipFill>
          <a:blip r:embed="rId5"/>
          <a:stretch>
            <a:fillRect/>
          </a:stretch>
        </p:blipFill>
        <p:spPr>
          <a:xfrm>
            <a:off x="7070598" y="2894767"/>
            <a:ext cx="1265937" cy="1775496"/>
          </a:xfrm>
          <a:prstGeom prst="rect">
            <a:avLst/>
          </a:prstGeom>
        </p:spPr>
      </p:pic>
      <p:pic>
        <p:nvPicPr>
          <p:cNvPr id="7" name="Picture 6">
            <a:extLst>
              <a:ext uri="{FF2B5EF4-FFF2-40B4-BE49-F238E27FC236}">
                <a16:creationId xmlns:a16="http://schemas.microsoft.com/office/drawing/2014/main" id="{FCCAFA7B-CE63-0345-A093-25370BF3DAD5}"/>
              </a:ext>
            </a:extLst>
          </p:cNvPr>
          <p:cNvPicPr>
            <a:picLocks noChangeAspect="1"/>
          </p:cNvPicPr>
          <p:nvPr/>
        </p:nvPicPr>
        <p:blipFill>
          <a:blip r:embed="rId6"/>
          <a:stretch>
            <a:fillRect/>
          </a:stretch>
        </p:blipFill>
        <p:spPr>
          <a:xfrm>
            <a:off x="619762" y="5321215"/>
            <a:ext cx="7716774" cy="505316"/>
          </a:xfrm>
          <a:prstGeom prst="rect">
            <a:avLst/>
          </a:prstGeom>
        </p:spPr>
      </p:pic>
    </p:spTree>
    <p:extLst>
      <p:ext uri="{BB962C8B-B14F-4D97-AF65-F5344CB8AC3E}">
        <p14:creationId xmlns:p14="http://schemas.microsoft.com/office/powerpoint/2010/main" val="358702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20404030301010803"/>
              <a:ea typeface="+mn-ea"/>
              <a:cs typeface="+mn-cs"/>
            </a:endParaRPr>
          </a:p>
        </p:txBody>
      </p:sp>
      <p:sp useBgFill="1">
        <p:nvSpPr>
          <p:cNvPr id="10" name="Rectangle 9">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03E5EB8E-6D0A-1A42-9BDB-1F2373B706BB}"/>
              </a:ext>
            </a:extLst>
          </p:cNvPr>
          <p:cNvSpPr>
            <a:spLocks noGrp="1"/>
          </p:cNvSpPr>
          <p:nvPr>
            <p:ph type="title"/>
          </p:nvPr>
        </p:nvSpPr>
        <p:spPr>
          <a:xfrm>
            <a:off x="807719" y="226666"/>
            <a:ext cx="10058401" cy="946814"/>
          </a:xfrm>
        </p:spPr>
        <p:txBody>
          <a:bodyPr>
            <a:normAutofit/>
          </a:bodyPr>
          <a:lstStyle/>
          <a:p>
            <a:pPr algn="ctr"/>
            <a:r>
              <a:rPr lang="en-US" dirty="0"/>
              <a:t>LDA – three groups	</a:t>
            </a:r>
          </a:p>
        </p:txBody>
      </p:sp>
      <p:graphicFrame>
        <p:nvGraphicFramePr>
          <p:cNvPr id="3" name="Table 2">
            <a:extLst>
              <a:ext uri="{FF2B5EF4-FFF2-40B4-BE49-F238E27FC236}">
                <a16:creationId xmlns:a16="http://schemas.microsoft.com/office/drawing/2014/main" id="{A4F1A78C-5326-CC45-8DC7-D27355118116}"/>
              </a:ext>
            </a:extLst>
          </p:cNvPr>
          <p:cNvGraphicFramePr>
            <a:graphicFrameLocks noGrp="1"/>
          </p:cNvGraphicFramePr>
          <p:nvPr>
            <p:extLst>
              <p:ext uri="{D42A27DB-BD31-4B8C-83A1-F6EECF244321}">
                <p14:modId xmlns:p14="http://schemas.microsoft.com/office/powerpoint/2010/main" val="3603486804"/>
              </p:ext>
            </p:extLst>
          </p:nvPr>
        </p:nvGraphicFramePr>
        <p:xfrm>
          <a:off x="807718" y="1569720"/>
          <a:ext cx="4280816" cy="4206239"/>
        </p:xfrm>
        <a:graphic>
          <a:graphicData uri="http://schemas.openxmlformats.org/drawingml/2006/table">
            <a:tbl>
              <a:tblPr>
                <a:tableStyleId>{5C22544A-7EE6-4342-B048-85BDC9FD1C3A}</a:tableStyleId>
              </a:tblPr>
              <a:tblGrid>
                <a:gridCol w="1070204">
                  <a:extLst>
                    <a:ext uri="{9D8B030D-6E8A-4147-A177-3AD203B41FA5}">
                      <a16:colId xmlns:a16="http://schemas.microsoft.com/office/drawing/2014/main" val="166061448"/>
                    </a:ext>
                  </a:extLst>
                </a:gridCol>
                <a:gridCol w="1070204">
                  <a:extLst>
                    <a:ext uri="{9D8B030D-6E8A-4147-A177-3AD203B41FA5}">
                      <a16:colId xmlns:a16="http://schemas.microsoft.com/office/drawing/2014/main" val="1568914211"/>
                    </a:ext>
                  </a:extLst>
                </a:gridCol>
                <a:gridCol w="1070204">
                  <a:extLst>
                    <a:ext uri="{9D8B030D-6E8A-4147-A177-3AD203B41FA5}">
                      <a16:colId xmlns:a16="http://schemas.microsoft.com/office/drawing/2014/main" val="1533824864"/>
                    </a:ext>
                  </a:extLst>
                </a:gridCol>
                <a:gridCol w="1070204">
                  <a:extLst>
                    <a:ext uri="{9D8B030D-6E8A-4147-A177-3AD203B41FA5}">
                      <a16:colId xmlns:a16="http://schemas.microsoft.com/office/drawing/2014/main" val="731328100"/>
                    </a:ext>
                  </a:extLst>
                </a:gridCol>
              </a:tblGrid>
              <a:tr h="221381">
                <a:tc>
                  <a:txBody>
                    <a:bodyPr/>
                    <a:lstStyle/>
                    <a:p>
                      <a:pPr algn="ctr" fontAlgn="b"/>
                      <a:r>
                        <a:rPr lang="en-CA" sz="1200" u="none" strike="noStrike">
                          <a:effectLst/>
                        </a:rPr>
                        <a:t>Infection</a:t>
                      </a:r>
                      <a:endParaRPr lang="en-CA" sz="1200" b="1"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CRP(mg/L)</a:t>
                      </a:r>
                      <a:endParaRPr lang="en-CA" sz="1200" b="1"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Temp (C)</a:t>
                      </a:r>
                      <a:endParaRPr lang="en-CA" sz="1200" b="1"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PCT (ng/ml)</a:t>
                      </a:r>
                      <a:endParaRPr lang="en-CA" sz="1200" b="1"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638091086"/>
                  </a:ext>
                </a:extLst>
              </a:tr>
              <a:tr h="22138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40</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36</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1.1</a:t>
                      </a:r>
                      <a:endParaRPr lang="en-CA" sz="1200" b="0" i="0" u="none" strike="noStrike">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414763488"/>
                  </a:ext>
                </a:extLst>
              </a:tr>
              <a:tr h="221381">
                <a:tc>
                  <a:txBody>
                    <a:bodyPr/>
                    <a:lstStyle/>
                    <a:p>
                      <a:pPr algn="ctr" fontAlgn="b"/>
                      <a:r>
                        <a:rPr lang="en-CA" sz="1200" u="none" strike="noStrike" dirty="0">
                          <a:solidFill>
                            <a:srgbClr val="0070C0"/>
                          </a:solidFill>
                          <a:effectLst/>
                        </a:rPr>
                        <a:t>Viral</a:t>
                      </a:r>
                      <a:endParaRPr lang="en-CA" sz="1200" b="0" i="0" u="none" strike="noStrike" dirty="0">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11.1</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37.2</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0.9</a:t>
                      </a:r>
                      <a:endParaRPr lang="en-CA" sz="1200" b="0" i="0" u="none" strike="noStrike">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16855316"/>
                  </a:ext>
                </a:extLst>
              </a:tr>
              <a:tr h="221381">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rgbClr val="0070C0"/>
                          </a:solidFill>
                          <a:effectLst/>
                        </a:rPr>
                        <a:t>30</a:t>
                      </a:r>
                      <a:endParaRPr lang="en-CA" sz="1200" b="0" i="0" u="none" strike="noStrike" dirty="0">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36.5</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10.1</a:t>
                      </a:r>
                      <a:endParaRPr lang="en-CA" sz="1200" b="0" i="0" u="none" strike="noStrike">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3024850537"/>
                  </a:ext>
                </a:extLst>
              </a:tr>
              <a:tr h="221381">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21.4</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rgbClr val="0070C0"/>
                          </a:solidFill>
                          <a:effectLst/>
                        </a:rPr>
                        <a:t>39.4</a:t>
                      </a:r>
                      <a:endParaRPr lang="en-CA" sz="1200" b="0" i="0" u="none" strike="noStrike" dirty="0">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3.3</a:t>
                      </a:r>
                      <a:endParaRPr lang="en-CA" sz="1200" b="0" i="0" u="none" strike="noStrike">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3071756717"/>
                  </a:ext>
                </a:extLst>
              </a:tr>
              <a:tr h="221381">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10.7</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rgbClr val="0070C0"/>
                          </a:solidFill>
                          <a:effectLst/>
                        </a:rPr>
                        <a:t>39.6</a:t>
                      </a:r>
                      <a:endParaRPr lang="en-CA" sz="1200" b="0" i="0" u="none" strike="noStrike" dirty="0">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3.8</a:t>
                      </a:r>
                      <a:endParaRPr lang="en-CA" sz="1200" b="0" i="0" u="none" strike="noStrike">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3256692966"/>
                  </a:ext>
                </a:extLst>
              </a:tr>
              <a:tr h="221381">
                <a:tc>
                  <a:txBody>
                    <a:bodyPr/>
                    <a:lstStyle/>
                    <a:p>
                      <a:pPr algn="ctr" fontAlgn="b"/>
                      <a:r>
                        <a:rPr lang="en-CA" sz="1200" u="none" strike="noStrike">
                          <a:solidFill>
                            <a:srgbClr val="0070C0"/>
                          </a:solidFill>
                          <a:effectLst/>
                        </a:rPr>
                        <a:t>Viral</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3.4</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rgbClr val="0070C0"/>
                          </a:solidFill>
                          <a:effectLst/>
                        </a:rPr>
                        <a:t>40.7</a:t>
                      </a:r>
                      <a:endParaRPr lang="en-CA" sz="1200" b="0" i="0" u="none" strike="noStrike">
                        <a:solidFill>
                          <a:srgbClr val="0070C0"/>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rgbClr val="0070C0"/>
                          </a:solidFill>
                          <a:effectLst/>
                        </a:rPr>
                        <a:t>30.2</a:t>
                      </a:r>
                      <a:endParaRPr lang="en-CA" sz="1200" b="0" i="0" u="none" strike="noStrike" dirty="0">
                        <a:solidFill>
                          <a:srgbClr val="0070C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1426041093"/>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42</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37.6</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dirty="0">
                          <a:effectLst/>
                        </a:rPr>
                        <a:t>9.8</a:t>
                      </a:r>
                      <a:endParaRPr lang="en-CA" sz="1200" b="0" i="0" u="none" strike="noStrike" dirty="0">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4049980136"/>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31.1</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42.2</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10.3</a:t>
                      </a:r>
                      <a:endParaRPr lang="en-CA" sz="1200" b="0"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937472452"/>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50</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38.5</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27.8</a:t>
                      </a:r>
                      <a:endParaRPr lang="en-CA" sz="1200" b="0"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636928503"/>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60.4</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39.4</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40.8</a:t>
                      </a:r>
                      <a:endParaRPr lang="en-CA" sz="1200" b="0"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4194914028"/>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45.7</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38.6</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30.9</a:t>
                      </a:r>
                      <a:endParaRPr lang="en-CA" sz="1200" b="0"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380482158"/>
                  </a:ext>
                </a:extLst>
              </a:tr>
              <a:tr h="221381">
                <a:tc>
                  <a:txBody>
                    <a:bodyPr/>
                    <a:lstStyle/>
                    <a:p>
                      <a:pPr algn="ctr" fontAlgn="b"/>
                      <a:r>
                        <a:rPr lang="en-CA" sz="1200" u="none" strike="noStrike">
                          <a:effectLst/>
                        </a:rPr>
                        <a:t>Bacterial</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17.3</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42.7</a:t>
                      </a:r>
                      <a:endParaRPr lang="en-CA" sz="1200" b="0" i="0" u="none" strike="noStrike">
                        <a:solidFill>
                          <a:srgbClr val="000000"/>
                        </a:solidFill>
                        <a:effectLst/>
                        <a:latin typeface="Calibri" panose="020F0502020204030204" pitchFamily="34" charset="0"/>
                      </a:endParaRPr>
                    </a:p>
                  </a:txBody>
                  <a:tcPr marL="9498" marR="9498" marT="9498" marB="0" anchor="b"/>
                </a:tc>
                <a:tc>
                  <a:txBody>
                    <a:bodyPr/>
                    <a:lstStyle/>
                    <a:p>
                      <a:pPr algn="ctr" fontAlgn="b"/>
                      <a:r>
                        <a:rPr lang="en-CA" sz="1200" u="none" strike="noStrike">
                          <a:effectLst/>
                        </a:rPr>
                        <a:t>80.3</a:t>
                      </a:r>
                      <a:endParaRPr lang="en-CA" sz="1200" b="0" i="0" u="none" strike="noStrike">
                        <a:solidFill>
                          <a:srgbClr val="000000"/>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4107533842"/>
                  </a:ext>
                </a:extLst>
              </a:tr>
              <a:tr h="221381">
                <a:tc>
                  <a:txBody>
                    <a:bodyPr/>
                    <a:lstStyle/>
                    <a:p>
                      <a:pPr algn="ctr" fontAlgn="b"/>
                      <a:r>
                        <a:rPr lang="en-CA" sz="1200" u="none" strike="noStrike" dirty="0">
                          <a:solidFill>
                            <a:schemeClr val="accent5">
                              <a:lumMod val="75000"/>
                            </a:schemeClr>
                          </a:solidFill>
                          <a:effectLst/>
                        </a:rPr>
                        <a:t>Parasitic</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40.2</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40.3</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20.1</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1176415393"/>
                  </a:ext>
                </a:extLst>
              </a:tr>
              <a:tr h="221381">
                <a:tc>
                  <a:txBody>
                    <a:bodyPr/>
                    <a:lstStyle/>
                    <a:p>
                      <a:pPr algn="ctr" fontAlgn="b"/>
                      <a:r>
                        <a:rPr lang="en-CA" sz="1200" u="none" strike="noStrike" dirty="0">
                          <a:solidFill>
                            <a:schemeClr val="accent5">
                              <a:lumMod val="75000"/>
                            </a:schemeClr>
                          </a:solidFill>
                          <a:effectLst/>
                        </a:rPr>
                        <a:t>Parasitic</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33.2</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40.1</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40.8</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3642549649"/>
                  </a:ext>
                </a:extLst>
              </a:tr>
              <a:tr h="221381">
                <a:tc>
                  <a:txBody>
                    <a:bodyPr/>
                    <a:lstStyle/>
                    <a:p>
                      <a:pPr algn="ctr" fontAlgn="b"/>
                      <a:r>
                        <a:rPr lang="en-CA" sz="1200" u="none" strike="noStrike">
                          <a:solidFill>
                            <a:schemeClr val="accent5">
                              <a:lumMod val="75000"/>
                            </a:schemeClr>
                          </a:solidFill>
                          <a:effectLst/>
                        </a:rPr>
                        <a:t>Parasitic</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20.3</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38.3</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30.2</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2518624412"/>
                  </a:ext>
                </a:extLst>
              </a:tr>
              <a:tr h="221381">
                <a:tc>
                  <a:txBody>
                    <a:bodyPr/>
                    <a:lstStyle/>
                    <a:p>
                      <a:pPr algn="ctr" fontAlgn="b"/>
                      <a:r>
                        <a:rPr lang="en-CA" sz="1200" u="none" strike="noStrike">
                          <a:solidFill>
                            <a:schemeClr val="accent5">
                              <a:lumMod val="75000"/>
                            </a:schemeClr>
                          </a:solidFill>
                          <a:effectLst/>
                        </a:rPr>
                        <a:t>Parasitic</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70.3</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38.1</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60.9</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3762754675"/>
                  </a:ext>
                </a:extLst>
              </a:tr>
              <a:tr h="221381">
                <a:tc>
                  <a:txBody>
                    <a:bodyPr/>
                    <a:lstStyle/>
                    <a:p>
                      <a:pPr algn="ctr" fontAlgn="b"/>
                      <a:r>
                        <a:rPr lang="en-CA" sz="1200" u="none" strike="noStrike">
                          <a:solidFill>
                            <a:schemeClr val="accent5">
                              <a:lumMod val="75000"/>
                            </a:schemeClr>
                          </a:solidFill>
                          <a:effectLst/>
                        </a:rPr>
                        <a:t>Parasitic</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28.3</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37.2</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9.2</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1206191337"/>
                  </a:ext>
                </a:extLst>
              </a:tr>
              <a:tr h="221381">
                <a:tc>
                  <a:txBody>
                    <a:bodyPr/>
                    <a:lstStyle/>
                    <a:p>
                      <a:pPr algn="ctr" fontAlgn="b"/>
                      <a:r>
                        <a:rPr lang="en-CA" sz="1200" u="none" strike="noStrike">
                          <a:solidFill>
                            <a:schemeClr val="accent5">
                              <a:lumMod val="75000"/>
                            </a:schemeClr>
                          </a:solidFill>
                          <a:effectLst/>
                        </a:rPr>
                        <a:t>Parasitic</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29.9</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a:solidFill>
                            <a:schemeClr val="accent5">
                              <a:lumMod val="75000"/>
                            </a:schemeClr>
                          </a:solidFill>
                          <a:effectLst/>
                        </a:rPr>
                        <a:t>38.4</a:t>
                      </a:r>
                      <a:endParaRPr lang="en-CA" sz="1200" b="0" i="0" u="none" strike="noStrike">
                        <a:solidFill>
                          <a:schemeClr val="accent5">
                            <a:lumMod val="75000"/>
                          </a:schemeClr>
                        </a:solidFill>
                        <a:effectLst/>
                        <a:latin typeface="Calibri" panose="020F0502020204030204" pitchFamily="34" charset="0"/>
                      </a:endParaRPr>
                    </a:p>
                  </a:txBody>
                  <a:tcPr marL="9498" marR="9498" marT="9498" marB="0" anchor="b"/>
                </a:tc>
                <a:tc>
                  <a:txBody>
                    <a:bodyPr/>
                    <a:lstStyle/>
                    <a:p>
                      <a:pPr algn="ctr" fontAlgn="b"/>
                      <a:r>
                        <a:rPr lang="en-CA" sz="1200" u="none" strike="noStrike" dirty="0">
                          <a:solidFill>
                            <a:schemeClr val="accent5">
                              <a:lumMod val="75000"/>
                            </a:schemeClr>
                          </a:solidFill>
                          <a:effectLst/>
                        </a:rPr>
                        <a:t>50.3</a:t>
                      </a:r>
                      <a:endParaRPr lang="en-CA" sz="1200" b="0" i="0" u="none" strike="noStrike" dirty="0">
                        <a:solidFill>
                          <a:schemeClr val="accent5">
                            <a:lumMod val="75000"/>
                          </a:schemeClr>
                        </a:solidFill>
                        <a:effectLst/>
                        <a:latin typeface="Calibri" panose="020F0502020204030204" pitchFamily="34" charset="0"/>
                      </a:endParaRPr>
                    </a:p>
                  </a:txBody>
                  <a:tcPr marL="9498" marR="9498" marT="9498" marB="0" anchor="b"/>
                </a:tc>
                <a:extLst>
                  <a:ext uri="{0D108BD9-81ED-4DB2-BD59-A6C34878D82A}">
                    <a16:rowId xmlns:a16="http://schemas.microsoft.com/office/drawing/2014/main" val="1780348724"/>
                  </a:ext>
                </a:extLst>
              </a:tr>
            </a:tbl>
          </a:graphicData>
        </a:graphic>
      </p:graphicFrame>
      <p:pic>
        <p:nvPicPr>
          <p:cNvPr id="9" name="Picture 8">
            <a:extLst>
              <a:ext uri="{FF2B5EF4-FFF2-40B4-BE49-F238E27FC236}">
                <a16:creationId xmlns:a16="http://schemas.microsoft.com/office/drawing/2014/main" id="{6CBC9719-11D1-8243-87F9-6C786A974255}"/>
              </a:ext>
            </a:extLst>
          </p:cNvPr>
          <p:cNvPicPr>
            <a:picLocks noChangeAspect="1"/>
          </p:cNvPicPr>
          <p:nvPr/>
        </p:nvPicPr>
        <p:blipFill>
          <a:blip r:embed="rId3"/>
          <a:stretch>
            <a:fillRect/>
          </a:stretch>
        </p:blipFill>
        <p:spPr>
          <a:xfrm>
            <a:off x="5347615" y="1569720"/>
            <a:ext cx="5855408" cy="614017"/>
          </a:xfrm>
          <a:prstGeom prst="rect">
            <a:avLst/>
          </a:prstGeom>
        </p:spPr>
      </p:pic>
      <p:pic>
        <p:nvPicPr>
          <p:cNvPr id="13" name="Picture 12" descr="Text, schematic&#10;&#10;Description automatically generated">
            <a:extLst>
              <a:ext uri="{FF2B5EF4-FFF2-40B4-BE49-F238E27FC236}">
                <a16:creationId xmlns:a16="http://schemas.microsoft.com/office/drawing/2014/main" id="{5F0D8EC1-31CE-5943-955E-5387478D092E}"/>
              </a:ext>
            </a:extLst>
          </p:cNvPr>
          <p:cNvPicPr>
            <a:picLocks noChangeAspect="1"/>
          </p:cNvPicPr>
          <p:nvPr/>
        </p:nvPicPr>
        <p:blipFill>
          <a:blip r:embed="rId4"/>
          <a:stretch>
            <a:fillRect/>
          </a:stretch>
        </p:blipFill>
        <p:spPr>
          <a:xfrm>
            <a:off x="5347615" y="2676556"/>
            <a:ext cx="5108561" cy="899160"/>
          </a:xfrm>
          <a:prstGeom prst="rect">
            <a:avLst/>
          </a:prstGeom>
        </p:spPr>
      </p:pic>
    </p:spTree>
    <p:extLst>
      <p:ext uri="{BB962C8B-B14F-4D97-AF65-F5344CB8AC3E}">
        <p14:creationId xmlns:p14="http://schemas.microsoft.com/office/powerpoint/2010/main" val="1070177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DB19-C166-E94E-9F91-53364C2E7562}"/>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44D7E690-9E81-0340-BFD1-9257BFB54EC4}"/>
              </a:ext>
            </a:extLst>
          </p:cNvPr>
          <p:cNvSpPr>
            <a:spLocks noGrp="1"/>
          </p:cNvSpPr>
          <p:nvPr>
            <p:ph idx="1"/>
          </p:nvPr>
        </p:nvSpPr>
        <p:spPr/>
        <p:txBody>
          <a:bodyPr/>
          <a:lstStyle/>
          <a:p>
            <a:r>
              <a:rPr lang="en-GB" dirty="0"/>
              <a:t>https://</a:t>
            </a:r>
            <a:r>
              <a:rPr lang="en-GB" dirty="0" err="1"/>
              <a:t>www.youtube.com</a:t>
            </a:r>
            <a:r>
              <a:rPr lang="en-GB" dirty="0"/>
              <a:t>/</a:t>
            </a:r>
            <a:r>
              <a:rPr lang="en-GB" dirty="0" err="1"/>
              <a:t>watch?v</a:t>
            </a:r>
            <a:r>
              <a:rPr lang="en-GB" dirty="0"/>
              <a:t>=julEqA2ozcA&amp;t=538s</a:t>
            </a:r>
          </a:p>
        </p:txBody>
      </p:sp>
    </p:spTree>
    <p:extLst>
      <p:ext uri="{BB962C8B-B14F-4D97-AF65-F5344CB8AC3E}">
        <p14:creationId xmlns:p14="http://schemas.microsoft.com/office/powerpoint/2010/main" val="15345430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RegularSeedLeftStep">
      <a:dk1>
        <a:srgbClr val="000000"/>
      </a:dk1>
      <a:lt1>
        <a:srgbClr val="FFFFFF"/>
      </a:lt1>
      <a:dk2>
        <a:srgbClr val="213A3A"/>
      </a:dk2>
      <a:lt2>
        <a:srgbClr val="E8E4E2"/>
      </a:lt2>
      <a:accent1>
        <a:srgbClr val="299BE7"/>
      </a:accent1>
      <a:accent2>
        <a:srgbClr val="13B3B0"/>
      </a:accent2>
      <a:accent3>
        <a:srgbClr val="21B876"/>
      </a:accent3>
      <a:accent4>
        <a:srgbClr val="14BC2D"/>
      </a:accent4>
      <a:accent5>
        <a:srgbClr val="4AB921"/>
      </a:accent5>
      <a:accent6>
        <a:srgbClr val="7FB113"/>
      </a:accent6>
      <a:hlink>
        <a:srgbClr val="BC703E"/>
      </a:hlink>
      <a:folHlink>
        <a:srgbClr val="7F7F7F"/>
      </a:folHlink>
    </a:clrScheme>
    <a:fontScheme name="Savon">
      <a:majorFont>
        <a:latin typeface="Gill Sans M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1028</TotalTime>
  <Words>3427</Words>
  <Application>Microsoft Macintosh PowerPoint</Application>
  <PresentationFormat>Widescreen</PresentationFormat>
  <Paragraphs>699</Paragraphs>
  <Slides>28</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Garamond</vt:lpstr>
      <vt:lpstr>Gill Sans MT</vt:lpstr>
      <vt:lpstr>SavonVTI</vt:lpstr>
      <vt:lpstr>Linear Discriminant Analysis    How  to use it as  a classifier  </vt:lpstr>
      <vt:lpstr>LDA</vt:lpstr>
      <vt:lpstr>Example data – combine variables</vt:lpstr>
      <vt:lpstr>LDA – cutoff value</vt:lpstr>
      <vt:lpstr>LDA – cutoff value</vt:lpstr>
      <vt:lpstr>LDA</vt:lpstr>
      <vt:lpstr>LDA</vt:lpstr>
      <vt:lpstr>Calculate the scores</vt:lpstr>
      <vt:lpstr>Calculate the centered scores</vt:lpstr>
      <vt:lpstr>Sensitivity and specificity</vt:lpstr>
      <vt:lpstr>Sensitivity and specificity</vt:lpstr>
      <vt:lpstr>Sensitivity and specificity</vt:lpstr>
      <vt:lpstr>Change the cutoff value </vt:lpstr>
      <vt:lpstr>ROC curve </vt:lpstr>
      <vt:lpstr>ROC curve </vt:lpstr>
      <vt:lpstr>Probabilities </vt:lpstr>
      <vt:lpstr>Probabilities </vt:lpstr>
      <vt:lpstr>Validation </vt:lpstr>
      <vt:lpstr>Predict </vt:lpstr>
      <vt:lpstr>Predict </vt:lpstr>
      <vt:lpstr>LDA </vt:lpstr>
      <vt:lpstr>The Iris data set </vt:lpstr>
      <vt:lpstr>The Iris data set </vt:lpstr>
      <vt:lpstr>LDA  </vt:lpstr>
      <vt:lpstr>LDA - cutoff </vt:lpstr>
      <vt:lpstr>LDA - predict </vt:lpstr>
      <vt:lpstr>LDA – three groups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Pham</dc:creator>
  <cp:lastModifiedBy>Quynh Nguyen</cp:lastModifiedBy>
  <cp:revision>163</cp:revision>
  <dcterms:created xsi:type="dcterms:W3CDTF">2021-12-23T04:02:59Z</dcterms:created>
  <dcterms:modified xsi:type="dcterms:W3CDTF">2022-01-08T18:33:28Z</dcterms:modified>
</cp:coreProperties>
</file>