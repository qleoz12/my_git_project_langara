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move the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2000" spc="-1" strike="noStrike">
                <a:latin typeface="Arial"/>
              </a:rPr>
              <a:t>Click to </a:t>
            </a:r>
            <a:r>
              <a:rPr b="0" lang="en-GB" sz="2000" spc="-1" strike="noStrike">
                <a:latin typeface="Arial"/>
              </a:rPr>
              <a:t>edit the </a:t>
            </a:r>
            <a:r>
              <a:rPr b="0" lang="en-GB" sz="2000" spc="-1" strike="noStrike">
                <a:latin typeface="Arial"/>
              </a:rPr>
              <a:t>notes </a:t>
            </a:r>
            <a:r>
              <a:rPr b="0" lang="en-GB" sz="2000" spc="-1" strike="noStrike">
                <a:latin typeface="Arial"/>
              </a:rPr>
              <a:t>format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GB" sz="1400" spc="-1" strike="noStrike">
                <a:latin typeface="Times New Roman"/>
              </a:rPr>
              <a:t>&lt;header&gt;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GB" sz="1400" spc="-1" strike="noStrike">
                <a:latin typeface="Times New Roman"/>
              </a:defRPr>
            </a:lvl1pPr>
          </a:lstStyle>
          <a:p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8006546B-A855-4E4F-B395-3A8EA97DA80F}" type="slidenum">
              <a:rPr b="0" lang="en-GB" sz="1400" spc="-1" strike="noStrike">
                <a:latin typeface="Times New Roman"/>
              </a:rPr>
              <a:t>&lt;number&gt;</a:t>
            </a:fld>
            <a:endParaRPr b="0" lang="en-GB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We will </a:t>
            </a:r>
            <a:r>
              <a:rPr b="0" lang="en-US" sz="2000" spc="-1" strike="noStrike">
                <a:latin typeface="Arial"/>
              </a:rPr>
              <a:t>discuss </a:t>
            </a:r>
            <a:r>
              <a:rPr b="0" lang="en-US" sz="2000" spc="-1" strike="noStrike">
                <a:latin typeface="Arial"/>
              </a:rPr>
              <a:t>situatio</a:t>
            </a:r>
            <a:r>
              <a:rPr b="0" lang="en-US" sz="2000" spc="-1" strike="noStrike">
                <a:latin typeface="Arial"/>
              </a:rPr>
              <a:t>ns </a:t>
            </a:r>
            <a:r>
              <a:rPr b="0" lang="en-US" sz="2000" spc="-1" strike="noStrike">
                <a:latin typeface="Arial"/>
              </a:rPr>
              <a:t>where </a:t>
            </a:r>
            <a:r>
              <a:rPr b="0" lang="en-US" sz="2000" spc="-1" strike="noStrike">
                <a:latin typeface="Arial"/>
              </a:rPr>
              <a:t>it is </a:t>
            </a:r>
            <a:r>
              <a:rPr b="0" lang="en-US" sz="2000" spc="-1" strike="noStrike">
                <a:latin typeface="Arial"/>
              </a:rPr>
              <a:t>appropr</a:t>
            </a:r>
            <a:r>
              <a:rPr b="0" lang="en-US" sz="2000" spc="-1" strike="noStrike">
                <a:latin typeface="Arial"/>
              </a:rPr>
              <a:t>iate to </a:t>
            </a:r>
            <a:r>
              <a:rPr b="0" lang="en-US" sz="2000" spc="-1" strike="noStrike">
                <a:latin typeface="Arial"/>
              </a:rPr>
              <a:t>standar</a:t>
            </a:r>
            <a:r>
              <a:rPr b="0" lang="en-US" sz="2000" spc="-1" strike="noStrike">
                <a:latin typeface="Arial"/>
              </a:rPr>
              <a:t>dize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before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analysi</a:t>
            </a:r>
            <a:r>
              <a:rPr b="0" lang="en-US" sz="2000" spc="-1" strike="noStrike">
                <a:latin typeface="Arial"/>
              </a:rPr>
              <a:t>s and </a:t>
            </a:r>
            <a:r>
              <a:rPr b="0" lang="en-US" sz="2000" spc="-1" strike="noStrike">
                <a:latin typeface="Arial"/>
              </a:rPr>
              <a:t>what </a:t>
            </a:r>
            <a:r>
              <a:rPr b="0" lang="en-US" sz="2000" spc="-1" strike="noStrike">
                <a:latin typeface="Arial"/>
              </a:rPr>
              <a:t>criteria </a:t>
            </a:r>
            <a:r>
              <a:rPr b="0" lang="en-US" sz="2000" spc="-1" strike="noStrike">
                <a:latin typeface="Arial"/>
              </a:rPr>
              <a:t>we can </a:t>
            </a:r>
            <a:r>
              <a:rPr b="0" lang="en-US" sz="2000" spc="-1" strike="noStrike">
                <a:latin typeface="Arial"/>
              </a:rPr>
              <a:t>use to </a:t>
            </a:r>
            <a:r>
              <a:rPr b="0" lang="en-US" sz="2000" spc="-1" strike="noStrike">
                <a:latin typeface="Arial"/>
              </a:rPr>
              <a:t>determi</a:t>
            </a:r>
            <a:r>
              <a:rPr b="0" lang="en-US" sz="2000" spc="-1" strike="noStrike">
                <a:latin typeface="Arial"/>
              </a:rPr>
              <a:t>ne how </a:t>
            </a:r>
            <a:r>
              <a:rPr b="0" lang="en-US" sz="2000" spc="-1" strike="noStrike">
                <a:latin typeface="Arial"/>
              </a:rPr>
              <a:t>many </a:t>
            </a:r>
            <a:r>
              <a:rPr b="0" lang="en-US" sz="2000" spc="-1" strike="noStrike">
                <a:latin typeface="Arial"/>
              </a:rPr>
              <a:t>princip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compo</a:t>
            </a:r>
            <a:r>
              <a:rPr b="0" lang="en-US" sz="2000" spc="-1" strike="noStrike">
                <a:latin typeface="Arial"/>
              </a:rPr>
              <a:t>nents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should </a:t>
            </a:r>
            <a:r>
              <a:rPr b="0" lang="en-US" sz="2000" spc="-1" strike="noStrike">
                <a:latin typeface="Arial"/>
              </a:rPr>
              <a:t>extract.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63E8FC7-72E5-40F2-9593-33D0BCE9CC92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latin typeface="Arial"/>
              </a:rPr>
              <a:t>When we have </a:t>
            </a:r>
            <a:r>
              <a:rPr b="0" lang="en-US" sz="1200" spc="-1" strike="noStrike">
                <a:latin typeface="Arial"/>
              </a:rPr>
              <a:t>variables with </a:t>
            </a:r>
            <a:r>
              <a:rPr b="0" lang="en-US" sz="1200" spc="-1" strike="noStrike">
                <a:latin typeface="Arial"/>
              </a:rPr>
              <a:t>different units, </a:t>
            </a:r>
            <a:r>
              <a:rPr b="0" lang="en-US" sz="1200" spc="-1" strike="noStrike">
                <a:latin typeface="Arial"/>
              </a:rPr>
              <a:t>the units that we </a:t>
            </a:r>
            <a:r>
              <a:rPr b="0" lang="en-US" sz="1200" spc="-1" strike="noStrike">
                <a:latin typeface="Arial"/>
              </a:rPr>
              <a:t>chose will affect </a:t>
            </a:r>
            <a:r>
              <a:rPr b="0" lang="en-US" sz="1200" spc="-1" strike="noStrike">
                <a:latin typeface="Arial"/>
              </a:rPr>
              <a:t>how the </a:t>
            </a:r>
            <a:r>
              <a:rPr b="0" lang="en-US" sz="1200" spc="-1" strike="noStrike">
                <a:latin typeface="Arial"/>
              </a:rPr>
              <a:t>variables in the </a:t>
            </a:r>
            <a:r>
              <a:rPr b="0" lang="en-US" sz="1200" spc="-1" strike="noStrike">
                <a:latin typeface="Arial"/>
              </a:rPr>
              <a:t>PCA and </a:t>
            </a:r>
            <a:r>
              <a:rPr b="0" lang="en-US" sz="1200" spc="-1" strike="noStrike">
                <a:latin typeface="Arial"/>
              </a:rPr>
              <a:t>handled. Let’s </a:t>
            </a:r>
            <a:r>
              <a:rPr b="0" lang="en-US" sz="1200" spc="-1" strike="noStrike">
                <a:latin typeface="Arial"/>
              </a:rPr>
              <a:t>say that we like </a:t>
            </a:r>
            <a:r>
              <a:rPr b="0" lang="en-US" sz="1200" spc="-1" strike="noStrike">
                <a:latin typeface="Arial"/>
              </a:rPr>
              <a:t>to use PCA to </a:t>
            </a:r>
            <a:r>
              <a:rPr b="0" lang="en-US" sz="1200" spc="-1" strike="noStrike">
                <a:latin typeface="Arial"/>
              </a:rPr>
              <a:t>combine the two </a:t>
            </a:r>
            <a:r>
              <a:rPr b="0" lang="en-US" sz="1200" spc="-1" strike="noStrike">
                <a:latin typeface="Arial"/>
              </a:rPr>
              <a:t>variables body </a:t>
            </a:r>
            <a:r>
              <a:rPr b="0" lang="en-US" sz="1200" spc="-1" strike="noStrike">
                <a:latin typeface="Arial"/>
              </a:rPr>
              <a:t>weight and </a:t>
            </a:r>
            <a:r>
              <a:rPr b="0" lang="en-US" sz="1200" spc="-1" strike="noStrike">
                <a:latin typeface="Arial"/>
              </a:rPr>
              <a:t>body height into </a:t>
            </a:r>
            <a:r>
              <a:rPr b="0" lang="en-US" sz="1200" spc="-1" strike="noStrike">
                <a:latin typeface="Arial"/>
              </a:rPr>
              <a:t>one variable, </a:t>
            </a:r>
            <a:r>
              <a:rPr b="0" lang="en-US" sz="1200" spc="-1" strike="noStrike">
                <a:latin typeface="Arial"/>
              </a:rPr>
              <a:t>PC1. If we </a:t>
            </a:r>
            <a:r>
              <a:rPr b="0" lang="en-US" sz="1200" spc="-1" strike="noStrike">
                <a:latin typeface="Arial"/>
              </a:rPr>
              <a:t>calculate the </a:t>
            </a:r>
            <a:r>
              <a:rPr b="0" lang="en-US" sz="1200" spc="-1" strike="noStrike">
                <a:latin typeface="Arial"/>
              </a:rPr>
              <a:t>variance of </a:t>
            </a:r>
            <a:r>
              <a:rPr b="0" lang="en-US" sz="1200" spc="-1" strike="noStrike">
                <a:latin typeface="Arial"/>
              </a:rPr>
              <a:t>each variable, </a:t>
            </a:r>
            <a:r>
              <a:rPr b="0" lang="en-US" sz="1200" spc="-1" strike="noStrike">
                <a:latin typeface="Arial"/>
              </a:rPr>
              <a:t>we see that the </a:t>
            </a:r>
            <a:r>
              <a:rPr b="0" lang="en-US" sz="1200" spc="-1" strike="noStrike">
                <a:latin typeface="Arial"/>
              </a:rPr>
              <a:t>variance of the </a:t>
            </a:r>
            <a:r>
              <a:rPr b="0" lang="en-US" sz="1200" spc="-1" strike="noStrike">
                <a:latin typeface="Arial"/>
              </a:rPr>
              <a:t>body weight is </a:t>
            </a:r>
            <a:r>
              <a:rPr b="0" lang="en-US" sz="1200" spc="-1" strike="noStrike">
                <a:latin typeface="Arial"/>
              </a:rPr>
              <a:t>about 37.7 and </a:t>
            </a:r>
            <a:r>
              <a:rPr b="0" lang="en-US" sz="1200" spc="-1" strike="noStrike">
                <a:latin typeface="Arial"/>
              </a:rPr>
              <a:t>that the </a:t>
            </a:r>
            <a:r>
              <a:rPr b="0" lang="en-US" sz="1200" spc="-1" strike="noStrike">
                <a:latin typeface="Arial"/>
              </a:rPr>
              <a:t>variance of the </a:t>
            </a:r>
            <a:r>
              <a:rPr b="0" lang="en-US" sz="1200" spc="-1" strike="noStrike">
                <a:latin typeface="Arial"/>
              </a:rPr>
              <a:t>body height is </a:t>
            </a:r>
            <a:r>
              <a:rPr b="0" lang="en-US" sz="1200" spc="-1" strike="noStrike">
                <a:latin typeface="Arial"/>
              </a:rPr>
              <a:t>33. The square </a:t>
            </a:r>
            <a:r>
              <a:rPr b="0" lang="en-US" sz="1200" spc="-1" strike="noStrike">
                <a:latin typeface="Arial"/>
              </a:rPr>
              <a:t>root of the </a:t>
            </a:r>
            <a:r>
              <a:rPr b="0" lang="en-US" sz="1200" spc="-1" strike="noStrike">
                <a:latin typeface="Arial"/>
              </a:rPr>
              <a:t>variance will </a:t>
            </a:r>
            <a:r>
              <a:rPr b="0" lang="en-US" sz="1200" spc="-1" strike="noStrike">
                <a:latin typeface="Arial"/>
              </a:rPr>
              <a:t>give us the </a:t>
            </a:r>
            <a:r>
              <a:rPr b="0" lang="en-US" sz="1200" spc="-1" strike="noStrike">
                <a:latin typeface="Arial"/>
              </a:rPr>
              <a:t>standard </a:t>
            </a:r>
            <a:r>
              <a:rPr b="0" lang="en-US" sz="1200" spc="-1" strike="noStrike">
                <a:latin typeface="Arial"/>
              </a:rPr>
              <a:t>deviation. </a:t>
            </a:r>
            <a:r>
              <a:rPr b="0" lang="en-US" sz="1200" spc="-1" strike="noStrike">
                <a:latin typeface="Arial"/>
              </a:rPr>
              <a:t>Although the </a:t>
            </a:r>
            <a:r>
              <a:rPr b="0" lang="en-US" sz="1200" spc="-1" strike="noStrike">
                <a:latin typeface="Arial"/>
              </a:rPr>
              <a:t>two variables </a:t>
            </a:r>
            <a:r>
              <a:rPr b="0" lang="en-US" sz="1200" spc="-1" strike="noStrike">
                <a:latin typeface="Arial"/>
              </a:rPr>
              <a:t>have different </a:t>
            </a:r>
            <a:r>
              <a:rPr b="0" lang="en-US" sz="1200" spc="-1" strike="noStrike">
                <a:latin typeface="Arial"/>
              </a:rPr>
              <a:t>units in this </a:t>
            </a:r>
            <a:r>
              <a:rPr b="0" lang="en-US" sz="1200" spc="-1" strike="noStrike">
                <a:latin typeface="Arial"/>
              </a:rPr>
              <a:t>example, it </a:t>
            </a:r>
            <a:r>
              <a:rPr b="0" lang="en-US" sz="1200" spc="-1" strike="noStrike">
                <a:latin typeface="Arial"/>
              </a:rPr>
              <a:t>would be ok to </a:t>
            </a:r>
            <a:r>
              <a:rPr b="0" lang="en-US" sz="1200" spc="-1" strike="noStrike">
                <a:latin typeface="Arial"/>
              </a:rPr>
              <a:t>combine them </a:t>
            </a:r>
            <a:r>
              <a:rPr b="0" lang="en-US" sz="1200" spc="-1" strike="noStrike">
                <a:latin typeface="Arial"/>
              </a:rPr>
              <a:t>without </a:t>
            </a:r>
            <a:r>
              <a:rPr b="0" lang="en-US" sz="1200" spc="-1" strike="noStrike">
                <a:latin typeface="Arial"/>
              </a:rPr>
              <a:t>normalization </a:t>
            </a:r>
            <a:r>
              <a:rPr b="0" lang="en-US" sz="1200" spc="-1" strike="noStrike">
                <a:latin typeface="Arial"/>
              </a:rPr>
              <a:t>since they have </a:t>
            </a:r>
            <a:r>
              <a:rPr b="0" lang="en-US" sz="1200" spc="-1" strike="noStrike">
                <a:latin typeface="Arial"/>
              </a:rPr>
              <a:t>about the same </a:t>
            </a:r>
            <a:r>
              <a:rPr b="0" lang="en-US" sz="1200" spc="-1" strike="noStrike">
                <a:latin typeface="Arial"/>
              </a:rPr>
              <a:t>variance. If we </a:t>
            </a:r>
            <a:r>
              <a:rPr b="0" lang="en-US" sz="1200" spc="-1" strike="noStrike">
                <a:latin typeface="Arial"/>
              </a:rPr>
              <a:t>would use PCA </a:t>
            </a:r>
            <a:r>
              <a:rPr b="0" lang="en-US" sz="1200" spc="-1" strike="noStrike">
                <a:latin typeface="Arial"/>
              </a:rPr>
              <a:t>to combine </a:t>
            </a:r>
            <a:r>
              <a:rPr b="0" lang="en-US" sz="1200" spc="-1" strike="noStrike">
                <a:latin typeface="Arial"/>
              </a:rPr>
              <a:t>weight and </a:t>
            </a:r>
            <a:r>
              <a:rPr b="0" lang="en-US" sz="1200" spc="-1" strike="noStrike">
                <a:latin typeface="Arial"/>
              </a:rPr>
              <a:t>height into just </a:t>
            </a:r>
            <a:r>
              <a:rPr b="0" lang="en-US" sz="1200" spc="-1" strike="noStrike">
                <a:latin typeface="Arial"/>
              </a:rPr>
              <a:t>one variable, </a:t>
            </a:r>
            <a:r>
              <a:rPr b="0" lang="en-US" sz="1200" spc="-1" strike="noStrike">
                <a:latin typeface="Arial"/>
              </a:rPr>
              <a:t>PC1, we see </a:t>
            </a:r>
            <a:r>
              <a:rPr b="0" lang="en-US" sz="1200" spc="-1" strike="noStrike">
                <a:latin typeface="Arial"/>
              </a:rPr>
              <a:t>that the weight </a:t>
            </a:r>
            <a:r>
              <a:rPr b="0" lang="en-US" sz="1200" spc="-1" strike="noStrike">
                <a:latin typeface="Arial"/>
              </a:rPr>
              <a:t>for the body </a:t>
            </a:r>
            <a:r>
              <a:rPr b="0" lang="en-US" sz="1200" spc="-1" strike="noStrike">
                <a:latin typeface="Arial"/>
              </a:rPr>
              <a:t>weight is 0.73 </a:t>
            </a:r>
            <a:r>
              <a:rPr b="0" lang="en-US" sz="1200" spc="-1" strike="noStrike">
                <a:latin typeface="Arial"/>
              </a:rPr>
              <a:t>and 0.68 for the </a:t>
            </a:r>
            <a:r>
              <a:rPr b="0" lang="en-US" sz="1200" spc="-1" strike="noStrike">
                <a:latin typeface="Arial"/>
              </a:rPr>
              <a:t>body height. </a:t>
            </a:r>
            <a:r>
              <a:rPr b="0" lang="en-US" sz="1200" spc="-1" strike="noStrike">
                <a:latin typeface="Arial"/>
              </a:rPr>
              <a:t>Since the </a:t>
            </a:r>
            <a:r>
              <a:rPr b="0" lang="en-US" sz="1200" spc="-1" strike="noStrike">
                <a:latin typeface="Arial"/>
              </a:rPr>
              <a:t>values of the </a:t>
            </a:r>
            <a:r>
              <a:rPr b="0" lang="en-US" sz="1200" spc="-1" strike="noStrike">
                <a:latin typeface="Arial"/>
              </a:rPr>
              <a:t>weights are </a:t>
            </a:r>
            <a:r>
              <a:rPr b="0" lang="en-US" sz="1200" spc="-1" strike="noStrike">
                <a:latin typeface="Arial"/>
              </a:rPr>
              <a:t>fairly similar, we </a:t>
            </a:r>
            <a:r>
              <a:rPr b="0" lang="en-US" sz="1200" spc="-1" strike="noStrike">
                <a:latin typeface="Arial"/>
              </a:rPr>
              <a:t>know that both </a:t>
            </a:r>
            <a:r>
              <a:rPr b="0" lang="en-US" sz="1200" spc="-1" strike="noStrike">
                <a:latin typeface="Arial"/>
              </a:rPr>
              <a:t>variables </a:t>
            </a:r>
            <a:r>
              <a:rPr b="0" lang="en-US" sz="1200" spc="-1" strike="noStrike">
                <a:latin typeface="Arial"/>
              </a:rPr>
              <a:t>contribute to </a:t>
            </a:r>
            <a:r>
              <a:rPr b="0" lang="en-US" sz="1200" spc="-1" strike="noStrike">
                <a:latin typeface="Arial"/>
              </a:rPr>
              <a:t>about the same </a:t>
            </a:r>
            <a:r>
              <a:rPr b="0" lang="en-US" sz="1200" spc="-1" strike="noStrike">
                <a:latin typeface="Arial"/>
              </a:rPr>
              <a:t>extent to the </a:t>
            </a:r>
            <a:r>
              <a:rPr b="0" lang="en-US" sz="1200" spc="-1" strike="noStrike">
                <a:latin typeface="Arial"/>
              </a:rPr>
              <a:t>linear </a:t>
            </a:r>
            <a:r>
              <a:rPr b="0" lang="en-US" sz="1200" spc="-1" strike="noStrike">
                <a:latin typeface="Arial"/>
              </a:rPr>
              <a:t>combination.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EC83C2-9723-498E-8059-D943F63D2A7F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latin typeface="Arial"/>
              </a:rPr>
              <a:t>However, let’s </a:t>
            </a:r>
            <a:r>
              <a:rPr b="0" lang="en-US" sz="1200" spc="-1" strike="noStrike">
                <a:latin typeface="Arial"/>
              </a:rPr>
              <a:t>say that we </a:t>
            </a:r>
            <a:r>
              <a:rPr b="0" lang="en-US" sz="1200" spc="-1" strike="noStrike">
                <a:latin typeface="Arial"/>
              </a:rPr>
              <a:t>would have </a:t>
            </a:r>
            <a:r>
              <a:rPr b="0" lang="en-US" sz="1200" spc="-1" strike="noStrike">
                <a:latin typeface="Arial"/>
              </a:rPr>
              <a:t>expressed the </a:t>
            </a:r>
            <a:r>
              <a:rPr b="0" lang="en-US" sz="1200" spc="-1" strike="noStrike">
                <a:latin typeface="Arial"/>
              </a:rPr>
              <a:t>body heights in </a:t>
            </a:r>
            <a:r>
              <a:rPr b="0" lang="en-US" sz="1200" spc="-1" strike="noStrike">
                <a:latin typeface="Arial"/>
              </a:rPr>
              <a:t>meters instead </a:t>
            </a:r>
            <a:r>
              <a:rPr b="0" lang="en-US" sz="1200" spc="-1" strike="noStrike">
                <a:latin typeface="Arial"/>
              </a:rPr>
              <a:t>of centimeters. </a:t>
            </a:r>
            <a:r>
              <a:rPr b="0" lang="en-US" sz="1200" spc="-1" strike="noStrike">
                <a:latin typeface="Arial"/>
              </a:rPr>
              <a:t>Since the </a:t>
            </a:r>
            <a:r>
              <a:rPr b="0" lang="en-US" sz="1200" spc="-1" strike="noStrike">
                <a:latin typeface="Arial"/>
              </a:rPr>
              <a:t>values are now </a:t>
            </a:r>
            <a:r>
              <a:rPr b="0" lang="en-US" sz="1200" spc="-1" strike="noStrike">
                <a:latin typeface="Arial"/>
              </a:rPr>
              <a:t>relatively small, </a:t>
            </a:r>
            <a:r>
              <a:rPr b="0" lang="en-US" sz="1200" spc="-1" strike="noStrike">
                <a:latin typeface="Arial"/>
              </a:rPr>
              <a:t>the variance </a:t>
            </a:r>
            <a:r>
              <a:rPr b="0" lang="en-US" sz="1200" spc="-1" strike="noStrike">
                <a:latin typeface="Arial"/>
              </a:rPr>
              <a:t>becomes much </a:t>
            </a:r>
            <a:r>
              <a:rPr b="0" lang="en-US" sz="1200" spc="-1" strike="noStrike">
                <a:latin typeface="Arial"/>
              </a:rPr>
              <a:t>smaller. By </a:t>
            </a:r>
            <a:r>
              <a:rPr b="0" lang="en-US" sz="1200" spc="-1" strike="noStrike">
                <a:latin typeface="Arial"/>
              </a:rPr>
              <a:t>changing the </a:t>
            </a:r>
            <a:r>
              <a:rPr b="0" lang="en-US" sz="1200" spc="-1" strike="noStrike">
                <a:latin typeface="Arial"/>
              </a:rPr>
              <a:t>unit from </a:t>
            </a:r>
            <a:r>
              <a:rPr b="0" lang="en-US" sz="1200" spc="-1" strike="noStrike">
                <a:latin typeface="Arial"/>
              </a:rPr>
              <a:t>centimeters to </a:t>
            </a:r>
            <a:r>
              <a:rPr b="0" lang="en-US" sz="1200" spc="-1" strike="noStrike">
                <a:latin typeface="Arial"/>
              </a:rPr>
              <a:t>meters, the </a:t>
            </a:r>
            <a:r>
              <a:rPr b="0" lang="en-US" sz="1200" spc="-1" strike="noStrike">
                <a:latin typeface="Arial"/>
              </a:rPr>
              <a:t>variance of the </a:t>
            </a:r>
            <a:r>
              <a:rPr b="0" lang="en-US" sz="1200" spc="-1" strike="noStrike">
                <a:latin typeface="Arial"/>
              </a:rPr>
              <a:t>variable height </a:t>
            </a:r>
            <a:r>
              <a:rPr b="0" lang="en-US" sz="1200" spc="-1" strike="noStrike">
                <a:latin typeface="Arial"/>
              </a:rPr>
              <a:t>has been </a:t>
            </a:r>
            <a:r>
              <a:rPr b="0" lang="en-US" sz="1200" spc="-1" strike="noStrike">
                <a:latin typeface="Arial"/>
              </a:rPr>
              <a:t>reduced from 33 </a:t>
            </a:r>
            <a:r>
              <a:rPr b="0" lang="en-US" sz="1200" spc="-1" strike="noStrike">
                <a:latin typeface="Arial"/>
              </a:rPr>
              <a:t>to 0.003. If we </a:t>
            </a:r>
            <a:r>
              <a:rPr b="0" lang="en-US" sz="1200" spc="-1" strike="noStrike">
                <a:latin typeface="Arial"/>
              </a:rPr>
              <a:t>would use PCA </a:t>
            </a:r>
            <a:r>
              <a:rPr b="0" lang="en-US" sz="1200" spc="-1" strike="noStrike">
                <a:latin typeface="Arial"/>
              </a:rPr>
              <a:t>to combine the </a:t>
            </a:r>
            <a:r>
              <a:rPr b="0" lang="en-US" sz="1200" spc="-1" strike="noStrike">
                <a:latin typeface="Arial"/>
              </a:rPr>
              <a:t>variables weight </a:t>
            </a:r>
            <a:r>
              <a:rPr b="0" lang="en-US" sz="1200" spc="-1" strike="noStrike">
                <a:latin typeface="Arial"/>
              </a:rPr>
              <a:t>and height, now </a:t>
            </a:r>
            <a:r>
              <a:rPr b="0" lang="en-US" sz="1200" spc="-1" strike="noStrike">
                <a:latin typeface="Arial"/>
              </a:rPr>
              <a:t>with the unit of </a:t>
            </a:r>
            <a:r>
              <a:rPr b="0" lang="en-US" sz="1200" spc="-1" strike="noStrike">
                <a:latin typeface="Arial"/>
              </a:rPr>
              <a:t>meters, the </a:t>
            </a:r>
            <a:r>
              <a:rPr b="0" lang="en-US" sz="1200" spc="-1" strike="noStrike">
                <a:latin typeface="Arial"/>
              </a:rPr>
              <a:t>values of the </a:t>
            </a:r>
            <a:r>
              <a:rPr b="0" lang="en-US" sz="1200" spc="-1" strike="noStrike">
                <a:latin typeface="Arial"/>
              </a:rPr>
              <a:t>weights would </a:t>
            </a:r>
            <a:r>
              <a:rPr b="0" lang="en-US" sz="1200" spc="-1" strike="noStrike">
                <a:latin typeface="Arial"/>
              </a:rPr>
              <a:t>be biased. As </a:t>
            </a:r>
            <a:r>
              <a:rPr b="0" lang="en-US" sz="1200" spc="-1" strike="noStrike">
                <a:latin typeface="Arial"/>
              </a:rPr>
              <a:t>you see, we </a:t>
            </a:r>
            <a:r>
              <a:rPr b="0" lang="en-US" sz="1200" spc="-1" strike="noStrike">
                <a:latin typeface="Arial"/>
              </a:rPr>
              <a:t>would put very </a:t>
            </a:r>
            <a:r>
              <a:rPr b="0" lang="en-US" sz="1200" spc="-1" strike="noStrike">
                <a:latin typeface="Arial"/>
              </a:rPr>
              <a:t>little weight on </a:t>
            </a:r>
            <a:r>
              <a:rPr b="0" lang="en-US" sz="1200" spc="-1" strike="noStrike">
                <a:latin typeface="Arial"/>
              </a:rPr>
              <a:t>the variable </a:t>
            </a:r>
            <a:r>
              <a:rPr b="0" lang="en-US" sz="1200" spc="-1" strike="noStrike">
                <a:latin typeface="Arial"/>
              </a:rPr>
              <a:t>body height in </a:t>
            </a:r>
            <a:r>
              <a:rPr b="0" lang="en-US" sz="1200" spc="-1" strike="noStrike">
                <a:latin typeface="Arial"/>
              </a:rPr>
              <a:t>this case. By </a:t>
            </a:r>
            <a:r>
              <a:rPr b="0" lang="en-US" sz="1200" spc="-1" strike="noStrike">
                <a:latin typeface="Arial"/>
              </a:rPr>
              <a:t>changing the </a:t>
            </a:r>
            <a:r>
              <a:rPr b="0" lang="en-US" sz="1200" spc="-1" strike="noStrike">
                <a:latin typeface="Arial"/>
              </a:rPr>
              <a:t>unit of the body </a:t>
            </a:r>
            <a:r>
              <a:rPr b="0" lang="en-US" sz="1200" spc="-1" strike="noStrike">
                <a:latin typeface="Arial"/>
              </a:rPr>
              <a:t>height from </a:t>
            </a:r>
            <a:r>
              <a:rPr b="0" lang="en-US" sz="1200" spc="-1" strike="noStrike">
                <a:latin typeface="Arial"/>
              </a:rPr>
              <a:t>centimeters to </a:t>
            </a:r>
            <a:r>
              <a:rPr b="0" lang="en-US" sz="1200" spc="-1" strike="noStrike">
                <a:latin typeface="Arial"/>
              </a:rPr>
              <a:t>meters, very </a:t>
            </a:r>
            <a:r>
              <a:rPr b="0" lang="en-US" sz="1200" spc="-1" strike="noStrike">
                <a:latin typeface="Arial"/>
              </a:rPr>
              <a:t>little information </a:t>
            </a:r>
            <a:r>
              <a:rPr b="0" lang="en-US" sz="1200" spc="-1" strike="noStrike">
                <a:latin typeface="Arial"/>
              </a:rPr>
              <a:t>from this </a:t>
            </a:r>
            <a:r>
              <a:rPr b="0" lang="en-US" sz="1200" spc="-1" strike="noStrike">
                <a:latin typeface="Arial"/>
              </a:rPr>
              <a:t>variable will </a:t>
            </a:r>
            <a:r>
              <a:rPr b="0" lang="en-US" sz="1200" spc="-1" strike="noStrike">
                <a:latin typeface="Arial"/>
              </a:rPr>
              <a:t>contribute to the </a:t>
            </a:r>
            <a:r>
              <a:rPr b="0" lang="en-US" sz="1200" spc="-1" strike="noStrike">
                <a:latin typeface="Arial"/>
              </a:rPr>
              <a:t>linear </a:t>
            </a:r>
            <a:r>
              <a:rPr b="0" lang="en-US" sz="1200" spc="-1" strike="noStrike">
                <a:latin typeface="Arial"/>
              </a:rPr>
              <a:t>combination </a:t>
            </a:r>
            <a:r>
              <a:rPr b="0" lang="en-US" sz="1200" spc="-1" strike="noStrike">
                <a:latin typeface="Arial"/>
              </a:rPr>
              <a:t>because the </a:t>
            </a:r>
            <a:r>
              <a:rPr b="0" lang="en-US" sz="1200" spc="-1" strike="noStrike">
                <a:latin typeface="Arial"/>
              </a:rPr>
              <a:t>variance is </a:t>
            </a:r>
            <a:r>
              <a:rPr b="0" lang="en-US" sz="1200" spc="-1" strike="noStrike">
                <a:latin typeface="Arial"/>
              </a:rPr>
              <a:t>relatively low </a:t>
            </a:r>
            <a:r>
              <a:rPr b="0" lang="en-US" sz="1200" spc="-1" strike="noStrike">
                <a:latin typeface="Arial"/>
              </a:rPr>
              <a:t>when we use </a:t>
            </a:r>
            <a:r>
              <a:rPr b="0" lang="en-US" sz="1200" spc="-1" strike="noStrike">
                <a:latin typeface="Arial"/>
              </a:rPr>
              <a:t>the unit meters.</a:t>
            </a:r>
            <a:endParaRPr b="0" lang="en-GB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1200" spc="-1" strike="noStrike"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2732103-D057-4F6C-8C90-41AA6A8D1E45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exampl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shows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importa</a:t>
            </a:r>
            <a:r>
              <a:rPr b="0" lang="en-US" sz="2000" spc="-1" strike="noStrike">
                <a:latin typeface="Arial"/>
              </a:rPr>
              <a:t>nce of </a:t>
            </a:r>
            <a:r>
              <a:rPr b="0" lang="en-US" sz="2000" spc="-1" strike="noStrike">
                <a:latin typeface="Arial"/>
              </a:rPr>
              <a:t>standar</a:t>
            </a:r>
            <a:r>
              <a:rPr b="0" lang="en-US" sz="2000" spc="-1" strike="noStrike">
                <a:latin typeface="Arial"/>
              </a:rPr>
              <a:t>dizing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before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comput</a:t>
            </a:r>
            <a:r>
              <a:rPr b="0" lang="en-US" sz="2000" spc="-1" strike="noStrike">
                <a:latin typeface="Arial"/>
              </a:rPr>
              <a:t>e the </a:t>
            </a:r>
            <a:r>
              <a:rPr b="0" lang="en-US" sz="2000" spc="-1" strike="noStrike">
                <a:latin typeface="Arial"/>
              </a:rPr>
              <a:t>PCA </a:t>
            </a:r>
            <a:r>
              <a:rPr b="0" lang="en-US" sz="2000" spc="-1" strike="noStrike">
                <a:latin typeface="Arial"/>
              </a:rPr>
              <a:t>when </a:t>
            </a:r>
            <a:r>
              <a:rPr b="0" lang="en-US" sz="2000" spc="-1" strike="noStrike">
                <a:latin typeface="Arial"/>
              </a:rPr>
              <a:t>our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differen</a:t>
            </a:r>
            <a:r>
              <a:rPr b="0" lang="en-US" sz="2000" spc="-1" strike="noStrike">
                <a:latin typeface="Arial"/>
              </a:rPr>
              <a:t>t units </a:t>
            </a:r>
            <a:r>
              <a:rPr b="0" lang="en-US" sz="2000" spc="-1" strike="noStrike">
                <a:latin typeface="Arial"/>
              </a:rPr>
              <a:t>or if the </a:t>
            </a:r>
            <a:r>
              <a:rPr b="0" lang="en-US" sz="2000" spc="-1" strike="noStrike">
                <a:latin typeface="Arial"/>
              </a:rPr>
              <a:t>varianc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differs </a:t>
            </a:r>
            <a:r>
              <a:rPr b="0" lang="en-US" sz="2000" spc="-1" strike="noStrike">
                <a:latin typeface="Arial"/>
              </a:rPr>
              <a:t>a lot </a:t>
            </a:r>
            <a:r>
              <a:rPr b="0" lang="en-US" sz="2000" spc="-1" strike="noStrike">
                <a:latin typeface="Arial"/>
              </a:rPr>
              <a:t>betwee</a:t>
            </a:r>
            <a:r>
              <a:rPr b="0" lang="en-US" sz="2000" spc="-1" strike="noStrike">
                <a:latin typeface="Arial"/>
              </a:rPr>
              <a:t>n the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es. To </a:t>
            </a:r>
            <a:r>
              <a:rPr b="0" lang="en-US" sz="2000" spc="-1" strike="noStrike">
                <a:latin typeface="Arial"/>
              </a:rPr>
              <a:t>standar</a:t>
            </a:r>
            <a:r>
              <a:rPr b="0" lang="en-US" sz="2000" spc="-1" strike="noStrike">
                <a:latin typeface="Arial"/>
              </a:rPr>
              <a:t>dize a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e, we </a:t>
            </a:r>
            <a:r>
              <a:rPr b="0" lang="en-US" sz="2000" spc="-1" strike="noStrike">
                <a:latin typeface="Arial"/>
              </a:rPr>
              <a:t>subtrac</a:t>
            </a:r>
            <a:r>
              <a:rPr b="0" lang="en-US" sz="2000" spc="-1" strike="noStrike">
                <a:latin typeface="Arial"/>
              </a:rPr>
              <a:t>t the </a:t>
            </a:r>
            <a:r>
              <a:rPr b="0" lang="en-US" sz="2000" spc="-1" strike="noStrike">
                <a:latin typeface="Arial"/>
              </a:rPr>
              <a:t>corresp</a:t>
            </a:r>
            <a:r>
              <a:rPr b="0" lang="en-US" sz="2000" spc="-1" strike="noStrike">
                <a:latin typeface="Arial"/>
              </a:rPr>
              <a:t>onding </a:t>
            </a:r>
            <a:r>
              <a:rPr b="0" lang="en-US" sz="2000" spc="-1" strike="noStrike">
                <a:latin typeface="Arial"/>
              </a:rPr>
              <a:t>mean </a:t>
            </a:r>
            <a:r>
              <a:rPr b="0" lang="en-US" sz="2000" spc="-1" strike="noStrike">
                <a:latin typeface="Arial"/>
              </a:rPr>
              <a:t>from all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values </a:t>
            </a:r>
            <a:r>
              <a:rPr b="0" lang="en-US" sz="2000" spc="-1" strike="noStrike">
                <a:latin typeface="Arial"/>
              </a:rPr>
              <a:t>of the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result </a:t>
            </a:r>
            <a:r>
              <a:rPr b="0" lang="en-US" sz="2000" spc="-1" strike="noStrike">
                <a:latin typeface="Arial"/>
              </a:rPr>
              <a:t>in </a:t>
            </a:r>
            <a:r>
              <a:rPr b="0" lang="en-US" sz="2000" spc="-1" strike="noStrike">
                <a:latin typeface="Arial"/>
              </a:rPr>
              <a:t>centere</a:t>
            </a:r>
            <a:r>
              <a:rPr b="0" lang="en-US" sz="2000" spc="-1" strike="noStrike">
                <a:latin typeface="Arial"/>
              </a:rPr>
              <a:t>d data. </a:t>
            </a:r>
            <a:r>
              <a:rPr b="0" lang="en-US" sz="2000" spc="-1" strike="noStrike">
                <a:latin typeface="Arial"/>
              </a:rPr>
              <a:t>Then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divide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centere</a:t>
            </a:r>
            <a:r>
              <a:rPr b="0" lang="en-US" sz="2000" spc="-1" strike="noStrike">
                <a:latin typeface="Arial"/>
              </a:rPr>
              <a:t>d data </a:t>
            </a:r>
            <a:r>
              <a:rPr b="0" lang="en-US" sz="2000" spc="-1" strike="noStrike">
                <a:latin typeface="Arial"/>
              </a:rPr>
              <a:t>by the </a:t>
            </a:r>
            <a:r>
              <a:rPr b="0" lang="en-US" sz="2000" spc="-1" strike="noStrike">
                <a:latin typeface="Arial"/>
              </a:rPr>
              <a:t>standar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deviati</a:t>
            </a:r>
            <a:r>
              <a:rPr b="0" lang="en-US" sz="2000" spc="-1" strike="noStrike">
                <a:latin typeface="Arial"/>
              </a:rPr>
              <a:t>on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corresp</a:t>
            </a:r>
            <a:r>
              <a:rPr b="0" lang="en-US" sz="2000" spc="-1" strike="noStrike">
                <a:latin typeface="Arial"/>
              </a:rPr>
              <a:t>onding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give us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standar</a:t>
            </a:r>
            <a:r>
              <a:rPr b="0" lang="en-US" sz="2000" spc="-1" strike="noStrike">
                <a:latin typeface="Arial"/>
              </a:rPr>
              <a:t>dized </a:t>
            </a:r>
            <a:r>
              <a:rPr b="0" lang="en-US" sz="2000" spc="-1" strike="noStrike">
                <a:latin typeface="Arial"/>
              </a:rPr>
              <a:t>variabl</a:t>
            </a:r>
            <a:r>
              <a:rPr b="0" lang="en-US" sz="2000" spc="-1" strike="noStrike">
                <a:latin typeface="Arial"/>
              </a:rPr>
              <a:t>e. 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874DD93-1BB8-43F9-A9B3-A7E20E9CE156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ase</a:t>
            </a:r>
            <a:r>
              <a:rPr b="0" lang="en-US" sz="2000" spc="-1" strike="noStrike">
                <a:latin typeface="Arial"/>
              </a:rPr>
              <a:t>t </a:t>
            </a:r>
            <a:r>
              <a:rPr b="0" lang="en-US" sz="2000" spc="-1" strike="noStrike">
                <a:latin typeface="Arial"/>
              </a:rPr>
              <a:t>con</a:t>
            </a:r>
            <a:r>
              <a:rPr b="0" lang="en-US" sz="2000" spc="-1" strike="noStrike">
                <a:latin typeface="Arial"/>
              </a:rPr>
              <a:t>sist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dias</a:t>
            </a:r>
            <a:r>
              <a:rPr b="0" lang="en-US" sz="2000" spc="-1" strike="noStrike">
                <a:latin typeface="Arial"/>
              </a:rPr>
              <a:t>tolic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syst</a:t>
            </a:r>
            <a:r>
              <a:rPr b="0" lang="en-US" sz="2000" spc="-1" strike="noStrike">
                <a:latin typeface="Arial"/>
              </a:rPr>
              <a:t>olic </a:t>
            </a:r>
            <a:r>
              <a:rPr b="0" lang="en-US" sz="2000" spc="-1" strike="noStrike">
                <a:latin typeface="Arial"/>
              </a:rPr>
              <a:t>bloo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pre</a:t>
            </a:r>
            <a:r>
              <a:rPr b="0" lang="en-US" sz="2000" spc="-1" strike="noStrike">
                <a:latin typeface="Arial"/>
              </a:rPr>
              <a:t>ssu</a:t>
            </a:r>
            <a:r>
              <a:rPr b="0" lang="en-US" sz="2000" spc="-1" strike="noStrike">
                <a:latin typeface="Arial"/>
              </a:rPr>
              <a:t>re,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well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bod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wei</a:t>
            </a:r>
            <a:r>
              <a:rPr b="0" lang="en-US" sz="2000" spc="-1" strike="noStrike">
                <a:latin typeface="Arial"/>
              </a:rPr>
              <a:t>ght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bod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heig</a:t>
            </a:r>
            <a:r>
              <a:rPr b="0" lang="en-US" sz="2000" spc="-1" strike="noStrike">
                <a:latin typeface="Arial"/>
              </a:rPr>
              <a:t>ht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10 </a:t>
            </a:r>
            <a:r>
              <a:rPr b="0" lang="en-US" sz="2000" spc="-1" strike="noStrike">
                <a:latin typeface="Arial"/>
              </a:rPr>
              <a:t>indi</a:t>
            </a:r>
            <a:r>
              <a:rPr b="0" lang="en-US" sz="2000" spc="-1" strike="noStrike">
                <a:latin typeface="Arial"/>
              </a:rPr>
              <a:t>vidu</a:t>
            </a:r>
            <a:r>
              <a:rPr b="0" lang="en-US" sz="2000" spc="-1" strike="noStrike">
                <a:latin typeface="Arial"/>
              </a:rPr>
              <a:t>als. </a:t>
            </a:r>
            <a:r>
              <a:rPr b="0" lang="en-US" sz="2000" spc="-1" strike="noStrike">
                <a:latin typeface="Arial"/>
              </a:rPr>
              <a:t>Let’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calc</a:t>
            </a:r>
            <a:r>
              <a:rPr b="0" lang="en-US" sz="2000" spc="-1" strike="noStrike">
                <a:latin typeface="Arial"/>
              </a:rPr>
              <a:t>ulat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eac</a:t>
            </a:r>
            <a:r>
              <a:rPr b="0" lang="en-US" sz="2000" spc="-1" strike="noStrike">
                <a:latin typeface="Arial"/>
              </a:rPr>
              <a:t>h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</a:t>
            </a:r>
            <a:r>
              <a:rPr b="0" lang="en-US" sz="2000" spc="-1" strike="noStrike">
                <a:latin typeface="Arial"/>
              </a:rPr>
              <a:t>mpl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wei</a:t>
            </a:r>
            <a:r>
              <a:rPr b="0" lang="en-US" sz="2000" spc="-1" strike="noStrike">
                <a:latin typeface="Arial"/>
              </a:rPr>
              <a:t>ght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10 </a:t>
            </a:r>
            <a:r>
              <a:rPr b="0" lang="en-US" sz="2000" spc="-1" strike="noStrike">
                <a:latin typeface="Arial"/>
              </a:rPr>
              <a:t>indi</a:t>
            </a:r>
            <a:r>
              <a:rPr b="0" lang="en-US" sz="2000" spc="-1" strike="noStrike">
                <a:latin typeface="Arial"/>
              </a:rPr>
              <a:t>vidu</a:t>
            </a:r>
            <a:r>
              <a:rPr b="0" lang="en-US" sz="2000" spc="-1" strike="noStrike">
                <a:latin typeface="Arial"/>
              </a:rPr>
              <a:t>als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69.</a:t>
            </a:r>
            <a:r>
              <a:rPr b="0" lang="en-US" sz="2000" spc="-1" strike="noStrike">
                <a:latin typeface="Arial"/>
              </a:rPr>
              <a:t>6 </a:t>
            </a:r>
            <a:r>
              <a:rPr b="0" lang="en-US" sz="2000" spc="-1" strike="noStrike">
                <a:latin typeface="Arial"/>
              </a:rPr>
              <a:t>kg,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</a:t>
            </a:r>
            <a:r>
              <a:rPr b="0" lang="en-US" sz="2000" spc="-1" strike="noStrike">
                <a:latin typeface="Arial"/>
              </a:rPr>
              <a:t>ght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6.6 </a:t>
            </a:r>
            <a:r>
              <a:rPr b="0" lang="en-US" sz="2000" spc="-1" strike="noStrike">
                <a:latin typeface="Arial"/>
              </a:rPr>
              <a:t>kg.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7FF92C5-0691-4F21-95B5-F14C91166CB2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is a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a.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</a:t>
            </a:r>
            <a:r>
              <a:rPr b="0" lang="en-US" sz="2000" spc="-1" strike="noStrike">
                <a:latin typeface="Arial"/>
              </a:rPr>
              <a:t>mpl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nu</a:t>
            </a:r>
            <a:r>
              <a:rPr b="0" lang="en-US" sz="2000" spc="-1" strike="noStrike">
                <a:latin typeface="Arial"/>
              </a:rPr>
              <a:t>mb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tells </a:t>
            </a:r>
            <a:r>
              <a:rPr b="0" lang="en-US" sz="2000" spc="-1" strike="noStrike">
                <a:latin typeface="Arial"/>
              </a:rPr>
              <a:t>us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per</a:t>
            </a:r>
            <a:r>
              <a:rPr b="0" lang="en-US" sz="2000" spc="-1" strike="noStrike">
                <a:latin typeface="Arial"/>
              </a:rPr>
              <a:t>son </a:t>
            </a:r>
            <a:r>
              <a:rPr b="0" lang="en-US" sz="2000" spc="-1" strike="noStrike">
                <a:latin typeface="Arial"/>
              </a:rPr>
              <a:t>nu</a:t>
            </a:r>
            <a:r>
              <a:rPr b="0" lang="en-US" sz="2000" spc="-1" strike="noStrike">
                <a:latin typeface="Arial"/>
              </a:rPr>
              <a:t>mb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one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dias</a:t>
            </a:r>
            <a:r>
              <a:rPr b="0" lang="en-US" sz="2000" spc="-1" strike="noStrike">
                <a:latin typeface="Arial"/>
              </a:rPr>
              <a:t>tolic </a:t>
            </a:r>
            <a:r>
              <a:rPr b="0" lang="en-US" sz="2000" spc="-1" strike="noStrike">
                <a:latin typeface="Arial"/>
              </a:rPr>
              <a:t>bloo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pre</a:t>
            </a:r>
            <a:r>
              <a:rPr b="0" lang="en-US" sz="2000" spc="-1" strike="noStrike">
                <a:latin typeface="Arial"/>
              </a:rPr>
              <a:t>ssu</a:t>
            </a:r>
            <a:r>
              <a:rPr b="0" lang="en-US" sz="2000" spc="-1" strike="noStrike">
                <a:latin typeface="Arial"/>
              </a:rPr>
              <a:t>re, </a:t>
            </a:r>
            <a:r>
              <a:rPr b="0" lang="en-US" sz="2000" spc="-1" strike="noStrike">
                <a:latin typeface="Arial"/>
              </a:rPr>
              <a:t>whi</a:t>
            </a:r>
            <a:r>
              <a:rPr b="0" lang="en-US" sz="2000" spc="-1" strike="noStrike">
                <a:latin typeface="Arial"/>
              </a:rPr>
              <a:t>ch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0.9</a:t>
            </a:r>
            <a:r>
              <a:rPr b="0" lang="en-US" sz="2000" spc="-1" strike="noStrike">
                <a:latin typeface="Arial"/>
              </a:rPr>
              <a:t>3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ns </a:t>
            </a:r>
            <a:r>
              <a:rPr b="0" lang="en-US" sz="2000" spc="-1" strike="noStrike">
                <a:latin typeface="Arial"/>
              </a:rPr>
              <a:t>bigg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tha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an. </a:t>
            </a:r>
            <a:r>
              <a:rPr b="0" lang="en-US" sz="2000" spc="-1" strike="noStrike">
                <a:latin typeface="Arial"/>
              </a:rPr>
              <a:t>This </a:t>
            </a:r>
            <a:r>
              <a:rPr b="0" lang="en-US" sz="2000" spc="-1" strike="noStrike">
                <a:latin typeface="Arial"/>
              </a:rPr>
              <a:t>valu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bee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calc</a:t>
            </a:r>
            <a:r>
              <a:rPr b="0" lang="en-US" sz="2000" spc="-1" strike="noStrike">
                <a:latin typeface="Arial"/>
              </a:rPr>
              <a:t>ulat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sub</a:t>
            </a:r>
            <a:r>
              <a:rPr b="0" lang="en-US" sz="2000" spc="-1" strike="noStrike">
                <a:latin typeface="Arial"/>
              </a:rPr>
              <a:t>trac</a:t>
            </a:r>
            <a:r>
              <a:rPr b="0" lang="en-US" sz="2000" spc="-1" strike="noStrike">
                <a:latin typeface="Arial"/>
              </a:rPr>
              <a:t>ting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dias</a:t>
            </a:r>
            <a:r>
              <a:rPr b="0" lang="en-US" sz="2000" spc="-1" strike="noStrike">
                <a:latin typeface="Arial"/>
              </a:rPr>
              <a:t>tolic </a:t>
            </a:r>
            <a:r>
              <a:rPr b="0" lang="en-US" sz="2000" spc="-1" strike="noStrike">
                <a:latin typeface="Arial"/>
              </a:rPr>
              <a:t>bloo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pre</a:t>
            </a:r>
            <a:r>
              <a:rPr b="0" lang="en-US" sz="2000" spc="-1" strike="noStrike">
                <a:latin typeface="Arial"/>
              </a:rPr>
              <a:t>ssu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fro</a:t>
            </a:r>
            <a:r>
              <a:rPr b="0" lang="en-US" sz="2000" spc="-1" strike="noStrike">
                <a:latin typeface="Arial"/>
              </a:rPr>
              <a:t>m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origi</a:t>
            </a:r>
            <a:r>
              <a:rPr b="0" lang="en-US" sz="2000" spc="-1" strike="noStrike">
                <a:latin typeface="Arial"/>
              </a:rPr>
              <a:t>nal </a:t>
            </a:r>
            <a:r>
              <a:rPr b="0" lang="en-US" sz="2000" spc="-1" strike="noStrike">
                <a:latin typeface="Arial"/>
              </a:rPr>
              <a:t>valu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divi</a:t>
            </a:r>
            <a:r>
              <a:rPr b="0" lang="en-US" sz="2000" spc="-1" strike="noStrike">
                <a:latin typeface="Arial"/>
              </a:rPr>
              <a:t>de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</a:t>
            </a:r>
            <a:r>
              <a:rPr b="0" lang="en-US" sz="2000" spc="-1" strike="noStrike">
                <a:latin typeface="Arial"/>
              </a:rPr>
              <a:t>esp</a:t>
            </a:r>
            <a:r>
              <a:rPr b="0" lang="en-US" sz="2000" spc="-1" strike="noStrike">
                <a:latin typeface="Arial"/>
              </a:rPr>
              <a:t>ondi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Sin</a:t>
            </a:r>
            <a:r>
              <a:rPr b="0" lang="en-US" sz="2000" spc="-1" strike="noStrike">
                <a:latin typeface="Arial"/>
              </a:rPr>
              <a:t>ce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rdizi</a:t>
            </a:r>
            <a:r>
              <a:rPr b="0" lang="en-US" sz="2000" spc="-1" strike="noStrike">
                <a:latin typeface="Arial"/>
              </a:rPr>
              <a:t>ng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cen</a:t>
            </a:r>
            <a:r>
              <a:rPr b="0" lang="en-US" sz="2000" spc="-1" strike="noStrike">
                <a:latin typeface="Arial"/>
              </a:rPr>
              <a:t>ter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sho</a:t>
            </a:r>
            <a:r>
              <a:rPr b="0" lang="en-US" sz="2000" spc="-1" strike="noStrike">
                <a:latin typeface="Arial"/>
              </a:rPr>
              <a:t>uld </a:t>
            </a:r>
            <a:r>
              <a:rPr b="0" lang="en-US" sz="2000" spc="-1" strike="noStrike">
                <a:latin typeface="Arial"/>
              </a:rPr>
              <a:t>be </a:t>
            </a:r>
            <a:r>
              <a:rPr b="0" lang="en-US" sz="2000" spc="-1" strike="noStrike">
                <a:latin typeface="Arial"/>
              </a:rPr>
              <a:t>equ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zer</a:t>
            </a:r>
            <a:r>
              <a:rPr b="0" lang="en-US" sz="2000" spc="-1" strike="noStrike">
                <a:latin typeface="Arial"/>
              </a:rPr>
              <a:t>o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sinc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divi</a:t>
            </a:r>
            <a:r>
              <a:rPr b="0" lang="en-US" sz="2000" spc="-1" strike="noStrike">
                <a:latin typeface="Arial"/>
              </a:rPr>
              <a:t>de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 </a:t>
            </a:r>
            <a:r>
              <a:rPr b="0" lang="en-US" sz="2000" spc="-1" strike="noStrike">
                <a:latin typeface="Arial"/>
              </a:rPr>
              <a:t>sho</a:t>
            </a:r>
            <a:r>
              <a:rPr b="0" lang="en-US" sz="2000" spc="-1" strike="noStrike">
                <a:latin typeface="Arial"/>
              </a:rPr>
              <a:t>uld </a:t>
            </a:r>
            <a:r>
              <a:rPr b="0" lang="en-US" sz="2000" spc="-1" strike="noStrike">
                <a:latin typeface="Arial"/>
              </a:rPr>
              <a:t>be </a:t>
            </a:r>
            <a:r>
              <a:rPr b="0" lang="en-US" sz="2000" spc="-1" strike="noStrike">
                <a:latin typeface="Arial"/>
              </a:rPr>
              <a:t>equ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one 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2B17FF5-2659-460E-9410-70C6CBCD0025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Now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discu</a:t>
            </a:r>
            <a:r>
              <a:rPr b="0" lang="en-US" sz="2000" spc="-1" strike="noStrike">
                <a:latin typeface="Arial"/>
              </a:rPr>
              <a:t>ss </a:t>
            </a:r>
            <a:r>
              <a:rPr b="0" lang="en-US" sz="2000" spc="-1" strike="noStrike">
                <a:latin typeface="Arial"/>
              </a:rPr>
              <a:t>how </a:t>
            </a:r>
            <a:r>
              <a:rPr b="0" lang="en-US" sz="2000" spc="-1" strike="noStrike">
                <a:latin typeface="Arial"/>
              </a:rPr>
              <a:t>many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</a:t>
            </a:r>
            <a:r>
              <a:rPr b="0" lang="en-US" sz="2000" spc="-1" strike="noStrike">
                <a:latin typeface="Arial"/>
              </a:rPr>
              <a:t>s 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shoul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extra</a:t>
            </a:r>
            <a:r>
              <a:rPr b="0" lang="en-US" sz="2000" spc="-1" strike="noStrike">
                <a:latin typeface="Arial"/>
              </a:rPr>
              <a:t>ct </a:t>
            </a:r>
            <a:r>
              <a:rPr b="0" lang="en-US" sz="2000" spc="-1" strike="noStrike">
                <a:latin typeface="Arial"/>
              </a:rPr>
              <a:t>after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have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uted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PCA.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our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our </a:t>
            </a:r>
            <a:r>
              <a:rPr b="0" lang="en-US" sz="2000" spc="-1" strike="noStrike">
                <a:latin typeface="Arial"/>
              </a:rPr>
              <a:t>previ</a:t>
            </a:r>
            <a:r>
              <a:rPr b="0" lang="en-US" sz="2000" spc="-1" strike="noStrike">
                <a:latin typeface="Arial"/>
              </a:rPr>
              <a:t>ous </a:t>
            </a:r>
            <a:r>
              <a:rPr b="0" lang="en-US" sz="2000" spc="-1" strike="noStrike">
                <a:latin typeface="Arial"/>
              </a:rPr>
              <a:t>exam</a:t>
            </a:r>
            <a:r>
              <a:rPr b="0" lang="en-US" sz="2000" spc="-1" strike="noStrike">
                <a:latin typeface="Arial"/>
              </a:rPr>
              <a:t>ple. </a:t>
            </a: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get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same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as </a:t>
            </a: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ute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eigen</a:t>
            </a:r>
            <a:r>
              <a:rPr b="0" lang="en-US" sz="2000" spc="-1" strike="noStrike">
                <a:latin typeface="Arial"/>
              </a:rPr>
              <a:t>vecto</a:t>
            </a:r>
            <a:r>
              <a:rPr b="0" lang="en-US" sz="2000" spc="-1" strike="noStrike">
                <a:latin typeface="Arial"/>
              </a:rPr>
              <a:t>rs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d 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matri</a:t>
            </a:r>
            <a:r>
              <a:rPr b="0" lang="en-US" sz="2000" spc="-1" strike="noStrike">
                <a:latin typeface="Arial"/>
              </a:rPr>
              <a:t>x, </a:t>
            </a:r>
            <a:r>
              <a:rPr b="0" lang="en-US" sz="2000" spc="-1" strike="noStrike">
                <a:latin typeface="Arial"/>
              </a:rPr>
              <a:t>since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covari</a:t>
            </a:r>
            <a:r>
              <a:rPr b="0" lang="en-US" sz="2000" spc="-1" strike="noStrike">
                <a:latin typeface="Arial"/>
              </a:rPr>
              <a:t>ance </a:t>
            </a:r>
            <a:r>
              <a:rPr b="0" lang="en-US" sz="2000" spc="-1" strike="noStrike">
                <a:latin typeface="Arial"/>
              </a:rPr>
              <a:t>matri</a:t>
            </a:r>
            <a:r>
              <a:rPr b="0" lang="en-US" sz="2000" spc="-1" strike="noStrike">
                <a:latin typeface="Arial"/>
              </a:rPr>
              <a:t>x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d on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data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identi</a:t>
            </a:r>
            <a:r>
              <a:rPr b="0" lang="en-US" sz="2000" spc="-1" strike="noStrike">
                <a:latin typeface="Arial"/>
              </a:rPr>
              <a:t>cal to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correl</a:t>
            </a:r>
            <a:r>
              <a:rPr b="0" lang="en-US" sz="2000" spc="-1" strike="noStrike">
                <a:latin typeface="Arial"/>
              </a:rPr>
              <a:t>ation </a:t>
            </a:r>
            <a:r>
              <a:rPr b="0" lang="en-US" sz="2000" spc="-1" strike="noStrike">
                <a:latin typeface="Arial"/>
              </a:rPr>
              <a:t>matri</a:t>
            </a:r>
            <a:r>
              <a:rPr b="0" lang="en-US" sz="2000" spc="-1" strike="noStrike">
                <a:latin typeface="Arial"/>
              </a:rPr>
              <a:t>x </a:t>
            </a:r>
            <a:r>
              <a:rPr b="0" lang="en-US" sz="2000" spc="-1" strike="noStrike">
                <a:latin typeface="Arial"/>
              </a:rPr>
              <a:t>base</a:t>
            </a:r>
            <a:r>
              <a:rPr b="0" lang="en-US" sz="2000" spc="-1" strike="noStrike">
                <a:latin typeface="Arial"/>
              </a:rPr>
              <a:t>d 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raw </a:t>
            </a:r>
            <a:r>
              <a:rPr b="0" lang="en-US" sz="2000" spc="-1" strike="noStrike">
                <a:latin typeface="Arial"/>
              </a:rPr>
              <a:t>data. </a:t>
            </a:r>
            <a:r>
              <a:rPr b="0" lang="en-US" sz="2000" spc="-1" strike="noStrike">
                <a:latin typeface="Arial"/>
              </a:rPr>
              <a:t>Thes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are </a:t>
            </a:r>
            <a:r>
              <a:rPr b="0" lang="en-US" sz="2000" spc="-1" strike="noStrike">
                <a:latin typeface="Arial"/>
              </a:rPr>
              <a:t>then </a:t>
            </a:r>
            <a:r>
              <a:rPr b="0" lang="en-US" sz="2000" spc="-1" strike="noStrike">
                <a:latin typeface="Arial"/>
              </a:rPr>
              <a:t>used 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coeffi</a:t>
            </a:r>
            <a:r>
              <a:rPr b="0" lang="en-US" sz="2000" spc="-1" strike="noStrike">
                <a:latin typeface="Arial"/>
              </a:rPr>
              <a:t>cients </a:t>
            </a:r>
            <a:r>
              <a:rPr b="0" lang="en-US" sz="2000" spc="-1" strike="noStrike">
                <a:latin typeface="Arial"/>
              </a:rPr>
              <a:t>in the </a:t>
            </a:r>
            <a:r>
              <a:rPr b="0" lang="en-US" sz="2000" spc="-1" strike="noStrike">
                <a:latin typeface="Arial"/>
              </a:rPr>
              <a:t>linear </a:t>
            </a:r>
            <a:r>
              <a:rPr b="0" lang="en-US" sz="2000" spc="-1" strike="noStrike">
                <a:latin typeface="Arial"/>
              </a:rPr>
              <a:t>combi</a:t>
            </a:r>
            <a:r>
              <a:rPr b="0" lang="en-US" sz="2000" spc="-1" strike="noStrike">
                <a:latin typeface="Arial"/>
              </a:rPr>
              <a:t>natio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from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ated </a:t>
            </a:r>
            <a:r>
              <a:rPr b="0" lang="en-US" sz="2000" spc="-1" strike="noStrike">
                <a:latin typeface="Arial"/>
              </a:rPr>
              <a:t>where</a:t>
            </a:r>
            <a:r>
              <a:rPr b="0" lang="en-US" sz="2000" spc="-1" strike="noStrike">
                <a:latin typeface="Arial"/>
              </a:rPr>
              <a:t>as </a:t>
            </a:r>
            <a:r>
              <a:rPr b="0" lang="en-US" sz="2000" spc="-1" strike="noStrike">
                <a:latin typeface="Arial"/>
              </a:rPr>
              <a:t>these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are </a:t>
            </a:r>
            <a:r>
              <a:rPr b="0" lang="en-US" sz="2000" spc="-1" strike="noStrike">
                <a:latin typeface="Arial"/>
              </a:rPr>
              <a:t>used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 for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2,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on. </a:t>
            </a:r>
            <a:r>
              <a:rPr b="0" lang="en-US" sz="2000" spc="-1" strike="noStrike">
                <a:latin typeface="Arial"/>
              </a:rPr>
              <a:t>Note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used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stand</a:t>
            </a:r>
            <a:r>
              <a:rPr b="0" lang="en-US" sz="2000" spc="-1" strike="noStrike">
                <a:latin typeface="Arial"/>
              </a:rPr>
              <a:t>ardiz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data,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is </a:t>
            </a:r>
            <a:r>
              <a:rPr b="0" lang="en-US" sz="2000" spc="-1" strike="noStrike">
                <a:latin typeface="Arial"/>
              </a:rPr>
              <a:t>cente</a:t>
            </a:r>
            <a:r>
              <a:rPr b="0" lang="en-US" sz="2000" spc="-1" strike="noStrike">
                <a:latin typeface="Arial"/>
              </a:rPr>
              <a:t>red </a:t>
            </a:r>
            <a:r>
              <a:rPr b="0" lang="en-US" sz="2000" spc="-1" strike="noStrike">
                <a:latin typeface="Arial"/>
              </a:rPr>
              <a:t>aroun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zero, </a:t>
            </a:r>
            <a:r>
              <a:rPr b="0" lang="en-US" sz="2000" spc="-1" strike="noStrike">
                <a:latin typeface="Arial"/>
              </a:rPr>
              <a:t>which </a:t>
            </a:r>
            <a:r>
              <a:rPr b="0" lang="en-US" sz="2000" spc="-1" strike="noStrike">
                <a:latin typeface="Arial"/>
              </a:rPr>
              <a:t>mean</a:t>
            </a:r>
            <a:r>
              <a:rPr b="0" lang="en-US" sz="2000" spc="-1" strike="noStrike">
                <a:latin typeface="Arial"/>
              </a:rPr>
              <a:t>s that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directl</a:t>
            </a:r>
            <a:r>
              <a:rPr b="0" lang="en-US" sz="2000" spc="-1" strike="noStrike">
                <a:latin typeface="Arial"/>
              </a:rPr>
              <a:t>y </a:t>
            </a:r>
            <a:r>
              <a:rPr b="0" lang="en-US" sz="2000" spc="-1" strike="noStrike">
                <a:latin typeface="Arial"/>
              </a:rPr>
              <a:t>multip</a:t>
            </a:r>
            <a:r>
              <a:rPr b="0" lang="en-US" sz="2000" spc="-1" strike="noStrike">
                <a:latin typeface="Arial"/>
              </a:rPr>
              <a:t>ly the </a:t>
            </a:r>
            <a:r>
              <a:rPr b="0" lang="en-US" sz="2000" spc="-1" strike="noStrike">
                <a:latin typeface="Arial"/>
              </a:rPr>
              <a:t>cente</a:t>
            </a:r>
            <a:r>
              <a:rPr b="0" lang="en-US" sz="2000" spc="-1" strike="noStrike">
                <a:latin typeface="Arial"/>
              </a:rPr>
              <a:t>red </a:t>
            </a:r>
            <a:r>
              <a:rPr b="0" lang="en-US" sz="2000" spc="-1" strike="noStrike">
                <a:latin typeface="Arial"/>
              </a:rPr>
              <a:t>varia</a:t>
            </a:r>
            <a:r>
              <a:rPr b="0" lang="en-US" sz="2000" spc="-1" strike="noStrike">
                <a:latin typeface="Arial"/>
              </a:rPr>
              <a:t>bles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weigh</a:t>
            </a:r>
            <a:r>
              <a:rPr b="0" lang="en-US" sz="2000" spc="-1" strike="noStrike">
                <a:latin typeface="Arial"/>
              </a:rPr>
              <a:t>ts to </a:t>
            </a:r>
            <a:r>
              <a:rPr b="0" lang="en-US" sz="2000" spc="-1" strike="noStrike">
                <a:latin typeface="Arial"/>
              </a:rPr>
              <a:t>calcul</a:t>
            </a:r>
            <a:r>
              <a:rPr b="0" lang="en-US" sz="2000" spc="-1" strike="noStrike">
                <a:latin typeface="Arial"/>
              </a:rPr>
              <a:t>ate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princi</a:t>
            </a:r>
            <a:r>
              <a:rPr b="0" lang="en-US" sz="2000" spc="-1" strike="noStrike">
                <a:latin typeface="Arial"/>
              </a:rPr>
              <a:t>pal </a:t>
            </a:r>
            <a:r>
              <a:rPr b="0" lang="en-US" sz="2000" spc="-1" strike="noStrike">
                <a:latin typeface="Arial"/>
              </a:rPr>
              <a:t>comp</a:t>
            </a:r>
            <a:r>
              <a:rPr b="0" lang="en-US" sz="2000" spc="-1" strike="noStrike">
                <a:latin typeface="Arial"/>
              </a:rPr>
              <a:t>onent </a:t>
            </a:r>
            <a:r>
              <a:rPr b="0" lang="en-US" sz="2000" spc="-1" strike="noStrike">
                <a:latin typeface="Arial"/>
              </a:rPr>
              <a:t>score</a:t>
            </a:r>
            <a:r>
              <a:rPr b="0" lang="en-US" sz="2000" spc="-1" strike="noStrike">
                <a:latin typeface="Arial"/>
              </a:rPr>
              <a:t>s.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GB" sz="2000" spc="-1" strike="noStrike"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B8C24EA-5EFF-458E-B6FE-070D4A8FDA38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If we </a:t>
            </a:r>
            <a:r>
              <a:rPr b="0" lang="en-US" sz="2000" spc="-1" strike="noStrike">
                <a:latin typeface="Arial"/>
              </a:rPr>
              <a:t>use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raw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inst</a:t>
            </a:r>
            <a:r>
              <a:rPr b="0" lang="en-US" sz="2000" spc="-1" strike="noStrike">
                <a:latin typeface="Arial"/>
              </a:rPr>
              <a:t>ead</a:t>
            </a:r>
            <a:r>
              <a:rPr b="0" lang="en-US" sz="2000" spc="-1" strike="noStrike">
                <a:latin typeface="Arial"/>
              </a:rPr>
              <a:t>, we </a:t>
            </a:r>
            <a:r>
              <a:rPr b="0" lang="en-US" sz="2000" spc="-1" strike="noStrike">
                <a:latin typeface="Arial"/>
              </a:rPr>
              <a:t>sho</a:t>
            </a:r>
            <a:r>
              <a:rPr b="0" lang="en-US" sz="2000" spc="-1" strike="noStrike">
                <a:latin typeface="Arial"/>
              </a:rPr>
              <a:t>uld </a:t>
            </a:r>
            <a:r>
              <a:rPr b="0" lang="en-US" sz="2000" spc="-1" strike="noStrike">
                <a:latin typeface="Arial"/>
              </a:rPr>
              <a:t>cen</a:t>
            </a:r>
            <a:r>
              <a:rPr b="0" lang="en-US" sz="2000" spc="-1" strike="noStrike">
                <a:latin typeface="Arial"/>
              </a:rPr>
              <a:t>ter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s, </a:t>
            </a: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sub</a:t>
            </a:r>
            <a:r>
              <a:rPr b="0" lang="en-US" sz="2000" spc="-1" strike="noStrike">
                <a:latin typeface="Arial"/>
              </a:rPr>
              <a:t>trac</a:t>
            </a:r>
            <a:r>
              <a:rPr b="0" lang="en-US" sz="2000" spc="-1" strike="noStrike">
                <a:latin typeface="Arial"/>
              </a:rPr>
              <a:t>ting </a:t>
            </a:r>
            <a:r>
              <a:rPr b="0" lang="en-US" sz="2000" spc="-1" strike="noStrike">
                <a:latin typeface="Arial"/>
              </a:rPr>
              <a:t>with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an, </a:t>
            </a:r>
            <a:r>
              <a:rPr b="0" lang="en-US" sz="2000" spc="-1" strike="noStrike">
                <a:latin typeface="Arial"/>
              </a:rPr>
              <a:t>whe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calc</a:t>
            </a:r>
            <a:r>
              <a:rPr b="0" lang="en-US" sz="2000" spc="-1" strike="noStrike">
                <a:latin typeface="Arial"/>
              </a:rPr>
              <a:t>ulat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</a:t>
            </a:r>
            <a:r>
              <a:rPr b="0" lang="en-US" sz="2000" spc="-1" strike="noStrike">
                <a:latin typeface="Arial"/>
              </a:rPr>
              <a:t>res.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9917AB-09AA-43F2-BA34-3DA4C2B4125E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By </a:t>
            </a:r>
            <a:r>
              <a:rPr b="0" lang="en-US" sz="2000" spc="-1" strike="noStrike">
                <a:latin typeface="Arial"/>
              </a:rPr>
              <a:t>usin</a:t>
            </a:r>
            <a:r>
              <a:rPr b="0" lang="en-US" sz="2000" spc="-1" strike="noStrike">
                <a:latin typeface="Arial"/>
              </a:rPr>
              <a:t>g </a:t>
            </a:r>
            <a:r>
              <a:rPr b="0" lang="en-US" sz="2000" spc="-1" strike="noStrike">
                <a:latin typeface="Arial"/>
              </a:rPr>
              <a:t>the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equ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ns,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can </a:t>
            </a:r>
            <a:r>
              <a:rPr b="0" lang="en-US" sz="2000" spc="-1" strike="noStrike">
                <a:latin typeface="Arial"/>
              </a:rPr>
              <a:t>calc</a:t>
            </a:r>
            <a:r>
              <a:rPr b="0" lang="en-US" sz="2000" spc="-1" strike="noStrike">
                <a:latin typeface="Arial"/>
              </a:rPr>
              <a:t>ulat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</a:t>
            </a:r>
            <a:r>
              <a:rPr b="0" lang="en-US" sz="2000" spc="-1" strike="noStrike">
                <a:latin typeface="Arial"/>
              </a:rPr>
              <a:t>res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two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</a:t>
            </a:r>
            <a:r>
              <a:rPr b="0" lang="en-US" sz="2000" spc="-1" strike="noStrike">
                <a:latin typeface="Arial"/>
              </a:rPr>
              <a:t>s.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exa</a:t>
            </a:r>
            <a:r>
              <a:rPr b="0" lang="en-US" sz="2000" spc="-1" strike="noStrike">
                <a:latin typeface="Arial"/>
              </a:rPr>
              <a:t>mpl</a:t>
            </a:r>
            <a:r>
              <a:rPr b="0" lang="en-US" sz="2000" spc="-1" strike="noStrike">
                <a:latin typeface="Arial"/>
              </a:rPr>
              <a:t>e,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line</a:t>
            </a:r>
            <a:r>
              <a:rPr b="0" lang="en-US" sz="2000" spc="-1" strike="noStrike">
                <a:latin typeface="Arial"/>
              </a:rPr>
              <a:t>ar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bina</a:t>
            </a:r>
            <a:r>
              <a:rPr b="0" lang="en-US" sz="2000" spc="-1" strike="noStrike">
                <a:latin typeface="Arial"/>
              </a:rPr>
              <a:t>tion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the</a:t>
            </a:r>
            <a:r>
              <a:rPr b="0" lang="en-US" sz="2000" spc="-1" strike="noStrike">
                <a:latin typeface="Arial"/>
              </a:rPr>
              <a:t>se </a:t>
            </a:r>
            <a:r>
              <a:rPr b="0" lang="en-US" sz="2000" spc="-1" strike="noStrike">
                <a:latin typeface="Arial"/>
              </a:rPr>
              <a:t>four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bas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on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wei</a:t>
            </a:r>
            <a:r>
              <a:rPr b="0" lang="en-US" sz="2000" spc="-1" strike="noStrike">
                <a:latin typeface="Arial"/>
              </a:rPr>
              <a:t>ght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1, </a:t>
            </a:r>
            <a:r>
              <a:rPr b="0" lang="en-US" sz="2000" spc="-1" strike="noStrike">
                <a:latin typeface="Arial"/>
              </a:rPr>
              <a:t>res</a:t>
            </a:r>
            <a:r>
              <a:rPr b="0" lang="en-US" sz="2000" spc="-1" strike="noStrike">
                <a:latin typeface="Arial"/>
              </a:rPr>
              <a:t>ults </a:t>
            </a:r>
            <a:r>
              <a:rPr b="0" lang="en-US" sz="2000" spc="-1" strike="noStrike">
                <a:latin typeface="Arial"/>
              </a:rPr>
              <a:t>in a </a:t>
            </a:r>
            <a:r>
              <a:rPr b="0" lang="en-US" sz="2000" spc="-1" strike="noStrike">
                <a:latin typeface="Arial"/>
              </a:rPr>
              <a:t>valu</a:t>
            </a:r>
            <a:r>
              <a:rPr b="0" lang="en-US" sz="2000" spc="-1" strike="noStrike">
                <a:latin typeface="Arial"/>
              </a:rPr>
              <a:t>e of </a:t>
            </a:r>
            <a:r>
              <a:rPr b="0" lang="en-US" sz="2000" spc="-1" strike="noStrike">
                <a:latin typeface="Arial"/>
              </a:rPr>
              <a:t>-</a:t>
            </a:r>
            <a:r>
              <a:rPr b="0" lang="en-US" sz="2000" spc="-1" strike="noStrike">
                <a:latin typeface="Arial"/>
              </a:rPr>
              <a:t>0.6</a:t>
            </a:r>
            <a:r>
              <a:rPr b="0" lang="en-US" sz="2000" spc="-1" strike="noStrike">
                <a:latin typeface="Arial"/>
              </a:rPr>
              <a:t>2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per</a:t>
            </a:r>
            <a:r>
              <a:rPr b="0" lang="en-US" sz="2000" spc="-1" strike="noStrike">
                <a:latin typeface="Arial"/>
              </a:rPr>
              <a:t>son </a:t>
            </a:r>
            <a:r>
              <a:rPr b="0" lang="en-US" sz="2000" spc="-1" strike="noStrike">
                <a:latin typeface="Arial"/>
              </a:rPr>
              <a:t>nu</a:t>
            </a:r>
            <a:r>
              <a:rPr b="0" lang="en-US" sz="2000" spc="-1" strike="noStrike">
                <a:latin typeface="Arial"/>
              </a:rPr>
              <a:t>mb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1. 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0FC4E2-ABF8-4254-958D-1481CAD45DA8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Reme</a:t>
            </a:r>
            <a:r>
              <a:rPr b="0" lang="en-US" sz="2000" spc="-1" strike="noStrike">
                <a:latin typeface="Arial"/>
              </a:rPr>
              <a:t>mb</a:t>
            </a:r>
            <a:r>
              <a:rPr b="0" lang="en-US" sz="2000" spc="-1" strike="noStrike">
                <a:latin typeface="Arial"/>
              </a:rPr>
              <a:t>er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</a:t>
            </a:r>
            <a:r>
              <a:rPr b="0" lang="en-US" sz="2000" spc="-1" strike="noStrike">
                <a:latin typeface="Arial"/>
              </a:rPr>
              <a:t>ed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able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hav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zer</a:t>
            </a:r>
            <a:r>
              <a:rPr b="0" lang="en-US" sz="2000" spc="-1" strike="noStrike">
                <a:latin typeface="Arial"/>
              </a:rPr>
              <a:t>o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 or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equ</a:t>
            </a:r>
            <a:r>
              <a:rPr b="0" lang="en-US" sz="2000" spc="-1" strike="noStrike">
                <a:latin typeface="Arial"/>
              </a:rPr>
              <a:t>al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one</a:t>
            </a:r>
            <a:r>
              <a:rPr b="0" lang="en-US" sz="2000" spc="-1" strike="noStrike">
                <a:latin typeface="Arial"/>
              </a:rPr>
              <a:t>.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see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</a:t>
            </a:r>
            <a:r>
              <a:rPr b="0" lang="en-US" sz="2000" spc="-1" strike="noStrike">
                <a:latin typeface="Arial"/>
              </a:rPr>
              <a:t>res,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tran</a:t>
            </a:r>
            <a:r>
              <a:rPr b="0" lang="en-US" sz="2000" spc="-1" strike="noStrike">
                <a:latin typeface="Arial"/>
              </a:rPr>
              <a:t>sfor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a, </a:t>
            </a:r>
            <a:r>
              <a:rPr b="0" lang="en-US" sz="2000" spc="-1" strike="noStrike">
                <a:latin typeface="Arial"/>
              </a:rPr>
              <a:t>also </a:t>
            </a:r>
            <a:r>
              <a:rPr b="0" lang="en-US" sz="2000" spc="-1" strike="noStrike">
                <a:latin typeface="Arial"/>
              </a:rPr>
              <a:t>hav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me</a:t>
            </a:r>
            <a:r>
              <a:rPr b="0" lang="en-US" sz="2000" spc="-1" strike="noStrike">
                <a:latin typeface="Arial"/>
              </a:rPr>
              <a:t>an </a:t>
            </a:r>
            <a:r>
              <a:rPr b="0" lang="en-US" sz="2000" spc="-1" strike="noStrike">
                <a:latin typeface="Arial"/>
              </a:rPr>
              <a:t>of </a:t>
            </a:r>
            <a:r>
              <a:rPr b="0" lang="en-US" sz="2000" spc="-1" strike="noStrike">
                <a:latin typeface="Arial"/>
              </a:rPr>
              <a:t>zer</a:t>
            </a:r>
            <a:r>
              <a:rPr b="0" lang="en-US" sz="2000" spc="-1" strike="noStrike">
                <a:latin typeface="Arial"/>
              </a:rPr>
              <a:t>o. </a:t>
            </a:r>
            <a:r>
              <a:rPr b="0" lang="en-US" sz="2000" spc="-1" strike="noStrike">
                <a:latin typeface="Arial"/>
              </a:rPr>
              <a:t>Ho</a:t>
            </a:r>
            <a:r>
              <a:rPr b="0" lang="en-US" sz="2000" spc="-1" strike="noStrike">
                <a:latin typeface="Arial"/>
              </a:rPr>
              <a:t>wev</a:t>
            </a:r>
            <a:r>
              <a:rPr b="0" lang="en-US" sz="2000" spc="-1" strike="noStrike">
                <a:latin typeface="Arial"/>
              </a:rPr>
              <a:t>er,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es </a:t>
            </a:r>
            <a:r>
              <a:rPr b="0" lang="en-US" sz="2000" spc="-1" strike="noStrike">
                <a:latin typeface="Arial"/>
              </a:rPr>
              <a:t>hav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cha</a:t>
            </a:r>
            <a:r>
              <a:rPr b="0" lang="en-US" sz="2000" spc="-1" strike="noStrike">
                <a:latin typeface="Arial"/>
              </a:rPr>
              <a:t>nge</a:t>
            </a:r>
            <a:r>
              <a:rPr b="0" lang="en-US" sz="2000" spc="-1" strike="noStrike">
                <a:latin typeface="Arial"/>
              </a:rPr>
              <a:t>d </a:t>
            </a:r>
            <a:r>
              <a:rPr b="0" lang="en-US" sz="2000" spc="-1" strike="noStrike">
                <a:latin typeface="Arial"/>
              </a:rPr>
              <a:t>sinc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PC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rota</a:t>
            </a:r>
            <a:r>
              <a:rPr b="0" lang="en-US" sz="2000" spc="-1" strike="noStrike">
                <a:latin typeface="Arial"/>
              </a:rPr>
              <a:t>ted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dat</a:t>
            </a:r>
            <a:r>
              <a:rPr b="0" lang="en-US" sz="2000" spc="-1" strike="noStrike">
                <a:latin typeface="Arial"/>
              </a:rPr>
              <a:t>a in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way </a:t>
            </a:r>
            <a:r>
              <a:rPr b="0" lang="en-US" sz="2000" spc="-1" strike="noStrike">
                <a:latin typeface="Arial"/>
              </a:rPr>
              <a:t>to </a:t>
            </a:r>
            <a:r>
              <a:rPr b="0" lang="en-US" sz="2000" spc="-1" strike="noStrike">
                <a:latin typeface="Arial"/>
              </a:rPr>
              <a:t>max</a:t>
            </a:r>
            <a:r>
              <a:rPr b="0" lang="en-US" sz="2000" spc="-1" strike="noStrike">
                <a:latin typeface="Arial"/>
              </a:rPr>
              <a:t>imiz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ent.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first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 of </a:t>
            </a:r>
            <a:r>
              <a:rPr b="0" lang="en-US" sz="2000" spc="-1" strike="noStrike">
                <a:latin typeface="Arial"/>
              </a:rPr>
              <a:t>2.4</a:t>
            </a:r>
            <a:r>
              <a:rPr b="0" lang="en-US" sz="2000" spc="-1" strike="noStrike">
                <a:latin typeface="Arial"/>
              </a:rPr>
              <a:t>1, </a:t>
            </a:r>
            <a:r>
              <a:rPr b="0" lang="en-US" sz="2000" spc="-1" strike="noStrike">
                <a:latin typeface="Arial"/>
              </a:rPr>
              <a:t>whe</a:t>
            </a:r>
            <a:r>
              <a:rPr b="0" lang="en-US" sz="2000" spc="-1" strike="noStrike">
                <a:latin typeface="Arial"/>
              </a:rPr>
              <a:t>rea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 </a:t>
            </a:r>
            <a:r>
              <a:rPr b="0" lang="en-US" sz="2000" spc="-1" strike="noStrike">
                <a:latin typeface="Arial"/>
              </a:rPr>
              <a:t>2 </a:t>
            </a:r>
            <a:r>
              <a:rPr b="0" lang="en-US" sz="2000" spc="-1" strike="noStrike">
                <a:latin typeface="Arial"/>
              </a:rPr>
              <a:t>has </a:t>
            </a:r>
            <a:r>
              <a:rPr b="0" lang="en-US" sz="2000" spc="-1" strike="noStrike">
                <a:latin typeface="Arial"/>
              </a:rPr>
              <a:t>a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 of </a:t>
            </a:r>
            <a:r>
              <a:rPr b="0" lang="en-US" sz="2000" spc="-1" strike="noStrike">
                <a:latin typeface="Arial"/>
              </a:rPr>
              <a:t>1.4</a:t>
            </a:r>
            <a:r>
              <a:rPr b="0" lang="en-US" sz="2000" spc="-1" strike="noStrike">
                <a:latin typeface="Arial"/>
              </a:rPr>
              <a:t>5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so </a:t>
            </a:r>
            <a:r>
              <a:rPr b="0" lang="en-US" sz="2000" spc="-1" strike="noStrike">
                <a:latin typeface="Arial"/>
              </a:rPr>
              <a:t>on.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CF0D001-9B34-496F-BDF7-B60EA9249CF0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If the </a:t>
            </a:r>
            <a:r>
              <a:rPr b="0" lang="en-US" sz="2000" spc="-1" strike="noStrike">
                <a:latin typeface="Arial"/>
              </a:rPr>
              <a:t>sco</a:t>
            </a:r>
            <a:r>
              <a:rPr b="0" lang="en-US" sz="2000" spc="-1" strike="noStrike">
                <a:latin typeface="Arial"/>
              </a:rPr>
              <a:t>re </a:t>
            </a:r>
            <a:r>
              <a:rPr b="0" lang="en-US" sz="2000" spc="-1" strike="noStrike">
                <a:latin typeface="Arial"/>
              </a:rPr>
              <a:t>for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prin</a:t>
            </a:r>
            <a:r>
              <a:rPr b="0" lang="en-US" sz="2000" spc="-1" strike="noStrike">
                <a:latin typeface="Arial"/>
              </a:rPr>
              <a:t>cipa</a:t>
            </a:r>
            <a:r>
              <a:rPr b="0" lang="en-US" sz="2000" spc="-1" strike="noStrike">
                <a:latin typeface="Arial"/>
              </a:rPr>
              <a:t>l </a:t>
            </a:r>
            <a:r>
              <a:rPr b="0" lang="en-US" sz="2000" spc="-1" strike="noStrike">
                <a:latin typeface="Arial"/>
              </a:rPr>
              <a:t>com</a:t>
            </a:r>
            <a:r>
              <a:rPr b="0" lang="en-US" sz="2000" spc="-1" strike="noStrike">
                <a:latin typeface="Arial"/>
              </a:rPr>
              <a:t>pon</a:t>
            </a:r>
            <a:r>
              <a:rPr b="0" lang="en-US" sz="2000" spc="-1" strike="noStrike">
                <a:latin typeface="Arial"/>
              </a:rPr>
              <a:t>ent</a:t>
            </a:r>
            <a:r>
              <a:rPr b="0" lang="en-US" sz="2000" spc="-1" strike="noStrike">
                <a:latin typeface="Arial"/>
              </a:rPr>
              <a:t>s </a:t>
            </a:r>
            <a:r>
              <a:rPr b="0" lang="en-US" sz="2000" spc="-1" strike="noStrike">
                <a:latin typeface="Arial"/>
              </a:rPr>
              <a:t>hav</a:t>
            </a:r>
            <a:r>
              <a:rPr b="0" lang="en-US" sz="2000" spc="-1" strike="noStrike">
                <a:latin typeface="Arial"/>
              </a:rPr>
              <a:t>e a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 </a:t>
            </a:r>
            <a:r>
              <a:rPr b="0" lang="en-US" sz="2000" spc="-1" strike="noStrike">
                <a:latin typeface="Arial"/>
              </a:rPr>
              <a:t>devi</a:t>
            </a:r>
            <a:r>
              <a:rPr b="0" lang="en-US" sz="2000" spc="-1" strike="noStrike">
                <a:latin typeface="Arial"/>
              </a:rPr>
              <a:t>atio</a:t>
            </a:r>
            <a:r>
              <a:rPr b="0" lang="en-US" sz="2000" spc="-1" strike="noStrike">
                <a:latin typeface="Arial"/>
              </a:rPr>
              <a:t>n of </a:t>
            </a:r>
            <a:r>
              <a:rPr b="0" lang="en-US" sz="2000" spc="-1" strike="noStrike">
                <a:latin typeface="Arial"/>
              </a:rPr>
              <a:t>1, </a:t>
            </a:r>
            <a:r>
              <a:rPr b="0" lang="en-US" sz="2000" spc="-1" strike="noStrike">
                <a:latin typeface="Arial"/>
              </a:rPr>
              <a:t>whi</a:t>
            </a:r>
            <a:r>
              <a:rPr b="0" lang="en-US" sz="2000" spc="-1" strike="noStrike">
                <a:latin typeface="Arial"/>
              </a:rPr>
              <a:t>ch </a:t>
            </a:r>
            <a:r>
              <a:rPr b="0" lang="en-US" sz="2000" spc="-1" strike="noStrike">
                <a:latin typeface="Arial"/>
              </a:rPr>
              <a:t>will </a:t>
            </a:r>
            <a:r>
              <a:rPr b="0" lang="en-US" sz="2000" spc="-1" strike="noStrike">
                <a:latin typeface="Arial"/>
              </a:rPr>
              <a:t>res</a:t>
            </a:r>
            <a:r>
              <a:rPr b="0" lang="en-US" sz="2000" spc="-1" strike="noStrike">
                <a:latin typeface="Arial"/>
              </a:rPr>
              <a:t>ult </a:t>
            </a:r>
            <a:r>
              <a:rPr b="0" lang="en-US" sz="2000" spc="-1" strike="noStrike">
                <a:latin typeface="Arial"/>
              </a:rPr>
              <a:t>in a </a:t>
            </a:r>
            <a:r>
              <a:rPr b="0" lang="en-US" sz="2000" spc="-1" strike="noStrike">
                <a:latin typeface="Arial"/>
              </a:rPr>
              <a:t>vari</a:t>
            </a:r>
            <a:r>
              <a:rPr b="0" lang="en-US" sz="2000" spc="-1" strike="noStrike">
                <a:latin typeface="Arial"/>
              </a:rPr>
              <a:t>anc</a:t>
            </a:r>
            <a:r>
              <a:rPr b="0" lang="en-US" sz="2000" spc="-1" strike="noStrike">
                <a:latin typeface="Arial"/>
              </a:rPr>
              <a:t>e of </a:t>
            </a:r>
            <a:r>
              <a:rPr b="0" lang="en-US" sz="2000" spc="-1" strike="noStrike">
                <a:latin typeface="Arial"/>
              </a:rPr>
              <a:t>1 </a:t>
            </a:r>
            <a:r>
              <a:rPr b="0" lang="en-US" sz="2000" spc="-1" strike="noStrike">
                <a:latin typeface="Arial"/>
              </a:rPr>
              <a:t>the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kno</a:t>
            </a:r>
            <a:r>
              <a:rPr b="0" lang="en-US" sz="2000" spc="-1" strike="noStrike">
                <a:latin typeface="Arial"/>
              </a:rPr>
              <a:t>w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sco</a:t>
            </a:r>
            <a:r>
              <a:rPr b="0" lang="en-US" sz="2000" spc="-1" strike="noStrike">
                <a:latin typeface="Arial"/>
              </a:rPr>
              <a:t>res </a:t>
            </a:r>
            <a:r>
              <a:rPr b="0" lang="en-US" sz="2000" spc="-1" strike="noStrike">
                <a:latin typeface="Arial"/>
              </a:rPr>
              <a:t>hav</a:t>
            </a:r>
            <a:r>
              <a:rPr b="0" lang="en-US" sz="2000" spc="-1" strike="noStrike">
                <a:latin typeface="Arial"/>
              </a:rPr>
              <a:t>e </a:t>
            </a:r>
            <a:r>
              <a:rPr b="0" lang="en-US" sz="2000" spc="-1" strike="noStrike">
                <a:latin typeface="Arial"/>
              </a:rPr>
              <a:t>bee</a:t>
            </a:r>
            <a:r>
              <a:rPr b="0" lang="en-US" sz="2000" spc="-1" strike="noStrike">
                <a:latin typeface="Arial"/>
              </a:rPr>
              <a:t>n </a:t>
            </a:r>
            <a:r>
              <a:rPr b="0" lang="en-US" sz="2000" spc="-1" strike="noStrike">
                <a:latin typeface="Arial"/>
              </a:rPr>
              <a:t>sta</a:t>
            </a:r>
            <a:r>
              <a:rPr b="0" lang="en-US" sz="2000" spc="-1" strike="noStrike">
                <a:latin typeface="Arial"/>
              </a:rPr>
              <a:t>nda</a:t>
            </a:r>
            <a:r>
              <a:rPr b="0" lang="en-US" sz="2000" spc="-1" strike="noStrike">
                <a:latin typeface="Arial"/>
              </a:rPr>
              <a:t>rdiz</a:t>
            </a:r>
            <a:r>
              <a:rPr b="0" lang="en-US" sz="2000" spc="-1" strike="noStrike">
                <a:latin typeface="Arial"/>
              </a:rPr>
              <a:t>ed.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E3C8C4A-C54A-4739-9B97-B0ED29EFF486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The purpose of PCA is to reduce the number of variables in the dataset. However, we </a:t>
            </a:r>
            <a:r>
              <a:rPr b="0" lang="en-US" sz="2000" spc="-1" strike="noStrike">
                <a:latin typeface="Arial"/>
              </a:rPr>
              <a:t>started with 4 variables and after we ran PCA, we still have 4 variables so we should </a:t>
            </a:r>
            <a:r>
              <a:rPr b="0" lang="en-US" sz="2000" spc="-1" strike="noStrike">
                <a:latin typeface="Arial"/>
              </a:rPr>
              <a:t>delete one or more principal components to reduce the number of variables. What </a:t>
            </a:r>
            <a:r>
              <a:rPr b="0" lang="en-US" sz="2000" spc="-1" strike="noStrike">
                <a:latin typeface="Arial"/>
              </a:rPr>
              <a:t>criteria should we use to delete a principal component?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256AA85-98CB-48C9-BD4F-CDFBDE0E00BE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Select the smallest the number of components that together hold about 80 -90% of the </a:t>
            </a:r>
            <a:r>
              <a:rPr b="0" lang="en-US" sz="2000" spc="-1" strike="noStrike">
                <a:latin typeface="Arial"/>
              </a:rPr>
              <a:t>total variance. We calculate how much variance the first component holds by dividing </a:t>
            </a:r>
            <a:r>
              <a:rPr b="0" lang="en-US" sz="2000" spc="-1" strike="noStrike">
                <a:latin typeface="Arial"/>
              </a:rPr>
              <a:t>2.41 by 4, which is the total variance. The first principal component contains about 60% </a:t>
            </a:r>
            <a:r>
              <a:rPr b="0" lang="en-US" sz="2000" spc="-1" strike="noStrike">
                <a:latin typeface="Arial"/>
              </a:rPr>
              <a:t>of the total variance. And the second component contains about 36% of the total </a:t>
            </a:r>
            <a:r>
              <a:rPr b="0" lang="en-US" sz="2000" spc="-1" strike="noStrike">
                <a:latin typeface="Arial"/>
              </a:rPr>
              <a:t>variance. The first two principal components explain 96.4% of the total variance. Thus, </a:t>
            </a:r>
            <a:r>
              <a:rPr b="0" lang="en-US" sz="2000" spc="-1" strike="noStrike">
                <a:latin typeface="Arial"/>
              </a:rPr>
              <a:t>the smallest number of components explain about 80 – 90% of the variance is 2.</a:t>
            </a:r>
            <a:r>
              <a:rPr b="0" lang="en-US" sz="2000" spc="-1" strike="noStrike">
                <a:latin typeface="Arial"/>
              </a:rPr>
              <a:t>	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5BCB2C-9E5F-4A65-B7F7-75EF5C922B4B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Since the variances of the </a:t>
            </a:r>
            <a:r>
              <a:rPr b="0" lang="en-US" sz="2000" spc="-1" strike="noStrike">
                <a:latin typeface="Arial"/>
              </a:rPr>
              <a:t>different components are equal </a:t>
            </a:r>
            <a:r>
              <a:rPr b="0" lang="en-US" sz="2000" spc="-1" strike="noStrike">
                <a:latin typeface="Arial"/>
              </a:rPr>
              <a:t>to the eigenvalues, these values </a:t>
            </a:r>
            <a:r>
              <a:rPr b="0" lang="en-US" sz="2000" spc="-1" strike="noStrike">
                <a:latin typeface="Arial"/>
              </a:rPr>
              <a:t>also represent the </a:t>
            </a:r>
            <a:r>
              <a:rPr b="0" lang="en-US" sz="2000" spc="-1" strike="noStrike">
                <a:latin typeface="Arial"/>
              </a:rPr>
              <a:t>corresponding eigenvalues. We </a:t>
            </a:r>
            <a:r>
              <a:rPr b="0" lang="en-US" sz="2000" spc="-1" strike="noStrike">
                <a:latin typeface="Arial"/>
              </a:rPr>
              <a:t>have 4 standardized variables, </a:t>
            </a:r>
            <a:r>
              <a:rPr b="0" lang="en-US" sz="2000" spc="-1" strike="noStrike">
                <a:latin typeface="Arial"/>
              </a:rPr>
              <a:t>total variance is 4. The mean of </a:t>
            </a:r>
            <a:r>
              <a:rPr b="0" lang="en-US" sz="2000" spc="-1" strike="noStrike">
                <a:latin typeface="Arial"/>
              </a:rPr>
              <a:t>variance, or eigenvalues is </a:t>
            </a:r>
            <a:r>
              <a:rPr b="0" lang="en-US" sz="2000" spc="-1" strike="noStrike">
                <a:latin typeface="Arial"/>
              </a:rPr>
              <a:t>4/4=1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9AA29C-0C0C-405B-B397-9C78171DBFA5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By using </a:t>
            </a:r>
            <a:r>
              <a:rPr b="0" lang="en-US" sz="2000" spc="-1" strike="noStrike">
                <a:latin typeface="Arial"/>
              </a:rPr>
              <a:t>Scree </a:t>
            </a:r>
            <a:r>
              <a:rPr b="0" lang="en-US" sz="2000" spc="-1" strike="noStrike">
                <a:latin typeface="Arial"/>
              </a:rPr>
              <a:t>plot, </a:t>
            </a:r>
            <a:r>
              <a:rPr b="0" lang="en-US" sz="2000" spc="-1" strike="noStrike">
                <a:latin typeface="Arial"/>
              </a:rPr>
              <a:t>we </a:t>
            </a:r>
            <a:r>
              <a:rPr b="0" lang="en-US" sz="2000" spc="-1" strike="noStrike">
                <a:latin typeface="Arial"/>
              </a:rPr>
              <a:t>should </a:t>
            </a:r>
            <a:r>
              <a:rPr b="0" lang="en-US" sz="2000" spc="-1" strike="noStrike">
                <a:latin typeface="Arial"/>
              </a:rPr>
              <a:t>only </a:t>
            </a:r>
            <a:r>
              <a:rPr b="0" lang="en-US" sz="2000" spc="-1" strike="noStrike">
                <a:latin typeface="Arial"/>
              </a:rPr>
              <a:t>select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compo</a:t>
            </a:r>
            <a:r>
              <a:rPr b="0" lang="en-US" sz="2000" spc="-1" strike="noStrike">
                <a:latin typeface="Arial"/>
              </a:rPr>
              <a:t>nents </a:t>
            </a:r>
            <a:r>
              <a:rPr b="0" lang="en-US" sz="2000" spc="-1" strike="noStrike">
                <a:latin typeface="Arial"/>
              </a:rPr>
              <a:t>that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involve</a:t>
            </a:r>
            <a:r>
              <a:rPr b="0" lang="en-US" sz="2000" spc="-1" strike="noStrike">
                <a:latin typeface="Arial"/>
              </a:rPr>
              <a:t>d in the </a:t>
            </a:r>
            <a:r>
              <a:rPr b="0" lang="en-US" sz="2000" spc="-1" strike="noStrike">
                <a:latin typeface="Arial"/>
              </a:rPr>
              <a:t>steep </a:t>
            </a:r>
            <a:r>
              <a:rPr b="0" lang="en-US" sz="2000" spc="-1" strike="noStrike">
                <a:latin typeface="Arial"/>
              </a:rPr>
              <a:t>part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curve. </a:t>
            </a:r>
            <a:r>
              <a:rPr b="0" lang="en-US" sz="2000" spc="-1" strike="noStrike">
                <a:latin typeface="Arial"/>
              </a:rPr>
              <a:t>There </a:t>
            </a:r>
            <a:r>
              <a:rPr b="0" lang="en-US" sz="2000" spc="-1" strike="noStrike">
                <a:latin typeface="Arial"/>
              </a:rPr>
              <a:t>are 2 </a:t>
            </a:r>
            <a:r>
              <a:rPr b="0" lang="en-US" sz="2000" spc="-1" strike="noStrike">
                <a:latin typeface="Arial"/>
              </a:rPr>
              <a:t>points </a:t>
            </a:r>
            <a:r>
              <a:rPr b="0" lang="en-US" sz="2000" spc="-1" strike="noStrike">
                <a:latin typeface="Arial"/>
              </a:rPr>
              <a:t>are </a:t>
            </a:r>
            <a:r>
              <a:rPr b="0" lang="en-US" sz="2000" spc="-1" strike="noStrike">
                <a:latin typeface="Arial"/>
              </a:rPr>
              <a:t>involve</a:t>
            </a:r>
            <a:r>
              <a:rPr b="0" lang="en-US" sz="2000" spc="-1" strike="noStrike">
                <a:latin typeface="Arial"/>
              </a:rPr>
              <a:t>d in the </a:t>
            </a:r>
            <a:r>
              <a:rPr b="0" lang="en-US" sz="2000" spc="-1" strike="noStrike">
                <a:latin typeface="Arial"/>
              </a:rPr>
              <a:t>steep </a:t>
            </a:r>
            <a:r>
              <a:rPr b="0" lang="en-US" sz="2000" spc="-1" strike="noStrike">
                <a:latin typeface="Arial"/>
              </a:rPr>
              <a:t>part of </a:t>
            </a:r>
            <a:r>
              <a:rPr b="0" lang="en-US" sz="2000" spc="-1" strike="noStrike">
                <a:latin typeface="Arial"/>
              </a:rPr>
              <a:t>the </a:t>
            </a:r>
            <a:r>
              <a:rPr b="0" lang="en-US" sz="2000" spc="-1" strike="noStrike">
                <a:latin typeface="Arial"/>
              </a:rPr>
              <a:t>curve, </a:t>
            </a:r>
            <a:r>
              <a:rPr b="0" lang="en-US" sz="2000" spc="-1" strike="noStrike">
                <a:latin typeface="Arial"/>
              </a:rPr>
              <a:t>so we </a:t>
            </a:r>
            <a:r>
              <a:rPr b="0" lang="en-US" sz="2000" spc="-1" strike="noStrike">
                <a:latin typeface="Arial"/>
              </a:rPr>
              <a:t>retain </a:t>
            </a:r>
            <a:r>
              <a:rPr b="0" lang="en-US" sz="2000" spc="-1" strike="noStrike">
                <a:latin typeface="Arial"/>
              </a:rPr>
              <a:t>PC1 </a:t>
            </a:r>
            <a:r>
              <a:rPr b="0" lang="en-US" sz="2000" spc="-1" strike="noStrike">
                <a:latin typeface="Arial"/>
              </a:rPr>
              <a:t>and </a:t>
            </a:r>
            <a:r>
              <a:rPr b="0" lang="en-US" sz="2000" spc="-1" strike="noStrike">
                <a:latin typeface="Arial"/>
              </a:rPr>
              <a:t>PC2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DD68C82-7936-42CD-A4E2-A95954E2D146}" type="slidenum">
              <a:rPr b="0" lang="en-US" sz="1200" spc="-1" strike="noStrike">
                <a:latin typeface="Times New Roman"/>
              </a:rPr>
              <a:t>9</a:t>
            </a:fld>
            <a:endParaRPr b="0" lang="en-GB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5E7032C-D848-4B67-A475-059CA9C1C8C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4096FB-D85C-4EB4-81B5-DF480C84C25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A34457-8B97-4383-81F7-E2B578476AD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2E1C19-5262-464D-837E-B6F354D72B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245D7A-5F28-44BF-99F2-5EF5B9F733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F7B9A49-351F-4772-8454-CFF19A92B7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53F9BE-0065-40FF-83D6-0FA706709C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FCFC13-BA44-447B-BB4C-41B675770A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7D51AE-F5C7-47C0-ABBE-9122171179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2F39B0-2A0C-45F9-AEA4-2B2C6CD1100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C5081F-88FC-434E-8009-2C905FE4484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0483E9-52FE-4B39-BABF-2A0A91EEF43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E9FE8C-6D39-47BD-A7A3-E95AB355FC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3DF3D5-2333-4CC4-8891-F62976C839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D04283-049E-45C7-A6BD-B1C0C3CBBB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1A2D17-6422-4B06-B828-1D95C383CDC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3DA1F1-79C2-4C02-8BC8-9433532CCC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GB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E7F0CE-CDCD-44E9-90F7-E20F03D25A7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866069-E5E7-481C-B4B5-20BA5627EC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CC9EB14-4CF4-4422-9439-1E7C630F756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77FE1B-B71F-47A2-8B77-D1C55CFE01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5DFCC9-CD58-44BC-B276-43655AED0A7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CF6155-BF6F-4917-8E0E-4E051372806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6AE8EAC-6274-4FFA-9F5F-620AD28CD98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Master title </a:t>
            </a: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846B3F-2CCF-4260-BF14-7ABD18B8708C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k to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edit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Ma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ster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title 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styl</a:t>
            </a: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GB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GB" sz="1400" spc="-1" strike="noStrike">
                <a:latin typeface="Times New Roman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5754FFE-23CF-4C71-8144-90F5BA05727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11775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P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C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A 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– 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Pa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rt </a:t>
            </a:r>
            <a:r>
              <a:rPr b="1" lang="en-US" sz="6000" spc="-1" strike="noStrike">
                <a:solidFill>
                  <a:srgbClr val="000000"/>
                </a:solidFill>
                <a:latin typeface="Calibri Light"/>
              </a:rPr>
              <a:t>1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1523880" y="2921400"/>
            <a:ext cx="9143640" cy="23360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Sta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nd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ard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iza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tio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n</a:t>
            </a:r>
            <a:endParaRPr b="0" lang="en-GB" sz="3600" spc="-1" strike="noStrike">
              <a:latin typeface="Arial"/>
            </a:endParaRPr>
          </a:p>
          <a:p>
            <a:pPr marL="343080" indent="-34308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Ext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rac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co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mp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on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ent</a:t>
            </a:r>
            <a:r>
              <a:rPr b="0" lang="en-US" sz="3600" spc="-1" strike="noStrike">
                <a:solidFill>
                  <a:srgbClr val="000000"/>
                </a:solidFill>
                <a:latin typeface="Calibri"/>
              </a:rPr>
              <a:t>s</a:t>
            </a:r>
            <a:endParaRPr b="0" lang="en-GB" sz="3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able 31"/>
          <p:cNvGraphicFramePr/>
          <p:nvPr/>
        </p:nvGraphicFramePr>
        <p:xfrm>
          <a:off x="4038480" y="4848120"/>
          <a:ext cx="7186320" cy="1042560"/>
        </p:xfrm>
        <a:graphic>
          <a:graphicData uri="http://schemas.openxmlformats.org/drawingml/2006/table">
            <a:tbl>
              <a:tblPr/>
              <a:tblGrid>
                <a:gridCol w="7186320"/>
              </a:tblGrid>
              <a:tr h="1042920">
                <a:tc>
                  <a:txBody>
                    <a:bodyPr lIns="8640" rIns="8640" tIns="86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 = 0.73*Weight + 0.68*Height</a:t>
                      </a:r>
                      <a:endParaRPr b="0" lang="en-GB" sz="3300" spc="-1" strike="noStrike">
                        <a:latin typeface="Arial"/>
                      </a:endParaRPr>
                    </a:p>
                  </a:txBody>
                  <a:tcPr anchor="ctr" marL="8640" marR="86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Stand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ardiz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the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data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befor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PCA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92" name="Content Placeholder 10"/>
          <p:cNvGraphicFramePr/>
          <p:nvPr/>
        </p:nvGraphicFramePr>
        <p:xfrm>
          <a:off x="4038480" y="960480"/>
          <a:ext cx="7186320" cy="3827160"/>
        </p:xfrm>
        <a:graphic>
          <a:graphicData uri="http://schemas.openxmlformats.org/drawingml/2006/table">
            <a:tbl>
              <a:tblPr/>
              <a:tblGrid>
                <a:gridCol w="3578400"/>
                <a:gridCol w="3607920"/>
              </a:tblGrid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 (kg)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 (cm)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180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166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5464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37.7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33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548280"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6.14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20160" rIns="20160" tIns="201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30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5.74</a:t>
                      </a:r>
                      <a:endParaRPr b="0" lang="en-GB" sz="3000" spc="-1" strike="noStrike">
                        <a:latin typeface="Arial"/>
                      </a:endParaRPr>
                    </a:p>
                  </a:txBody>
                  <a:tcPr anchor="b" marL="20160" marR="2016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Table 31"/>
          <p:cNvGraphicFramePr/>
          <p:nvPr/>
        </p:nvGraphicFramePr>
        <p:xfrm>
          <a:off x="4038480" y="4411800"/>
          <a:ext cx="7186320" cy="1479240"/>
        </p:xfrm>
        <a:graphic>
          <a:graphicData uri="http://schemas.openxmlformats.org/drawingml/2006/table">
            <a:tbl>
              <a:tblPr/>
              <a:tblGrid>
                <a:gridCol w="7186320"/>
              </a:tblGrid>
              <a:tr h="1479240">
                <a:tc>
                  <a:txBody>
                    <a:bodyPr lIns="8640" rIns="8640" tIns="864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33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 = 0.9999*Weight + 0.0079*Height</a:t>
                      </a:r>
                      <a:endParaRPr b="0" lang="en-GB" sz="3300" spc="-1" strike="noStrike">
                        <a:latin typeface="Arial"/>
                      </a:endParaRPr>
                    </a:p>
                  </a:txBody>
                  <a:tcPr anchor="ctr" marL="8640" marR="86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Stand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ardiz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the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data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befor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PCA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95" name="Content Placeholder 44"/>
          <p:cNvGraphicFramePr/>
          <p:nvPr/>
        </p:nvGraphicFramePr>
        <p:xfrm>
          <a:off x="4038480" y="960480"/>
          <a:ext cx="7186320" cy="3392280"/>
        </p:xfrm>
        <a:graphic>
          <a:graphicData uri="http://schemas.openxmlformats.org/drawingml/2006/table">
            <a:tbl>
              <a:tblPr/>
              <a:tblGrid>
                <a:gridCol w="2382480"/>
                <a:gridCol w="2401920"/>
                <a:gridCol w="2401920"/>
              </a:tblGrid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 (kg)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 (cm)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 (m)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180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37.7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33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0.003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48492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6.14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5.74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0.06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Stand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ardiz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the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data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befor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PCA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97" name="Content Placeholder 44"/>
          <p:cNvGraphicFramePr/>
          <p:nvPr/>
        </p:nvGraphicFramePr>
        <p:xfrm>
          <a:off x="4038480" y="960480"/>
          <a:ext cx="7186320" cy="3392280"/>
        </p:xfrm>
        <a:graphic>
          <a:graphicData uri="http://schemas.openxmlformats.org/drawingml/2006/table">
            <a:tbl>
              <a:tblPr/>
              <a:tblGrid>
                <a:gridCol w="2382480"/>
                <a:gridCol w="2401920"/>
                <a:gridCol w="2401920"/>
              </a:tblGrid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 (kg)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 (cm)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 (m)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180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1.8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1.72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48456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37.7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33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 = 0.003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  <a:tr h="484920"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6.14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5.74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9080" rIns="19080" tIns="1908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2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 = 0.06</a:t>
                      </a:r>
                      <a:endParaRPr b="0" lang="en-GB" sz="2800" spc="-1" strike="noStrike">
                        <a:latin typeface="Arial"/>
                      </a:endParaRPr>
                    </a:p>
                  </a:txBody>
                  <a:tcPr anchor="b" marL="19080" marR="1908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98" name="Picture 3" descr="A picture containing text&#10;&#10;Description automatically generated"/>
          <p:cNvPicPr/>
          <p:nvPr/>
        </p:nvPicPr>
        <p:blipFill>
          <a:blip r:embed="rId1"/>
          <a:stretch/>
        </p:blipFill>
        <p:spPr>
          <a:xfrm>
            <a:off x="6082560" y="4639320"/>
            <a:ext cx="3098520" cy="1802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Table 5"/>
          <p:cNvGraphicFramePr/>
          <p:nvPr/>
        </p:nvGraphicFramePr>
        <p:xfrm>
          <a:off x="2717280" y="5187240"/>
          <a:ext cx="8507520" cy="884520"/>
        </p:xfrm>
        <a:graphic>
          <a:graphicData uri="http://schemas.openxmlformats.org/drawingml/2006/table">
            <a:tbl>
              <a:tblPr/>
              <a:tblGrid>
                <a:gridCol w="1275840"/>
                <a:gridCol w="1734840"/>
                <a:gridCol w="1575720"/>
                <a:gridCol w="1922760"/>
                <a:gridCol w="1998360"/>
              </a:tblGrid>
              <a:tr h="432000"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80.2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69.6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169.7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52520"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Stand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ardiz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the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data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befor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PCA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01" name="Content Placeholder 3"/>
          <p:cNvGraphicFramePr/>
          <p:nvPr/>
        </p:nvGraphicFramePr>
        <p:xfrm>
          <a:off x="4038480" y="960480"/>
          <a:ext cx="7186320" cy="3898440"/>
        </p:xfrm>
        <a:graphic>
          <a:graphicData uri="http://schemas.openxmlformats.org/drawingml/2006/table">
            <a:tbl>
              <a:tblPr/>
              <a:tblGrid>
                <a:gridCol w="1723680"/>
                <a:gridCol w="1511640"/>
                <a:gridCol w="1964520"/>
                <a:gridCol w="1986480"/>
              </a:tblGrid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82.6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132.1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129.9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180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81.7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131.2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80.7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132.1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74.9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129.1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83.8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133.1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78.4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47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82.3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131.6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3265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79.4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129.2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080" y="2074320"/>
            <a:ext cx="2751840" cy="2709000"/>
          </a:xfrm>
          <a:prstGeom prst="rect">
            <a:avLst/>
          </a:prstGeom>
          <a:solidFill>
            <a:srgbClr val="262626"/>
          </a:solidFill>
          <a:ln w="174600">
            <a:solidFill>
              <a:srgbClr val="262626"/>
            </a:solidFill>
            <a:round/>
          </a:ln>
        </p:spPr>
        <p:txBody>
          <a:bodyPr anchor="ctr">
            <a:normAutofit/>
          </a:bodyPr>
          <a:p>
            <a:pPr algn="ctr">
              <a:lnSpc>
                <a:spcPct val="90000"/>
              </a:lnSpc>
              <a:buNone/>
            </a:pP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Stand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ardiz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the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data 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befor</a:t>
            </a:r>
            <a:r>
              <a:rPr b="1" lang="en-US" sz="2600" spc="-1" strike="noStrike">
                <a:solidFill>
                  <a:srgbClr val="ffffff"/>
                </a:solidFill>
                <a:latin typeface="Calibri Light"/>
              </a:rPr>
              <a:t>e PCA</a:t>
            </a:r>
            <a:endParaRPr b="0" lang="en-US" sz="26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03" name="Content Placeholder 3"/>
          <p:cNvGraphicFramePr/>
          <p:nvPr/>
        </p:nvGraphicFramePr>
        <p:xfrm>
          <a:off x="3709080" y="1712880"/>
          <a:ext cx="7515720" cy="3515400"/>
        </p:xfrm>
        <a:graphic>
          <a:graphicData uri="http://schemas.openxmlformats.org/drawingml/2006/table">
            <a:tbl>
              <a:tblPr/>
              <a:tblGrid>
                <a:gridCol w="1802880"/>
                <a:gridCol w="1737720"/>
                <a:gridCol w="2083320"/>
                <a:gridCol w="1891800"/>
              </a:tblGrid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-2.05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1.39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9268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fd5e9"/>
                    </a:solidFill>
                  </a:tcPr>
                </a:tc>
              </a:tr>
              <a:tr h="295920"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11520" rIns="11520" tIns="1152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b" marL="11520" marR="1152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pic>
        <p:nvPicPr>
          <p:cNvPr id="104" name="Picture 4" descr="A picture containing text&#10;&#10;Description automatically generated"/>
          <p:cNvPicPr/>
          <p:nvPr/>
        </p:nvPicPr>
        <p:blipFill>
          <a:blip r:embed="rId1"/>
          <a:stretch/>
        </p:blipFill>
        <p:spPr>
          <a:xfrm>
            <a:off x="6460920" y="392040"/>
            <a:ext cx="1922760" cy="111888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105" name="Table 6"/>
          <p:cNvGraphicFramePr/>
          <p:nvPr/>
        </p:nvGraphicFramePr>
        <p:xfrm>
          <a:off x="2537280" y="5421960"/>
          <a:ext cx="8687880" cy="649800"/>
        </p:xfrm>
        <a:graphic>
          <a:graphicData uri="http://schemas.openxmlformats.org/drawingml/2006/table">
            <a:tbl>
              <a:tblPr/>
              <a:tblGrid>
                <a:gridCol w="1223280"/>
                <a:gridCol w="1802880"/>
                <a:gridCol w="1817640"/>
                <a:gridCol w="2007000"/>
                <a:gridCol w="1837080"/>
              </a:tblGrid>
              <a:tr h="317520"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332640"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SD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11520" rIns="11520" tIns="1152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5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500" spc="-1" strike="noStrike">
                        <a:latin typeface="Arial"/>
                      </a:endParaRPr>
                    </a:p>
                  </a:txBody>
                  <a:tcPr anchor="ctr" marL="11520" marR="11520">
                    <a:lnL w="6480">
                      <a:solidFill>
                        <a:srgbClr val="00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7059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31000"/>
          </a:bodyPr>
          <a:p>
            <a:pPr algn="ctr">
              <a:lnSpc>
                <a:spcPct val="90000"/>
              </a:lnSpc>
              <a:buNone/>
            </a:pPr>
            <a:br>
              <a:rPr sz="4400"/>
            </a:br>
            <a:r>
              <a:rPr b="1" lang="en-US" sz="4900" spc="-1" strike="noStrike">
                <a:solidFill>
                  <a:srgbClr val="000000"/>
                </a:solidFill>
                <a:latin typeface="Calibri Light"/>
              </a:rPr>
              <a:t>PC</a:t>
            </a:r>
            <a:r>
              <a:rPr b="1" lang="en-US" sz="4900" spc="-1" strike="noStrike">
                <a:solidFill>
                  <a:srgbClr val="000000"/>
                </a:solidFill>
                <a:latin typeface="Calibri Light"/>
              </a:rPr>
              <a:t>A</a:t>
            </a:r>
            <a:br>
              <a:rPr sz="4400"/>
            </a:br>
            <a:endParaRPr b="0" lang="en-US" sz="49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07" name="Content Placeholder 5"/>
          <p:cNvGraphicFramePr/>
          <p:nvPr/>
        </p:nvGraphicFramePr>
        <p:xfrm>
          <a:off x="485640" y="1797840"/>
          <a:ext cx="4362120" cy="3830760"/>
        </p:xfrm>
        <a:graphic>
          <a:graphicData uri="http://schemas.openxmlformats.org/drawingml/2006/table">
            <a:tbl>
              <a:tblPr/>
              <a:tblGrid>
                <a:gridCol w="1090440"/>
                <a:gridCol w="1090440"/>
                <a:gridCol w="1090440"/>
                <a:gridCol w="1090800"/>
              </a:tblGrid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1.39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89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222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pic>
        <p:nvPicPr>
          <p:cNvPr id="108" name="Picture 6" descr="Text, letter&#10;&#10;Description automatically generated"/>
          <p:cNvPicPr/>
          <p:nvPr/>
        </p:nvPicPr>
        <p:blipFill>
          <a:blip r:embed="rId1"/>
          <a:stretch/>
        </p:blipFill>
        <p:spPr>
          <a:xfrm>
            <a:off x="5672160" y="1867320"/>
            <a:ext cx="5829120" cy="1352880"/>
          </a:xfrm>
          <a:prstGeom prst="rect">
            <a:avLst/>
          </a:prstGeom>
          <a:ln w="0">
            <a:noFill/>
          </a:ln>
        </p:spPr>
      </p:pic>
      <p:sp>
        <p:nvSpPr>
          <p:cNvPr id="109" name="TextBox 8"/>
          <p:cNvSpPr/>
          <p:nvPr/>
        </p:nvSpPr>
        <p:spPr>
          <a:xfrm>
            <a:off x="7343640" y="1191960"/>
            <a:ext cx="63648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Component matrix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33200" y="1191960"/>
            <a:ext cx="4714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90000"/>
              </a:lnSpc>
              <a:spcAft>
                <a:spcPts val="601"/>
              </a:spcAft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Data matrix (standardized data)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11" name="TextBox 11"/>
          <p:cNvSpPr/>
          <p:nvPr/>
        </p:nvSpPr>
        <p:spPr>
          <a:xfrm>
            <a:off x="5200560" y="3480480"/>
            <a:ext cx="6857640" cy="16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PC1 = -0.53*DBP + (-0.5)*SBP + 0.48*Weight + 0.49*Height</a:t>
            </a:r>
            <a:endParaRPr b="0" lang="en-GB" sz="2000" spc="-1" strike="noStrike">
              <a:latin typeface="Arial"/>
            </a:endParaRPr>
          </a:p>
        </p:txBody>
      </p:sp>
      <p:sp>
        <p:nvSpPr>
          <p:cNvPr id="112" name="TextBox 13"/>
          <p:cNvSpPr/>
          <p:nvPr/>
        </p:nvSpPr>
        <p:spPr>
          <a:xfrm flipV="1" rot="10800000">
            <a:off x="5201280" y="5079600"/>
            <a:ext cx="699084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PC2 = -0.46*DBP + (-0.52)*SBP +  (-0.52)*Weight + (-0.50)*Height</a:t>
            </a:r>
            <a:endParaRPr b="0" lang="en-GB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PC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Content Placeholder 2"/>
          <p:cNvSpPr/>
          <p:nvPr/>
        </p:nvSpPr>
        <p:spPr>
          <a:xfrm>
            <a:off x="1514520" y="3114720"/>
            <a:ext cx="9838800" cy="248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Picture 5" descr=""/>
          <p:cNvPicPr/>
          <p:nvPr/>
        </p:nvPicPr>
        <p:blipFill>
          <a:blip r:embed="rId1"/>
          <a:stretch/>
        </p:blipFill>
        <p:spPr>
          <a:xfrm>
            <a:off x="272880" y="2002680"/>
            <a:ext cx="11645640" cy="997560"/>
          </a:xfrm>
          <a:prstGeom prst="rect">
            <a:avLst/>
          </a:prstGeom>
          <a:ln w="0">
            <a:noFill/>
          </a:ln>
        </p:spPr>
      </p:pic>
      <p:sp>
        <p:nvSpPr>
          <p:cNvPr id="116" name="TextBox 7"/>
          <p:cNvSpPr/>
          <p:nvPr/>
        </p:nvSpPr>
        <p:spPr>
          <a:xfrm>
            <a:off x="100080" y="3673080"/>
            <a:ext cx="11818440" cy="106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Principal component scores are always reported as centered scores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920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PC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38080" y="1285920"/>
            <a:ext cx="10191240" cy="14425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PC1 = -0.53*DBP + (-0.5)*SBP + 0.48*Weight + 0.49*Height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PC2 = -0.46*DBP + (-0.52)*SBP +  (-0.52)*Weight + (-0.50)*Height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9" name="TextBox 3"/>
          <p:cNvSpPr/>
          <p:nvPr/>
        </p:nvSpPr>
        <p:spPr>
          <a:xfrm>
            <a:off x="1500120" y="2051640"/>
            <a:ext cx="8229240" cy="66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                                                     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Scores</a:t>
            </a:r>
            <a:endParaRPr b="0" lang="en-GB" sz="2000" spc="-1" strike="noStrike">
              <a:latin typeface="Arial"/>
            </a:endParaRPr>
          </a:p>
        </p:txBody>
      </p:sp>
      <p:graphicFrame>
        <p:nvGraphicFramePr>
          <p:cNvPr id="120" name="Table 6"/>
          <p:cNvGraphicFramePr/>
          <p:nvPr/>
        </p:nvGraphicFramePr>
        <p:xfrm>
          <a:off x="3471840" y="2886120"/>
          <a:ext cx="4257360" cy="2457000"/>
        </p:xfrm>
        <a:graphic>
          <a:graphicData uri="http://schemas.openxmlformats.org/drawingml/2006/table">
            <a:tbl>
              <a:tblPr/>
              <a:tblGrid>
                <a:gridCol w="1064160"/>
                <a:gridCol w="1064160"/>
                <a:gridCol w="1064160"/>
                <a:gridCol w="1064880"/>
              </a:tblGrid>
              <a:tr h="2318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455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8720">
                      <a:solidFill>
                        <a:srgbClr val="ff0000"/>
                      </a:solidFill>
                    </a:lnL>
                    <a:lnR w="18720">
                      <a:solidFill>
                        <a:srgbClr val="ff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18720">
                      <a:solidFill>
                        <a:srgbClr val="ff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8720">
                      <a:solidFill>
                        <a:srgbClr val="ff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318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18720">
                      <a:solidFill>
                        <a:srgbClr val="ff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1816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2206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6480">
                      <a:solidFill>
                        <a:srgbClr val="000000"/>
                      </a:solidFill>
                    </a:lnL>
                    <a:lnR w="6480">
                      <a:solidFill>
                        <a:srgbClr val="000000"/>
                      </a:solidFill>
                    </a:lnR>
                    <a:lnT w="6480">
                      <a:solidFill>
                        <a:srgbClr val="000000"/>
                      </a:solidFill>
                    </a:lnT>
                    <a:lnB w="648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21" name="Picture 8" descr=""/>
          <p:cNvPicPr/>
          <p:nvPr/>
        </p:nvPicPr>
        <p:blipFill>
          <a:blip r:embed="rId1"/>
          <a:stretch/>
        </p:blipFill>
        <p:spPr>
          <a:xfrm>
            <a:off x="1967040" y="5786280"/>
            <a:ext cx="7762680" cy="482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128520"/>
            <a:ext cx="10515240" cy="9802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PC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23" name="Content Placeholder 5"/>
          <p:cNvGraphicFramePr/>
          <p:nvPr/>
        </p:nvGraphicFramePr>
        <p:xfrm>
          <a:off x="942840" y="1797840"/>
          <a:ext cx="4385880" cy="3387240"/>
        </p:xfrm>
        <a:graphic>
          <a:graphicData uri="http://schemas.openxmlformats.org/drawingml/2006/table">
            <a:tbl>
              <a:tblPr/>
              <a:tblGrid>
                <a:gridCol w="1096560"/>
                <a:gridCol w="1096560"/>
                <a:gridCol w="1096560"/>
                <a:gridCol w="1096560"/>
              </a:tblGrid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Diastolic BP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Systolic BP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Weight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Height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(mm Hg)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(kg)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(cm)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0.93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-1.98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1.39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2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0.81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82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4"/>
          <p:cNvSpPr/>
          <p:nvPr/>
        </p:nvSpPr>
        <p:spPr>
          <a:xfrm>
            <a:off x="838080" y="1109160"/>
            <a:ext cx="4161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Data matrix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(standardized data)</a:t>
            </a:r>
            <a:endParaRPr b="0" lang="en-GB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GB" sz="1800" spc="-1" strike="noStrike">
              <a:latin typeface="Arial"/>
            </a:endParaRPr>
          </a:p>
        </p:txBody>
      </p:sp>
      <p:graphicFrame>
        <p:nvGraphicFramePr>
          <p:cNvPr id="125" name="Table 5"/>
          <p:cNvGraphicFramePr/>
          <p:nvPr/>
        </p:nvGraphicFramePr>
        <p:xfrm>
          <a:off x="142920" y="5185440"/>
          <a:ext cx="5186160" cy="743400"/>
        </p:xfrm>
        <a:graphic>
          <a:graphicData uri="http://schemas.openxmlformats.org/drawingml/2006/table">
            <a:tbl>
              <a:tblPr/>
              <a:tblGrid>
                <a:gridCol w="814320"/>
                <a:gridCol w="1099800"/>
                <a:gridCol w="1056960"/>
                <a:gridCol w="1142280"/>
                <a:gridCol w="1072800"/>
              </a:tblGrid>
              <a:tr h="3502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931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6" name="Table 6"/>
          <p:cNvGraphicFramePr/>
          <p:nvPr/>
        </p:nvGraphicFramePr>
        <p:xfrm>
          <a:off x="6600960" y="1797840"/>
          <a:ext cx="4457520" cy="3386880"/>
        </p:xfrm>
        <a:graphic>
          <a:graphicData uri="http://schemas.openxmlformats.org/drawingml/2006/table">
            <a:tbl>
              <a:tblPr/>
              <a:tblGrid>
                <a:gridCol w="1060560"/>
                <a:gridCol w="1132200"/>
                <a:gridCol w="1132200"/>
                <a:gridCol w="1132560"/>
              </a:tblGrid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93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6252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0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7" name="Table 7"/>
          <p:cNvGraphicFramePr/>
          <p:nvPr/>
        </p:nvGraphicFramePr>
        <p:xfrm>
          <a:off x="5872320" y="5185440"/>
          <a:ext cx="5186160" cy="743400"/>
        </p:xfrm>
        <a:graphic>
          <a:graphicData uri="http://schemas.openxmlformats.org/drawingml/2006/table">
            <a:tbl>
              <a:tblPr/>
              <a:tblGrid>
                <a:gridCol w="757080"/>
                <a:gridCol w="1042920"/>
                <a:gridCol w="1128600"/>
                <a:gridCol w="1143000"/>
                <a:gridCol w="1114560"/>
              </a:tblGrid>
              <a:tr h="3409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0248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28" name="TextBox 8"/>
          <p:cNvSpPr/>
          <p:nvPr/>
        </p:nvSpPr>
        <p:spPr>
          <a:xfrm>
            <a:off x="6219720" y="1058040"/>
            <a:ext cx="5133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Scores</a:t>
            </a:r>
            <a:endParaRPr b="0" lang="en-GB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0918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Sta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nd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ard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ize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d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sco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0" name="Table 3"/>
          <p:cNvGraphicFramePr/>
          <p:nvPr/>
        </p:nvGraphicFramePr>
        <p:xfrm>
          <a:off x="914400" y="1600200"/>
          <a:ext cx="4814640" cy="3479400"/>
        </p:xfrm>
        <a:graphic>
          <a:graphicData uri="http://schemas.openxmlformats.org/drawingml/2006/table">
            <a:tbl>
              <a:tblPr/>
              <a:tblGrid>
                <a:gridCol w="1400040"/>
                <a:gridCol w="1114200"/>
                <a:gridCol w="1228680"/>
                <a:gridCol w="1071720"/>
              </a:tblGrid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-0.95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2.21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1.39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884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-0.38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0.72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-1.27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0888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31104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-0.83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1" name="Table 4"/>
          <p:cNvGraphicFramePr/>
          <p:nvPr/>
        </p:nvGraphicFramePr>
        <p:xfrm>
          <a:off x="157320" y="5079960"/>
          <a:ext cx="5571720" cy="1091880"/>
        </p:xfrm>
        <a:graphic>
          <a:graphicData uri="http://schemas.openxmlformats.org/drawingml/2006/table">
            <a:tbl>
              <a:tblPr/>
              <a:tblGrid>
                <a:gridCol w="732240"/>
                <a:gridCol w="1424880"/>
                <a:gridCol w="1157040"/>
                <a:gridCol w="1220400"/>
                <a:gridCol w="1037160"/>
              </a:tblGrid>
              <a:tr h="5457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Mean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5461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</a:t>
                      </a: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pic>
        <p:nvPicPr>
          <p:cNvPr id="132" name="Picture 6" descr="Text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6338880" y="3095640"/>
            <a:ext cx="5486040" cy="926640"/>
          </a:xfrm>
          <a:prstGeom prst="rect">
            <a:avLst/>
          </a:prstGeom>
          <a:ln w="0">
            <a:noFill/>
          </a:ln>
        </p:spPr>
      </p:pic>
      <p:sp>
        <p:nvSpPr>
          <p:cNvPr id="133" name="TextBox 8"/>
          <p:cNvSpPr/>
          <p:nvPr/>
        </p:nvSpPr>
        <p:spPr>
          <a:xfrm>
            <a:off x="5972040" y="2486160"/>
            <a:ext cx="53812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     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Formula of standardized score</a:t>
            </a:r>
            <a:endParaRPr b="0" lang="en-GB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Ho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w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ma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ny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mp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ent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to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ext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rac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Select the smallest number of components that together hold about 80 – 90% of the total variance.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 the Kaiser criterion, where we retain components with a variance (eigenvalue) greater than the average of the eigenvalues.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Use a scree plot.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165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Me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d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1: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80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-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90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%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of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the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tot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al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var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ian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37" name="Table 7"/>
          <p:cNvGraphicFramePr/>
          <p:nvPr/>
        </p:nvGraphicFramePr>
        <p:xfrm>
          <a:off x="334800" y="4731480"/>
          <a:ext cx="4983840" cy="1118880"/>
        </p:xfrm>
        <a:graphic>
          <a:graphicData uri="http://schemas.openxmlformats.org/drawingml/2006/table">
            <a:tbl>
              <a:tblPr/>
              <a:tblGrid>
                <a:gridCol w="722160"/>
                <a:gridCol w="1128600"/>
                <a:gridCol w="1085760"/>
                <a:gridCol w="928440"/>
                <a:gridCol w="1118880"/>
              </a:tblGrid>
              <a:tr h="297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% 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7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Cum %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96.40%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98.90%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8"/>
          <p:cNvSpPr/>
          <p:nvPr/>
        </p:nvSpPr>
        <p:spPr>
          <a:xfrm>
            <a:off x="6095880" y="1865520"/>
            <a:ext cx="56764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PC1 and PC2 explain 96.4% of the total variance.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The smallest number of components explain about 80 – 90% of the variance is 2</a:t>
            </a:r>
            <a:endParaRPr b="0" lang="en-GB" sz="20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20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Reduce the dataset from 4 variables to only two variables</a:t>
            </a:r>
            <a:endParaRPr b="0" lang="en-GB" sz="2000" spc="-1" strike="noStrike">
              <a:latin typeface="Arial"/>
            </a:endParaRPr>
          </a:p>
        </p:txBody>
      </p:sp>
      <p:graphicFrame>
        <p:nvGraphicFramePr>
          <p:cNvPr id="139" name="Table 9"/>
          <p:cNvGraphicFramePr/>
          <p:nvPr/>
        </p:nvGraphicFramePr>
        <p:xfrm>
          <a:off x="1057320" y="1865520"/>
          <a:ext cx="4261320" cy="2865600"/>
        </p:xfrm>
        <a:graphic>
          <a:graphicData uri="http://schemas.openxmlformats.org/drawingml/2006/table">
            <a:tbl>
              <a:tblPr/>
              <a:tblGrid>
                <a:gridCol w="1128600"/>
                <a:gridCol w="1085760"/>
                <a:gridCol w="928440"/>
                <a:gridCol w="1118520"/>
              </a:tblGrid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92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838080" y="165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Kai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ser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crit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eri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41" name="Table 7"/>
          <p:cNvGraphicFramePr/>
          <p:nvPr/>
        </p:nvGraphicFramePr>
        <p:xfrm>
          <a:off x="334800" y="4731480"/>
          <a:ext cx="4983840" cy="1118880"/>
        </p:xfrm>
        <a:graphic>
          <a:graphicData uri="http://schemas.openxmlformats.org/drawingml/2006/table">
            <a:tbl>
              <a:tblPr/>
              <a:tblGrid>
                <a:gridCol w="722160"/>
                <a:gridCol w="1128600"/>
                <a:gridCol w="1085760"/>
                <a:gridCol w="928440"/>
                <a:gridCol w="1118880"/>
              </a:tblGrid>
              <a:tr h="297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% 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7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Cum %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96.40%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98.90%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8"/>
          <p:cNvSpPr/>
          <p:nvPr/>
        </p:nvSpPr>
        <p:spPr>
          <a:xfrm>
            <a:off x="6041520" y="1865520"/>
            <a:ext cx="5731200" cy="191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</a:rPr>
              <a:t>Kaiser criterion –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retain components with a variance (eigenvalue) greater than the average of the variance (eigenvalue).</a:t>
            </a:r>
            <a:endParaRPr b="0" lang="en-GB" sz="2400" spc="-1" strike="noStrike">
              <a:latin typeface="Arial"/>
            </a:endParaRPr>
          </a:p>
        </p:txBody>
      </p:sp>
      <p:graphicFrame>
        <p:nvGraphicFramePr>
          <p:cNvPr id="143" name="Table 5"/>
          <p:cNvGraphicFramePr/>
          <p:nvPr/>
        </p:nvGraphicFramePr>
        <p:xfrm>
          <a:off x="1057320" y="1865520"/>
          <a:ext cx="4261320" cy="2865600"/>
        </p:xfrm>
        <a:graphic>
          <a:graphicData uri="http://schemas.openxmlformats.org/drawingml/2006/table">
            <a:tbl>
              <a:tblPr/>
              <a:tblGrid>
                <a:gridCol w="1128600"/>
                <a:gridCol w="1085760"/>
                <a:gridCol w="928440"/>
                <a:gridCol w="1118520"/>
              </a:tblGrid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92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2"/>
          <p:cNvSpPr/>
          <p:nvPr/>
        </p:nvSpPr>
        <p:spPr>
          <a:xfrm>
            <a:off x="6095880" y="3620520"/>
            <a:ext cx="56764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Variance of PC1 and PC2 &gt; 1 (the average of variance) 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	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6500880" y="5180760"/>
            <a:ext cx="3971520" cy="10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                     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Retain PC1 and PC2</a:t>
            </a:r>
            <a:endParaRPr b="0" lang="en-GB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46" name="Down Arrow 4"/>
          <p:cNvSpPr/>
          <p:nvPr/>
        </p:nvSpPr>
        <p:spPr>
          <a:xfrm>
            <a:off x="8886960" y="4550040"/>
            <a:ext cx="142560" cy="53928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838080" y="165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90000"/>
              </a:lnSpc>
              <a:buNone/>
            </a:pP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Scr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ee 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plo</a:t>
            </a:r>
            <a:r>
              <a:rPr b="1" lang="en-US" sz="4400" spc="-1" strike="noStrike">
                <a:solidFill>
                  <a:srgbClr val="000000"/>
                </a:solidFill>
                <a:latin typeface="Calibri Light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48" name="Table 7"/>
          <p:cNvGraphicFramePr/>
          <p:nvPr/>
        </p:nvGraphicFramePr>
        <p:xfrm>
          <a:off x="334800" y="4731480"/>
          <a:ext cx="4983840" cy="1118880"/>
        </p:xfrm>
        <a:graphic>
          <a:graphicData uri="http://schemas.openxmlformats.org/drawingml/2006/table">
            <a:tbl>
              <a:tblPr/>
              <a:tblGrid>
                <a:gridCol w="722160"/>
                <a:gridCol w="1128600"/>
                <a:gridCol w="1085760"/>
                <a:gridCol w="928440"/>
                <a:gridCol w="1118880"/>
              </a:tblGrid>
              <a:tr h="29772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40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% var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1.10%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4107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Cum %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60.20%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96.40%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98.90%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9" name="Table 5"/>
          <p:cNvGraphicFramePr/>
          <p:nvPr/>
        </p:nvGraphicFramePr>
        <p:xfrm>
          <a:off x="1057320" y="1865520"/>
          <a:ext cx="4261320" cy="2865600"/>
        </p:xfrm>
        <a:graphic>
          <a:graphicData uri="http://schemas.openxmlformats.org/drawingml/2006/table">
            <a:tbl>
              <a:tblPr/>
              <a:tblGrid>
                <a:gridCol w="1128600"/>
                <a:gridCol w="1085760"/>
                <a:gridCol w="928440"/>
                <a:gridCol w="1118520"/>
              </a:tblGrid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PC1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PC2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PC3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1" lang="en-CA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PC4</a:t>
                      </a:r>
                      <a:endParaRPr b="0" lang="en-GB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-0.62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1.73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736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0.65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-1.05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2.35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1.68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-0.59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1.43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0.23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-2.47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-0.06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-0.17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0.41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0.32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-0.24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74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0.19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0.03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-0.09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59200"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1.58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-1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-0.2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CA" sz="12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-0.13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50" name="TextBox 11"/>
          <p:cNvSpPr/>
          <p:nvPr/>
        </p:nvSpPr>
        <p:spPr>
          <a:xfrm>
            <a:off x="6095880" y="5100480"/>
            <a:ext cx="56192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PC1 and PC2 are involved in the steep part of the curve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1" name="TextBox 12"/>
          <p:cNvSpPr/>
          <p:nvPr/>
        </p:nvSpPr>
        <p:spPr>
          <a:xfrm>
            <a:off x="7515360" y="5850720"/>
            <a:ext cx="2356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Retain PC1 and PC2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2" name="Down Arrow 13"/>
          <p:cNvSpPr/>
          <p:nvPr/>
        </p:nvSpPr>
        <p:spPr>
          <a:xfrm>
            <a:off x="8558280" y="5614920"/>
            <a:ext cx="285480" cy="47124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4472c4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153" name="Picture 15" descr="Chart, line chart&#10;&#10;Description automatically generated"/>
          <p:cNvPicPr/>
          <p:nvPr/>
        </p:nvPicPr>
        <p:blipFill>
          <a:blip r:embed="rId1"/>
          <a:stretch/>
        </p:blipFill>
        <p:spPr>
          <a:xfrm>
            <a:off x="5940000" y="1803960"/>
            <a:ext cx="5194440" cy="3047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Ref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ere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nce</a:t>
            </a: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https://www.youtube.com/watch?v=dh8aTKXPKlU&amp;t=1s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Application>LibreOffice/7.3.7.2$Linux_X86_64 LibreOffice_project/30$Build-2</Application>
  <AppVersion>15.0000</AppVersion>
  <Words>2486</Words>
  <Paragraphs>688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2021-12-14T18:21:05Z</dcterms:created>
  <dc:creator>JESSICA Pham</dc:creator>
  <dc:description/>
  <dc:language>en-GB</dc:language>
  <cp:lastModifiedBy/>
  <dcterms:modified xsi:type="dcterms:W3CDTF">2024-05-28T09:19:18Z</dcterms:modified>
  <cp:revision>63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Widescreen</vt:lpwstr>
  </property>
  <property fmtid="{D5CDD505-2E9C-101B-9397-08002B2CF9AE}" pid="4" name="Slides">
    <vt:i4>16</vt:i4>
  </property>
</Properties>
</file>