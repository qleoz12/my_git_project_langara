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74"/>
  </p:normalViewPr>
  <p:slideViewPr>
    <p:cSldViewPr snapToGrid="0" snapToObjects="1">
      <p:cViewPr varScale="1">
        <p:scale>
          <a:sx n="127" d="100"/>
          <a:sy n="127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DB49-AB07-9844-8368-AED65512C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0BBDE-3EC0-CE43-AB9A-2F50FF133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A297E-13A3-B743-911A-C42ECD43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A417F-8B4C-F146-9582-7C12EEB4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00202-CC44-F64D-9D5D-DD9F20E0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43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30D4-9DB2-764D-A081-7D53893D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3CA1-6D33-6B49-AA8A-7ACA05ADD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C0CD-434B-EC44-8063-0ECEFA4B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88316-EA17-C64E-A0E8-6D055792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2C7DD-B098-2641-AAF6-96E75BCA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48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4D72-849A-5C42-BD80-9F6CD571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1429B-1398-9240-9533-1D0D9ACE3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E016-5B52-8345-88AD-E905288B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A5E09-6398-634A-8A6C-FAA87923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F9399-F10C-F444-A72D-557545D3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98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F0AA-F58D-E243-90BC-87812660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5B71-0E41-4548-AD32-07A2BB561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0E2EB-E477-1C4F-B582-8F9429D55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475EE-BAC0-2D48-A7D4-7392BC64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D14ED-CBC5-CE4B-964F-A14DA567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1EA1F-A13E-E942-A492-5548E43E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C2BD-660B-0A45-85B5-6C8B29CF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01F1-4B97-4A42-A546-941572472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FB494-3656-0240-92DE-ECFB302B7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84686-1B4A-E74E-B498-1A2EC3F70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2D93D-1FD0-C148-A9FD-FF7CCB66B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A5B098-259F-FA4A-8570-016EFBCD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9B0E1-9117-4442-904D-0BE714DF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0AD88-9250-534A-BAB9-7A8BCED4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05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F76F-5205-C648-B1D5-783BF35F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21C94-0041-E84A-B470-2AD2EDDD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6C1C2-507F-0743-AD5D-594A16C4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6B891-159A-9444-AD18-B530DC21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9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8CD90-3636-E74F-BC13-203E9E05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EBA7F-4311-C34C-BE7D-5ECBFDC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101A9-8422-C649-9F39-23FA93EC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48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B35F-0FCC-2344-B74A-87F628A7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1DEB4-95C1-D243-B0AE-8CA5A5148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12760-2D02-4742-82BB-79AC65C26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944F0-DF3B-3B47-9CEB-99ADE8B9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0A6E9-39FA-CE48-9C23-ECA42185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49120-EABF-704C-8046-FF607385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57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FDB0-0CE2-B74D-96B9-BA7DC246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1D071-E204-1744-9E8E-DC48FD8C2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9845F-E636-BD40-AFDA-C6E31CB38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C120E-FA8C-C442-B846-C1F35605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73915-58DF-4546-82D9-539685D5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E7E7-E28E-F345-99C0-E74A4A76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67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3CFC-922A-1944-A1A4-A3D5CDC3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CF818-D7BA-614D-BF82-00789C830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8332B-C563-514D-82E4-A0627B2B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C7A0B-A43D-5249-BEF5-BCE561CD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B8C32-3FDD-184A-BFF6-7C2157C3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58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22A12-9761-E44B-A61B-1D7F9E341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8782F-4835-AD45-B9D5-DF038B873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68468-780D-7047-A259-768494FE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4646-7EE2-3E4D-8AB3-48368A99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98AD3-AB8C-F54F-A32F-8826273B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1976B-13AB-C341-A63B-C0640B60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FFF0D-0995-CF49-9E8D-E1F9DAFF9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78550-F6A6-314F-A335-52ED5DE35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ED14F-A13D-2A4D-ACDE-BFBF7DB9B9A4}" type="datetimeFigureOut">
              <a:rPr lang="en-GB" smtClean="0"/>
              <a:t>21/09/2020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1E9A5-80E8-4B47-B36F-42667CBB0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5FA6-3867-6F47-BF6A-B9CE7A46B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490F9-2C2F-1542-A3B6-390E5DB95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96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87ED-7F7D-467B-B8B7-26D3D4AA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Principal Components Analysis (PCA)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64D48-942D-4CE4-B0C0-EABDCA124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Seeks to account for the correlation of predictors  using a smaller set of uncorrelated linear combinations of these variables, </a:t>
                </a:r>
                <a:r>
                  <a:rPr lang="en-US" i="1" dirty="0"/>
                  <a:t>components</a:t>
                </a:r>
                <a:r>
                  <a:rPr lang="en-US" dirty="0"/>
                  <a:t>.  </a:t>
                </a:r>
              </a:p>
              <a:p>
                <a:r>
                  <a:rPr lang="en-US" dirty="0"/>
                  <a:t>Total variability of </a:t>
                </a:r>
                <a:r>
                  <a:rPr lang="en-US" i="1" dirty="0"/>
                  <a:t>m</a:t>
                </a:r>
                <a:r>
                  <a:rPr lang="en-US" dirty="0"/>
                  <a:t> predictors mostly accounted for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 components.  </a:t>
                </a:r>
              </a:p>
              <a:p>
                <a:pPr lvl="1"/>
                <a:r>
                  <a:rPr lang="en-US" i="1" dirty="0"/>
                  <a:t>k </a:t>
                </a:r>
                <a:r>
                  <a:rPr lang="en-US" dirty="0"/>
                  <a:t>components are uncorrelated, unlike the original correlated predictors.  </a:t>
                </a:r>
              </a:p>
              <a:p>
                <a:r>
                  <a:rPr lang="en-US" dirty="0"/>
                  <a:t>Analyst can replace the original </a:t>
                </a:r>
                <a:r>
                  <a:rPr lang="en-US" i="1" dirty="0"/>
                  <a:t>m </a:t>
                </a:r>
                <a:r>
                  <a:rPr lang="en-US" dirty="0"/>
                  <a:t>variables with the </a:t>
                </a:r>
                <a:r>
                  <a:rPr lang="en-US" i="1" dirty="0"/>
                  <a:t>k &lt; m</a:t>
                </a:r>
                <a:r>
                  <a:rPr lang="en-US" dirty="0"/>
                  <a:t> components  </a:t>
                </a:r>
              </a:p>
              <a:p>
                <a:r>
                  <a:rPr lang="en-US" dirty="0"/>
                  <a:t>Components are uncorrelated linear combinations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of predictors</a:t>
                </a:r>
              </a:p>
              <a:p>
                <a:pPr lvl="1"/>
                <a:r>
                  <a:rPr lang="en-US" dirty="0"/>
                  <a:t>First component usually the most important.  Accounts for more variability than any other. </a:t>
                </a:r>
              </a:p>
              <a:p>
                <a:pPr lvl="1"/>
                <a:r>
                  <a:rPr lang="en-US" dirty="0"/>
                  <a:t>Second component accounts for the second most variability, uncorrelated with the first.</a:t>
                </a:r>
              </a:p>
              <a:p>
                <a:pPr lvl="1"/>
                <a:r>
                  <a:rPr lang="en-US" dirty="0"/>
                  <a:t>Third component accounts for the third most variability, uncorrelated with the first two.  </a:t>
                </a:r>
              </a:p>
              <a:p>
                <a:pPr lvl="1"/>
                <a:r>
                  <a:rPr lang="en-US" dirty="0"/>
                  <a:t>And so 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64D48-942D-4CE4-B0C0-EABDCA124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 b="-26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424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3D25-ED69-4F16-97E8-C8184F6F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An Application of Principal Components Analysis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2990-E35F-4382-A80D-87D49F95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26"/>
            <a:ext cx="10515600" cy="4351338"/>
          </a:xfrm>
        </p:spPr>
        <p:txBody>
          <a:bodyPr/>
          <a:lstStyle/>
          <a:p>
            <a:r>
              <a:rPr lang="en-US" dirty="0"/>
              <a:t>To illustrate: Estimate response </a:t>
            </a:r>
            <a:r>
              <a:rPr lang="en-US" i="1" dirty="0"/>
              <a:t>Sales per Visit</a:t>
            </a:r>
            <a:r>
              <a:rPr lang="en-US" dirty="0"/>
              <a:t> using </a:t>
            </a:r>
            <a:r>
              <a:rPr lang="en-US" i="1" dirty="0"/>
              <a:t>Purchase Visits, Days on File, Days between Purchases, Different Items Purchased, </a:t>
            </a:r>
            <a:r>
              <a:rPr lang="en-US" dirty="0"/>
              <a:t>and</a:t>
            </a:r>
            <a:r>
              <a:rPr lang="en-US" i="1" dirty="0"/>
              <a:t> Days since Purchase.  </a:t>
            </a:r>
          </a:p>
          <a:p>
            <a:r>
              <a:rPr lang="en-US" dirty="0"/>
              <a:t>Substantial correlation amongst the predictors.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Moderately inflated VIF metrics. 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EDCCC-3173-443D-B797-A723AAA510A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65172"/>
            <a:ext cx="5943600" cy="1675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0E739-07AF-4CC3-B822-E534B2D90ED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5515664"/>
            <a:ext cx="5943600" cy="6172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007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DCCA-B0E7-4B48-B81E-3B4AA057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An Application of Principal Components Analysis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728B-F10E-47AD-AB47-1B300229C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54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Perform PCA, using </a:t>
            </a:r>
            <a:r>
              <a:rPr lang="en-US" i="1" dirty="0"/>
              <a:t>varimax rotation.  </a:t>
            </a:r>
            <a:r>
              <a:rPr lang="en-US" dirty="0"/>
              <a:t>Rotating helps interpretability.  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we extract only the first principal component, we account for 31.3% of the variance amongst predictors.  </a:t>
            </a:r>
          </a:p>
          <a:p>
            <a:r>
              <a:rPr lang="en-US" dirty="0"/>
              <a:t>Extract two, account for 52.2% </a:t>
            </a:r>
          </a:p>
          <a:p>
            <a:r>
              <a:rPr lang="en-US" dirty="0"/>
              <a:t>How many should we extract?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CF389-D7BE-4771-ABE0-EAD0B98DB5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886581"/>
            <a:ext cx="5567624" cy="200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3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3CB8-74E3-4986-8CD2-85E65572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Many Components Should We Extract?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FC518-FAD5-43C3-83F2-2E6BFB803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Motivation: reduce the dimensionality.  </a:t>
            </a:r>
          </a:p>
          <a:p>
            <a:r>
              <a:rPr lang="en-US" dirty="0"/>
              <a:t>Should we retain only the first two principal components, since they explain over half (52% Cumulative Var) of the total variability</a:t>
            </a:r>
          </a:p>
          <a:p>
            <a:r>
              <a:rPr lang="en-US" dirty="0"/>
              <a:t>Should we retain all five components, since they explain 100% of the variability?  </a:t>
            </a:r>
          </a:p>
          <a:p>
            <a:r>
              <a:rPr lang="en-US" dirty="0"/>
              <a:t>Retaining five does not help us to reduce the dimensionality.  </a:t>
            </a:r>
          </a:p>
          <a:p>
            <a:r>
              <a:rPr lang="en-US" dirty="0"/>
              <a:t>The answer lies somewhere between these two extremes.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3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BDA0-71E2-4692-AE4E-63682E35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Eigenvalue Criterion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B4AA-CDDC-40F0-AF2A-BCDB0F49C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Eigenvalues are “SS loadings”. 1.0 means the component would explain about “one predictor’s worth” of the total variability.  </a:t>
            </a:r>
          </a:p>
          <a:p>
            <a:r>
              <a:rPr lang="en-US" dirty="0"/>
              <a:t>Each component should explain at least one predictor’s variability</a:t>
            </a:r>
          </a:p>
          <a:p>
            <a:r>
              <a:rPr lang="en-US" dirty="0"/>
              <a:t>Eigenvalue criterion: only components </a:t>
            </a:r>
            <a:br>
              <a:rPr lang="en-US" dirty="0"/>
            </a:br>
            <a:r>
              <a:rPr lang="en-US" dirty="0"/>
              <a:t>with eigenvalues greater than one should </a:t>
            </a:r>
            <a:br>
              <a:rPr lang="en-US" dirty="0"/>
            </a:br>
            <a:r>
              <a:rPr lang="en-US" dirty="0"/>
              <a:t>be retained.  </a:t>
            </a:r>
          </a:p>
          <a:p>
            <a:r>
              <a:rPr lang="en-US" dirty="0"/>
              <a:t>Four of the rotated components have </a:t>
            </a:r>
            <a:br>
              <a:rPr lang="en-US" dirty="0"/>
            </a:br>
            <a:r>
              <a:rPr lang="en-US" dirty="0"/>
              <a:t>eigenvalues greater than one</a:t>
            </a:r>
          </a:p>
          <a:p>
            <a:r>
              <a:rPr lang="en-US" dirty="0"/>
              <a:t>The eigenvalue criterion therefore </a:t>
            </a:r>
            <a:br>
              <a:rPr lang="en-US" dirty="0"/>
            </a:br>
            <a:r>
              <a:rPr lang="en-US" dirty="0"/>
              <a:t>suggests that we extract </a:t>
            </a:r>
            <a:r>
              <a:rPr lang="en-US" i="1" dirty="0"/>
              <a:t>k</a:t>
            </a:r>
            <a:r>
              <a:rPr lang="en-US" dirty="0"/>
              <a:t> = 4 principal </a:t>
            </a:r>
            <a:br>
              <a:rPr lang="en-US" dirty="0"/>
            </a:br>
            <a:r>
              <a:rPr lang="en-US" dirty="0"/>
              <a:t>components.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8D52A-C149-4CA6-9791-051CE2077BD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884" y="2898492"/>
            <a:ext cx="4057650" cy="31330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450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D8B5B-7AB0-4B8C-8F82-EC0CE501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Proportion of Variance Explained Criterion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B9D1-3504-44FF-9D17-3CD31A1F1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Specify proportion of total variability need explained  </a:t>
            </a:r>
          </a:p>
          <a:p>
            <a:r>
              <a:rPr lang="en-US" dirty="0"/>
              <a:t>Select components until desired proportion is attained.  </a:t>
            </a:r>
          </a:p>
          <a:p>
            <a:pPr lvl="1"/>
            <a:r>
              <a:rPr lang="en-US" dirty="0"/>
              <a:t>If we want 70%, choose components 1 – 3  </a:t>
            </a:r>
          </a:p>
          <a:p>
            <a:pPr lvl="1"/>
            <a:r>
              <a:rPr lang="en-US" dirty="0"/>
              <a:t>If we want 90%, need to include component 4 as well </a:t>
            </a:r>
          </a:p>
          <a:p>
            <a:r>
              <a:rPr lang="en-US" dirty="0"/>
              <a:t>Without further input, we might say the proportion of variance explained criterion suggests either </a:t>
            </a:r>
            <a:r>
              <a:rPr lang="en-US" i="1" dirty="0"/>
              <a:t>k</a:t>
            </a:r>
            <a:r>
              <a:rPr lang="en-US" dirty="0"/>
              <a:t> = 3 or </a:t>
            </a:r>
            <a:r>
              <a:rPr lang="en-US" i="1" dirty="0"/>
              <a:t>k</a:t>
            </a:r>
            <a:r>
              <a:rPr lang="en-US" dirty="0"/>
              <a:t> = 4 components.</a:t>
            </a:r>
          </a:p>
          <a:p>
            <a:pPr marL="0" indent="0">
              <a:buNone/>
            </a:pPr>
            <a:r>
              <a:rPr lang="en-US" dirty="0"/>
              <a:t>Since </a:t>
            </a:r>
          </a:p>
          <a:p>
            <a:r>
              <a:rPr lang="en-US" dirty="0"/>
              <a:t>eigenvalue criterion suggested </a:t>
            </a:r>
            <a:r>
              <a:rPr lang="en-US" i="1" dirty="0"/>
              <a:t>k</a:t>
            </a:r>
            <a:r>
              <a:rPr lang="en-US" dirty="0"/>
              <a:t> = 4 components, and </a:t>
            </a:r>
          </a:p>
          <a:p>
            <a:r>
              <a:rPr lang="en-US" dirty="0"/>
              <a:t>proportion of variance explained criterion says </a:t>
            </a:r>
            <a:r>
              <a:rPr lang="en-US" i="1" dirty="0"/>
              <a:t>k</a:t>
            </a:r>
            <a:r>
              <a:rPr lang="en-US" dirty="0"/>
              <a:t> = 3 or </a:t>
            </a:r>
            <a:r>
              <a:rPr lang="en-US" i="1" dirty="0"/>
              <a:t>k</a:t>
            </a:r>
            <a:r>
              <a:rPr lang="en-US" dirty="0"/>
              <a:t> = 4. </a:t>
            </a:r>
          </a:p>
          <a:p>
            <a:r>
              <a:rPr lang="en-US" dirty="0"/>
              <a:t>we settle on k = 4 components.</a:t>
            </a:r>
          </a:p>
        </p:txBody>
      </p:sp>
    </p:spTree>
    <p:extLst>
      <p:ext uri="{BB962C8B-B14F-4D97-AF65-F5344CB8AC3E}">
        <p14:creationId xmlns:p14="http://schemas.microsoft.com/office/powerpoint/2010/main" val="319093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17E4-8C4B-40D7-BE1D-6CB5C33F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24" y="83137"/>
            <a:ext cx="10515600" cy="941796"/>
          </a:xfrm>
        </p:spPr>
        <p:txBody>
          <a:bodyPr/>
          <a:lstStyle/>
          <a:p>
            <a:r>
              <a:rPr lang="en-US" b="1" dirty="0"/>
              <a:t>Performing PCA with </a:t>
            </a:r>
            <a:r>
              <a:rPr lang="en-US" b="1" i="1" dirty="0"/>
              <a:t>k</a:t>
            </a:r>
            <a:r>
              <a:rPr lang="en-US" b="1" dirty="0"/>
              <a:t> =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FC64-E3EB-410D-BC1B-FEAB0014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47" y="742361"/>
            <a:ext cx="10721744" cy="5373278"/>
          </a:xfrm>
        </p:spPr>
        <p:txBody>
          <a:bodyPr>
            <a:normAutofit/>
          </a:bodyPr>
          <a:lstStyle/>
          <a:p>
            <a:r>
              <a:rPr lang="en-US" i="1" dirty="0"/>
              <a:t>Rotated </a:t>
            </a:r>
            <a:r>
              <a:rPr lang="en-US" dirty="0"/>
              <a:t>matrix </a:t>
            </a:r>
          </a:p>
          <a:p>
            <a:pPr lvl="1"/>
            <a:r>
              <a:rPr lang="en-US" dirty="0"/>
              <a:t>The first principal component is a combination of </a:t>
            </a:r>
            <a:br>
              <a:rPr lang="en-US" dirty="0"/>
            </a:br>
            <a:r>
              <a:rPr lang="en-US" i="1" dirty="0"/>
              <a:t>Different Items Purchased </a:t>
            </a:r>
            <a:r>
              <a:rPr lang="en-US" dirty="0"/>
              <a:t>and </a:t>
            </a:r>
            <a:r>
              <a:rPr lang="en-US" i="1" dirty="0"/>
              <a:t>Purchase Visits</a:t>
            </a:r>
            <a:r>
              <a:rPr lang="en-US" dirty="0"/>
              <a:t>, which </a:t>
            </a:r>
            <a:br>
              <a:rPr lang="en-US" dirty="0"/>
            </a:br>
            <a:r>
              <a:rPr lang="en-US" dirty="0"/>
              <a:t>are positively correlated with each other</a:t>
            </a:r>
          </a:p>
          <a:p>
            <a:pPr lvl="1"/>
            <a:r>
              <a:rPr lang="en-US" dirty="0"/>
              <a:t>Had one of the weights been negative, then </a:t>
            </a:r>
            <a:r>
              <a:rPr lang="en-US" i="1" dirty="0"/>
              <a:t>Different</a:t>
            </a:r>
            <a:br>
              <a:rPr lang="en-US" i="1" dirty="0"/>
            </a:br>
            <a:r>
              <a:rPr lang="en-US" i="1" dirty="0"/>
              <a:t>Items Purchased </a:t>
            </a:r>
            <a:r>
              <a:rPr lang="en-US" dirty="0"/>
              <a:t>and </a:t>
            </a:r>
            <a:r>
              <a:rPr lang="en-US" i="1" dirty="0"/>
              <a:t>Purchase Visits</a:t>
            </a:r>
            <a:r>
              <a:rPr lang="en-US" dirty="0"/>
              <a:t> would be negatively correlated.  </a:t>
            </a:r>
          </a:p>
          <a:p>
            <a:pPr lvl="1"/>
            <a:r>
              <a:rPr lang="en-US" dirty="0"/>
              <a:t>Remaining components are “singletons”, containing a single predictor each</a:t>
            </a:r>
          </a:p>
          <a:p>
            <a:r>
              <a:rPr lang="en-US" dirty="0"/>
              <a:t>Unrotated matrix</a:t>
            </a:r>
          </a:p>
          <a:p>
            <a:pPr lvl="1"/>
            <a:r>
              <a:rPr lang="en-US" dirty="0"/>
              <a:t>Interpretations less clear.  </a:t>
            </a:r>
          </a:p>
          <a:p>
            <a:pPr lvl="1"/>
            <a:r>
              <a:rPr lang="en-US" dirty="0"/>
              <a:t>Component 1 is huge, containing four of the five </a:t>
            </a:r>
            <a:br>
              <a:rPr lang="en-US" dirty="0"/>
            </a:br>
            <a:r>
              <a:rPr lang="en-US" dirty="0"/>
              <a:t>predictors, with both positive and negative correlations</a:t>
            </a:r>
            <a:br>
              <a:rPr lang="en-US" dirty="0"/>
            </a:br>
            <a:r>
              <a:rPr lang="en-US" dirty="0"/>
              <a:t>mixed in.  </a:t>
            </a:r>
          </a:p>
          <a:p>
            <a:pPr lvl="1"/>
            <a:r>
              <a:rPr lang="en-US" dirty="0"/>
              <a:t>Much cleaner is the interpretation of the rotated </a:t>
            </a:r>
            <a:br>
              <a:rPr lang="en-US" dirty="0"/>
            </a:br>
            <a:r>
              <a:rPr lang="en-US" dirty="0"/>
              <a:t>component matrix.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FFE2F-BF51-4A53-B47E-741A108DA8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455" y="4336919"/>
            <a:ext cx="3796398" cy="11332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EB7324-5727-408F-8CF0-E26C64EB61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028" y="1024933"/>
            <a:ext cx="4085345" cy="11332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8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0EDF-5FF3-483C-95A4-3276C485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Validation of the Principal Components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3B45-15BB-4937-9ECF-CC798DD62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Results should be validated using the test data set.  </a:t>
            </a:r>
          </a:p>
          <a:p>
            <a:pPr lvl="1"/>
            <a:r>
              <a:rPr lang="en-US" dirty="0"/>
              <a:t>The four rotated components for the test set are similar to those for the training set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Did PCA alleviate our multicollinearity problem?  </a:t>
            </a:r>
          </a:p>
          <a:p>
            <a:pPr marL="0" indent="0">
              <a:buNone/>
            </a:pPr>
            <a:r>
              <a:rPr lang="en-US" dirty="0"/>
              <a:t>Examine:</a:t>
            </a:r>
          </a:p>
          <a:p>
            <a:r>
              <a:rPr lang="en-US" dirty="0"/>
              <a:t>The correlations among the four components, and	</a:t>
            </a:r>
          </a:p>
          <a:p>
            <a:pPr lvl="1"/>
            <a:r>
              <a:rPr lang="en-US" dirty="0"/>
              <a:t>The correlation matrix for the principal components is zero, components are uncorrelated.  </a:t>
            </a:r>
          </a:p>
          <a:p>
            <a:r>
              <a:rPr lang="en-US" dirty="0"/>
              <a:t>The predictor VIF for the regression of the response on the components.</a:t>
            </a:r>
          </a:p>
          <a:p>
            <a:pPr lvl="1"/>
            <a:r>
              <a:rPr lang="en-US" dirty="0"/>
              <a:t>VIFs equal 1, the minimum.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483C-6244-44AC-9187-4EB26663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How to Perform Principal Components Analysis Using R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F10E5-4AD9-4802-A600-C6C5D40ED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Separate data into X. Remember to standardize the predictor variables.</a:t>
            </a:r>
          </a:p>
          <a:p>
            <a:pPr marL="0" indent="0" algn="ctr">
              <a:buNone/>
            </a:pPr>
            <a:r>
              <a:rPr lang="en-US" b="1" dirty="0"/>
              <a:t>X &lt;- </a:t>
            </a:r>
            <a:r>
              <a:rPr lang="en-US" b="1" dirty="0" err="1"/>
              <a:t>clothes_train</a:t>
            </a:r>
            <a:r>
              <a:rPr lang="en-US" b="1" dirty="0"/>
              <a:t>[, c(1:5)]; </a:t>
            </a:r>
            <a:r>
              <a:rPr lang="en-US" b="1" dirty="0" err="1"/>
              <a:t>X_z</a:t>
            </a:r>
            <a:r>
              <a:rPr lang="en-US" b="1" dirty="0"/>
              <a:t> &lt;- </a:t>
            </a:r>
            <a:r>
              <a:rPr lang="en-US" b="1" dirty="0" err="1"/>
              <a:t>as.data.frame</a:t>
            </a:r>
            <a:r>
              <a:rPr lang="en-US" b="1" dirty="0"/>
              <a:t>(scale(X)) </a:t>
            </a:r>
            <a:endParaRPr lang="en-US" dirty="0"/>
          </a:p>
          <a:p>
            <a:r>
              <a:rPr lang="en-US" dirty="0"/>
              <a:t>For correlation matrix, use </a:t>
            </a:r>
            <a:r>
              <a:rPr lang="en-US" b="1" dirty="0" err="1"/>
              <a:t>cor</a:t>
            </a:r>
            <a:r>
              <a:rPr lang="en-US" b="1" dirty="0"/>
              <a:t>()</a:t>
            </a:r>
            <a:r>
              <a:rPr lang="en-US" dirty="0"/>
              <a:t>. </a:t>
            </a:r>
          </a:p>
          <a:p>
            <a:pPr marL="0" indent="0" algn="ctr">
              <a:buNone/>
            </a:pPr>
            <a:r>
              <a:rPr lang="en-US" b="1" dirty="0"/>
              <a:t>round(</a:t>
            </a:r>
            <a:r>
              <a:rPr lang="en-US" b="1" dirty="0" err="1"/>
              <a:t>cor</a:t>
            </a:r>
            <a:r>
              <a:rPr lang="en-US" b="1" dirty="0"/>
              <a:t>(</a:t>
            </a:r>
            <a:r>
              <a:rPr lang="en-US" b="1" dirty="0" err="1"/>
              <a:t>X_z</a:t>
            </a:r>
            <a:r>
              <a:rPr lang="en-US" b="1" dirty="0"/>
              <a:t>), 3)</a:t>
            </a:r>
            <a:endParaRPr lang="en-US" dirty="0"/>
          </a:p>
          <a:p>
            <a:r>
              <a:rPr lang="en-US" dirty="0"/>
              <a:t>Install and open the </a:t>
            </a:r>
            <a:r>
              <a:rPr lang="en-US" i="1" dirty="0"/>
              <a:t>psych</a:t>
            </a:r>
            <a:r>
              <a:rPr lang="en-US" dirty="0"/>
              <a:t> package. </a:t>
            </a:r>
            <a:r>
              <a:rPr lang="en-US" b="1" dirty="0"/>
              <a:t>principal()</a:t>
            </a:r>
            <a:r>
              <a:rPr lang="en-US" dirty="0"/>
              <a:t> command performs PCA.   </a:t>
            </a:r>
            <a:r>
              <a:rPr lang="en-US" b="1" dirty="0"/>
              <a:t>r = </a:t>
            </a:r>
            <a:r>
              <a:rPr lang="en-US" b="1" dirty="0" err="1"/>
              <a:t>X_z</a:t>
            </a:r>
            <a:r>
              <a:rPr lang="en-US" dirty="0"/>
              <a:t> specifies variables to analyze. </a:t>
            </a:r>
            <a:r>
              <a:rPr lang="en-US" b="1" dirty="0"/>
              <a:t>rotate = “varimax”</a:t>
            </a:r>
            <a:r>
              <a:rPr lang="en-US" dirty="0"/>
              <a:t> performs varimax rotation. </a:t>
            </a:r>
            <a:r>
              <a:rPr lang="en-US" b="1" dirty="0" err="1"/>
              <a:t>nfactors</a:t>
            </a:r>
            <a:r>
              <a:rPr lang="en-US" b="1" dirty="0"/>
              <a:t> = 5</a:t>
            </a:r>
            <a:r>
              <a:rPr lang="en-US" dirty="0"/>
              <a:t> states we want five components. </a:t>
            </a:r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("psych"); library(psych)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pca01 &lt;- principal(r = </a:t>
            </a:r>
            <a:r>
              <a:rPr lang="en-US" b="1" dirty="0" err="1"/>
              <a:t>X_z</a:t>
            </a:r>
            <a:r>
              <a:rPr lang="en-US" b="1" dirty="0"/>
              <a:t>, rotate = "varimax", </a:t>
            </a:r>
            <a:r>
              <a:rPr lang="en-US" b="1" dirty="0" err="1"/>
              <a:t>nfactors</a:t>
            </a:r>
            <a:r>
              <a:rPr lang="en-US" b="1" dirty="0"/>
              <a:t> = 5); print(pca01$loadings, cutoff = 0.49)</a:t>
            </a:r>
            <a:endParaRPr lang="en-US" dirty="0"/>
          </a:p>
          <a:p>
            <a:r>
              <a:rPr lang="en-US" dirty="0"/>
              <a:t>Want </a:t>
            </a:r>
            <a:r>
              <a:rPr lang="en-US" b="1" dirty="0"/>
              <a:t>loadings</a:t>
            </a:r>
            <a:r>
              <a:rPr lang="en-US" dirty="0"/>
              <a:t> of the </a:t>
            </a:r>
            <a:r>
              <a:rPr lang="en-US" b="1" dirty="0"/>
              <a:t>pca01</a:t>
            </a:r>
            <a:r>
              <a:rPr lang="en-US" dirty="0"/>
              <a:t> results, using cutoff = 0.49.  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Eigenvalues of rotated components are under “SS Loadings”.  Plot them.</a:t>
            </a:r>
          </a:p>
          <a:p>
            <a:pPr marL="0" indent="0" algn="ctr">
              <a:buNone/>
            </a:pPr>
            <a:r>
              <a:rPr lang="en-US" b="1" dirty="0" err="1"/>
              <a:t>ss.load</a:t>
            </a:r>
            <a:r>
              <a:rPr lang="en-US" b="1" dirty="0"/>
              <a:t> &lt;- c(1.566, 1.045, 1.035, 1.006, 0.348)</a:t>
            </a:r>
            <a:br>
              <a:rPr lang="en-US" b="1" dirty="0"/>
            </a:br>
            <a:r>
              <a:rPr lang="en-US" b="1" dirty="0"/>
              <a:t>plot(</a:t>
            </a:r>
            <a:r>
              <a:rPr lang="en-US" b="1" dirty="0" err="1"/>
              <a:t>ss.load</a:t>
            </a:r>
            <a:r>
              <a:rPr lang="en-US" b="1" dirty="0"/>
              <a:t>, type = "b", main = "Plot of Eigenvalues", </a:t>
            </a:r>
            <a:r>
              <a:rPr lang="en-US" b="1" dirty="0" err="1"/>
              <a:t>ylab</a:t>
            </a:r>
            <a:r>
              <a:rPr lang="en-US" b="1" dirty="0"/>
              <a:t> = "Value", </a:t>
            </a:r>
            <a:r>
              <a:rPr lang="en-US" b="1" dirty="0" err="1"/>
              <a:t>xlab</a:t>
            </a:r>
            <a:r>
              <a:rPr lang="en-US" b="1" dirty="0"/>
              <a:t> = "Component"); </a:t>
            </a:r>
            <a:r>
              <a:rPr lang="en-US" b="1" dirty="0" err="1"/>
              <a:t>abline</a:t>
            </a:r>
            <a:r>
              <a:rPr lang="en-US" b="1" dirty="0"/>
              <a:t>(h = 1, </a:t>
            </a:r>
            <a:r>
              <a:rPr lang="en-US" b="1" dirty="0" err="1"/>
              <a:t>lty</a:t>
            </a:r>
            <a:r>
              <a:rPr lang="en-US" b="1" dirty="0"/>
              <a:t> =2)</a:t>
            </a:r>
            <a:endParaRPr lang="en-US" dirty="0"/>
          </a:p>
          <a:p>
            <a:r>
              <a:rPr lang="en-US" dirty="0"/>
              <a:t>For correlation of components, run </a:t>
            </a:r>
            <a:r>
              <a:rPr lang="en-US" b="1" dirty="0"/>
              <a:t>round(</a:t>
            </a:r>
            <a:r>
              <a:rPr lang="en-US" b="1" dirty="0" err="1"/>
              <a:t>cor</a:t>
            </a:r>
            <a:r>
              <a:rPr lang="en-US" b="1" dirty="0"/>
              <a:t>())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b="1" dirty="0"/>
              <a:t>round(</a:t>
            </a:r>
            <a:r>
              <a:rPr lang="en-US" b="1" dirty="0" err="1"/>
              <a:t>cor</a:t>
            </a:r>
            <a:r>
              <a:rPr lang="en-US" b="1" dirty="0"/>
              <a:t>(pca02_rot$scores),2) </a:t>
            </a:r>
          </a:p>
          <a:p>
            <a:r>
              <a:rPr lang="en-US" dirty="0"/>
              <a:t>To regress the target variable on the components, you may want to save each component as its own variable.  </a:t>
            </a:r>
          </a:p>
          <a:p>
            <a:pPr marL="0" indent="0" algn="ctr">
              <a:buNone/>
            </a:pPr>
            <a:r>
              <a:rPr lang="en-US" b="1" dirty="0"/>
              <a:t>PC1 &lt;- pca02_rot$scores[,1]; PC2 &lt;- pca02_rot$scores[,2]; PC3 &lt;- pca02_rot$scores[,3]; PC4 &lt;- pca02_rot$scores[,4]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7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925A-E777-43B9-8E06-18B1A036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When is Multicollinearity Not a Problem?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76BED-9270-45F9-A5EF-C36AD200B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49406"/>
            <a:ext cx="10721744" cy="5055876"/>
          </a:xfrm>
        </p:spPr>
        <p:txBody>
          <a:bodyPr>
            <a:normAutofit/>
          </a:bodyPr>
          <a:lstStyle/>
          <a:p>
            <a:r>
              <a:rPr lang="en-US" dirty="0"/>
              <a:t>Multicollinearity may not present a fatal defect.  </a:t>
            </a:r>
          </a:p>
          <a:p>
            <a:pPr lvl="1"/>
            <a:r>
              <a:rPr lang="en-US" dirty="0"/>
              <a:t>“does not adversely affect the ability of the sample regression equation to predict the response variable.” </a:t>
            </a:r>
          </a:p>
          <a:p>
            <a:pPr lvl="1"/>
            <a:r>
              <a:rPr lang="en-US" dirty="0"/>
              <a:t>does not significantly affect point estimates of the target variable, confidence intervals for the mean response value, or prediction intervals for a randomly selected response value.  </a:t>
            </a:r>
          </a:p>
          <a:p>
            <a:r>
              <a:rPr lang="en-US" dirty="0"/>
              <a:t>Must limit use of a multicollinear model to estimation and prediction.  </a:t>
            </a:r>
          </a:p>
          <a:p>
            <a:pPr lvl="1"/>
            <a:r>
              <a:rPr lang="en-US" dirty="0"/>
              <a:t>Interpretation would </a:t>
            </a:r>
            <a:r>
              <a:rPr lang="en-US" i="1" dirty="0"/>
              <a:t>not</a:t>
            </a:r>
            <a:r>
              <a:rPr lang="en-US" dirty="0"/>
              <a:t> be appropriate, since the individual coefficients may not make sense. 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i="1" dirty="0"/>
              <a:t>Models not accounting for multicollinearity may be used for estimation, but not for description or interpretation</a:t>
            </a:r>
            <a:r>
              <a:rPr lang="en-US" i="1"/>
              <a:t>.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2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1071</Words>
  <Application>Microsoft Macintosh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Principal Components Analysis (PCA)</vt:lpstr>
      <vt:lpstr>An Application of Principal Components Analysis</vt:lpstr>
      <vt:lpstr>An Application of Principal Components Analysis</vt:lpstr>
      <vt:lpstr>How Many Components Should We Extract?</vt:lpstr>
      <vt:lpstr>The Eigenvalue Criterion  </vt:lpstr>
      <vt:lpstr>The Proportion of Variance Explained Criterion</vt:lpstr>
      <vt:lpstr>Performing PCA with k = 4</vt:lpstr>
      <vt:lpstr>Validation of the Principal Components</vt:lpstr>
      <vt:lpstr>How to Perform Principal Components Analysis Using R</vt:lpstr>
      <vt:lpstr>When is Multicollinearity Not a Problem?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Components Analysis (PCA)</dc:title>
  <dc:creator>Microsoft Office User</dc:creator>
  <cp:lastModifiedBy>Microsoft Office User</cp:lastModifiedBy>
  <cp:revision>2</cp:revision>
  <dcterms:created xsi:type="dcterms:W3CDTF">2020-09-20T01:30:35Z</dcterms:created>
  <dcterms:modified xsi:type="dcterms:W3CDTF">2020-09-21T17:21:59Z</dcterms:modified>
</cp:coreProperties>
</file>