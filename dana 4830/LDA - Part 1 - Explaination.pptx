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28"/>
  </p:notesMasterIdLst>
  <p:sldIdLst>
    <p:sldId id="257" r:id="rId2"/>
    <p:sldId id="258" r:id="rId3"/>
    <p:sldId id="288" r:id="rId4"/>
    <p:sldId id="290" r:id="rId5"/>
    <p:sldId id="291" r:id="rId6"/>
    <p:sldId id="293" r:id="rId7"/>
    <p:sldId id="294" r:id="rId8"/>
    <p:sldId id="295" r:id="rId9"/>
    <p:sldId id="296" r:id="rId10"/>
    <p:sldId id="289" r:id="rId11"/>
    <p:sldId id="297" r:id="rId12"/>
    <p:sldId id="298" r:id="rId13"/>
    <p:sldId id="299" r:id="rId14"/>
    <p:sldId id="300" r:id="rId15"/>
    <p:sldId id="301" r:id="rId16"/>
    <p:sldId id="302" r:id="rId17"/>
    <p:sldId id="303" r:id="rId18"/>
    <p:sldId id="304" r:id="rId19"/>
    <p:sldId id="305" r:id="rId20"/>
    <p:sldId id="306" r:id="rId21"/>
    <p:sldId id="307" r:id="rId22"/>
    <p:sldId id="308" r:id="rId23"/>
    <p:sldId id="309" r:id="rId24"/>
    <p:sldId id="310" r:id="rId25"/>
    <p:sldId id="311" r:id="rId26"/>
    <p:sldId id="31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16"/>
    <p:restoredTop sz="79228"/>
  </p:normalViewPr>
  <p:slideViewPr>
    <p:cSldViewPr snapToGrid="0" snapToObjects="1">
      <p:cViewPr varScale="1">
        <p:scale>
          <a:sx n="98" d="100"/>
          <a:sy n="98" d="100"/>
        </p:scale>
        <p:origin x="9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0B1523-E45E-9646-80F0-C86A1CF8826A}" type="datetimeFigureOut">
              <a:rPr lang="en-US" smtClean="0"/>
              <a:t>2/23/22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0485B2-F723-BF4B-9D7E-ECD23B42BCD0}" type="slidenum">
              <a:rPr lang="en-US" smtClean="0"/>
              <a:t>‹#›</a:t>
            </a:fld>
            <a:endParaRPr lang="en-US"/>
          </a:p>
        </p:txBody>
      </p:sp>
    </p:spTree>
    <p:extLst>
      <p:ext uri="{BB962C8B-B14F-4D97-AF65-F5344CB8AC3E}">
        <p14:creationId xmlns:p14="http://schemas.microsoft.com/office/powerpoint/2010/main" val="934580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let’s say we want to combine the two variables, X1 and X2. PCA will try to find the optimal values for the weights, alpha 1 and alpha 2 so that the combined variables has maximal variance. Remember that the values we use for the weights are constrained so that the sum of the squared weights is equal to 1.</a:t>
            </a:r>
          </a:p>
          <a:p>
            <a:r>
              <a:rPr lang="en-US" dirty="0"/>
              <a:t>Let’s say we want to combine the two variables, X1 and X2, LDA combines these two variables by using optimal 	values of the weights so that the combined variables shows maximal separation between the groups.</a:t>
            </a:r>
          </a:p>
        </p:txBody>
      </p:sp>
      <p:sp>
        <p:nvSpPr>
          <p:cNvPr id="4" name="Slide Number Placeholder 3"/>
          <p:cNvSpPr>
            <a:spLocks noGrp="1"/>
          </p:cNvSpPr>
          <p:nvPr>
            <p:ph type="sldNum" sz="quarter" idx="5"/>
          </p:nvPr>
        </p:nvSpPr>
        <p:spPr/>
        <p:txBody>
          <a:bodyPr/>
          <a:lstStyle/>
          <a:p>
            <a:fld id="{3F0485B2-F723-BF4B-9D7E-ECD23B42BCD0}" type="slidenum">
              <a:rPr lang="en-US" smtClean="0"/>
              <a:t>2</a:t>
            </a:fld>
            <a:endParaRPr lang="en-US"/>
          </a:p>
        </p:txBody>
      </p:sp>
    </p:spTree>
    <p:extLst>
      <p:ext uri="{BB962C8B-B14F-4D97-AF65-F5344CB8AC3E}">
        <p14:creationId xmlns:p14="http://schemas.microsoft.com/office/powerpoint/2010/main" val="457608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explain separation, let’s have a look at the fictive dataset, which contains information of 12 patients. CRP shows the concentration of the c-reactive protein in blood from the time when the patients entered the hospital whereas this column shows the body temperature of the same patients at the same time point. Once the patients had entered the hospital, the presence of bacteria and viruses were analyzed from different samples. However, it usually takes several hours or days to determine if a patient has a viral infection or a bacterial infection. After 2 days at the hospital, these 6 patients were found to be infected by a virus whereas these 6 patients were confirmed to have a bacterial infection. Since antibiotics are only effective on bacteria , only these patients were treated with antibiotics. The problem is that we have to wait about 2 days to know if antibiotic treatment is appropriate or not. . It would be great if we could use the CRP concentration or the body temperature to tell if a patient has a bacterial or viral infection because the measurements of these variables can be done within just 1 hour.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we plot the CRP concentration of the 12 patients, we can see that the ones with a viral infection generally have a lower concentration of CRP compared to the ones who have a bacterial infection.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say that we would use a cutoff value of 35, to determine if someone has a bacterial or viral infection. However, the problem with this cutoff line is that it cannot separate the groups very well . We can see that 4 patients with bacterial infection and one patient with viral infection are above the line whereas 5 patients with a viral infection and 2 patients with bacterial infection are below the line. Using this line, or any other horizontal line, it is impossible to separate the two groups completely.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F0485B2-F723-BF4B-9D7E-ECD23B42BCD0}" type="slidenum">
              <a:rPr lang="en-US" smtClean="0"/>
              <a:t>3</a:t>
            </a:fld>
            <a:endParaRPr lang="en-US"/>
          </a:p>
        </p:txBody>
      </p:sp>
    </p:spTree>
    <p:extLst>
      <p:ext uri="{BB962C8B-B14F-4D97-AF65-F5344CB8AC3E}">
        <p14:creationId xmlns:p14="http://schemas.microsoft.com/office/powerpoint/2010/main" val="3840035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check if it is possible to use the body temperature to tell if a patient has a viral or bacterial infection?</a:t>
            </a:r>
          </a:p>
          <a:p>
            <a:r>
              <a:rPr lang="en-US" dirty="0"/>
              <a:t>We can see that we have the same problem again. There is no line can separate the two groups of patients.</a:t>
            </a:r>
          </a:p>
          <a:p>
            <a:endParaRPr lang="en-US" dirty="0"/>
          </a:p>
        </p:txBody>
      </p:sp>
      <p:sp>
        <p:nvSpPr>
          <p:cNvPr id="4" name="Slide Number Placeholder 3"/>
          <p:cNvSpPr>
            <a:spLocks noGrp="1"/>
          </p:cNvSpPr>
          <p:nvPr>
            <p:ph type="sldNum" sz="quarter" idx="5"/>
          </p:nvPr>
        </p:nvSpPr>
        <p:spPr/>
        <p:txBody>
          <a:bodyPr/>
          <a:lstStyle/>
          <a:p>
            <a:fld id="{3F0485B2-F723-BF4B-9D7E-ECD23B42BCD0}" type="slidenum">
              <a:rPr lang="en-US" smtClean="0"/>
              <a:t>4</a:t>
            </a:fld>
            <a:endParaRPr lang="en-US"/>
          </a:p>
        </p:txBody>
      </p:sp>
    </p:spTree>
    <p:extLst>
      <p:ext uri="{BB962C8B-B14F-4D97-AF65-F5344CB8AC3E}">
        <p14:creationId xmlns:p14="http://schemas.microsoft.com/office/powerpoint/2010/main" val="734483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if we plot the CRP concentration and the body temperature in the same plot and use different colors for patients with a viral infection and bacterial infection. We can see that the line can separate the 2 groups completely. By combining the 2 variables, we can get a better separation between the two groups compared to if we use one of the variables alone	.</a:t>
            </a:r>
          </a:p>
        </p:txBody>
      </p:sp>
      <p:sp>
        <p:nvSpPr>
          <p:cNvPr id="4" name="Slide Number Placeholder 3"/>
          <p:cNvSpPr>
            <a:spLocks noGrp="1"/>
          </p:cNvSpPr>
          <p:nvPr>
            <p:ph type="sldNum" sz="quarter" idx="5"/>
          </p:nvPr>
        </p:nvSpPr>
        <p:spPr/>
        <p:txBody>
          <a:bodyPr/>
          <a:lstStyle/>
          <a:p>
            <a:fld id="{3F0485B2-F723-BF4B-9D7E-ECD23B42BCD0}" type="slidenum">
              <a:rPr lang="en-US" smtClean="0"/>
              <a:t>5</a:t>
            </a:fld>
            <a:endParaRPr lang="en-US"/>
          </a:p>
        </p:txBody>
      </p:sp>
    </p:spTree>
    <p:extLst>
      <p:ext uri="{BB962C8B-B14F-4D97-AF65-F5344CB8AC3E}">
        <p14:creationId xmlns:p14="http://schemas.microsoft.com/office/powerpoint/2010/main" val="2052231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Just as PCA LDA can be seen as we rotate the data into  two new dimensions like this. The new dimensions are called discriminant function one and two. We can see that the first discriminant function can be used to separate the two groups perfectly. In contrast, we can’t see separate the groups based on a horizontal line, which means that the second discriminant function is not useful for separation.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8140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Therefore, we can delete the second discriminant function and place all data points on just one line. We rotate the plot so that the data points are plotted vertically. If we use LDA, we can plot the so-called discriminant scores like this.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8577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place a line like this that gives us a perfect separation between 2 groups. By using LDA we have combined the two variables, CRP and body temperature in a way that has maximized the separation between the two groups. </a:t>
            </a:r>
          </a:p>
          <a:p>
            <a:r>
              <a:rPr lang="en-US" dirty="0"/>
              <a:t>The linear discriminant scores in this plot can be obtained by this equation. We can replace X1 and X2 with the variable names CRP and Temp.</a:t>
            </a:r>
          </a:p>
          <a:p>
            <a:r>
              <a:rPr lang="en-US" dirty="0"/>
              <a:t>The values of the weights , alpha 1 and alpha 2, were computed with a statistical software  to 0.11 and 0.7. These values give us the optimal separation between the groups.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831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use this equation to calculate the discriminant scores. We can see that the scores for the ones with a viral infection are lower compared to the ones who have a bacterial infection.</a:t>
            </a:r>
          </a:p>
          <a:p>
            <a:r>
              <a:rPr lang="en-US" dirty="0"/>
              <a:t>Most software tools report the centered discriminant scores, which means that we should subtract the corresponding means from the original values before we calculate the scores.</a:t>
            </a:r>
          </a:p>
          <a:p>
            <a:r>
              <a:rPr lang="en-US" dirty="0"/>
              <a:t>By using this equation, the following centered scores were calculated. If we plot the centered scores, we can see that the scores center around zero since the mean of these scores is equal to 0.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726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a fair comparison between the two methods, we will first standardize the two variables so that they both have a mean of zero and standard deviation of one. Remember that we can standardize a variable by this formula, where we subtract the mean from the values of that variable and divide by its standard deviation. </a:t>
            </a:r>
          </a:p>
          <a:p>
            <a:r>
              <a:rPr lang="en-US" dirty="0"/>
              <a:t>By using the standardized data, we have the weights from LDA and PCA. Note that the variables represent standardized variables with a mean of 0 and a standard deviation of 1</a:t>
            </a:r>
          </a:p>
        </p:txBody>
      </p:sp>
      <p:sp>
        <p:nvSpPr>
          <p:cNvPr id="4" name="Slide Number Placeholder 3"/>
          <p:cNvSpPr>
            <a:spLocks noGrp="1"/>
          </p:cNvSpPr>
          <p:nvPr>
            <p:ph type="sldNum" sz="quarter" idx="5"/>
          </p:nvPr>
        </p:nvSpPr>
        <p:spPr/>
        <p:txBody>
          <a:bodyPr/>
          <a:lstStyle/>
          <a:p>
            <a:fld id="{3F0485B2-F723-BF4B-9D7E-ECD23B42BCD0}" type="slidenum">
              <a:rPr lang="en-US" smtClean="0"/>
              <a:t>10</a:t>
            </a:fld>
            <a:endParaRPr lang="en-US"/>
          </a:p>
        </p:txBody>
      </p:sp>
    </p:spTree>
    <p:extLst>
      <p:ext uri="{BB962C8B-B14F-4D97-AF65-F5344CB8AC3E}">
        <p14:creationId xmlns:p14="http://schemas.microsoft.com/office/powerpoint/2010/main" val="3439976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using these equations, we can compute scores based on PCA and LDA. The variance of the scores for the first principal component is 1.29 but only 0.71 for the scores based on the first discriminant function. This is no surprise since PCA aims to maximize the variance of the first principal component, whereas LDA aims to maximize the separation of the two groups.</a:t>
            </a:r>
          </a:p>
          <a:p>
            <a:r>
              <a:rPr lang="en-US" dirty="0"/>
              <a:t>If we plot scores computed by LDA, we see that the scores for the bacterial group are completely separated from the scores of the virus group. In comparison, the scores computed by PCA shows no clear separation between the group. Although PCA has captured more variation in the combined variable, it does not separate the groups as well. Note that, when we run PCA, we won’t use this grouping variable at all, whereas in LDA, we must provide this grouping variable since the method aims to find the maximal separation between these two groups. Since PCA will only be based on these 2 variables, without any information about the groups, it will not be as effective as LDA in separating the groups. PCA is sometimes referred to as an unsupervised method because it has no information if a data point belongs to a certain group, whereas LDA is referred to as a supervised method because it has information about which group a data point belongs to in order to fins the best separation between the groups</a:t>
            </a:r>
          </a:p>
        </p:txBody>
      </p:sp>
      <p:sp>
        <p:nvSpPr>
          <p:cNvPr id="4" name="Slide Number Placeholder 3"/>
          <p:cNvSpPr>
            <a:spLocks noGrp="1"/>
          </p:cNvSpPr>
          <p:nvPr>
            <p:ph type="sldNum" sz="quarter" idx="5"/>
          </p:nvPr>
        </p:nvSpPr>
        <p:spPr/>
        <p:txBody>
          <a:bodyPr/>
          <a:lstStyle/>
          <a:p>
            <a:fld id="{3F0485B2-F723-BF4B-9D7E-ECD23B42BCD0}" type="slidenum">
              <a:rPr lang="en-US" smtClean="0"/>
              <a:t>11</a:t>
            </a:fld>
            <a:endParaRPr lang="en-US"/>
          </a:p>
        </p:txBody>
      </p:sp>
    </p:spTree>
    <p:extLst>
      <p:ext uri="{BB962C8B-B14F-4D97-AF65-F5344CB8AC3E}">
        <p14:creationId xmlns:p14="http://schemas.microsoft.com/office/powerpoint/2010/main" val="3328996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focus on how to calculate the weights for the LDA. Remember that the weights for the PCA were extracted from the first eigenvector of the covariance matrix. These weights can be rescaled to loadings. The weights in LDA are also extracted from the first eigenvector, but an eigenvector of a different matrix. These weights are also usually rescaled. </a:t>
            </a:r>
          </a:p>
          <a:p>
            <a:r>
              <a:rPr lang="en-US" dirty="0"/>
              <a:t>Let’s first have a look at what determines how well 2 groups are separated. For this data, we can see that the two groups separate very well. This is due to the means of the groups are far away from each other. If the means are closer to each other, we can no longer see a clear separation between the two groups. The second reason why these 2 groups show a good separation is because the spread within the groups is small. The data points are close to the mean values. However, if there is a much larger spread of the observations around the means, then there is no longer a clear separation between the groups even though the difference in their means stay the same.</a:t>
            </a:r>
          </a:p>
          <a:p>
            <a:r>
              <a:rPr lang="en-US" dirty="0"/>
              <a:t>If we calculate a grand mean, which is a mean based on all data points, we can think of these distances as how much the group means varies from the gran mean. Of the means are close, the variation of the group means around the grand mean is small, and if the two means are far away from each other, there will be a large variation of the group means around the grand mean.</a:t>
            </a:r>
          </a:p>
        </p:txBody>
      </p:sp>
      <p:sp>
        <p:nvSpPr>
          <p:cNvPr id="4" name="Slide Number Placeholder 3"/>
          <p:cNvSpPr>
            <a:spLocks noGrp="1"/>
          </p:cNvSpPr>
          <p:nvPr>
            <p:ph type="sldNum" sz="quarter" idx="5"/>
          </p:nvPr>
        </p:nvSpPr>
        <p:spPr/>
        <p:txBody>
          <a:bodyPr/>
          <a:lstStyle/>
          <a:p>
            <a:fld id="{3F0485B2-F723-BF4B-9D7E-ECD23B42BCD0}" type="slidenum">
              <a:rPr lang="en-US" smtClean="0"/>
              <a:t>12</a:t>
            </a:fld>
            <a:endParaRPr lang="en-US"/>
          </a:p>
        </p:txBody>
      </p:sp>
    </p:spTree>
    <p:extLst>
      <p:ext uri="{BB962C8B-B14F-4D97-AF65-F5344CB8AC3E}">
        <p14:creationId xmlns:p14="http://schemas.microsoft.com/office/powerpoint/2010/main" val="1823356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conclude that the separation between the groups depends on the variance between the groups, which is called between-group variance, and the variance within the groups, the within–group variance. Note that this ratio is similar to the ratio used for ANOVA. To get a good separation between the groups, the two-group means are far away each other, which means that the between-group variance should be large and that the variation within the group should be small, which will result in a low value of the within-group variance. Thus, the ratio of these measures should be as large as possible to get a clear separation between the groups.</a:t>
            </a:r>
          </a:p>
          <a:p>
            <a:r>
              <a:rPr lang="en-US" dirty="0"/>
              <a:t>LDA combines variables based on this ratio, where the aim is to transform the data so that the between-group variance is increased and the within-group variance is reduced.</a:t>
            </a:r>
          </a:p>
        </p:txBody>
      </p:sp>
      <p:sp>
        <p:nvSpPr>
          <p:cNvPr id="4" name="Slide Number Placeholder 3"/>
          <p:cNvSpPr>
            <a:spLocks noGrp="1"/>
          </p:cNvSpPr>
          <p:nvPr>
            <p:ph type="sldNum" sz="quarter" idx="5"/>
          </p:nvPr>
        </p:nvSpPr>
        <p:spPr/>
        <p:txBody>
          <a:bodyPr/>
          <a:lstStyle/>
          <a:p>
            <a:fld id="{3F0485B2-F723-BF4B-9D7E-ECD23B42BCD0}" type="slidenum">
              <a:rPr lang="en-US" smtClean="0"/>
              <a:t>13</a:t>
            </a:fld>
            <a:endParaRPr lang="en-US"/>
          </a:p>
        </p:txBody>
      </p:sp>
    </p:spTree>
    <p:extLst>
      <p:ext uri="{BB962C8B-B14F-4D97-AF65-F5344CB8AC3E}">
        <p14:creationId xmlns:p14="http://schemas.microsoft.com/office/powerpoint/2010/main" val="709931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matrix form, the separation can be described like this where B is the between-group covariance matrix and W is the pooled within-group covariance matrix. Matrix S is the target matrix. We will compute the eigenvectors of this matrix in order to get the weights.</a:t>
            </a:r>
          </a:p>
        </p:txBody>
      </p:sp>
      <p:sp>
        <p:nvSpPr>
          <p:cNvPr id="4" name="Slide Number Placeholder 3"/>
          <p:cNvSpPr>
            <a:spLocks noGrp="1"/>
          </p:cNvSpPr>
          <p:nvPr>
            <p:ph type="sldNum" sz="quarter" idx="5"/>
          </p:nvPr>
        </p:nvSpPr>
        <p:spPr/>
        <p:txBody>
          <a:bodyPr/>
          <a:lstStyle/>
          <a:p>
            <a:fld id="{3F0485B2-F723-BF4B-9D7E-ECD23B42BCD0}" type="slidenum">
              <a:rPr lang="en-US" smtClean="0"/>
              <a:t>14</a:t>
            </a:fld>
            <a:endParaRPr lang="en-US"/>
          </a:p>
        </p:txBody>
      </p:sp>
    </p:spTree>
    <p:extLst>
      <p:ext uri="{BB962C8B-B14F-4D97-AF65-F5344CB8AC3E}">
        <p14:creationId xmlns:p14="http://schemas.microsoft.com/office/powerpoint/2010/main" val="6514367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calculate matrix S, we need to calculate the pooled within-group covariance matrix and the between-group covariance matrix. To calculate the pooled within-group covariance matrix, we calculate the covariance matrix for the virus group and bacteria group. Note that the values in these two matrices have been rounded. Since the sample sizes are equal to two groups, the pooled within-group covariance matrix is simply the mean of these two covariance matrices.</a:t>
            </a:r>
          </a:p>
        </p:txBody>
      </p:sp>
      <p:sp>
        <p:nvSpPr>
          <p:cNvPr id="4" name="Slide Number Placeholder 3"/>
          <p:cNvSpPr>
            <a:spLocks noGrp="1"/>
          </p:cNvSpPr>
          <p:nvPr>
            <p:ph type="sldNum" sz="quarter" idx="5"/>
          </p:nvPr>
        </p:nvSpPr>
        <p:spPr/>
        <p:txBody>
          <a:bodyPr/>
          <a:lstStyle/>
          <a:p>
            <a:fld id="{3F0485B2-F723-BF4B-9D7E-ECD23B42BCD0}" type="slidenum">
              <a:rPr lang="en-US" smtClean="0"/>
              <a:t>15</a:t>
            </a:fld>
            <a:endParaRPr lang="en-US"/>
          </a:p>
        </p:txBody>
      </p:sp>
    </p:spTree>
    <p:extLst>
      <p:ext uri="{BB962C8B-B14F-4D97-AF65-F5344CB8AC3E}">
        <p14:creationId xmlns:p14="http://schemas.microsoft.com/office/powerpoint/2010/main" val="1772512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the pooled within-group covariance matrix here</a:t>
            </a:r>
          </a:p>
          <a:p>
            <a:endParaRPr lang="en-US" dirty="0"/>
          </a:p>
        </p:txBody>
      </p:sp>
      <p:sp>
        <p:nvSpPr>
          <p:cNvPr id="4" name="Slide Number Placeholder 3"/>
          <p:cNvSpPr>
            <a:spLocks noGrp="1"/>
          </p:cNvSpPr>
          <p:nvPr>
            <p:ph type="sldNum" sz="quarter" idx="5"/>
          </p:nvPr>
        </p:nvSpPr>
        <p:spPr/>
        <p:txBody>
          <a:bodyPr/>
          <a:lstStyle/>
          <a:p>
            <a:fld id="{3F0485B2-F723-BF4B-9D7E-ECD23B42BCD0}" type="slidenum">
              <a:rPr lang="en-US" smtClean="0"/>
              <a:t>16</a:t>
            </a:fld>
            <a:endParaRPr lang="en-US"/>
          </a:p>
        </p:txBody>
      </p:sp>
    </p:spTree>
    <p:extLst>
      <p:ext uri="{BB962C8B-B14F-4D97-AF65-F5344CB8AC3E}">
        <p14:creationId xmlns:p14="http://schemas.microsoft.com/office/powerpoint/2010/main" val="3430581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way to calculate the between-group covariance matrix is to first calculate the total covariance because the between-group covariance is equal to the total variance minus the pooled within-group covariance. This is the total covariance matrix, which shows the variance and covariance of the two variables when we don’t separate the groups.  </a:t>
            </a:r>
          </a:p>
          <a:p>
            <a:r>
              <a:rPr lang="en-US" dirty="0"/>
              <a:t>The total covariance matrix is the covariance matrix based on all data points. This matrix is the same covariance matrix that we would use for computing the PCA.</a:t>
            </a:r>
          </a:p>
        </p:txBody>
      </p:sp>
      <p:sp>
        <p:nvSpPr>
          <p:cNvPr id="4" name="Slide Number Placeholder 3"/>
          <p:cNvSpPr>
            <a:spLocks noGrp="1"/>
          </p:cNvSpPr>
          <p:nvPr>
            <p:ph type="sldNum" sz="quarter" idx="5"/>
          </p:nvPr>
        </p:nvSpPr>
        <p:spPr/>
        <p:txBody>
          <a:bodyPr/>
          <a:lstStyle/>
          <a:p>
            <a:fld id="{3F0485B2-F723-BF4B-9D7E-ECD23B42BCD0}" type="slidenum">
              <a:rPr lang="en-US" smtClean="0"/>
              <a:t>17</a:t>
            </a:fld>
            <a:endParaRPr lang="en-US"/>
          </a:p>
        </p:txBody>
      </p:sp>
    </p:spTree>
    <p:extLst>
      <p:ext uri="{BB962C8B-B14F-4D97-AF65-F5344CB8AC3E}">
        <p14:creationId xmlns:p14="http://schemas.microsoft.com/office/powerpoint/2010/main" val="39280990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calculate the inverse of the pooled within-group covariance matrix. </a:t>
            </a:r>
          </a:p>
        </p:txBody>
      </p:sp>
      <p:sp>
        <p:nvSpPr>
          <p:cNvPr id="4" name="Slide Number Placeholder 3"/>
          <p:cNvSpPr>
            <a:spLocks noGrp="1"/>
          </p:cNvSpPr>
          <p:nvPr>
            <p:ph type="sldNum" sz="quarter" idx="5"/>
          </p:nvPr>
        </p:nvSpPr>
        <p:spPr/>
        <p:txBody>
          <a:bodyPr/>
          <a:lstStyle/>
          <a:p>
            <a:fld id="{3F0485B2-F723-BF4B-9D7E-ECD23B42BCD0}" type="slidenum">
              <a:rPr lang="en-US" smtClean="0"/>
              <a:t>18</a:t>
            </a:fld>
            <a:endParaRPr lang="en-US"/>
          </a:p>
        </p:txBody>
      </p:sp>
    </p:spTree>
    <p:extLst>
      <p:ext uri="{BB962C8B-B14F-4D97-AF65-F5344CB8AC3E}">
        <p14:creationId xmlns:p14="http://schemas.microsoft.com/office/powerpoint/2010/main" val="2897621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have calculated matrix S, the rest of the calculations are similar to those used in PCA. However, instead of calculating the eigenvalues and eigenvectors of the covariance matrix, we will calculate these on the following matrix. Then we combine the two variables, the CRP and the body temperature , by using the weights that are provided by the first eigenvector. By using this equation, with the given weights, we can calculate the discriminant scores that will show the best linear separation between the groups.</a:t>
            </a:r>
          </a:p>
        </p:txBody>
      </p:sp>
      <p:sp>
        <p:nvSpPr>
          <p:cNvPr id="4" name="Slide Number Placeholder 3"/>
          <p:cNvSpPr>
            <a:spLocks noGrp="1"/>
          </p:cNvSpPr>
          <p:nvPr>
            <p:ph type="sldNum" sz="quarter" idx="5"/>
          </p:nvPr>
        </p:nvSpPr>
        <p:spPr/>
        <p:txBody>
          <a:bodyPr/>
          <a:lstStyle/>
          <a:p>
            <a:fld id="{3F0485B2-F723-BF4B-9D7E-ECD23B42BCD0}" type="slidenum">
              <a:rPr lang="en-US" smtClean="0"/>
              <a:t>19</a:t>
            </a:fld>
            <a:endParaRPr lang="en-US"/>
          </a:p>
        </p:txBody>
      </p:sp>
    </p:spTree>
    <p:extLst>
      <p:ext uri="{BB962C8B-B14F-4D97-AF65-F5344CB8AC3E}">
        <p14:creationId xmlns:p14="http://schemas.microsoft.com/office/powerpoint/2010/main" val="18641144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calculated unstandardized scores. We now rescale these weights so that they correspond to the weights and loadings that are commonly shown by most statistical software tool. In LDA, the weights are usually rescaled so that the pooled group variance of the scores is equal to 1. Let’s calculate the variance of the scores for the virus group. The variance of these scores are 1.6 and the variance of the scores for the bacteria group is 2.37. </a:t>
            </a:r>
            <a:r>
              <a:rPr lang="en-US" b="1" dirty="0"/>
              <a:t>The average of these variances is 1.989</a:t>
            </a:r>
            <a:r>
              <a:rPr lang="en-US" dirty="0"/>
              <a:t>, which is the pooled variance since the two groups have an equal sample size. If the two groups have an unequal sample size, we need to calculate a weighted mean instead. </a:t>
            </a:r>
          </a:p>
        </p:txBody>
      </p:sp>
      <p:sp>
        <p:nvSpPr>
          <p:cNvPr id="4" name="Slide Number Placeholder 3"/>
          <p:cNvSpPr>
            <a:spLocks noGrp="1"/>
          </p:cNvSpPr>
          <p:nvPr>
            <p:ph type="sldNum" sz="quarter" idx="5"/>
          </p:nvPr>
        </p:nvSpPr>
        <p:spPr/>
        <p:txBody>
          <a:bodyPr/>
          <a:lstStyle/>
          <a:p>
            <a:fld id="{3F0485B2-F723-BF4B-9D7E-ECD23B42BCD0}" type="slidenum">
              <a:rPr lang="en-US" smtClean="0"/>
              <a:t>20</a:t>
            </a:fld>
            <a:endParaRPr lang="en-US"/>
          </a:p>
        </p:txBody>
      </p:sp>
    </p:spTree>
    <p:extLst>
      <p:ext uri="{BB962C8B-B14F-4D97-AF65-F5344CB8AC3E}">
        <p14:creationId xmlns:p14="http://schemas.microsoft.com/office/powerpoint/2010/main" val="2976361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divide the weights by the square root of the pooled variance, which corresponds to the pooled standard deviation, we get the following types of weights, or loadings, that are usually presented by most statistical software tools. By using this discriminant function with these rescaled weights, we can compute the following scores</a:t>
            </a:r>
          </a:p>
        </p:txBody>
      </p:sp>
      <p:sp>
        <p:nvSpPr>
          <p:cNvPr id="4" name="Slide Number Placeholder 3"/>
          <p:cNvSpPr>
            <a:spLocks noGrp="1"/>
          </p:cNvSpPr>
          <p:nvPr>
            <p:ph type="sldNum" sz="quarter" idx="5"/>
          </p:nvPr>
        </p:nvSpPr>
        <p:spPr/>
        <p:txBody>
          <a:bodyPr/>
          <a:lstStyle/>
          <a:p>
            <a:fld id="{3F0485B2-F723-BF4B-9D7E-ECD23B42BCD0}" type="slidenum">
              <a:rPr lang="en-US" smtClean="0"/>
              <a:t>21</a:t>
            </a:fld>
            <a:endParaRPr lang="en-US"/>
          </a:p>
        </p:txBody>
      </p:sp>
    </p:spTree>
    <p:extLst>
      <p:ext uri="{BB962C8B-B14F-4D97-AF65-F5344CB8AC3E}">
        <p14:creationId xmlns:p14="http://schemas.microsoft.com/office/powerpoint/2010/main" val="38874159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divide the weights by the square root of the pooled variance, which corresponds to the pooled standard deviation, we get the following types of weights, or loadings, that are usually presented by most statistical software tools. By using this discriminant function with these rescaled weights, we can compute the following scores.</a:t>
            </a:r>
          </a:p>
        </p:txBody>
      </p:sp>
      <p:sp>
        <p:nvSpPr>
          <p:cNvPr id="4" name="Slide Number Placeholder 3"/>
          <p:cNvSpPr>
            <a:spLocks noGrp="1"/>
          </p:cNvSpPr>
          <p:nvPr>
            <p:ph type="sldNum" sz="quarter" idx="5"/>
          </p:nvPr>
        </p:nvSpPr>
        <p:spPr/>
        <p:txBody>
          <a:bodyPr/>
          <a:lstStyle/>
          <a:p>
            <a:fld id="{3F0485B2-F723-BF4B-9D7E-ECD23B42BCD0}" type="slidenum">
              <a:rPr lang="en-US" smtClean="0"/>
              <a:t>22</a:t>
            </a:fld>
            <a:endParaRPr lang="en-US"/>
          </a:p>
        </p:txBody>
      </p:sp>
    </p:spTree>
    <p:extLst>
      <p:ext uri="{BB962C8B-B14F-4D97-AF65-F5344CB8AC3E}">
        <p14:creationId xmlns:p14="http://schemas.microsoft.com/office/powerpoint/2010/main" val="13971147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most of statistical tools will report the centered discriminant scores, which can be calculated based on the following equation, where we first subtract the means from the original values. </a:t>
            </a:r>
          </a:p>
        </p:txBody>
      </p:sp>
      <p:sp>
        <p:nvSpPr>
          <p:cNvPr id="4" name="Slide Number Placeholder 3"/>
          <p:cNvSpPr>
            <a:spLocks noGrp="1"/>
          </p:cNvSpPr>
          <p:nvPr>
            <p:ph type="sldNum" sz="quarter" idx="5"/>
          </p:nvPr>
        </p:nvSpPr>
        <p:spPr/>
        <p:txBody>
          <a:bodyPr/>
          <a:lstStyle/>
          <a:p>
            <a:fld id="{3F0485B2-F723-BF4B-9D7E-ECD23B42BCD0}" type="slidenum">
              <a:rPr lang="en-US" smtClean="0"/>
              <a:t>23</a:t>
            </a:fld>
            <a:endParaRPr lang="en-US"/>
          </a:p>
        </p:txBody>
      </p:sp>
    </p:spTree>
    <p:extLst>
      <p:ext uri="{BB962C8B-B14F-4D97-AF65-F5344CB8AC3E}">
        <p14:creationId xmlns:p14="http://schemas.microsoft.com/office/powerpoint/2010/main" val="1461776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way to calculate these coefficients is to first compute the LDA on standardized data. To standardize a variable, we usually subtract its mean from the original values, and divide by the square root of the variance, which is the standard deviation of that variable. In contrast, for LDA we divide by the square root of the pooled variance of the groups for that variable. If we use this equation, we will get the following standardized variables. </a:t>
            </a:r>
          </a:p>
          <a:p>
            <a:r>
              <a:rPr lang="en-US" dirty="0"/>
              <a:t>We can now pool these two variables, and since the sample sizes are equal between the groups, the pooled variance is simply the mean of these two variance. We see that the pooled variance is 208.1. For example, if we calculate the standardized CRP value for person 1 and we see that the calculation results in a standardized value of 0.7</a:t>
            </a:r>
          </a:p>
        </p:txBody>
      </p:sp>
      <p:sp>
        <p:nvSpPr>
          <p:cNvPr id="4" name="Slide Number Placeholder 3"/>
          <p:cNvSpPr>
            <a:spLocks noGrp="1"/>
          </p:cNvSpPr>
          <p:nvPr>
            <p:ph type="sldNum" sz="quarter" idx="5"/>
          </p:nvPr>
        </p:nvSpPr>
        <p:spPr/>
        <p:txBody>
          <a:bodyPr/>
          <a:lstStyle/>
          <a:p>
            <a:fld id="{3F0485B2-F723-BF4B-9D7E-ECD23B42BCD0}" type="slidenum">
              <a:rPr lang="en-US" smtClean="0"/>
              <a:t>24</a:t>
            </a:fld>
            <a:endParaRPr lang="en-US"/>
          </a:p>
        </p:txBody>
      </p:sp>
    </p:spTree>
    <p:extLst>
      <p:ext uri="{BB962C8B-B14F-4D97-AF65-F5344CB8AC3E}">
        <p14:creationId xmlns:p14="http://schemas.microsoft.com/office/powerpoint/2010/main" val="10982650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simply use these values to compute the scores of the first discriminant function. By using a software  with these standardized values, we will get the following weights and if we rescale the weights in the same way as we have seen previously, we will get the following standardized discriminant function coefficients, which are commonly reported by most statistical software tools. These coefficients are usually used to determine how much each variable contributes to the separation. If a variable is associated with a relatively high weight, we can interpret this as the variable contributes more to the separation. In order words, if a variable is associated with a relative high weight, that variable is better to separate the groups compared to the other variables.</a:t>
            </a:r>
          </a:p>
          <a:p>
            <a:r>
              <a:rPr lang="en-US" dirty="0"/>
              <a:t>In our example, the values of the two coefficients are quite similar, which means that the variables CRP and body temperature contribute to about the same extent to separate the virus group from the bacteria group.</a:t>
            </a:r>
          </a:p>
        </p:txBody>
      </p:sp>
      <p:sp>
        <p:nvSpPr>
          <p:cNvPr id="4" name="Slide Number Placeholder 3"/>
          <p:cNvSpPr>
            <a:spLocks noGrp="1"/>
          </p:cNvSpPr>
          <p:nvPr>
            <p:ph type="sldNum" sz="quarter" idx="5"/>
          </p:nvPr>
        </p:nvSpPr>
        <p:spPr/>
        <p:txBody>
          <a:bodyPr/>
          <a:lstStyle/>
          <a:p>
            <a:fld id="{3F0485B2-F723-BF4B-9D7E-ECD23B42BCD0}" type="slidenum">
              <a:rPr lang="en-US" smtClean="0"/>
              <a:t>25</a:t>
            </a:fld>
            <a:endParaRPr lang="en-US"/>
          </a:p>
        </p:txBody>
      </p:sp>
    </p:spTree>
    <p:extLst>
      <p:ext uri="{BB962C8B-B14F-4D97-AF65-F5344CB8AC3E}">
        <p14:creationId xmlns:p14="http://schemas.microsoft.com/office/powerpoint/2010/main" val="13432031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0485B2-F723-BF4B-9D7E-ECD23B42BCD0}" type="slidenum">
              <a:rPr lang="en-US" smtClean="0"/>
              <a:t>26</a:t>
            </a:fld>
            <a:endParaRPr lang="en-US"/>
          </a:p>
        </p:txBody>
      </p:sp>
    </p:spTree>
    <p:extLst>
      <p:ext uri="{BB962C8B-B14F-4D97-AF65-F5344CB8AC3E}">
        <p14:creationId xmlns:p14="http://schemas.microsoft.com/office/powerpoint/2010/main" val="1287683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2/23/22</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975143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159556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2/23/22</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371136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2/23/22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65105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2/23/22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990208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2/23/22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682629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2/23/22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042716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2/23/22</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62780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2/23/22</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79421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2/23/22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325126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2/23/22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26010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2/23/22</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163871017"/>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hf sldNum="0" hdr="0" ftr="0" dt="0"/>
  <p:txStyles>
    <p:titleStyle>
      <a:lvl1pPr algn="l" defTabSz="914400" rtl="0" eaLnBrk="1" latinLnBrk="0" hangingPunct="1">
        <a:lnSpc>
          <a:spcPct val="90000"/>
        </a:lnSpc>
        <a:spcBef>
          <a:spcPct val="0"/>
        </a:spcBef>
        <a:buNone/>
        <a:defRPr lang="en-US" sz="44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7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5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3">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1" name="Rectangle 35">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20300CF0-4299-984D-90FA-38FB3CD37083}"/>
              </a:ext>
            </a:extLst>
          </p:cNvPr>
          <p:cNvSpPr>
            <a:spLocks noGrp="1"/>
          </p:cNvSpPr>
          <p:nvPr>
            <p:ph type="title"/>
          </p:nvPr>
        </p:nvSpPr>
        <p:spPr>
          <a:xfrm>
            <a:off x="1025236" y="346364"/>
            <a:ext cx="9942484" cy="2050846"/>
          </a:xfrm>
        </p:spPr>
        <p:txBody>
          <a:bodyPr>
            <a:normAutofit fontScale="90000"/>
          </a:bodyPr>
          <a:lstStyle/>
          <a:p>
            <a:pPr algn="ctr">
              <a:spcAft>
                <a:spcPts val="600"/>
              </a:spcAft>
            </a:pPr>
            <a:br>
              <a:rPr lang="en-US" sz="4000" b="1" cap="all" spc="-100" dirty="0"/>
            </a:br>
            <a:r>
              <a:rPr lang="en-US" sz="4000" b="1" cap="all" spc="-100" dirty="0"/>
              <a:t>Linear Discriminant Analysis  </a:t>
            </a:r>
            <a:br>
              <a:rPr lang="en-US" sz="2400" b="1" cap="all" spc="-100" dirty="0"/>
            </a:br>
            <a:br>
              <a:rPr lang="en-US" sz="2400" b="1" cap="all" spc="-100" dirty="0"/>
            </a:br>
            <a:br>
              <a:rPr lang="en-US" sz="2400" cap="all" spc="-100" dirty="0"/>
            </a:br>
            <a:endParaRPr lang="en-US" sz="2400" dirty="0"/>
          </a:p>
        </p:txBody>
      </p:sp>
      <p:sp>
        <p:nvSpPr>
          <p:cNvPr id="3" name="Content Placeholder 2">
            <a:extLst>
              <a:ext uri="{FF2B5EF4-FFF2-40B4-BE49-F238E27FC236}">
                <a16:creationId xmlns:a16="http://schemas.microsoft.com/office/drawing/2014/main" id="{107FD238-872E-D949-945F-AF47D8933843}"/>
              </a:ext>
            </a:extLst>
          </p:cNvPr>
          <p:cNvSpPr>
            <a:spLocks noGrp="1"/>
          </p:cNvSpPr>
          <p:nvPr>
            <p:ph idx="1"/>
          </p:nvPr>
        </p:nvSpPr>
        <p:spPr>
          <a:xfrm>
            <a:off x="1224280" y="2397210"/>
            <a:ext cx="9743440" cy="3568501"/>
          </a:xfrm>
        </p:spPr>
        <p:txBody>
          <a:bodyPr>
            <a:normAutofit/>
          </a:bodyPr>
          <a:lstStyle/>
          <a:p>
            <a:pPr>
              <a:buFont typeface="Arial" panose="020B0604020202020204" pitchFamily="34" charset="0"/>
              <a:buChar char="•"/>
            </a:pPr>
            <a:r>
              <a:rPr lang="en-US" sz="3200" dirty="0"/>
              <a:t>The basics of LDA</a:t>
            </a:r>
          </a:p>
          <a:p>
            <a:pPr>
              <a:buFont typeface="Arial" panose="020B0604020202020204" pitchFamily="34" charset="0"/>
              <a:buChar char="•"/>
            </a:pPr>
            <a:r>
              <a:rPr lang="en-US" sz="3200" dirty="0"/>
              <a:t>Applications</a:t>
            </a:r>
          </a:p>
          <a:p>
            <a:pPr>
              <a:buFont typeface="Arial" panose="020B0604020202020204" pitchFamily="34" charset="0"/>
              <a:buChar char="•"/>
            </a:pPr>
            <a:r>
              <a:rPr lang="en-US" sz="3200" dirty="0"/>
              <a:t>LDA vs PCA</a:t>
            </a:r>
          </a:p>
          <a:p>
            <a:pPr>
              <a:buFont typeface="Arial" panose="020B0604020202020204" pitchFamily="34" charset="0"/>
              <a:buChar char="•"/>
            </a:pPr>
            <a:r>
              <a:rPr lang="en-US" sz="3200" dirty="0"/>
              <a:t>The math</a:t>
            </a:r>
          </a:p>
        </p:txBody>
      </p:sp>
    </p:spTree>
    <p:extLst>
      <p:ext uri="{BB962C8B-B14F-4D97-AF65-F5344CB8AC3E}">
        <p14:creationId xmlns:p14="http://schemas.microsoft.com/office/powerpoint/2010/main" val="1388300967"/>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PCA vs LDA</a:t>
            </a:r>
          </a:p>
        </p:txBody>
      </p:sp>
      <p:sp>
        <p:nvSpPr>
          <p:cNvPr id="3" name="Content Placeholder 2">
            <a:extLst>
              <a:ext uri="{FF2B5EF4-FFF2-40B4-BE49-F238E27FC236}">
                <a16:creationId xmlns:a16="http://schemas.microsoft.com/office/drawing/2014/main" id="{C6449D8D-1DF3-D343-9422-2F094AC1E5B0}"/>
              </a:ext>
            </a:extLst>
          </p:cNvPr>
          <p:cNvSpPr>
            <a:spLocks noGrp="1"/>
          </p:cNvSpPr>
          <p:nvPr>
            <p:ph idx="1"/>
          </p:nvPr>
        </p:nvSpPr>
        <p:spPr>
          <a:xfrm>
            <a:off x="1175511" y="1662546"/>
            <a:ext cx="10337616" cy="830998"/>
          </a:xfrm>
        </p:spPr>
        <p:txBody>
          <a:bodyPr>
            <a:normAutofit/>
          </a:bodyPr>
          <a:lstStyle/>
          <a:p>
            <a:pPr marL="0" indent="0">
              <a:buNone/>
            </a:pPr>
            <a:r>
              <a:rPr lang="en-US" sz="2400" dirty="0"/>
              <a:t>PCA is a method to find the linear combination that accounts for as much variability as possible.</a:t>
            </a:r>
          </a:p>
        </p:txBody>
      </p:sp>
      <p:pic>
        <p:nvPicPr>
          <p:cNvPr id="5" name="Picture 4" descr="A picture containing text, clock&#10;&#10;Description automatically generated">
            <a:extLst>
              <a:ext uri="{FF2B5EF4-FFF2-40B4-BE49-F238E27FC236}">
                <a16:creationId xmlns:a16="http://schemas.microsoft.com/office/drawing/2014/main" id="{41669737-8498-494D-9731-FC492A4D144B}"/>
              </a:ext>
            </a:extLst>
          </p:cNvPr>
          <p:cNvPicPr>
            <a:picLocks noChangeAspect="1"/>
          </p:cNvPicPr>
          <p:nvPr/>
        </p:nvPicPr>
        <p:blipFill>
          <a:blip r:embed="rId3"/>
          <a:stretch>
            <a:fillRect/>
          </a:stretch>
        </p:blipFill>
        <p:spPr>
          <a:xfrm>
            <a:off x="4158095" y="2622185"/>
            <a:ext cx="3238500" cy="660400"/>
          </a:xfrm>
          <a:prstGeom prst="rect">
            <a:avLst/>
          </a:prstGeom>
        </p:spPr>
      </p:pic>
      <p:pic>
        <p:nvPicPr>
          <p:cNvPr id="9" name="Picture 8" descr="A picture containing clock, gauge&#10;&#10;Description automatically generated">
            <a:extLst>
              <a:ext uri="{FF2B5EF4-FFF2-40B4-BE49-F238E27FC236}">
                <a16:creationId xmlns:a16="http://schemas.microsoft.com/office/drawing/2014/main" id="{AD2EAEA3-0EAD-1043-A1EC-D8DB5B6E3D13}"/>
              </a:ext>
            </a:extLst>
          </p:cNvPr>
          <p:cNvPicPr>
            <a:picLocks noChangeAspect="1"/>
          </p:cNvPicPr>
          <p:nvPr/>
        </p:nvPicPr>
        <p:blipFill>
          <a:blip r:embed="rId4"/>
          <a:stretch>
            <a:fillRect/>
          </a:stretch>
        </p:blipFill>
        <p:spPr>
          <a:xfrm>
            <a:off x="4745270" y="3282585"/>
            <a:ext cx="2064151" cy="533239"/>
          </a:xfrm>
          <a:prstGeom prst="rect">
            <a:avLst/>
          </a:prstGeom>
        </p:spPr>
      </p:pic>
      <p:sp>
        <p:nvSpPr>
          <p:cNvPr id="12" name="TextBox 11">
            <a:extLst>
              <a:ext uri="{FF2B5EF4-FFF2-40B4-BE49-F238E27FC236}">
                <a16:creationId xmlns:a16="http://schemas.microsoft.com/office/drawing/2014/main" id="{C1733322-E3AC-E945-B293-CD1B87B6F9D8}"/>
              </a:ext>
            </a:extLst>
          </p:cNvPr>
          <p:cNvSpPr txBox="1"/>
          <p:nvPr/>
        </p:nvSpPr>
        <p:spPr>
          <a:xfrm rot="10800000" flipV="1">
            <a:off x="1175511" y="4161095"/>
            <a:ext cx="9894269" cy="830997"/>
          </a:xfrm>
          <a:prstGeom prst="rect">
            <a:avLst/>
          </a:prstGeom>
          <a:noFill/>
        </p:spPr>
        <p:txBody>
          <a:bodyPr wrap="square">
            <a:spAutoFit/>
          </a:bodyPr>
          <a:lstStyle/>
          <a:p>
            <a:r>
              <a:rPr lang="en-US" sz="2400" dirty="0"/>
              <a:t>LDA is a similar method, which aims to maximize the separation between two or more groups.</a:t>
            </a:r>
          </a:p>
        </p:txBody>
      </p:sp>
      <p:pic>
        <p:nvPicPr>
          <p:cNvPr id="13" name="Picture 12" descr="A picture containing text, clock, watch&#10;&#10;Description automatically generated">
            <a:extLst>
              <a:ext uri="{FF2B5EF4-FFF2-40B4-BE49-F238E27FC236}">
                <a16:creationId xmlns:a16="http://schemas.microsoft.com/office/drawing/2014/main" id="{D3193C4E-8D71-8A45-80A3-CC24EAA76252}"/>
              </a:ext>
            </a:extLst>
          </p:cNvPr>
          <p:cNvPicPr>
            <a:picLocks noChangeAspect="1"/>
          </p:cNvPicPr>
          <p:nvPr/>
        </p:nvPicPr>
        <p:blipFill>
          <a:blip r:embed="rId5"/>
          <a:stretch>
            <a:fillRect/>
          </a:stretch>
        </p:blipFill>
        <p:spPr>
          <a:xfrm>
            <a:off x="4253346" y="5337364"/>
            <a:ext cx="2826327" cy="403761"/>
          </a:xfrm>
          <a:prstGeom prst="rect">
            <a:avLst/>
          </a:prstGeom>
        </p:spPr>
      </p:pic>
    </p:spTree>
    <p:extLst>
      <p:ext uri="{BB962C8B-B14F-4D97-AF65-F5344CB8AC3E}">
        <p14:creationId xmlns:p14="http://schemas.microsoft.com/office/powerpoint/2010/main" val="2383597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Separation</a:t>
            </a:r>
          </a:p>
        </p:txBody>
      </p:sp>
      <p:graphicFrame>
        <p:nvGraphicFramePr>
          <p:cNvPr id="14" name="Table 13">
            <a:extLst>
              <a:ext uri="{FF2B5EF4-FFF2-40B4-BE49-F238E27FC236}">
                <a16:creationId xmlns:a16="http://schemas.microsoft.com/office/drawing/2014/main" id="{25EE228E-073C-494F-BF78-38FD71BE928C}"/>
              </a:ext>
            </a:extLst>
          </p:cNvPr>
          <p:cNvGraphicFramePr>
            <a:graphicFrameLocks noGrp="1"/>
          </p:cNvGraphicFramePr>
          <p:nvPr>
            <p:extLst>
              <p:ext uri="{D42A27DB-BD31-4B8C-83A1-F6EECF244321}">
                <p14:modId xmlns:p14="http://schemas.microsoft.com/office/powerpoint/2010/main" val="2448296393"/>
              </p:ext>
            </p:extLst>
          </p:nvPr>
        </p:nvGraphicFramePr>
        <p:xfrm>
          <a:off x="807718" y="1854297"/>
          <a:ext cx="2812170" cy="3919968"/>
        </p:xfrm>
        <a:graphic>
          <a:graphicData uri="http://schemas.openxmlformats.org/drawingml/2006/table">
            <a:tbl>
              <a:tblPr>
                <a:tableStyleId>{5C22544A-7EE6-4342-B048-85BDC9FD1C3A}</a:tableStyleId>
              </a:tblPr>
              <a:tblGrid>
                <a:gridCol w="937390">
                  <a:extLst>
                    <a:ext uri="{9D8B030D-6E8A-4147-A177-3AD203B41FA5}">
                      <a16:colId xmlns:a16="http://schemas.microsoft.com/office/drawing/2014/main" val="522457182"/>
                    </a:ext>
                  </a:extLst>
                </a:gridCol>
                <a:gridCol w="937390">
                  <a:extLst>
                    <a:ext uri="{9D8B030D-6E8A-4147-A177-3AD203B41FA5}">
                      <a16:colId xmlns:a16="http://schemas.microsoft.com/office/drawing/2014/main" val="1383214557"/>
                    </a:ext>
                  </a:extLst>
                </a:gridCol>
                <a:gridCol w="937390">
                  <a:extLst>
                    <a:ext uri="{9D8B030D-6E8A-4147-A177-3AD203B41FA5}">
                      <a16:colId xmlns:a16="http://schemas.microsoft.com/office/drawing/2014/main" val="554864602"/>
                    </a:ext>
                  </a:extLst>
                </a:gridCol>
              </a:tblGrid>
              <a:tr h="301536">
                <a:tc>
                  <a:txBody>
                    <a:bodyPr/>
                    <a:lstStyle/>
                    <a:p>
                      <a:pPr algn="ctr" fontAlgn="b"/>
                      <a:r>
                        <a:rPr lang="en-CA" sz="1200" b="1"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Temp (C)</a:t>
                      </a:r>
                      <a:endParaRPr lang="en-CA"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8188516"/>
                  </a:ext>
                </a:extLst>
              </a:tr>
              <a:tr h="301536">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40</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0262813"/>
                  </a:ext>
                </a:extLst>
              </a:tr>
              <a:tr h="301536">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11.1</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37.2</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79856579"/>
                  </a:ext>
                </a:extLst>
              </a:tr>
              <a:tr h="301536">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30</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36.5</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77923399"/>
                  </a:ext>
                </a:extLst>
              </a:tr>
              <a:tr h="301536">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21.4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18019763"/>
                  </a:ext>
                </a:extLst>
              </a:tr>
              <a:tr h="301536">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39.6</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2154701"/>
                  </a:ext>
                </a:extLst>
              </a:tr>
              <a:tr h="301536">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40.7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13184265"/>
                  </a:ext>
                </a:extLst>
              </a:tr>
              <a:tr h="30153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0619042"/>
                  </a:ext>
                </a:extLst>
              </a:tr>
              <a:tr h="30153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31.1</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42.2</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0243220"/>
                  </a:ext>
                </a:extLst>
              </a:tr>
              <a:tr h="30153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38.5</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3021495"/>
                  </a:ext>
                </a:extLst>
              </a:tr>
              <a:tr h="30153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39.4</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99801892"/>
                  </a:ext>
                </a:extLst>
              </a:tr>
              <a:tr h="30153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38.6</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97223466"/>
                  </a:ext>
                </a:extLst>
              </a:tr>
              <a:tr h="30153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42.7</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9024676"/>
                  </a:ext>
                </a:extLst>
              </a:tr>
            </a:tbl>
          </a:graphicData>
        </a:graphic>
      </p:graphicFrame>
      <p:pic>
        <p:nvPicPr>
          <p:cNvPr id="7" name="Picture 6" descr="Chart, scatter chart&#10;&#10;Description automatically generated">
            <a:extLst>
              <a:ext uri="{FF2B5EF4-FFF2-40B4-BE49-F238E27FC236}">
                <a16:creationId xmlns:a16="http://schemas.microsoft.com/office/drawing/2014/main" id="{77E2064D-B756-B941-90F0-0EE30E312F59}"/>
              </a:ext>
            </a:extLst>
          </p:cNvPr>
          <p:cNvPicPr>
            <a:picLocks noChangeAspect="1"/>
          </p:cNvPicPr>
          <p:nvPr/>
        </p:nvPicPr>
        <p:blipFill>
          <a:blip r:embed="rId3"/>
          <a:stretch>
            <a:fillRect/>
          </a:stretch>
        </p:blipFill>
        <p:spPr>
          <a:xfrm>
            <a:off x="4199588" y="1825207"/>
            <a:ext cx="3206277" cy="3919967"/>
          </a:xfrm>
          <a:prstGeom prst="rect">
            <a:avLst/>
          </a:prstGeom>
        </p:spPr>
      </p:pic>
      <p:pic>
        <p:nvPicPr>
          <p:cNvPr id="16" name="Picture 15" descr="Chart, scatter chart&#10;&#10;Description automatically generated">
            <a:extLst>
              <a:ext uri="{FF2B5EF4-FFF2-40B4-BE49-F238E27FC236}">
                <a16:creationId xmlns:a16="http://schemas.microsoft.com/office/drawing/2014/main" id="{AB108981-0170-D74F-BBB8-8701F2EF85A0}"/>
              </a:ext>
            </a:extLst>
          </p:cNvPr>
          <p:cNvPicPr>
            <a:picLocks noChangeAspect="1"/>
          </p:cNvPicPr>
          <p:nvPr/>
        </p:nvPicPr>
        <p:blipFill>
          <a:blip r:embed="rId4"/>
          <a:stretch>
            <a:fillRect/>
          </a:stretch>
        </p:blipFill>
        <p:spPr>
          <a:xfrm>
            <a:off x="7985565" y="1854296"/>
            <a:ext cx="3186313" cy="3890877"/>
          </a:xfrm>
          <a:prstGeom prst="rect">
            <a:avLst/>
          </a:prstGeom>
        </p:spPr>
      </p:pic>
    </p:spTree>
    <p:extLst>
      <p:ext uri="{BB962C8B-B14F-4D97-AF65-F5344CB8AC3E}">
        <p14:creationId xmlns:p14="http://schemas.microsoft.com/office/powerpoint/2010/main" val="2751134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Separation</a:t>
            </a:r>
          </a:p>
        </p:txBody>
      </p:sp>
      <p:graphicFrame>
        <p:nvGraphicFramePr>
          <p:cNvPr id="14" name="Table 13">
            <a:extLst>
              <a:ext uri="{FF2B5EF4-FFF2-40B4-BE49-F238E27FC236}">
                <a16:creationId xmlns:a16="http://schemas.microsoft.com/office/drawing/2014/main" id="{25EE228E-073C-494F-BF78-38FD71BE928C}"/>
              </a:ext>
            </a:extLst>
          </p:cNvPr>
          <p:cNvGraphicFramePr>
            <a:graphicFrameLocks noGrp="1"/>
          </p:cNvGraphicFramePr>
          <p:nvPr>
            <p:extLst>
              <p:ext uri="{D42A27DB-BD31-4B8C-83A1-F6EECF244321}">
                <p14:modId xmlns:p14="http://schemas.microsoft.com/office/powerpoint/2010/main" val="274271178"/>
              </p:ext>
            </p:extLst>
          </p:nvPr>
        </p:nvGraphicFramePr>
        <p:xfrm>
          <a:off x="957263" y="1700213"/>
          <a:ext cx="2983245" cy="4000503"/>
        </p:xfrm>
        <a:graphic>
          <a:graphicData uri="http://schemas.openxmlformats.org/drawingml/2006/table">
            <a:tbl>
              <a:tblPr>
                <a:tableStyleId>{5C22544A-7EE6-4342-B048-85BDC9FD1C3A}</a:tableStyleId>
              </a:tblPr>
              <a:tblGrid>
                <a:gridCol w="994415">
                  <a:extLst>
                    <a:ext uri="{9D8B030D-6E8A-4147-A177-3AD203B41FA5}">
                      <a16:colId xmlns:a16="http://schemas.microsoft.com/office/drawing/2014/main" val="522457182"/>
                    </a:ext>
                  </a:extLst>
                </a:gridCol>
                <a:gridCol w="994415">
                  <a:extLst>
                    <a:ext uri="{9D8B030D-6E8A-4147-A177-3AD203B41FA5}">
                      <a16:colId xmlns:a16="http://schemas.microsoft.com/office/drawing/2014/main" val="1383214557"/>
                    </a:ext>
                  </a:extLst>
                </a:gridCol>
                <a:gridCol w="994415">
                  <a:extLst>
                    <a:ext uri="{9D8B030D-6E8A-4147-A177-3AD203B41FA5}">
                      <a16:colId xmlns:a16="http://schemas.microsoft.com/office/drawing/2014/main" val="554864602"/>
                    </a:ext>
                  </a:extLst>
                </a:gridCol>
              </a:tblGrid>
              <a:tr h="307731">
                <a:tc>
                  <a:txBody>
                    <a:bodyPr/>
                    <a:lstStyle/>
                    <a:p>
                      <a:pPr algn="ctr" fontAlgn="b"/>
                      <a:r>
                        <a:rPr lang="en-CA" sz="1200" b="1"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Temp (C)</a:t>
                      </a:r>
                      <a:endParaRPr lang="en-CA"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8188516"/>
                  </a:ext>
                </a:extLst>
              </a:tr>
              <a:tr h="307731">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40</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0262813"/>
                  </a:ext>
                </a:extLst>
              </a:tr>
              <a:tr h="307731">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11.1</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37.2</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79856579"/>
                  </a:ext>
                </a:extLst>
              </a:tr>
              <a:tr h="307731">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30</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36.5</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77923399"/>
                  </a:ext>
                </a:extLst>
              </a:tr>
              <a:tr h="307731">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21.4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18019763"/>
                  </a:ext>
                </a:extLst>
              </a:tr>
              <a:tr h="307731">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39.6</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2154701"/>
                  </a:ext>
                </a:extLst>
              </a:tr>
              <a:tr h="307731">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40.7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13184265"/>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0619042"/>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31.1</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42.2</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0243220"/>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38.5</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3021495"/>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39.4</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99801892"/>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38.6</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97223466"/>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42.7</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9024676"/>
                  </a:ext>
                </a:extLst>
              </a:tr>
            </a:tbl>
          </a:graphicData>
        </a:graphic>
      </p:graphicFrame>
      <p:pic>
        <p:nvPicPr>
          <p:cNvPr id="4" name="Picture 3" descr="Chart, scatter chart&#10;&#10;Description automatically generated">
            <a:extLst>
              <a:ext uri="{FF2B5EF4-FFF2-40B4-BE49-F238E27FC236}">
                <a16:creationId xmlns:a16="http://schemas.microsoft.com/office/drawing/2014/main" id="{1B3E6B9F-C083-4840-864C-8582E18322E4}"/>
              </a:ext>
            </a:extLst>
          </p:cNvPr>
          <p:cNvPicPr>
            <a:picLocks noChangeAspect="1"/>
          </p:cNvPicPr>
          <p:nvPr/>
        </p:nvPicPr>
        <p:blipFill>
          <a:blip r:embed="rId3"/>
          <a:stretch>
            <a:fillRect/>
          </a:stretch>
        </p:blipFill>
        <p:spPr>
          <a:xfrm>
            <a:off x="4560047" y="1700213"/>
            <a:ext cx="3140916" cy="4000503"/>
          </a:xfrm>
          <a:prstGeom prst="rect">
            <a:avLst/>
          </a:prstGeom>
        </p:spPr>
      </p:pic>
      <p:pic>
        <p:nvPicPr>
          <p:cNvPr id="6" name="Picture 5" descr="Chart&#10;&#10;Description automatically generated">
            <a:extLst>
              <a:ext uri="{FF2B5EF4-FFF2-40B4-BE49-F238E27FC236}">
                <a16:creationId xmlns:a16="http://schemas.microsoft.com/office/drawing/2014/main" id="{4010B4CD-0EAE-8845-96D8-37A311ED0F75}"/>
              </a:ext>
            </a:extLst>
          </p:cNvPr>
          <p:cNvPicPr>
            <a:picLocks noChangeAspect="1"/>
          </p:cNvPicPr>
          <p:nvPr/>
        </p:nvPicPr>
        <p:blipFill>
          <a:blip r:embed="rId4"/>
          <a:stretch>
            <a:fillRect/>
          </a:stretch>
        </p:blipFill>
        <p:spPr>
          <a:xfrm>
            <a:off x="8166572" y="1700213"/>
            <a:ext cx="3118301" cy="4000503"/>
          </a:xfrm>
          <a:prstGeom prst="rect">
            <a:avLst/>
          </a:prstGeom>
        </p:spPr>
      </p:pic>
    </p:spTree>
    <p:extLst>
      <p:ext uri="{BB962C8B-B14F-4D97-AF65-F5344CB8AC3E}">
        <p14:creationId xmlns:p14="http://schemas.microsoft.com/office/powerpoint/2010/main" val="891529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Separation</a:t>
            </a:r>
          </a:p>
        </p:txBody>
      </p:sp>
      <p:graphicFrame>
        <p:nvGraphicFramePr>
          <p:cNvPr id="14" name="Table 13">
            <a:extLst>
              <a:ext uri="{FF2B5EF4-FFF2-40B4-BE49-F238E27FC236}">
                <a16:creationId xmlns:a16="http://schemas.microsoft.com/office/drawing/2014/main" id="{25EE228E-073C-494F-BF78-38FD71BE928C}"/>
              </a:ext>
            </a:extLst>
          </p:cNvPr>
          <p:cNvGraphicFramePr>
            <a:graphicFrameLocks noGrp="1"/>
          </p:cNvGraphicFramePr>
          <p:nvPr/>
        </p:nvGraphicFramePr>
        <p:xfrm>
          <a:off x="957263" y="1700213"/>
          <a:ext cx="2983245" cy="4000503"/>
        </p:xfrm>
        <a:graphic>
          <a:graphicData uri="http://schemas.openxmlformats.org/drawingml/2006/table">
            <a:tbl>
              <a:tblPr>
                <a:tableStyleId>{5C22544A-7EE6-4342-B048-85BDC9FD1C3A}</a:tableStyleId>
              </a:tblPr>
              <a:tblGrid>
                <a:gridCol w="994415">
                  <a:extLst>
                    <a:ext uri="{9D8B030D-6E8A-4147-A177-3AD203B41FA5}">
                      <a16:colId xmlns:a16="http://schemas.microsoft.com/office/drawing/2014/main" val="522457182"/>
                    </a:ext>
                  </a:extLst>
                </a:gridCol>
                <a:gridCol w="994415">
                  <a:extLst>
                    <a:ext uri="{9D8B030D-6E8A-4147-A177-3AD203B41FA5}">
                      <a16:colId xmlns:a16="http://schemas.microsoft.com/office/drawing/2014/main" val="1383214557"/>
                    </a:ext>
                  </a:extLst>
                </a:gridCol>
                <a:gridCol w="994415">
                  <a:extLst>
                    <a:ext uri="{9D8B030D-6E8A-4147-A177-3AD203B41FA5}">
                      <a16:colId xmlns:a16="http://schemas.microsoft.com/office/drawing/2014/main" val="554864602"/>
                    </a:ext>
                  </a:extLst>
                </a:gridCol>
              </a:tblGrid>
              <a:tr h="307731">
                <a:tc>
                  <a:txBody>
                    <a:bodyPr/>
                    <a:lstStyle/>
                    <a:p>
                      <a:pPr algn="ctr" fontAlgn="b"/>
                      <a:r>
                        <a:rPr lang="en-CA" sz="1200" b="1"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Temp (C)</a:t>
                      </a:r>
                      <a:endParaRPr lang="en-CA"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8188516"/>
                  </a:ext>
                </a:extLst>
              </a:tr>
              <a:tr h="307731">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40</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0262813"/>
                  </a:ext>
                </a:extLst>
              </a:tr>
              <a:tr h="307731">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11.1</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37.2</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79856579"/>
                  </a:ext>
                </a:extLst>
              </a:tr>
              <a:tr h="307731">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30</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36.5</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77923399"/>
                  </a:ext>
                </a:extLst>
              </a:tr>
              <a:tr h="307731">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21.4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18019763"/>
                  </a:ext>
                </a:extLst>
              </a:tr>
              <a:tr h="307731">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39.6</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2154701"/>
                  </a:ext>
                </a:extLst>
              </a:tr>
              <a:tr h="307731">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40.7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13184265"/>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0619042"/>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31.1</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42.2</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0243220"/>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38.5</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3021495"/>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39.4</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99801892"/>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38.6</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97223466"/>
                  </a:ext>
                </a:extLst>
              </a:tr>
              <a:tr h="30773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42.7</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9024676"/>
                  </a:ext>
                </a:extLst>
              </a:tr>
            </a:tbl>
          </a:graphicData>
        </a:graphic>
      </p:graphicFrame>
      <p:pic>
        <p:nvPicPr>
          <p:cNvPr id="5" name="Picture 4" descr="Chart, bubble chart&#10;&#10;Description automatically generated">
            <a:extLst>
              <a:ext uri="{FF2B5EF4-FFF2-40B4-BE49-F238E27FC236}">
                <a16:creationId xmlns:a16="http://schemas.microsoft.com/office/drawing/2014/main" id="{707BC366-FEBD-D045-90A3-89F6646D3063}"/>
              </a:ext>
            </a:extLst>
          </p:cNvPr>
          <p:cNvPicPr>
            <a:picLocks noChangeAspect="1"/>
          </p:cNvPicPr>
          <p:nvPr/>
        </p:nvPicPr>
        <p:blipFill>
          <a:blip r:embed="rId3"/>
          <a:stretch>
            <a:fillRect/>
          </a:stretch>
        </p:blipFill>
        <p:spPr>
          <a:xfrm>
            <a:off x="5618094" y="1686631"/>
            <a:ext cx="5220888" cy="4000503"/>
          </a:xfrm>
          <a:prstGeom prst="rect">
            <a:avLst/>
          </a:prstGeom>
        </p:spPr>
      </p:pic>
    </p:spTree>
    <p:extLst>
      <p:ext uri="{BB962C8B-B14F-4D97-AF65-F5344CB8AC3E}">
        <p14:creationId xmlns:p14="http://schemas.microsoft.com/office/powerpoint/2010/main" val="2912639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627632"/>
          </a:xfrm>
        </p:spPr>
        <p:txBody>
          <a:bodyPr>
            <a:normAutofit/>
          </a:bodyPr>
          <a:lstStyle/>
          <a:p>
            <a:pPr algn="ctr"/>
            <a:r>
              <a:rPr lang="en-US" dirty="0"/>
              <a:t>LDA</a:t>
            </a:r>
          </a:p>
        </p:txBody>
      </p:sp>
      <p:sp>
        <p:nvSpPr>
          <p:cNvPr id="17" name="TextBox 16">
            <a:extLst>
              <a:ext uri="{FF2B5EF4-FFF2-40B4-BE49-F238E27FC236}">
                <a16:creationId xmlns:a16="http://schemas.microsoft.com/office/drawing/2014/main" id="{A72ECA5D-D229-BA45-92D9-358A1A73C329}"/>
              </a:ext>
            </a:extLst>
          </p:cNvPr>
          <p:cNvSpPr txBox="1"/>
          <p:nvPr/>
        </p:nvSpPr>
        <p:spPr>
          <a:xfrm>
            <a:off x="4432604" y="4524386"/>
            <a:ext cx="2939745"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Gill Sans MT" panose="02020404030301010803"/>
                <a:ea typeface="+mn-ea"/>
                <a:cs typeface="+mn-cs"/>
              </a:rPr>
              <a:t>The first discriminant function can be used to separate the two groups perfectly.</a:t>
            </a:r>
          </a:p>
        </p:txBody>
      </p:sp>
      <p:pic>
        <p:nvPicPr>
          <p:cNvPr id="5" name="Picture 4">
            <a:extLst>
              <a:ext uri="{FF2B5EF4-FFF2-40B4-BE49-F238E27FC236}">
                <a16:creationId xmlns:a16="http://schemas.microsoft.com/office/drawing/2014/main" id="{CB28B723-90F3-F346-B687-491985C187E7}"/>
              </a:ext>
            </a:extLst>
          </p:cNvPr>
          <p:cNvPicPr>
            <a:picLocks noChangeAspect="1"/>
          </p:cNvPicPr>
          <p:nvPr/>
        </p:nvPicPr>
        <p:blipFill>
          <a:blip r:embed="rId3"/>
          <a:stretch>
            <a:fillRect/>
          </a:stretch>
        </p:blipFill>
        <p:spPr>
          <a:xfrm>
            <a:off x="4432604" y="2018663"/>
            <a:ext cx="3072785" cy="2204389"/>
          </a:xfrm>
          <a:prstGeom prst="rect">
            <a:avLst/>
          </a:prstGeom>
        </p:spPr>
      </p:pic>
      <p:pic>
        <p:nvPicPr>
          <p:cNvPr id="9" name="Picture 8" descr="Chart, bubble chart&#10;&#10;Description automatically generated">
            <a:extLst>
              <a:ext uri="{FF2B5EF4-FFF2-40B4-BE49-F238E27FC236}">
                <a16:creationId xmlns:a16="http://schemas.microsoft.com/office/drawing/2014/main" id="{CB888D3C-864C-1A44-B67C-E34911BE42D1}"/>
              </a:ext>
            </a:extLst>
          </p:cNvPr>
          <p:cNvPicPr>
            <a:picLocks noChangeAspect="1"/>
          </p:cNvPicPr>
          <p:nvPr/>
        </p:nvPicPr>
        <p:blipFill>
          <a:blip r:embed="rId4"/>
          <a:stretch>
            <a:fillRect/>
          </a:stretch>
        </p:blipFill>
        <p:spPr>
          <a:xfrm>
            <a:off x="8221213" y="2027349"/>
            <a:ext cx="3227801" cy="2204388"/>
          </a:xfrm>
          <a:prstGeom prst="rect">
            <a:avLst/>
          </a:prstGeom>
        </p:spPr>
      </p:pic>
      <p:sp>
        <p:nvSpPr>
          <p:cNvPr id="16" name="TextBox 15">
            <a:extLst>
              <a:ext uri="{FF2B5EF4-FFF2-40B4-BE49-F238E27FC236}">
                <a16:creationId xmlns:a16="http://schemas.microsoft.com/office/drawing/2014/main" id="{7241DBB3-8E7F-EF49-9904-5F3F6F87CB91}"/>
              </a:ext>
            </a:extLst>
          </p:cNvPr>
          <p:cNvSpPr txBox="1"/>
          <p:nvPr/>
        </p:nvSpPr>
        <p:spPr>
          <a:xfrm rot="10800000" flipV="1">
            <a:off x="8221211" y="4524386"/>
            <a:ext cx="3227801"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Gill Sans MT" panose="02020404030301010803"/>
                <a:ea typeface="+mn-ea"/>
                <a:cs typeface="+mn-cs"/>
              </a:rPr>
              <a:t>The second discriminant function is not useful for separation.</a:t>
            </a:r>
          </a:p>
        </p:txBody>
      </p:sp>
      <p:pic>
        <p:nvPicPr>
          <p:cNvPr id="11" name="Picture 10" descr="Chart, scatter chart&#10;&#10;Description automatically generated">
            <a:extLst>
              <a:ext uri="{FF2B5EF4-FFF2-40B4-BE49-F238E27FC236}">
                <a16:creationId xmlns:a16="http://schemas.microsoft.com/office/drawing/2014/main" id="{D8D59211-9BD0-3149-8640-2A6D66566192}"/>
              </a:ext>
            </a:extLst>
          </p:cNvPr>
          <p:cNvPicPr>
            <a:picLocks noChangeAspect="1"/>
          </p:cNvPicPr>
          <p:nvPr/>
        </p:nvPicPr>
        <p:blipFill>
          <a:blip r:embed="rId5"/>
          <a:stretch>
            <a:fillRect/>
          </a:stretch>
        </p:blipFill>
        <p:spPr>
          <a:xfrm>
            <a:off x="893461" y="2080964"/>
            <a:ext cx="2823319" cy="2150774"/>
          </a:xfrm>
          <a:prstGeom prst="rect">
            <a:avLst/>
          </a:prstGeom>
        </p:spPr>
      </p:pic>
    </p:spTree>
    <p:extLst>
      <p:ext uri="{BB962C8B-B14F-4D97-AF65-F5344CB8AC3E}">
        <p14:creationId xmlns:p14="http://schemas.microsoft.com/office/powerpoint/2010/main" val="2491280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627632"/>
          </a:xfrm>
        </p:spPr>
        <p:txBody>
          <a:bodyPr>
            <a:normAutofit/>
          </a:bodyPr>
          <a:lstStyle/>
          <a:p>
            <a:pPr algn="ctr"/>
            <a:r>
              <a:rPr lang="en-US" dirty="0"/>
              <a:t>LDA</a:t>
            </a:r>
          </a:p>
        </p:txBody>
      </p:sp>
      <p:pic>
        <p:nvPicPr>
          <p:cNvPr id="14" name="Picture 13" descr="Chart, bubble chart&#10;&#10;Description automatically generated">
            <a:extLst>
              <a:ext uri="{FF2B5EF4-FFF2-40B4-BE49-F238E27FC236}">
                <a16:creationId xmlns:a16="http://schemas.microsoft.com/office/drawing/2014/main" id="{6F47179C-86C1-4D4E-B695-A0C9E64840A2}"/>
              </a:ext>
            </a:extLst>
          </p:cNvPr>
          <p:cNvPicPr>
            <a:picLocks noChangeAspect="1"/>
          </p:cNvPicPr>
          <p:nvPr/>
        </p:nvPicPr>
        <p:blipFill>
          <a:blip r:embed="rId3"/>
          <a:stretch>
            <a:fillRect/>
          </a:stretch>
        </p:blipFill>
        <p:spPr>
          <a:xfrm>
            <a:off x="1031258" y="2234997"/>
            <a:ext cx="3270055" cy="2098522"/>
          </a:xfrm>
          <a:prstGeom prst="rect">
            <a:avLst/>
          </a:prstGeom>
        </p:spPr>
      </p:pic>
      <p:sp>
        <p:nvSpPr>
          <p:cNvPr id="18" name="TextBox 17">
            <a:extLst>
              <a:ext uri="{FF2B5EF4-FFF2-40B4-BE49-F238E27FC236}">
                <a16:creationId xmlns:a16="http://schemas.microsoft.com/office/drawing/2014/main" id="{748EF9C2-67F5-3F48-BD40-C43202D7EF73}"/>
              </a:ext>
            </a:extLst>
          </p:cNvPr>
          <p:cNvSpPr txBox="1"/>
          <p:nvPr/>
        </p:nvSpPr>
        <p:spPr>
          <a:xfrm>
            <a:off x="969818" y="4446851"/>
            <a:ext cx="340123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Gill Sans MT" panose="02020404030301010803"/>
                <a:ea typeface="+mn-ea"/>
                <a:cs typeface="+mn-cs"/>
              </a:rPr>
              <a:t>Delete the second discriminant function</a:t>
            </a:r>
          </a:p>
        </p:txBody>
      </p:sp>
      <p:pic>
        <p:nvPicPr>
          <p:cNvPr id="4" name="Picture 3" descr="Chart&#10;&#10;Description automatically generated">
            <a:extLst>
              <a:ext uri="{FF2B5EF4-FFF2-40B4-BE49-F238E27FC236}">
                <a16:creationId xmlns:a16="http://schemas.microsoft.com/office/drawing/2014/main" id="{7DCCD04F-B3AE-234E-AA01-480DA9FE013A}"/>
              </a:ext>
            </a:extLst>
          </p:cNvPr>
          <p:cNvPicPr>
            <a:picLocks noChangeAspect="1"/>
          </p:cNvPicPr>
          <p:nvPr/>
        </p:nvPicPr>
        <p:blipFill>
          <a:blip r:embed="rId4"/>
          <a:stretch>
            <a:fillRect/>
          </a:stretch>
        </p:blipFill>
        <p:spPr>
          <a:xfrm>
            <a:off x="4703512" y="3514021"/>
            <a:ext cx="3310129" cy="819498"/>
          </a:xfrm>
          <a:prstGeom prst="rect">
            <a:avLst/>
          </a:prstGeom>
        </p:spPr>
      </p:pic>
      <p:pic>
        <p:nvPicPr>
          <p:cNvPr id="7" name="Picture 6" descr="A picture containing bubble chart&#10;&#10;Description automatically generated">
            <a:extLst>
              <a:ext uri="{FF2B5EF4-FFF2-40B4-BE49-F238E27FC236}">
                <a16:creationId xmlns:a16="http://schemas.microsoft.com/office/drawing/2014/main" id="{FF53415F-7EF2-0B49-AAE8-15AE50539318}"/>
              </a:ext>
            </a:extLst>
          </p:cNvPr>
          <p:cNvPicPr>
            <a:picLocks noChangeAspect="1"/>
          </p:cNvPicPr>
          <p:nvPr/>
        </p:nvPicPr>
        <p:blipFill>
          <a:blip r:embed="rId5"/>
          <a:stretch>
            <a:fillRect/>
          </a:stretch>
        </p:blipFill>
        <p:spPr>
          <a:xfrm>
            <a:off x="9583629" y="1244477"/>
            <a:ext cx="779302" cy="3089042"/>
          </a:xfrm>
          <a:prstGeom prst="rect">
            <a:avLst/>
          </a:prstGeom>
        </p:spPr>
      </p:pic>
      <p:sp>
        <p:nvSpPr>
          <p:cNvPr id="19" name="TextBox 18">
            <a:extLst>
              <a:ext uri="{FF2B5EF4-FFF2-40B4-BE49-F238E27FC236}">
                <a16:creationId xmlns:a16="http://schemas.microsoft.com/office/drawing/2014/main" id="{E3173483-A28D-9040-A955-A4F9CB98AA36}"/>
              </a:ext>
            </a:extLst>
          </p:cNvPr>
          <p:cNvSpPr txBox="1"/>
          <p:nvPr/>
        </p:nvSpPr>
        <p:spPr>
          <a:xfrm>
            <a:off x="8686801" y="4173648"/>
            <a:ext cx="2895600" cy="113879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ill Sans MT" panose="020204040303010108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Gill Sans MT" panose="02020404030301010803"/>
                <a:ea typeface="+mn-ea"/>
                <a:cs typeface="+mn-cs"/>
              </a:rPr>
              <a:t>The data points are plotted vertically</a:t>
            </a:r>
          </a:p>
        </p:txBody>
      </p:sp>
      <p:sp>
        <p:nvSpPr>
          <p:cNvPr id="5" name="TextBox 4">
            <a:extLst>
              <a:ext uri="{FF2B5EF4-FFF2-40B4-BE49-F238E27FC236}">
                <a16:creationId xmlns:a16="http://schemas.microsoft.com/office/drawing/2014/main" id="{39DC4E80-EF43-864D-A3CD-1CE17AECEB76}"/>
              </a:ext>
            </a:extLst>
          </p:cNvPr>
          <p:cNvSpPr txBox="1"/>
          <p:nvPr/>
        </p:nvSpPr>
        <p:spPr>
          <a:xfrm>
            <a:off x="4724630" y="4446852"/>
            <a:ext cx="340123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Gill Sans MT" panose="02020404030301010803"/>
                <a:ea typeface="+mn-ea"/>
                <a:cs typeface="+mn-cs"/>
              </a:rPr>
              <a:t>Place all data points on just one line</a:t>
            </a:r>
          </a:p>
        </p:txBody>
      </p:sp>
    </p:spTree>
    <p:extLst>
      <p:ext uri="{BB962C8B-B14F-4D97-AF65-F5344CB8AC3E}">
        <p14:creationId xmlns:p14="http://schemas.microsoft.com/office/powerpoint/2010/main" val="2699736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241443"/>
          </a:xfrm>
        </p:spPr>
        <p:txBody>
          <a:bodyPr>
            <a:normAutofit/>
          </a:bodyPr>
          <a:lstStyle/>
          <a:p>
            <a:pPr algn="ctr"/>
            <a:r>
              <a:rPr lang="en-US" dirty="0"/>
              <a:t>LDA</a:t>
            </a:r>
          </a:p>
        </p:txBody>
      </p:sp>
      <p:pic>
        <p:nvPicPr>
          <p:cNvPr id="5" name="Picture 4" descr="Chart, bubble chart&#10;&#10;Description automatically generated">
            <a:extLst>
              <a:ext uri="{FF2B5EF4-FFF2-40B4-BE49-F238E27FC236}">
                <a16:creationId xmlns:a16="http://schemas.microsoft.com/office/drawing/2014/main" id="{06001B21-9D9F-9746-A961-5351098FC6C0}"/>
              </a:ext>
            </a:extLst>
          </p:cNvPr>
          <p:cNvPicPr>
            <a:picLocks noChangeAspect="1"/>
          </p:cNvPicPr>
          <p:nvPr/>
        </p:nvPicPr>
        <p:blipFill>
          <a:blip r:embed="rId3"/>
          <a:stretch>
            <a:fillRect/>
          </a:stretch>
        </p:blipFill>
        <p:spPr>
          <a:xfrm>
            <a:off x="1047854" y="1911798"/>
            <a:ext cx="3947831" cy="3688402"/>
          </a:xfrm>
          <a:prstGeom prst="rect">
            <a:avLst/>
          </a:prstGeom>
        </p:spPr>
      </p:pic>
      <p:pic>
        <p:nvPicPr>
          <p:cNvPr id="15" name="Picture 14" descr="A picture containing text, clock, watch&#10;&#10;Description automatically generated">
            <a:extLst>
              <a:ext uri="{FF2B5EF4-FFF2-40B4-BE49-F238E27FC236}">
                <a16:creationId xmlns:a16="http://schemas.microsoft.com/office/drawing/2014/main" id="{3487C1B5-10E2-A84E-B477-522DF597CB11}"/>
              </a:ext>
            </a:extLst>
          </p:cNvPr>
          <p:cNvPicPr>
            <a:picLocks noChangeAspect="1"/>
          </p:cNvPicPr>
          <p:nvPr/>
        </p:nvPicPr>
        <p:blipFill>
          <a:blip r:embed="rId4"/>
          <a:stretch>
            <a:fillRect/>
          </a:stretch>
        </p:blipFill>
        <p:spPr>
          <a:xfrm>
            <a:off x="5833227" y="2018414"/>
            <a:ext cx="3209173" cy="458453"/>
          </a:xfrm>
          <a:prstGeom prst="rect">
            <a:avLst/>
          </a:prstGeom>
        </p:spPr>
      </p:pic>
      <p:pic>
        <p:nvPicPr>
          <p:cNvPr id="21" name="Picture 20">
            <a:extLst>
              <a:ext uri="{FF2B5EF4-FFF2-40B4-BE49-F238E27FC236}">
                <a16:creationId xmlns:a16="http://schemas.microsoft.com/office/drawing/2014/main" id="{B0F3E0E3-86D3-2B4C-B096-434C3109A66A}"/>
              </a:ext>
            </a:extLst>
          </p:cNvPr>
          <p:cNvPicPr>
            <a:picLocks noChangeAspect="1"/>
          </p:cNvPicPr>
          <p:nvPr/>
        </p:nvPicPr>
        <p:blipFill>
          <a:blip r:embed="rId5"/>
          <a:stretch>
            <a:fillRect/>
          </a:stretch>
        </p:blipFill>
        <p:spPr>
          <a:xfrm>
            <a:off x="5833227" y="3660512"/>
            <a:ext cx="5257109" cy="588340"/>
          </a:xfrm>
          <a:prstGeom prst="rect">
            <a:avLst/>
          </a:prstGeom>
        </p:spPr>
      </p:pic>
    </p:spTree>
    <p:extLst>
      <p:ext uri="{BB962C8B-B14F-4D97-AF65-F5344CB8AC3E}">
        <p14:creationId xmlns:p14="http://schemas.microsoft.com/office/powerpoint/2010/main" val="2562776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20" y="226666"/>
            <a:ext cx="9998826" cy="1209847"/>
          </a:xfrm>
        </p:spPr>
        <p:txBody>
          <a:bodyPr>
            <a:normAutofit/>
          </a:bodyPr>
          <a:lstStyle/>
          <a:p>
            <a:pPr algn="ctr"/>
            <a:r>
              <a:rPr lang="en-US" dirty="0"/>
              <a:t>LDA</a:t>
            </a:r>
          </a:p>
        </p:txBody>
      </p:sp>
      <p:pic>
        <p:nvPicPr>
          <p:cNvPr id="15" name="Picture 14">
            <a:extLst>
              <a:ext uri="{FF2B5EF4-FFF2-40B4-BE49-F238E27FC236}">
                <a16:creationId xmlns:a16="http://schemas.microsoft.com/office/drawing/2014/main" id="{8CD466D1-98A6-8545-801E-320AA1040372}"/>
              </a:ext>
            </a:extLst>
          </p:cNvPr>
          <p:cNvPicPr>
            <a:picLocks noChangeAspect="1"/>
          </p:cNvPicPr>
          <p:nvPr/>
        </p:nvPicPr>
        <p:blipFill>
          <a:blip r:embed="rId3"/>
          <a:stretch>
            <a:fillRect/>
          </a:stretch>
        </p:blipFill>
        <p:spPr>
          <a:xfrm>
            <a:off x="743669" y="1539621"/>
            <a:ext cx="4670028" cy="551100"/>
          </a:xfrm>
          <a:prstGeom prst="rect">
            <a:avLst/>
          </a:prstGeom>
        </p:spPr>
      </p:pic>
      <p:graphicFrame>
        <p:nvGraphicFramePr>
          <p:cNvPr id="17" name="Table 16">
            <a:extLst>
              <a:ext uri="{FF2B5EF4-FFF2-40B4-BE49-F238E27FC236}">
                <a16:creationId xmlns:a16="http://schemas.microsoft.com/office/drawing/2014/main" id="{DD50E575-5555-A94D-A132-FAF161D761A9}"/>
              </a:ext>
            </a:extLst>
          </p:cNvPr>
          <p:cNvGraphicFramePr>
            <a:graphicFrameLocks noGrp="1"/>
          </p:cNvGraphicFramePr>
          <p:nvPr>
            <p:extLst>
              <p:ext uri="{D42A27DB-BD31-4B8C-83A1-F6EECF244321}">
                <p14:modId xmlns:p14="http://schemas.microsoft.com/office/powerpoint/2010/main" val="1106955085"/>
              </p:ext>
            </p:extLst>
          </p:nvPr>
        </p:nvGraphicFramePr>
        <p:xfrm>
          <a:off x="807720" y="2317386"/>
          <a:ext cx="4807267" cy="3511911"/>
        </p:xfrm>
        <a:graphic>
          <a:graphicData uri="http://schemas.openxmlformats.org/drawingml/2006/table">
            <a:tbl>
              <a:tblPr>
                <a:tableStyleId>{5C22544A-7EE6-4342-B048-85BDC9FD1C3A}</a:tableStyleId>
              </a:tblPr>
              <a:tblGrid>
                <a:gridCol w="933554">
                  <a:extLst>
                    <a:ext uri="{9D8B030D-6E8A-4147-A177-3AD203B41FA5}">
                      <a16:colId xmlns:a16="http://schemas.microsoft.com/office/drawing/2014/main" val="2479498827"/>
                    </a:ext>
                  </a:extLst>
                </a:gridCol>
                <a:gridCol w="933554">
                  <a:extLst>
                    <a:ext uri="{9D8B030D-6E8A-4147-A177-3AD203B41FA5}">
                      <a16:colId xmlns:a16="http://schemas.microsoft.com/office/drawing/2014/main" val="1858808248"/>
                    </a:ext>
                  </a:extLst>
                </a:gridCol>
                <a:gridCol w="933554">
                  <a:extLst>
                    <a:ext uri="{9D8B030D-6E8A-4147-A177-3AD203B41FA5}">
                      <a16:colId xmlns:a16="http://schemas.microsoft.com/office/drawing/2014/main" val="4067983239"/>
                    </a:ext>
                  </a:extLst>
                </a:gridCol>
                <a:gridCol w="933554">
                  <a:extLst>
                    <a:ext uri="{9D8B030D-6E8A-4147-A177-3AD203B41FA5}">
                      <a16:colId xmlns:a16="http://schemas.microsoft.com/office/drawing/2014/main" val="2937096166"/>
                    </a:ext>
                  </a:extLst>
                </a:gridCol>
                <a:gridCol w="1073051">
                  <a:extLst>
                    <a:ext uri="{9D8B030D-6E8A-4147-A177-3AD203B41FA5}">
                      <a16:colId xmlns:a16="http://schemas.microsoft.com/office/drawing/2014/main" val="3307359378"/>
                    </a:ext>
                  </a:extLst>
                </a:gridCol>
              </a:tblGrid>
              <a:tr h="270147">
                <a:tc>
                  <a:txBody>
                    <a:bodyPr/>
                    <a:lstStyle/>
                    <a:p>
                      <a:pPr algn="ctr" fontAlgn="b"/>
                      <a:r>
                        <a:rPr lang="en-CA" sz="1400" u="none" strike="noStrike" dirty="0">
                          <a:effectLst/>
                        </a:rPr>
                        <a:t>Infection</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CRP(mg/L)</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Temp (C)</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Scores</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Center scores</a:t>
                      </a:r>
                      <a:endParaRPr lang="en-CA" sz="14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94542752"/>
                  </a:ext>
                </a:extLst>
              </a:tr>
              <a:tr h="270147">
                <a:tc>
                  <a:txBody>
                    <a:bodyPr/>
                    <a:lstStyle/>
                    <a:p>
                      <a:pPr algn="ctr" fontAlgn="b"/>
                      <a:r>
                        <a:rPr lang="en-CA" sz="1400" u="none" strike="noStrike" dirty="0">
                          <a:solidFill>
                            <a:srgbClr val="0070C0"/>
                          </a:solidFill>
                          <a:effectLst/>
                        </a:rPr>
                        <a:t>Viral</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29.5</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-1.1</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04026313"/>
                  </a:ext>
                </a:extLst>
              </a:tr>
              <a:tr h="270147">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11.1</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37.2</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27.3</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-3.3</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56927162"/>
                  </a:ext>
                </a:extLst>
              </a:tr>
              <a:tr h="270147">
                <a:tc>
                  <a:txBody>
                    <a:bodyPr/>
                    <a:lstStyle/>
                    <a:p>
                      <a:pPr algn="ctr" fontAlgn="b"/>
                      <a:r>
                        <a:rPr lang="en-CA" sz="1400" u="none" strike="noStrike" dirty="0">
                          <a:solidFill>
                            <a:srgbClr val="0070C0"/>
                          </a:solidFill>
                          <a:effectLst/>
                        </a:rPr>
                        <a:t>Viral</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30</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36.5</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28.8</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-1.8</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11980459"/>
                  </a:ext>
                </a:extLst>
              </a:tr>
              <a:tr h="270147">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21.4</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39.4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29.9</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-0.7</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10266453"/>
                  </a:ext>
                </a:extLst>
              </a:tr>
              <a:tr h="270147">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10.7</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39.6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28.9</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-1.7</a:t>
                      </a:r>
                      <a:endParaRPr lang="en-CA" sz="14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54081998"/>
                  </a:ext>
                </a:extLst>
              </a:tr>
              <a:tr h="270147">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40.7</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28.9</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-1.7</a:t>
                      </a:r>
                      <a:endParaRPr lang="en-CA" sz="14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26082147"/>
                  </a:ext>
                </a:extLst>
              </a:tr>
              <a:tr h="270147">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37.6</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30.8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0.2</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33773847"/>
                  </a:ext>
                </a:extLst>
              </a:tr>
              <a:tr h="270147">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31.1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42.2</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32.9</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2.3</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04226703"/>
                  </a:ext>
                </a:extLst>
              </a:tr>
              <a:tr h="270147">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50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38.5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32.3</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1.7</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63539871"/>
                  </a:ext>
                </a:extLst>
              </a:tr>
              <a:tr h="270147">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60.4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39.4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34</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3.5</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27437409"/>
                  </a:ext>
                </a:extLst>
              </a:tr>
              <a:tr h="270147">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45.7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38.6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31.9</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1.3</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88125815"/>
                  </a:ext>
                </a:extLst>
              </a:tr>
              <a:tr h="270147">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17.3</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31.8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01274735"/>
                  </a:ext>
                </a:extLst>
              </a:tr>
            </a:tbl>
          </a:graphicData>
        </a:graphic>
      </p:graphicFrame>
      <p:pic>
        <p:nvPicPr>
          <p:cNvPr id="5" name="Picture 4" descr="Chart, bubble chart&#10;&#10;Description automatically generated">
            <a:extLst>
              <a:ext uri="{FF2B5EF4-FFF2-40B4-BE49-F238E27FC236}">
                <a16:creationId xmlns:a16="http://schemas.microsoft.com/office/drawing/2014/main" id="{001D32D3-4498-2C4B-92A7-91367A889305}"/>
              </a:ext>
            </a:extLst>
          </p:cNvPr>
          <p:cNvPicPr>
            <a:picLocks noChangeAspect="1"/>
          </p:cNvPicPr>
          <p:nvPr/>
        </p:nvPicPr>
        <p:blipFill>
          <a:blip r:embed="rId4"/>
          <a:stretch>
            <a:fillRect/>
          </a:stretch>
        </p:blipFill>
        <p:spPr>
          <a:xfrm>
            <a:off x="6096000" y="2243957"/>
            <a:ext cx="5683237" cy="3585340"/>
          </a:xfrm>
          <a:prstGeom prst="rect">
            <a:avLst/>
          </a:prstGeom>
        </p:spPr>
      </p:pic>
    </p:spTree>
    <p:extLst>
      <p:ext uri="{BB962C8B-B14F-4D97-AF65-F5344CB8AC3E}">
        <p14:creationId xmlns:p14="http://schemas.microsoft.com/office/powerpoint/2010/main" val="3900786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LDA vs PCA</a:t>
            </a:r>
          </a:p>
        </p:txBody>
      </p:sp>
      <p:pic>
        <p:nvPicPr>
          <p:cNvPr id="4" name="Picture 3" descr="A picture containing text&#10;&#10;Description automatically generated">
            <a:extLst>
              <a:ext uri="{FF2B5EF4-FFF2-40B4-BE49-F238E27FC236}">
                <a16:creationId xmlns:a16="http://schemas.microsoft.com/office/drawing/2014/main" id="{2F264940-5CEC-A84F-BE72-955D86A92B0C}"/>
              </a:ext>
            </a:extLst>
          </p:cNvPr>
          <p:cNvPicPr>
            <a:picLocks noChangeAspect="1"/>
          </p:cNvPicPr>
          <p:nvPr/>
        </p:nvPicPr>
        <p:blipFill>
          <a:blip r:embed="rId3"/>
          <a:stretch>
            <a:fillRect/>
          </a:stretch>
        </p:blipFill>
        <p:spPr>
          <a:xfrm>
            <a:off x="5833566" y="2319576"/>
            <a:ext cx="2157910" cy="1011238"/>
          </a:xfrm>
          <a:prstGeom prst="rect">
            <a:avLst/>
          </a:prstGeom>
        </p:spPr>
      </p:pic>
      <p:sp>
        <p:nvSpPr>
          <p:cNvPr id="6" name="TextBox 5">
            <a:extLst>
              <a:ext uri="{FF2B5EF4-FFF2-40B4-BE49-F238E27FC236}">
                <a16:creationId xmlns:a16="http://schemas.microsoft.com/office/drawing/2014/main" id="{CE720B56-B85A-0442-8A8C-37042CE3DF64}"/>
              </a:ext>
            </a:extLst>
          </p:cNvPr>
          <p:cNvSpPr txBox="1"/>
          <p:nvPr/>
        </p:nvSpPr>
        <p:spPr>
          <a:xfrm>
            <a:off x="4749800" y="1677671"/>
            <a:ext cx="4779963" cy="461665"/>
          </a:xfrm>
          <a:prstGeom prst="rect">
            <a:avLst/>
          </a:prstGeom>
          <a:noFill/>
        </p:spPr>
        <p:txBody>
          <a:bodyPr wrap="square" rtlCol="0">
            <a:spAutoFit/>
          </a:bodyPr>
          <a:lstStyle/>
          <a:p>
            <a:r>
              <a:rPr lang="en-US" sz="2400" dirty="0"/>
              <a:t>Formula for standardize variable</a:t>
            </a:r>
          </a:p>
        </p:txBody>
      </p:sp>
      <p:graphicFrame>
        <p:nvGraphicFramePr>
          <p:cNvPr id="7" name="Table 6">
            <a:extLst>
              <a:ext uri="{FF2B5EF4-FFF2-40B4-BE49-F238E27FC236}">
                <a16:creationId xmlns:a16="http://schemas.microsoft.com/office/drawing/2014/main" id="{283E9D4F-3122-8443-A390-70331CA4B0D8}"/>
              </a:ext>
            </a:extLst>
          </p:cNvPr>
          <p:cNvGraphicFramePr>
            <a:graphicFrameLocks noGrp="1"/>
          </p:cNvGraphicFramePr>
          <p:nvPr>
            <p:extLst>
              <p:ext uri="{D42A27DB-BD31-4B8C-83A1-F6EECF244321}">
                <p14:modId xmlns:p14="http://schemas.microsoft.com/office/powerpoint/2010/main" val="3146152507"/>
              </p:ext>
            </p:extLst>
          </p:nvPr>
        </p:nvGraphicFramePr>
        <p:xfrm>
          <a:off x="1175512" y="1714500"/>
          <a:ext cx="3025014" cy="4014794"/>
        </p:xfrm>
        <a:graphic>
          <a:graphicData uri="http://schemas.openxmlformats.org/drawingml/2006/table">
            <a:tbl>
              <a:tblPr>
                <a:tableStyleId>{5C22544A-7EE6-4342-B048-85BDC9FD1C3A}</a:tableStyleId>
              </a:tblPr>
              <a:tblGrid>
                <a:gridCol w="1008338">
                  <a:extLst>
                    <a:ext uri="{9D8B030D-6E8A-4147-A177-3AD203B41FA5}">
                      <a16:colId xmlns:a16="http://schemas.microsoft.com/office/drawing/2014/main" val="3372754107"/>
                    </a:ext>
                  </a:extLst>
                </a:gridCol>
                <a:gridCol w="1008338">
                  <a:extLst>
                    <a:ext uri="{9D8B030D-6E8A-4147-A177-3AD203B41FA5}">
                      <a16:colId xmlns:a16="http://schemas.microsoft.com/office/drawing/2014/main" val="1998191359"/>
                    </a:ext>
                  </a:extLst>
                </a:gridCol>
                <a:gridCol w="1008338">
                  <a:extLst>
                    <a:ext uri="{9D8B030D-6E8A-4147-A177-3AD203B41FA5}">
                      <a16:colId xmlns:a16="http://schemas.microsoft.com/office/drawing/2014/main" val="37347899"/>
                    </a:ext>
                  </a:extLst>
                </a:gridCol>
              </a:tblGrid>
              <a:tr h="286771">
                <a:tc>
                  <a:txBody>
                    <a:bodyPr/>
                    <a:lstStyle/>
                    <a:p>
                      <a:pPr algn="ctr" fontAlgn="b"/>
                      <a:r>
                        <a:rPr lang="en-CA" sz="1400" b="1" u="none" strike="noStrike" dirty="0">
                          <a:effectLst/>
                        </a:rPr>
                        <a:t>Infection</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CRP(mg/L)</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Temp (C)</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12867560"/>
                  </a:ext>
                </a:extLst>
              </a:tr>
              <a:tr h="28677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0.5</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-1.4</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70483034"/>
                  </a:ext>
                </a:extLst>
              </a:tr>
              <a:tr h="28677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-1.1</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-0.9</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06260029"/>
                  </a:ext>
                </a:extLst>
              </a:tr>
              <a:tr h="28677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-1.2</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6038739"/>
                  </a:ext>
                </a:extLst>
              </a:tr>
              <a:tr h="28677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-0.5</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0.2</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52902255"/>
                  </a:ext>
                </a:extLst>
              </a:tr>
              <a:tr h="28677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-1.1</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0.3</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78015251"/>
                  </a:ext>
                </a:extLst>
              </a:tr>
              <a:tr h="28677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-1.5</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0.8</a:t>
                      </a:r>
                      <a:endParaRPr lang="en-CA" sz="14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64637824"/>
                  </a:ext>
                </a:extLst>
              </a:tr>
              <a:tr h="28677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-0.7</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44239968"/>
                  </a:ext>
                </a:extLst>
              </a:tr>
              <a:tr h="28677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1.5</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30693928"/>
                  </a:ext>
                </a:extLst>
              </a:tr>
              <a:tr h="28677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1.1</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-0.3</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99852672"/>
                  </a:ext>
                </a:extLst>
              </a:tr>
              <a:tr h="28677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1.7</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0.2</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86574141"/>
                  </a:ext>
                </a:extLst>
              </a:tr>
              <a:tr h="28677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0.9</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-0.2</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99837583"/>
                  </a:ext>
                </a:extLst>
              </a:tr>
              <a:tr h="28677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1.7</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17244216"/>
                  </a:ext>
                </a:extLst>
              </a:tr>
              <a:tr h="286771">
                <a:tc>
                  <a:txBody>
                    <a:bodyPr/>
                    <a:lstStyle/>
                    <a:p>
                      <a:pPr algn="ctr" fontAlgn="b"/>
                      <a:r>
                        <a:rPr lang="en-CA" sz="1400" b="1" u="none" strike="noStrike" dirty="0">
                          <a:effectLst/>
                        </a:rPr>
                        <a:t>var</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1</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1</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856580623"/>
                  </a:ext>
                </a:extLst>
              </a:tr>
            </a:tbl>
          </a:graphicData>
        </a:graphic>
      </p:graphicFrame>
      <p:sp>
        <p:nvSpPr>
          <p:cNvPr id="11" name="TextBox 10">
            <a:extLst>
              <a:ext uri="{FF2B5EF4-FFF2-40B4-BE49-F238E27FC236}">
                <a16:creationId xmlns:a16="http://schemas.microsoft.com/office/drawing/2014/main" id="{F22FEDCD-D883-EE40-8D19-C5D89D93F495}"/>
              </a:ext>
            </a:extLst>
          </p:cNvPr>
          <p:cNvSpPr txBox="1"/>
          <p:nvPr/>
        </p:nvSpPr>
        <p:spPr>
          <a:xfrm>
            <a:off x="4749800" y="3412363"/>
            <a:ext cx="4651375" cy="830997"/>
          </a:xfrm>
          <a:prstGeom prst="rect">
            <a:avLst/>
          </a:prstGeom>
          <a:noFill/>
        </p:spPr>
        <p:txBody>
          <a:bodyPr wrap="square">
            <a:spAutoFit/>
          </a:bodyPr>
          <a:lstStyle/>
          <a:p>
            <a:endParaRPr lang="en-US" sz="2400" dirty="0"/>
          </a:p>
          <a:p>
            <a:r>
              <a:rPr lang="en-US" sz="2400" dirty="0"/>
              <a:t>The weights from LDA and PCA</a:t>
            </a:r>
          </a:p>
        </p:txBody>
      </p:sp>
      <p:pic>
        <p:nvPicPr>
          <p:cNvPr id="13" name="Picture 12" descr="Text&#10;&#10;Description automatically generated with low confidence">
            <a:extLst>
              <a:ext uri="{FF2B5EF4-FFF2-40B4-BE49-F238E27FC236}">
                <a16:creationId xmlns:a16="http://schemas.microsoft.com/office/drawing/2014/main" id="{7230998D-7AC3-6848-89F3-4CADA83EA26D}"/>
              </a:ext>
            </a:extLst>
          </p:cNvPr>
          <p:cNvPicPr>
            <a:picLocks noChangeAspect="1"/>
          </p:cNvPicPr>
          <p:nvPr/>
        </p:nvPicPr>
        <p:blipFill>
          <a:blip r:embed="rId4"/>
          <a:stretch>
            <a:fillRect/>
          </a:stretch>
        </p:blipFill>
        <p:spPr>
          <a:xfrm>
            <a:off x="4786313" y="4589749"/>
            <a:ext cx="5018087" cy="886955"/>
          </a:xfrm>
          <a:prstGeom prst="rect">
            <a:avLst/>
          </a:prstGeom>
        </p:spPr>
      </p:pic>
    </p:spTree>
    <p:extLst>
      <p:ext uri="{BB962C8B-B14F-4D97-AF65-F5344CB8AC3E}">
        <p14:creationId xmlns:p14="http://schemas.microsoft.com/office/powerpoint/2010/main" val="1247303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LDA vs PCA</a:t>
            </a:r>
          </a:p>
        </p:txBody>
      </p:sp>
      <p:sp>
        <p:nvSpPr>
          <p:cNvPr id="6" name="TextBox 5">
            <a:extLst>
              <a:ext uri="{FF2B5EF4-FFF2-40B4-BE49-F238E27FC236}">
                <a16:creationId xmlns:a16="http://schemas.microsoft.com/office/drawing/2014/main" id="{CE720B56-B85A-0442-8A8C-37042CE3DF64}"/>
              </a:ext>
            </a:extLst>
          </p:cNvPr>
          <p:cNvSpPr txBox="1"/>
          <p:nvPr/>
        </p:nvSpPr>
        <p:spPr>
          <a:xfrm>
            <a:off x="5486399" y="1677671"/>
            <a:ext cx="6112933" cy="461665"/>
          </a:xfrm>
          <a:prstGeom prst="rect">
            <a:avLst/>
          </a:prstGeom>
          <a:noFill/>
        </p:spPr>
        <p:txBody>
          <a:bodyPr wrap="square" rtlCol="0">
            <a:spAutoFit/>
          </a:bodyPr>
          <a:lstStyle/>
          <a:p>
            <a:r>
              <a:rPr lang="en-US" sz="2400" dirty="0"/>
              <a:t>Using these equations to compute the scores</a:t>
            </a:r>
          </a:p>
        </p:txBody>
      </p:sp>
      <p:pic>
        <p:nvPicPr>
          <p:cNvPr id="13" name="Picture 12" descr="Text&#10;&#10;Description automatically generated with low confidence">
            <a:extLst>
              <a:ext uri="{FF2B5EF4-FFF2-40B4-BE49-F238E27FC236}">
                <a16:creationId xmlns:a16="http://schemas.microsoft.com/office/drawing/2014/main" id="{7230998D-7AC3-6848-89F3-4CADA83EA26D}"/>
              </a:ext>
            </a:extLst>
          </p:cNvPr>
          <p:cNvPicPr>
            <a:picLocks noChangeAspect="1"/>
          </p:cNvPicPr>
          <p:nvPr/>
        </p:nvPicPr>
        <p:blipFill>
          <a:blip r:embed="rId3"/>
          <a:stretch>
            <a:fillRect/>
          </a:stretch>
        </p:blipFill>
        <p:spPr>
          <a:xfrm>
            <a:off x="6071616" y="2435289"/>
            <a:ext cx="5018087" cy="886955"/>
          </a:xfrm>
          <a:prstGeom prst="rect">
            <a:avLst/>
          </a:prstGeom>
        </p:spPr>
      </p:pic>
      <p:graphicFrame>
        <p:nvGraphicFramePr>
          <p:cNvPr id="3" name="Table 2">
            <a:extLst>
              <a:ext uri="{FF2B5EF4-FFF2-40B4-BE49-F238E27FC236}">
                <a16:creationId xmlns:a16="http://schemas.microsoft.com/office/drawing/2014/main" id="{2E13A485-C8AE-5D4F-97C8-1A2665FB8437}"/>
              </a:ext>
            </a:extLst>
          </p:cNvPr>
          <p:cNvGraphicFramePr>
            <a:graphicFrameLocks noGrp="1"/>
          </p:cNvGraphicFramePr>
          <p:nvPr>
            <p:extLst>
              <p:ext uri="{D42A27DB-BD31-4B8C-83A1-F6EECF244321}">
                <p14:modId xmlns:p14="http://schemas.microsoft.com/office/powerpoint/2010/main" val="1413596586"/>
              </p:ext>
            </p:extLst>
          </p:nvPr>
        </p:nvGraphicFramePr>
        <p:xfrm>
          <a:off x="965200" y="1845733"/>
          <a:ext cx="4262120" cy="4445822"/>
        </p:xfrm>
        <a:graphic>
          <a:graphicData uri="http://schemas.openxmlformats.org/drawingml/2006/table">
            <a:tbl>
              <a:tblPr>
                <a:tableStyleId>{5C22544A-7EE6-4342-B048-85BDC9FD1C3A}</a:tableStyleId>
              </a:tblPr>
              <a:tblGrid>
                <a:gridCol w="852424">
                  <a:extLst>
                    <a:ext uri="{9D8B030D-6E8A-4147-A177-3AD203B41FA5}">
                      <a16:colId xmlns:a16="http://schemas.microsoft.com/office/drawing/2014/main" val="1430546779"/>
                    </a:ext>
                  </a:extLst>
                </a:gridCol>
                <a:gridCol w="852424">
                  <a:extLst>
                    <a:ext uri="{9D8B030D-6E8A-4147-A177-3AD203B41FA5}">
                      <a16:colId xmlns:a16="http://schemas.microsoft.com/office/drawing/2014/main" val="1218486401"/>
                    </a:ext>
                  </a:extLst>
                </a:gridCol>
                <a:gridCol w="852424">
                  <a:extLst>
                    <a:ext uri="{9D8B030D-6E8A-4147-A177-3AD203B41FA5}">
                      <a16:colId xmlns:a16="http://schemas.microsoft.com/office/drawing/2014/main" val="1378019993"/>
                    </a:ext>
                  </a:extLst>
                </a:gridCol>
                <a:gridCol w="852424">
                  <a:extLst>
                    <a:ext uri="{9D8B030D-6E8A-4147-A177-3AD203B41FA5}">
                      <a16:colId xmlns:a16="http://schemas.microsoft.com/office/drawing/2014/main" val="590677213"/>
                    </a:ext>
                  </a:extLst>
                </a:gridCol>
                <a:gridCol w="852424">
                  <a:extLst>
                    <a:ext uri="{9D8B030D-6E8A-4147-A177-3AD203B41FA5}">
                      <a16:colId xmlns:a16="http://schemas.microsoft.com/office/drawing/2014/main" val="3945642313"/>
                    </a:ext>
                  </a:extLst>
                </a:gridCol>
              </a:tblGrid>
              <a:tr h="308429">
                <a:tc>
                  <a:txBody>
                    <a:bodyPr/>
                    <a:lstStyle/>
                    <a:p>
                      <a:pPr algn="ctr" fontAlgn="b"/>
                      <a:r>
                        <a:rPr lang="en-CA" sz="1400" b="1" u="none" strike="noStrike">
                          <a:effectLst/>
                        </a:rPr>
                        <a:t>Infection</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CRP(mg/L)</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Temp (C)</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Scores LDA</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Scores PCA</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60771778"/>
                  </a:ext>
                </a:extLst>
              </a:tr>
              <a:tr h="308429">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0.5</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-0.5</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-1.4</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68881987"/>
                  </a:ext>
                </a:extLst>
              </a:tr>
              <a:tr h="308429">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-1.1</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-0.9</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0.1</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67297078"/>
                  </a:ext>
                </a:extLst>
              </a:tr>
              <a:tr h="308429">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-1.2</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-0.8</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-0.8</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76433065"/>
                  </a:ext>
                </a:extLst>
              </a:tr>
              <a:tr h="308429">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-0.5</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0.2</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-0.3</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0.5</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81879789"/>
                  </a:ext>
                </a:extLst>
              </a:tr>
              <a:tr h="308429">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-1.1</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0.3</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-0.7</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5352645"/>
                  </a:ext>
                </a:extLst>
              </a:tr>
              <a:tr h="308429">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-1.5</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0.8</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-0.7</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1.6</a:t>
                      </a:r>
                      <a:endParaRPr lang="en-CA" sz="14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90496007"/>
                  </a:ext>
                </a:extLst>
              </a:tr>
              <a:tr h="308429">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-0.9</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71599439"/>
                  </a:ext>
                </a:extLst>
              </a:tr>
              <a:tr h="308429">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37904388"/>
                  </a:ext>
                </a:extLst>
              </a:tr>
              <a:tr h="308429">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-0.3</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80946462"/>
                  </a:ext>
                </a:extLst>
              </a:tr>
              <a:tr h="308429">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-1.1</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62751483"/>
                  </a:ext>
                </a:extLst>
              </a:tr>
              <a:tr h="308429">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0.9</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-0.8</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30730331"/>
                  </a:ext>
                </a:extLst>
              </a:tr>
              <a:tr h="308429">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1.8</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54062134"/>
                  </a:ext>
                </a:extLst>
              </a:tr>
              <a:tr h="308429">
                <a:tc>
                  <a:txBody>
                    <a:bodyPr/>
                    <a:lstStyle/>
                    <a:p>
                      <a:pPr algn="ctr" fontAlgn="b"/>
                      <a:r>
                        <a:rPr lang="en-CA" sz="1400" u="none" strike="noStrike">
                          <a:effectLst/>
                        </a:rPr>
                        <a:t>var</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0.71</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1.29</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61101681"/>
                  </a:ext>
                </a:extLst>
              </a:tr>
            </a:tbl>
          </a:graphicData>
        </a:graphic>
      </p:graphicFrame>
      <p:pic>
        <p:nvPicPr>
          <p:cNvPr id="9" name="Picture 8" descr="Chart, bubble chart&#10;&#10;Description automatically generated">
            <a:extLst>
              <a:ext uri="{FF2B5EF4-FFF2-40B4-BE49-F238E27FC236}">
                <a16:creationId xmlns:a16="http://schemas.microsoft.com/office/drawing/2014/main" id="{983A57C6-D9EE-0647-92CA-9D4E0EC7C497}"/>
              </a:ext>
            </a:extLst>
          </p:cNvPr>
          <p:cNvPicPr>
            <a:picLocks noChangeAspect="1"/>
          </p:cNvPicPr>
          <p:nvPr/>
        </p:nvPicPr>
        <p:blipFill>
          <a:blip r:embed="rId4"/>
          <a:stretch>
            <a:fillRect/>
          </a:stretch>
        </p:blipFill>
        <p:spPr>
          <a:xfrm>
            <a:off x="6294666" y="3463305"/>
            <a:ext cx="4491867" cy="2778690"/>
          </a:xfrm>
          <a:prstGeom prst="rect">
            <a:avLst/>
          </a:prstGeom>
        </p:spPr>
      </p:pic>
    </p:spTree>
    <p:extLst>
      <p:ext uri="{BB962C8B-B14F-4D97-AF65-F5344CB8AC3E}">
        <p14:creationId xmlns:p14="http://schemas.microsoft.com/office/powerpoint/2010/main" val="1408044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The weights</a:t>
            </a:r>
          </a:p>
        </p:txBody>
      </p:sp>
      <p:pic>
        <p:nvPicPr>
          <p:cNvPr id="13" name="Picture 12" descr="Text&#10;&#10;Description automatically generated with low confidence">
            <a:extLst>
              <a:ext uri="{FF2B5EF4-FFF2-40B4-BE49-F238E27FC236}">
                <a16:creationId xmlns:a16="http://schemas.microsoft.com/office/drawing/2014/main" id="{7230998D-7AC3-6848-89F3-4CADA83EA26D}"/>
              </a:ext>
            </a:extLst>
          </p:cNvPr>
          <p:cNvPicPr>
            <a:picLocks noChangeAspect="1"/>
          </p:cNvPicPr>
          <p:nvPr/>
        </p:nvPicPr>
        <p:blipFill>
          <a:blip r:embed="rId3"/>
          <a:stretch>
            <a:fillRect/>
          </a:stretch>
        </p:blipFill>
        <p:spPr>
          <a:xfrm>
            <a:off x="989902" y="1695928"/>
            <a:ext cx="3580935" cy="632936"/>
          </a:xfrm>
          <a:prstGeom prst="rect">
            <a:avLst/>
          </a:prstGeom>
        </p:spPr>
      </p:pic>
      <p:sp>
        <p:nvSpPr>
          <p:cNvPr id="4" name="TextBox 3">
            <a:extLst>
              <a:ext uri="{FF2B5EF4-FFF2-40B4-BE49-F238E27FC236}">
                <a16:creationId xmlns:a16="http://schemas.microsoft.com/office/drawing/2014/main" id="{7B9DC198-396A-CD40-8CC3-A57B95C22C67}"/>
              </a:ext>
            </a:extLst>
          </p:cNvPr>
          <p:cNvSpPr txBox="1"/>
          <p:nvPr/>
        </p:nvSpPr>
        <p:spPr>
          <a:xfrm>
            <a:off x="4229100" y="2555529"/>
            <a:ext cx="4692300" cy="461665"/>
          </a:xfrm>
          <a:prstGeom prst="rect">
            <a:avLst/>
          </a:prstGeom>
          <a:noFill/>
        </p:spPr>
        <p:txBody>
          <a:bodyPr wrap="square" rtlCol="0">
            <a:spAutoFit/>
          </a:bodyPr>
          <a:lstStyle/>
          <a:p>
            <a:r>
              <a:rPr lang="en-US" sz="2400" dirty="0"/>
              <a:t>Separation between the groups</a:t>
            </a:r>
          </a:p>
        </p:txBody>
      </p:sp>
      <p:pic>
        <p:nvPicPr>
          <p:cNvPr id="7" name="Picture 6">
            <a:extLst>
              <a:ext uri="{FF2B5EF4-FFF2-40B4-BE49-F238E27FC236}">
                <a16:creationId xmlns:a16="http://schemas.microsoft.com/office/drawing/2014/main" id="{CEE49AFA-8B3F-1B40-A822-9A029EA3C2F8}"/>
              </a:ext>
            </a:extLst>
          </p:cNvPr>
          <p:cNvPicPr>
            <a:picLocks noChangeAspect="1"/>
          </p:cNvPicPr>
          <p:nvPr/>
        </p:nvPicPr>
        <p:blipFill>
          <a:blip r:embed="rId4"/>
          <a:stretch>
            <a:fillRect/>
          </a:stretch>
        </p:blipFill>
        <p:spPr>
          <a:xfrm>
            <a:off x="1624161" y="3376610"/>
            <a:ext cx="3003412" cy="2247906"/>
          </a:xfrm>
          <a:prstGeom prst="rect">
            <a:avLst/>
          </a:prstGeom>
        </p:spPr>
      </p:pic>
      <p:sp>
        <p:nvSpPr>
          <p:cNvPr id="14" name="TextBox 13">
            <a:extLst>
              <a:ext uri="{FF2B5EF4-FFF2-40B4-BE49-F238E27FC236}">
                <a16:creationId xmlns:a16="http://schemas.microsoft.com/office/drawing/2014/main" id="{0D176EFD-36B1-F247-BD07-31036029E409}"/>
              </a:ext>
            </a:extLst>
          </p:cNvPr>
          <p:cNvSpPr txBox="1"/>
          <p:nvPr/>
        </p:nvSpPr>
        <p:spPr>
          <a:xfrm>
            <a:off x="1824501" y="5688643"/>
            <a:ext cx="3580936" cy="646331"/>
          </a:xfrm>
          <a:prstGeom prst="rect">
            <a:avLst/>
          </a:prstGeom>
          <a:noFill/>
        </p:spPr>
        <p:txBody>
          <a:bodyPr wrap="square">
            <a:spAutoFit/>
          </a:bodyPr>
          <a:lstStyle/>
          <a:p>
            <a:r>
              <a:rPr lang="en-US" dirty="0"/>
              <a:t>The means of the groups are far away from each other</a:t>
            </a:r>
          </a:p>
        </p:txBody>
      </p:sp>
      <p:pic>
        <p:nvPicPr>
          <p:cNvPr id="15" name="Picture 14" descr="Diagram&#10;&#10;Description automatically generated">
            <a:extLst>
              <a:ext uri="{FF2B5EF4-FFF2-40B4-BE49-F238E27FC236}">
                <a16:creationId xmlns:a16="http://schemas.microsoft.com/office/drawing/2014/main" id="{A0461535-4047-044F-8740-1DF6F25579AD}"/>
              </a:ext>
            </a:extLst>
          </p:cNvPr>
          <p:cNvPicPr>
            <a:picLocks noChangeAspect="1"/>
          </p:cNvPicPr>
          <p:nvPr/>
        </p:nvPicPr>
        <p:blipFill>
          <a:blip r:embed="rId5"/>
          <a:stretch>
            <a:fillRect/>
          </a:stretch>
        </p:blipFill>
        <p:spPr>
          <a:xfrm>
            <a:off x="8047910" y="3282398"/>
            <a:ext cx="2519929" cy="2436329"/>
          </a:xfrm>
          <a:prstGeom prst="rect">
            <a:avLst/>
          </a:prstGeom>
        </p:spPr>
      </p:pic>
      <p:sp>
        <p:nvSpPr>
          <p:cNvPr id="17" name="Right Arrow 16">
            <a:extLst>
              <a:ext uri="{FF2B5EF4-FFF2-40B4-BE49-F238E27FC236}">
                <a16:creationId xmlns:a16="http://schemas.microsoft.com/office/drawing/2014/main" id="{D4185E11-7AC2-8D4A-8DA5-2ECAD61131BE}"/>
              </a:ext>
            </a:extLst>
          </p:cNvPr>
          <p:cNvSpPr/>
          <p:nvPr/>
        </p:nvSpPr>
        <p:spPr>
          <a:xfrm>
            <a:off x="6682830" y="4718270"/>
            <a:ext cx="1482694" cy="2012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C13C070-C828-5044-9664-1D2BFBB0CCA8}"/>
              </a:ext>
            </a:extLst>
          </p:cNvPr>
          <p:cNvSpPr txBox="1"/>
          <p:nvPr/>
        </p:nvSpPr>
        <p:spPr>
          <a:xfrm>
            <a:off x="6272213" y="4071938"/>
            <a:ext cx="2213854" cy="646331"/>
          </a:xfrm>
          <a:prstGeom prst="rect">
            <a:avLst/>
          </a:prstGeom>
          <a:noFill/>
        </p:spPr>
        <p:txBody>
          <a:bodyPr wrap="square" rtlCol="0">
            <a:spAutoFit/>
          </a:bodyPr>
          <a:lstStyle/>
          <a:p>
            <a:r>
              <a:rPr lang="en-US" dirty="0"/>
              <a:t>    </a:t>
            </a:r>
          </a:p>
          <a:p>
            <a:r>
              <a:rPr lang="en-US" dirty="0"/>
              <a:t>     The grand mean</a:t>
            </a:r>
          </a:p>
        </p:txBody>
      </p:sp>
    </p:spTree>
    <p:extLst>
      <p:ext uri="{BB962C8B-B14F-4D97-AF65-F5344CB8AC3E}">
        <p14:creationId xmlns:p14="http://schemas.microsoft.com/office/powerpoint/2010/main" val="2330203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Separation between the groups</a:t>
            </a:r>
          </a:p>
        </p:txBody>
      </p:sp>
      <p:pic>
        <p:nvPicPr>
          <p:cNvPr id="15" name="Picture 14" descr="Diagram&#10;&#10;Description automatically generated">
            <a:extLst>
              <a:ext uri="{FF2B5EF4-FFF2-40B4-BE49-F238E27FC236}">
                <a16:creationId xmlns:a16="http://schemas.microsoft.com/office/drawing/2014/main" id="{A0461535-4047-044F-8740-1DF6F25579AD}"/>
              </a:ext>
            </a:extLst>
          </p:cNvPr>
          <p:cNvPicPr>
            <a:picLocks noChangeAspect="1"/>
          </p:cNvPicPr>
          <p:nvPr/>
        </p:nvPicPr>
        <p:blipFill>
          <a:blip r:embed="rId3"/>
          <a:stretch>
            <a:fillRect/>
          </a:stretch>
        </p:blipFill>
        <p:spPr>
          <a:xfrm>
            <a:off x="896269" y="2089459"/>
            <a:ext cx="3690836" cy="3568391"/>
          </a:xfrm>
          <a:prstGeom prst="rect">
            <a:avLst/>
          </a:prstGeom>
        </p:spPr>
      </p:pic>
      <p:pic>
        <p:nvPicPr>
          <p:cNvPr id="5" name="Picture 4" descr="Text&#10;&#10;Description automatically generated with medium confidence">
            <a:extLst>
              <a:ext uri="{FF2B5EF4-FFF2-40B4-BE49-F238E27FC236}">
                <a16:creationId xmlns:a16="http://schemas.microsoft.com/office/drawing/2014/main" id="{D205374A-6235-F046-91FC-14910B70AAB3}"/>
              </a:ext>
            </a:extLst>
          </p:cNvPr>
          <p:cNvPicPr>
            <a:picLocks noChangeAspect="1"/>
          </p:cNvPicPr>
          <p:nvPr/>
        </p:nvPicPr>
        <p:blipFill>
          <a:blip r:embed="rId4"/>
          <a:stretch>
            <a:fillRect/>
          </a:stretch>
        </p:blipFill>
        <p:spPr>
          <a:xfrm>
            <a:off x="6225061" y="2089459"/>
            <a:ext cx="5070670" cy="807316"/>
          </a:xfrm>
          <a:prstGeom prst="rect">
            <a:avLst/>
          </a:prstGeom>
        </p:spPr>
      </p:pic>
      <p:sp>
        <p:nvSpPr>
          <p:cNvPr id="16" name="TextBox 15">
            <a:extLst>
              <a:ext uri="{FF2B5EF4-FFF2-40B4-BE49-F238E27FC236}">
                <a16:creationId xmlns:a16="http://schemas.microsoft.com/office/drawing/2014/main" id="{2F4290B0-1A16-9C41-A32B-0C4C3E5C22D6}"/>
              </a:ext>
            </a:extLst>
          </p:cNvPr>
          <p:cNvSpPr txBox="1"/>
          <p:nvPr/>
        </p:nvSpPr>
        <p:spPr>
          <a:xfrm>
            <a:off x="5957888" y="3429001"/>
            <a:ext cx="5715000" cy="2954655"/>
          </a:xfrm>
          <a:prstGeom prst="rect">
            <a:avLst/>
          </a:prstGeom>
          <a:noFill/>
        </p:spPr>
        <p:txBody>
          <a:bodyPr wrap="square">
            <a:spAutoFit/>
          </a:bodyPr>
          <a:lstStyle/>
          <a:p>
            <a:pPr marL="342900" indent="-342900">
              <a:buFont typeface="Arial" panose="020B0604020202020204" pitchFamily="34" charset="0"/>
              <a:buChar char="•"/>
            </a:pPr>
            <a:r>
              <a:rPr lang="en-US" sz="2400" dirty="0"/>
              <a:t>The separation between the groups depends on the variance between the groups.</a:t>
            </a:r>
          </a:p>
          <a:p>
            <a:pPr marL="342900" indent="-342900">
              <a:buFont typeface="Arial" panose="020B0604020202020204" pitchFamily="34" charset="0"/>
              <a:buChar char="•"/>
            </a:pPr>
            <a:r>
              <a:rPr lang="en-US" sz="2400" dirty="0"/>
              <a:t>The ratio of these measures should be as large as possible to get a clear separation between the groups.</a:t>
            </a:r>
          </a:p>
          <a:p>
            <a:pPr marL="342900" indent="-342900">
              <a:buFont typeface="Arial" panose="020B0604020202020204" pitchFamily="34" charset="0"/>
              <a:buChar char="•"/>
            </a:pPr>
            <a:endParaRPr lang="en-US" sz="2400" dirty="0"/>
          </a:p>
          <a:p>
            <a:endParaRPr lang="en-US" dirty="0"/>
          </a:p>
        </p:txBody>
      </p:sp>
    </p:spTree>
    <p:extLst>
      <p:ext uri="{BB962C8B-B14F-4D97-AF65-F5344CB8AC3E}">
        <p14:creationId xmlns:p14="http://schemas.microsoft.com/office/powerpoint/2010/main" val="908677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Separation between the groups</a:t>
            </a:r>
          </a:p>
        </p:txBody>
      </p:sp>
      <p:pic>
        <p:nvPicPr>
          <p:cNvPr id="15" name="Picture 14" descr="Diagram&#10;&#10;Description automatically generated">
            <a:extLst>
              <a:ext uri="{FF2B5EF4-FFF2-40B4-BE49-F238E27FC236}">
                <a16:creationId xmlns:a16="http://schemas.microsoft.com/office/drawing/2014/main" id="{A0461535-4047-044F-8740-1DF6F25579AD}"/>
              </a:ext>
            </a:extLst>
          </p:cNvPr>
          <p:cNvPicPr>
            <a:picLocks noChangeAspect="1"/>
          </p:cNvPicPr>
          <p:nvPr/>
        </p:nvPicPr>
        <p:blipFill>
          <a:blip r:embed="rId3"/>
          <a:stretch>
            <a:fillRect/>
          </a:stretch>
        </p:blipFill>
        <p:spPr>
          <a:xfrm>
            <a:off x="896269" y="2089459"/>
            <a:ext cx="3690836" cy="3568391"/>
          </a:xfrm>
          <a:prstGeom prst="rect">
            <a:avLst/>
          </a:prstGeom>
        </p:spPr>
      </p:pic>
      <p:pic>
        <p:nvPicPr>
          <p:cNvPr id="4" name="Picture 3" descr="A picture containing furniture, table, seat, worktable&#10;&#10;Description automatically generated">
            <a:extLst>
              <a:ext uri="{FF2B5EF4-FFF2-40B4-BE49-F238E27FC236}">
                <a16:creationId xmlns:a16="http://schemas.microsoft.com/office/drawing/2014/main" id="{1DFB3ADB-9578-D549-987E-D0C7FC09DD7F}"/>
              </a:ext>
            </a:extLst>
          </p:cNvPr>
          <p:cNvPicPr>
            <a:picLocks noChangeAspect="1"/>
          </p:cNvPicPr>
          <p:nvPr/>
        </p:nvPicPr>
        <p:blipFill>
          <a:blip r:embed="rId4"/>
          <a:stretch>
            <a:fillRect/>
          </a:stretch>
        </p:blipFill>
        <p:spPr>
          <a:xfrm>
            <a:off x="6548966" y="2400300"/>
            <a:ext cx="3124200" cy="736600"/>
          </a:xfrm>
          <a:prstGeom prst="rect">
            <a:avLst/>
          </a:prstGeom>
        </p:spPr>
      </p:pic>
      <p:sp>
        <p:nvSpPr>
          <p:cNvPr id="11" name="TextBox 10">
            <a:extLst>
              <a:ext uri="{FF2B5EF4-FFF2-40B4-BE49-F238E27FC236}">
                <a16:creationId xmlns:a16="http://schemas.microsoft.com/office/drawing/2014/main" id="{DE532982-0344-224C-80A2-E8C0DAC61902}"/>
              </a:ext>
            </a:extLst>
          </p:cNvPr>
          <p:cNvSpPr txBox="1"/>
          <p:nvPr/>
        </p:nvSpPr>
        <p:spPr>
          <a:xfrm>
            <a:off x="6329362" y="3244334"/>
            <a:ext cx="4518213" cy="1477328"/>
          </a:xfrm>
          <a:prstGeom prst="rect">
            <a:avLst/>
          </a:prstGeom>
          <a:noFill/>
        </p:spPr>
        <p:txBody>
          <a:bodyPr wrap="square">
            <a:spAutoFit/>
          </a:bodyPr>
          <a:lstStyle/>
          <a:p>
            <a:r>
              <a:rPr lang="en-US" dirty="0"/>
              <a:t>S is the target matrix</a:t>
            </a:r>
          </a:p>
          <a:p>
            <a:r>
              <a:rPr lang="en-US" dirty="0"/>
              <a:t>B is the between-group covariance matrix.</a:t>
            </a:r>
          </a:p>
          <a:p>
            <a:r>
              <a:rPr lang="en-US" dirty="0"/>
              <a:t>W is the pooled within-group covariance matrix.</a:t>
            </a:r>
          </a:p>
          <a:p>
            <a:endParaRPr lang="en-US" dirty="0"/>
          </a:p>
        </p:txBody>
      </p:sp>
    </p:spTree>
    <p:extLst>
      <p:ext uri="{BB962C8B-B14F-4D97-AF65-F5344CB8AC3E}">
        <p14:creationId xmlns:p14="http://schemas.microsoft.com/office/powerpoint/2010/main" val="2891173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The math behind LDA</a:t>
            </a:r>
          </a:p>
        </p:txBody>
      </p:sp>
      <p:pic>
        <p:nvPicPr>
          <p:cNvPr id="4" name="Picture 3" descr="A picture containing furniture, table, seat, worktable&#10;&#10;Description automatically generated">
            <a:extLst>
              <a:ext uri="{FF2B5EF4-FFF2-40B4-BE49-F238E27FC236}">
                <a16:creationId xmlns:a16="http://schemas.microsoft.com/office/drawing/2014/main" id="{1DFB3ADB-9578-D549-987E-D0C7FC09DD7F}"/>
              </a:ext>
            </a:extLst>
          </p:cNvPr>
          <p:cNvPicPr>
            <a:picLocks noChangeAspect="1"/>
          </p:cNvPicPr>
          <p:nvPr/>
        </p:nvPicPr>
        <p:blipFill>
          <a:blip r:embed="rId3"/>
          <a:stretch>
            <a:fillRect/>
          </a:stretch>
        </p:blipFill>
        <p:spPr>
          <a:xfrm>
            <a:off x="7192480" y="1535770"/>
            <a:ext cx="1566477" cy="369332"/>
          </a:xfrm>
          <a:prstGeom prst="rect">
            <a:avLst/>
          </a:prstGeom>
        </p:spPr>
      </p:pic>
      <p:graphicFrame>
        <p:nvGraphicFramePr>
          <p:cNvPr id="12" name="Table 11">
            <a:extLst>
              <a:ext uri="{FF2B5EF4-FFF2-40B4-BE49-F238E27FC236}">
                <a16:creationId xmlns:a16="http://schemas.microsoft.com/office/drawing/2014/main" id="{B9797708-A60D-2443-9C0F-A17FE73BBE11}"/>
              </a:ext>
            </a:extLst>
          </p:cNvPr>
          <p:cNvGraphicFramePr>
            <a:graphicFrameLocks noGrp="1"/>
          </p:cNvGraphicFramePr>
          <p:nvPr>
            <p:extLst>
              <p:ext uri="{D42A27DB-BD31-4B8C-83A1-F6EECF244321}">
                <p14:modId xmlns:p14="http://schemas.microsoft.com/office/powerpoint/2010/main" val="1857130970"/>
              </p:ext>
            </p:extLst>
          </p:nvPr>
        </p:nvGraphicFramePr>
        <p:xfrm>
          <a:off x="712473" y="1610908"/>
          <a:ext cx="3179271" cy="3575455"/>
        </p:xfrm>
        <a:graphic>
          <a:graphicData uri="http://schemas.openxmlformats.org/drawingml/2006/table">
            <a:tbl>
              <a:tblPr>
                <a:tableStyleId>{5C22544A-7EE6-4342-B048-85BDC9FD1C3A}</a:tableStyleId>
              </a:tblPr>
              <a:tblGrid>
                <a:gridCol w="1059757">
                  <a:extLst>
                    <a:ext uri="{9D8B030D-6E8A-4147-A177-3AD203B41FA5}">
                      <a16:colId xmlns:a16="http://schemas.microsoft.com/office/drawing/2014/main" val="522457182"/>
                    </a:ext>
                  </a:extLst>
                </a:gridCol>
                <a:gridCol w="1059757">
                  <a:extLst>
                    <a:ext uri="{9D8B030D-6E8A-4147-A177-3AD203B41FA5}">
                      <a16:colId xmlns:a16="http://schemas.microsoft.com/office/drawing/2014/main" val="1383214557"/>
                    </a:ext>
                  </a:extLst>
                </a:gridCol>
                <a:gridCol w="1059757">
                  <a:extLst>
                    <a:ext uri="{9D8B030D-6E8A-4147-A177-3AD203B41FA5}">
                      <a16:colId xmlns:a16="http://schemas.microsoft.com/office/drawing/2014/main" val="554864602"/>
                    </a:ext>
                  </a:extLst>
                </a:gridCol>
              </a:tblGrid>
              <a:tr h="275035">
                <a:tc>
                  <a:txBody>
                    <a:bodyPr/>
                    <a:lstStyle/>
                    <a:p>
                      <a:pPr algn="ctr" fontAlgn="b"/>
                      <a:r>
                        <a:rPr lang="en-CA" sz="1200" b="1"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Temp (C)</a:t>
                      </a:r>
                      <a:endParaRPr lang="en-CA"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8188516"/>
                  </a:ext>
                </a:extLst>
              </a:tr>
              <a:tr h="275035">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40</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0262813"/>
                  </a:ext>
                </a:extLst>
              </a:tr>
              <a:tr h="275035">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11.1</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37.2</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79856579"/>
                  </a:ext>
                </a:extLst>
              </a:tr>
              <a:tr h="275035">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30</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36.5</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77923399"/>
                  </a:ext>
                </a:extLst>
              </a:tr>
              <a:tr h="275035">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21.4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18019763"/>
                  </a:ext>
                </a:extLst>
              </a:tr>
              <a:tr h="275035">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39.6</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2154701"/>
                  </a:ext>
                </a:extLst>
              </a:tr>
              <a:tr h="275035">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40.7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13184265"/>
                  </a:ext>
                </a:extLst>
              </a:tr>
              <a:tr h="27503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0619042"/>
                  </a:ext>
                </a:extLst>
              </a:tr>
              <a:tr h="27503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31.1</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42.2</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0243220"/>
                  </a:ext>
                </a:extLst>
              </a:tr>
              <a:tr h="27503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38.5</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3021495"/>
                  </a:ext>
                </a:extLst>
              </a:tr>
              <a:tr h="27503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39.4</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99801892"/>
                  </a:ext>
                </a:extLst>
              </a:tr>
              <a:tr h="27503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38.6</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97223466"/>
                  </a:ext>
                </a:extLst>
              </a:tr>
              <a:tr h="27503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42.7</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9024676"/>
                  </a:ext>
                </a:extLst>
              </a:tr>
            </a:tbl>
          </a:graphicData>
        </a:graphic>
      </p:graphicFrame>
      <p:sp>
        <p:nvSpPr>
          <p:cNvPr id="13" name="TextBox 12">
            <a:extLst>
              <a:ext uri="{FF2B5EF4-FFF2-40B4-BE49-F238E27FC236}">
                <a16:creationId xmlns:a16="http://schemas.microsoft.com/office/drawing/2014/main" id="{2CF74548-032D-2F41-91BB-1768FC699C42}"/>
              </a:ext>
            </a:extLst>
          </p:cNvPr>
          <p:cNvSpPr txBox="1"/>
          <p:nvPr/>
        </p:nvSpPr>
        <p:spPr>
          <a:xfrm>
            <a:off x="4233916" y="2152920"/>
            <a:ext cx="2738384" cy="646331"/>
          </a:xfrm>
          <a:prstGeom prst="rect">
            <a:avLst/>
          </a:prstGeom>
          <a:noFill/>
        </p:spPr>
        <p:txBody>
          <a:bodyPr wrap="square">
            <a:spAutoFit/>
          </a:bodyPr>
          <a:lstStyle/>
          <a:p>
            <a:r>
              <a:rPr lang="en-US" dirty="0"/>
              <a:t>The covariance matrix for the virus group </a:t>
            </a:r>
          </a:p>
        </p:txBody>
      </p:sp>
      <p:pic>
        <p:nvPicPr>
          <p:cNvPr id="7" name="Picture 6" descr="A picture containing text, watch&#10;&#10;Description automatically generated">
            <a:extLst>
              <a:ext uri="{FF2B5EF4-FFF2-40B4-BE49-F238E27FC236}">
                <a16:creationId xmlns:a16="http://schemas.microsoft.com/office/drawing/2014/main" id="{B1A95588-25FB-AB4F-8D5C-E52426DE67CA}"/>
              </a:ext>
            </a:extLst>
          </p:cNvPr>
          <p:cNvPicPr>
            <a:picLocks noChangeAspect="1"/>
          </p:cNvPicPr>
          <p:nvPr/>
        </p:nvPicPr>
        <p:blipFill>
          <a:blip r:embed="rId4"/>
          <a:stretch>
            <a:fillRect/>
          </a:stretch>
        </p:blipFill>
        <p:spPr>
          <a:xfrm>
            <a:off x="4277816" y="3001717"/>
            <a:ext cx="2914664" cy="886690"/>
          </a:xfrm>
          <a:prstGeom prst="rect">
            <a:avLst/>
          </a:prstGeom>
        </p:spPr>
      </p:pic>
      <p:pic>
        <p:nvPicPr>
          <p:cNvPr id="17" name="Picture 16" descr="Diagram, text&#10;&#10;Description automatically generated with medium confidence">
            <a:extLst>
              <a:ext uri="{FF2B5EF4-FFF2-40B4-BE49-F238E27FC236}">
                <a16:creationId xmlns:a16="http://schemas.microsoft.com/office/drawing/2014/main" id="{BB550167-8393-1F47-8F15-0B2A6515056F}"/>
              </a:ext>
            </a:extLst>
          </p:cNvPr>
          <p:cNvPicPr>
            <a:picLocks noChangeAspect="1"/>
          </p:cNvPicPr>
          <p:nvPr/>
        </p:nvPicPr>
        <p:blipFill>
          <a:blip r:embed="rId5"/>
          <a:stretch>
            <a:fillRect/>
          </a:stretch>
        </p:blipFill>
        <p:spPr>
          <a:xfrm>
            <a:off x="8486880" y="2902254"/>
            <a:ext cx="3127672" cy="942970"/>
          </a:xfrm>
          <a:prstGeom prst="rect">
            <a:avLst/>
          </a:prstGeom>
        </p:spPr>
      </p:pic>
      <p:sp>
        <p:nvSpPr>
          <p:cNvPr id="18" name="TextBox 17">
            <a:extLst>
              <a:ext uri="{FF2B5EF4-FFF2-40B4-BE49-F238E27FC236}">
                <a16:creationId xmlns:a16="http://schemas.microsoft.com/office/drawing/2014/main" id="{4C60322C-2311-334B-9B3E-CB7DAC54E4B7}"/>
              </a:ext>
            </a:extLst>
          </p:cNvPr>
          <p:cNvSpPr txBox="1"/>
          <p:nvPr/>
        </p:nvSpPr>
        <p:spPr>
          <a:xfrm rot="10800000" flipV="1">
            <a:off x="8727572" y="2166788"/>
            <a:ext cx="2738385" cy="646331"/>
          </a:xfrm>
          <a:prstGeom prst="rect">
            <a:avLst/>
          </a:prstGeom>
          <a:noFill/>
        </p:spPr>
        <p:txBody>
          <a:bodyPr wrap="square">
            <a:spAutoFit/>
          </a:bodyPr>
          <a:lstStyle/>
          <a:p>
            <a:r>
              <a:rPr lang="en-US" dirty="0"/>
              <a:t>The covariance matrix for the bacteria group</a:t>
            </a:r>
          </a:p>
        </p:txBody>
      </p:sp>
      <p:pic>
        <p:nvPicPr>
          <p:cNvPr id="20" name="Picture 19">
            <a:extLst>
              <a:ext uri="{FF2B5EF4-FFF2-40B4-BE49-F238E27FC236}">
                <a16:creationId xmlns:a16="http://schemas.microsoft.com/office/drawing/2014/main" id="{0E3F5431-02E3-2746-B806-718128B219DB}"/>
              </a:ext>
            </a:extLst>
          </p:cNvPr>
          <p:cNvPicPr>
            <a:picLocks noChangeAspect="1"/>
          </p:cNvPicPr>
          <p:nvPr/>
        </p:nvPicPr>
        <p:blipFill>
          <a:blip r:embed="rId6"/>
          <a:stretch>
            <a:fillRect/>
          </a:stretch>
        </p:blipFill>
        <p:spPr>
          <a:xfrm>
            <a:off x="5720860" y="4142547"/>
            <a:ext cx="5116570" cy="1084653"/>
          </a:xfrm>
          <a:prstGeom prst="rect">
            <a:avLst/>
          </a:prstGeom>
        </p:spPr>
      </p:pic>
      <p:pic>
        <p:nvPicPr>
          <p:cNvPr id="22" name="Picture 21" descr="Text&#10;&#10;Description automatically generated">
            <a:extLst>
              <a:ext uri="{FF2B5EF4-FFF2-40B4-BE49-F238E27FC236}">
                <a16:creationId xmlns:a16="http://schemas.microsoft.com/office/drawing/2014/main" id="{CE6BAC6A-F66E-8544-9B2B-BB3A54255B54}"/>
              </a:ext>
            </a:extLst>
          </p:cNvPr>
          <p:cNvPicPr>
            <a:picLocks noChangeAspect="1"/>
          </p:cNvPicPr>
          <p:nvPr/>
        </p:nvPicPr>
        <p:blipFill>
          <a:blip r:embed="rId7"/>
          <a:stretch>
            <a:fillRect/>
          </a:stretch>
        </p:blipFill>
        <p:spPr>
          <a:xfrm>
            <a:off x="5755341" y="5560088"/>
            <a:ext cx="4673600" cy="850900"/>
          </a:xfrm>
          <a:prstGeom prst="rect">
            <a:avLst/>
          </a:prstGeom>
        </p:spPr>
      </p:pic>
      <p:sp>
        <p:nvSpPr>
          <p:cNvPr id="23" name="TextBox 22">
            <a:extLst>
              <a:ext uri="{FF2B5EF4-FFF2-40B4-BE49-F238E27FC236}">
                <a16:creationId xmlns:a16="http://schemas.microsoft.com/office/drawing/2014/main" id="{BBC7E5CA-6C93-F24A-AEF7-8A728614A613}"/>
              </a:ext>
            </a:extLst>
          </p:cNvPr>
          <p:cNvSpPr txBox="1"/>
          <p:nvPr/>
        </p:nvSpPr>
        <p:spPr>
          <a:xfrm>
            <a:off x="712473" y="5786438"/>
            <a:ext cx="4783787" cy="369332"/>
          </a:xfrm>
          <a:prstGeom prst="rect">
            <a:avLst/>
          </a:prstGeom>
          <a:noFill/>
        </p:spPr>
        <p:txBody>
          <a:bodyPr wrap="square" rtlCol="0">
            <a:spAutoFit/>
          </a:bodyPr>
          <a:lstStyle/>
          <a:p>
            <a:r>
              <a:rPr lang="en-US" dirty="0"/>
              <a:t>This equation is used for an unequal sample size</a:t>
            </a:r>
          </a:p>
        </p:txBody>
      </p:sp>
    </p:spTree>
    <p:extLst>
      <p:ext uri="{BB962C8B-B14F-4D97-AF65-F5344CB8AC3E}">
        <p14:creationId xmlns:p14="http://schemas.microsoft.com/office/powerpoint/2010/main" val="2473411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Pooled within-group covariance matrix</a:t>
            </a:r>
          </a:p>
        </p:txBody>
      </p:sp>
      <p:pic>
        <p:nvPicPr>
          <p:cNvPr id="4" name="Picture 3" descr="A picture containing furniture, table, seat, worktable&#10;&#10;Description automatically generated">
            <a:extLst>
              <a:ext uri="{FF2B5EF4-FFF2-40B4-BE49-F238E27FC236}">
                <a16:creationId xmlns:a16="http://schemas.microsoft.com/office/drawing/2014/main" id="{1DFB3ADB-9578-D549-987E-D0C7FC09DD7F}"/>
              </a:ext>
            </a:extLst>
          </p:cNvPr>
          <p:cNvPicPr>
            <a:picLocks noChangeAspect="1"/>
          </p:cNvPicPr>
          <p:nvPr/>
        </p:nvPicPr>
        <p:blipFill>
          <a:blip r:embed="rId3"/>
          <a:stretch>
            <a:fillRect/>
          </a:stretch>
        </p:blipFill>
        <p:spPr>
          <a:xfrm>
            <a:off x="6786562" y="1928813"/>
            <a:ext cx="2500313" cy="589505"/>
          </a:xfrm>
          <a:prstGeom prst="rect">
            <a:avLst/>
          </a:prstGeom>
        </p:spPr>
      </p:pic>
      <p:graphicFrame>
        <p:nvGraphicFramePr>
          <p:cNvPr id="12" name="Table 11">
            <a:extLst>
              <a:ext uri="{FF2B5EF4-FFF2-40B4-BE49-F238E27FC236}">
                <a16:creationId xmlns:a16="http://schemas.microsoft.com/office/drawing/2014/main" id="{B9797708-A60D-2443-9C0F-A17FE73BBE11}"/>
              </a:ext>
            </a:extLst>
          </p:cNvPr>
          <p:cNvGraphicFramePr>
            <a:graphicFrameLocks noGrp="1"/>
          </p:cNvGraphicFramePr>
          <p:nvPr>
            <p:extLst>
              <p:ext uri="{D42A27DB-BD31-4B8C-83A1-F6EECF244321}">
                <p14:modId xmlns:p14="http://schemas.microsoft.com/office/powerpoint/2010/main" val="3227218058"/>
              </p:ext>
            </p:extLst>
          </p:nvPr>
        </p:nvGraphicFramePr>
        <p:xfrm>
          <a:off x="957263" y="1928813"/>
          <a:ext cx="3429000" cy="3757611"/>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522457182"/>
                    </a:ext>
                  </a:extLst>
                </a:gridCol>
                <a:gridCol w="1143000">
                  <a:extLst>
                    <a:ext uri="{9D8B030D-6E8A-4147-A177-3AD203B41FA5}">
                      <a16:colId xmlns:a16="http://schemas.microsoft.com/office/drawing/2014/main" val="1383214557"/>
                    </a:ext>
                  </a:extLst>
                </a:gridCol>
                <a:gridCol w="1143000">
                  <a:extLst>
                    <a:ext uri="{9D8B030D-6E8A-4147-A177-3AD203B41FA5}">
                      <a16:colId xmlns:a16="http://schemas.microsoft.com/office/drawing/2014/main" val="554864602"/>
                    </a:ext>
                  </a:extLst>
                </a:gridCol>
              </a:tblGrid>
              <a:tr h="289047">
                <a:tc>
                  <a:txBody>
                    <a:bodyPr/>
                    <a:lstStyle/>
                    <a:p>
                      <a:pPr algn="ctr" fontAlgn="b"/>
                      <a:r>
                        <a:rPr lang="en-CA" sz="1200" b="1"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Temp (C)</a:t>
                      </a:r>
                      <a:endParaRPr lang="en-CA"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8188516"/>
                  </a:ext>
                </a:extLst>
              </a:tr>
              <a:tr h="289047">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40</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0262813"/>
                  </a:ext>
                </a:extLst>
              </a:tr>
              <a:tr h="289047">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11.1</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37.2</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79856579"/>
                  </a:ext>
                </a:extLst>
              </a:tr>
              <a:tr h="289047">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30</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36.5</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77923399"/>
                  </a:ext>
                </a:extLst>
              </a:tr>
              <a:tr h="289047">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21.4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18019763"/>
                  </a:ext>
                </a:extLst>
              </a:tr>
              <a:tr h="289047">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39.6</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2154701"/>
                  </a:ext>
                </a:extLst>
              </a:tr>
              <a:tr h="289047">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40.7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13184265"/>
                  </a:ext>
                </a:extLst>
              </a:tr>
              <a:tr h="289047">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0619042"/>
                  </a:ext>
                </a:extLst>
              </a:tr>
              <a:tr h="289047">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31.1</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42.2</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0243220"/>
                  </a:ext>
                </a:extLst>
              </a:tr>
              <a:tr h="289047">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38.5</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3021495"/>
                  </a:ext>
                </a:extLst>
              </a:tr>
              <a:tr h="289047">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39.4</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99801892"/>
                  </a:ext>
                </a:extLst>
              </a:tr>
              <a:tr h="289047">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38.6</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97223466"/>
                  </a:ext>
                </a:extLst>
              </a:tr>
              <a:tr h="289047">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42.7</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9024676"/>
                  </a:ext>
                </a:extLst>
              </a:tr>
            </a:tbl>
          </a:graphicData>
        </a:graphic>
      </p:graphicFrame>
      <p:pic>
        <p:nvPicPr>
          <p:cNvPr id="5" name="Picture 4" descr="A picture containing text, watch&#10;&#10;Description automatically generated">
            <a:extLst>
              <a:ext uri="{FF2B5EF4-FFF2-40B4-BE49-F238E27FC236}">
                <a16:creationId xmlns:a16="http://schemas.microsoft.com/office/drawing/2014/main" id="{82DAF058-1D76-5447-BB89-95657D4E860B}"/>
              </a:ext>
            </a:extLst>
          </p:cNvPr>
          <p:cNvPicPr>
            <a:picLocks noChangeAspect="1"/>
          </p:cNvPicPr>
          <p:nvPr/>
        </p:nvPicPr>
        <p:blipFill>
          <a:blip r:embed="rId4"/>
          <a:stretch>
            <a:fillRect/>
          </a:stretch>
        </p:blipFill>
        <p:spPr>
          <a:xfrm>
            <a:off x="5741988" y="3332196"/>
            <a:ext cx="4127500" cy="1270000"/>
          </a:xfrm>
          <a:prstGeom prst="rect">
            <a:avLst/>
          </a:prstGeom>
        </p:spPr>
      </p:pic>
    </p:spTree>
    <p:extLst>
      <p:ext uri="{BB962C8B-B14F-4D97-AF65-F5344CB8AC3E}">
        <p14:creationId xmlns:p14="http://schemas.microsoft.com/office/powerpoint/2010/main" val="1293674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Between-group covariance matrix</a:t>
            </a:r>
          </a:p>
        </p:txBody>
      </p:sp>
      <p:pic>
        <p:nvPicPr>
          <p:cNvPr id="4" name="Picture 3" descr="A picture containing furniture, table, seat, worktable&#10;&#10;Description automatically generated">
            <a:extLst>
              <a:ext uri="{FF2B5EF4-FFF2-40B4-BE49-F238E27FC236}">
                <a16:creationId xmlns:a16="http://schemas.microsoft.com/office/drawing/2014/main" id="{1DFB3ADB-9578-D549-987E-D0C7FC09DD7F}"/>
              </a:ext>
            </a:extLst>
          </p:cNvPr>
          <p:cNvPicPr>
            <a:picLocks noChangeAspect="1"/>
          </p:cNvPicPr>
          <p:nvPr/>
        </p:nvPicPr>
        <p:blipFill>
          <a:blip r:embed="rId3"/>
          <a:stretch>
            <a:fillRect/>
          </a:stretch>
        </p:blipFill>
        <p:spPr>
          <a:xfrm>
            <a:off x="833821" y="1580345"/>
            <a:ext cx="1509459" cy="355889"/>
          </a:xfrm>
          <a:prstGeom prst="rect">
            <a:avLst/>
          </a:prstGeom>
        </p:spPr>
      </p:pic>
      <p:graphicFrame>
        <p:nvGraphicFramePr>
          <p:cNvPr id="12" name="Table 11">
            <a:extLst>
              <a:ext uri="{FF2B5EF4-FFF2-40B4-BE49-F238E27FC236}">
                <a16:creationId xmlns:a16="http://schemas.microsoft.com/office/drawing/2014/main" id="{B9797708-A60D-2443-9C0F-A17FE73BBE11}"/>
              </a:ext>
            </a:extLst>
          </p:cNvPr>
          <p:cNvGraphicFramePr>
            <a:graphicFrameLocks noGrp="1"/>
          </p:cNvGraphicFramePr>
          <p:nvPr>
            <p:extLst>
              <p:ext uri="{D42A27DB-BD31-4B8C-83A1-F6EECF244321}">
                <p14:modId xmlns:p14="http://schemas.microsoft.com/office/powerpoint/2010/main" val="3521265028"/>
              </p:ext>
            </p:extLst>
          </p:nvPr>
        </p:nvGraphicFramePr>
        <p:xfrm>
          <a:off x="833821" y="2085975"/>
          <a:ext cx="2981100" cy="3785652"/>
        </p:xfrm>
        <a:graphic>
          <a:graphicData uri="http://schemas.openxmlformats.org/drawingml/2006/table">
            <a:tbl>
              <a:tblPr>
                <a:tableStyleId>{5C22544A-7EE6-4342-B048-85BDC9FD1C3A}</a:tableStyleId>
              </a:tblPr>
              <a:tblGrid>
                <a:gridCol w="993700">
                  <a:extLst>
                    <a:ext uri="{9D8B030D-6E8A-4147-A177-3AD203B41FA5}">
                      <a16:colId xmlns:a16="http://schemas.microsoft.com/office/drawing/2014/main" val="522457182"/>
                    </a:ext>
                  </a:extLst>
                </a:gridCol>
                <a:gridCol w="993700">
                  <a:extLst>
                    <a:ext uri="{9D8B030D-6E8A-4147-A177-3AD203B41FA5}">
                      <a16:colId xmlns:a16="http://schemas.microsoft.com/office/drawing/2014/main" val="1383214557"/>
                    </a:ext>
                  </a:extLst>
                </a:gridCol>
                <a:gridCol w="993700">
                  <a:extLst>
                    <a:ext uri="{9D8B030D-6E8A-4147-A177-3AD203B41FA5}">
                      <a16:colId xmlns:a16="http://schemas.microsoft.com/office/drawing/2014/main" val="554864602"/>
                    </a:ext>
                  </a:extLst>
                </a:gridCol>
              </a:tblGrid>
              <a:tr h="291204">
                <a:tc>
                  <a:txBody>
                    <a:bodyPr/>
                    <a:lstStyle/>
                    <a:p>
                      <a:pPr algn="ctr" fontAlgn="b"/>
                      <a:r>
                        <a:rPr lang="en-CA" sz="1200" b="1"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Temp (C)</a:t>
                      </a:r>
                      <a:endParaRPr lang="en-CA"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8188516"/>
                  </a:ext>
                </a:extLst>
              </a:tr>
              <a:tr h="291204">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40</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0262813"/>
                  </a:ext>
                </a:extLst>
              </a:tr>
              <a:tr h="291204">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11.1</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37.2</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79856579"/>
                  </a:ext>
                </a:extLst>
              </a:tr>
              <a:tr h="291204">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30</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36.5</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77923399"/>
                  </a:ext>
                </a:extLst>
              </a:tr>
              <a:tr h="291204">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21.4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18019763"/>
                  </a:ext>
                </a:extLst>
              </a:tr>
              <a:tr h="291204">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39.6</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2154701"/>
                  </a:ext>
                </a:extLst>
              </a:tr>
              <a:tr h="291204">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40.7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13184265"/>
                  </a:ext>
                </a:extLst>
              </a:tr>
              <a:tr h="291204">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0619042"/>
                  </a:ext>
                </a:extLst>
              </a:tr>
              <a:tr h="291204">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31.1</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42.2</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0243220"/>
                  </a:ext>
                </a:extLst>
              </a:tr>
              <a:tr h="291204">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38.5</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3021495"/>
                  </a:ext>
                </a:extLst>
              </a:tr>
              <a:tr h="291204">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39.4</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99801892"/>
                  </a:ext>
                </a:extLst>
              </a:tr>
              <a:tr h="291204">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38.6</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97223466"/>
                  </a:ext>
                </a:extLst>
              </a:tr>
              <a:tr h="291204">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42.7</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9024676"/>
                  </a:ext>
                </a:extLst>
              </a:tr>
            </a:tbl>
          </a:graphicData>
        </a:graphic>
      </p:graphicFrame>
      <p:pic>
        <p:nvPicPr>
          <p:cNvPr id="6" name="Picture 5" descr="A picture containing text&#10;&#10;Description automatically generated">
            <a:extLst>
              <a:ext uri="{FF2B5EF4-FFF2-40B4-BE49-F238E27FC236}">
                <a16:creationId xmlns:a16="http://schemas.microsoft.com/office/drawing/2014/main" id="{3C843B27-A598-D244-B60E-F45ADF6F57A2}"/>
              </a:ext>
            </a:extLst>
          </p:cNvPr>
          <p:cNvPicPr>
            <a:picLocks noChangeAspect="1"/>
          </p:cNvPicPr>
          <p:nvPr/>
        </p:nvPicPr>
        <p:blipFill>
          <a:blip r:embed="rId4"/>
          <a:stretch>
            <a:fillRect/>
          </a:stretch>
        </p:blipFill>
        <p:spPr>
          <a:xfrm>
            <a:off x="7720165" y="1862043"/>
            <a:ext cx="1410461" cy="380637"/>
          </a:xfrm>
          <a:prstGeom prst="rect">
            <a:avLst/>
          </a:prstGeom>
        </p:spPr>
      </p:pic>
      <p:sp>
        <p:nvSpPr>
          <p:cNvPr id="7" name="TextBox 6">
            <a:extLst>
              <a:ext uri="{FF2B5EF4-FFF2-40B4-BE49-F238E27FC236}">
                <a16:creationId xmlns:a16="http://schemas.microsoft.com/office/drawing/2014/main" id="{FDA14508-94E3-344B-9E8F-22FB86352E47}"/>
              </a:ext>
            </a:extLst>
          </p:cNvPr>
          <p:cNvSpPr txBox="1"/>
          <p:nvPr/>
        </p:nvSpPr>
        <p:spPr>
          <a:xfrm rot="10800000" flipV="1">
            <a:off x="4528753" y="1888090"/>
            <a:ext cx="2981100" cy="5139869"/>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total covariance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total covariance matrix is the covariance matrix based on all data points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between-group covariance matrix</a:t>
            </a:r>
          </a:p>
          <a:p>
            <a:endParaRPr lang="en-US" sz="2400" dirty="0"/>
          </a:p>
          <a:p>
            <a:endParaRPr lang="en-US" sz="2000" dirty="0"/>
          </a:p>
          <a:p>
            <a:endParaRPr lang="en-US" sz="2000" dirty="0"/>
          </a:p>
        </p:txBody>
      </p:sp>
      <p:pic>
        <p:nvPicPr>
          <p:cNvPr id="11" name="Picture 10" descr="A picture containing text, clock, antenna, gauge&#10;&#10;Description automatically generated">
            <a:extLst>
              <a:ext uri="{FF2B5EF4-FFF2-40B4-BE49-F238E27FC236}">
                <a16:creationId xmlns:a16="http://schemas.microsoft.com/office/drawing/2014/main" id="{CF5A3619-0A10-5643-A35D-EE90F6B2A107}"/>
              </a:ext>
            </a:extLst>
          </p:cNvPr>
          <p:cNvPicPr>
            <a:picLocks noChangeAspect="1"/>
          </p:cNvPicPr>
          <p:nvPr/>
        </p:nvPicPr>
        <p:blipFill>
          <a:blip r:embed="rId5"/>
          <a:stretch>
            <a:fillRect/>
          </a:stretch>
        </p:blipFill>
        <p:spPr>
          <a:xfrm>
            <a:off x="7790310" y="2946429"/>
            <a:ext cx="3045362" cy="1023177"/>
          </a:xfrm>
          <a:prstGeom prst="rect">
            <a:avLst/>
          </a:prstGeom>
        </p:spPr>
      </p:pic>
      <p:pic>
        <p:nvPicPr>
          <p:cNvPr id="16" name="Picture 15" descr="A close-up of a logo&#10;&#10;Description automatically generated with low confidence">
            <a:extLst>
              <a:ext uri="{FF2B5EF4-FFF2-40B4-BE49-F238E27FC236}">
                <a16:creationId xmlns:a16="http://schemas.microsoft.com/office/drawing/2014/main" id="{DFD447C2-DC41-5343-AB89-91B7140BA299}"/>
              </a:ext>
            </a:extLst>
          </p:cNvPr>
          <p:cNvPicPr>
            <a:picLocks noChangeAspect="1"/>
          </p:cNvPicPr>
          <p:nvPr/>
        </p:nvPicPr>
        <p:blipFill>
          <a:blip r:embed="rId6"/>
          <a:stretch>
            <a:fillRect/>
          </a:stretch>
        </p:blipFill>
        <p:spPr>
          <a:xfrm>
            <a:off x="7904312" y="5232399"/>
            <a:ext cx="1653767" cy="392004"/>
          </a:xfrm>
          <a:prstGeom prst="rect">
            <a:avLst/>
          </a:prstGeom>
        </p:spPr>
      </p:pic>
      <p:pic>
        <p:nvPicPr>
          <p:cNvPr id="18" name="Picture 17" descr="Text&#10;&#10;Description automatically generated with low confidence">
            <a:extLst>
              <a:ext uri="{FF2B5EF4-FFF2-40B4-BE49-F238E27FC236}">
                <a16:creationId xmlns:a16="http://schemas.microsoft.com/office/drawing/2014/main" id="{5E87F5D5-CE20-A047-BF54-A0B4F49594B0}"/>
              </a:ext>
            </a:extLst>
          </p:cNvPr>
          <p:cNvPicPr>
            <a:picLocks noChangeAspect="1"/>
          </p:cNvPicPr>
          <p:nvPr/>
        </p:nvPicPr>
        <p:blipFill>
          <a:blip r:embed="rId7"/>
          <a:stretch>
            <a:fillRect/>
          </a:stretch>
        </p:blipFill>
        <p:spPr>
          <a:xfrm>
            <a:off x="7904312" y="5846865"/>
            <a:ext cx="4001173" cy="574935"/>
          </a:xfrm>
          <a:prstGeom prst="rect">
            <a:avLst/>
          </a:prstGeom>
        </p:spPr>
      </p:pic>
      <p:sp>
        <p:nvSpPr>
          <p:cNvPr id="19" name="TextBox 18">
            <a:extLst>
              <a:ext uri="{FF2B5EF4-FFF2-40B4-BE49-F238E27FC236}">
                <a16:creationId xmlns:a16="http://schemas.microsoft.com/office/drawing/2014/main" id="{810A9710-5141-1F4C-8D18-DDD5790AE92D}"/>
              </a:ext>
            </a:extLst>
          </p:cNvPr>
          <p:cNvSpPr txBox="1"/>
          <p:nvPr/>
        </p:nvSpPr>
        <p:spPr>
          <a:xfrm>
            <a:off x="9695325" y="5232399"/>
            <a:ext cx="1662853" cy="369332"/>
          </a:xfrm>
          <a:prstGeom prst="rect">
            <a:avLst/>
          </a:prstGeom>
          <a:noFill/>
        </p:spPr>
        <p:txBody>
          <a:bodyPr wrap="square" rtlCol="0">
            <a:spAutoFit/>
          </a:bodyPr>
          <a:lstStyle/>
          <a:p>
            <a:r>
              <a:rPr lang="en-US" dirty="0"/>
              <a:t>=</a:t>
            </a:r>
          </a:p>
        </p:txBody>
      </p:sp>
    </p:spTree>
    <p:extLst>
      <p:ext uri="{BB962C8B-B14F-4D97-AF65-F5344CB8AC3E}">
        <p14:creationId xmlns:p14="http://schemas.microsoft.com/office/powerpoint/2010/main" val="1886627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The math behind LDA</a:t>
            </a:r>
          </a:p>
        </p:txBody>
      </p:sp>
      <p:pic>
        <p:nvPicPr>
          <p:cNvPr id="4" name="Picture 3" descr="A picture containing furniture, table, seat, worktable&#10;&#10;Description automatically generated">
            <a:extLst>
              <a:ext uri="{FF2B5EF4-FFF2-40B4-BE49-F238E27FC236}">
                <a16:creationId xmlns:a16="http://schemas.microsoft.com/office/drawing/2014/main" id="{1DFB3ADB-9578-D549-987E-D0C7FC09DD7F}"/>
              </a:ext>
            </a:extLst>
          </p:cNvPr>
          <p:cNvPicPr>
            <a:picLocks noChangeAspect="1"/>
          </p:cNvPicPr>
          <p:nvPr/>
        </p:nvPicPr>
        <p:blipFill>
          <a:blip r:embed="rId3"/>
          <a:stretch>
            <a:fillRect/>
          </a:stretch>
        </p:blipFill>
        <p:spPr>
          <a:xfrm>
            <a:off x="7272363" y="1888697"/>
            <a:ext cx="2418382" cy="570188"/>
          </a:xfrm>
          <a:prstGeom prst="rect">
            <a:avLst/>
          </a:prstGeom>
        </p:spPr>
      </p:pic>
      <p:pic>
        <p:nvPicPr>
          <p:cNvPr id="13" name="Picture 12" descr="A picture containing text, watch&#10;&#10;Description automatically generated">
            <a:extLst>
              <a:ext uri="{FF2B5EF4-FFF2-40B4-BE49-F238E27FC236}">
                <a16:creationId xmlns:a16="http://schemas.microsoft.com/office/drawing/2014/main" id="{3014B22A-F58D-FE4A-AEAE-1BDDFC3D0126}"/>
              </a:ext>
            </a:extLst>
          </p:cNvPr>
          <p:cNvPicPr>
            <a:picLocks noChangeAspect="1"/>
          </p:cNvPicPr>
          <p:nvPr/>
        </p:nvPicPr>
        <p:blipFill>
          <a:blip r:embed="rId4"/>
          <a:stretch>
            <a:fillRect/>
          </a:stretch>
        </p:blipFill>
        <p:spPr>
          <a:xfrm>
            <a:off x="574550" y="1739210"/>
            <a:ext cx="4127500" cy="1270000"/>
          </a:xfrm>
          <a:prstGeom prst="rect">
            <a:avLst/>
          </a:prstGeom>
        </p:spPr>
      </p:pic>
      <p:sp>
        <p:nvSpPr>
          <p:cNvPr id="15" name="TextBox 14">
            <a:extLst>
              <a:ext uri="{FF2B5EF4-FFF2-40B4-BE49-F238E27FC236}">
                <a16:creationId xmlns:a16="http://schemas.microsoft.com/office/drawing/2014/main" id="{B4CAA9D3-37B8-5E46-B17F-CB3488E4F0F0}"/>
              </a:ext>
            </a:extLst>
          </p:cNvPr>
          <p:cNvSpPr txBox="1"/>
          <p:nvPr/>
        </p:nvSpPr>
        <p:spPr>
          <a:xfrm>
            <a:off x="5370089" y="3429000"/>
            <a:ext cx="4518978" cy="830997"/>
          </a:xfrm>
          <a:prstGeom prst="rect">
            <a:avLst/>
          </a:prstGeom>
          <a:noFill/>
        </p:spPr>
        <p:txBody>
          <a:bodyPr wrap="square">
            <a:spAutoFit/>
          </a:bodyPr>
          <a:lstStyle/>
          <a:p>
            <a:r>
              <a:rPr lang="en-US" sz="2400" dirty="0"/>
              <a:t>The inverse of the pooled within-group covariance matrix</a:t>
            </a:r>
          </a:p>
        </p:txBody>
      </p:sp>
      <p:pic>
        <p:nvPicPr>
          <p:cNvPr id="9" name="Picture 8" descr="Text&#10;&#10;Description automatically generated with low confidence">
            <a:extLst>
              <a:ext uri="{FF2B5EF4-FFF2-40B4-BE49-F238E27FC236}">
                <a16:creationId xmlns:a16="http://schemas.microsoft.com/office/drawing/2014/main" id="{83064B9D-94F5-BE45-8317-0B2D9642BCB4}"/>
              </a:ext>
            </a:extLst>
          </p:cNvPr>
          <p:cNvPicPr>
            <a:picLocks noChangeAspect="1"/>
          </p:cNvPicPr>
          <p:nvPr/>
        </p:nvPicPr>
        <p:blipFill>
          <a:blip r:embed="rId5"/>
          <a:stretch>
            <a:fillRect/>
          </a:stretch>
        </p:blipFill>
        <p:spPr>
          <a:xfrm>
            <a:off x="498350" y="3212324"/>
            <a:ext cx="4203700" cy="1130300"/>
          </a:xfrm>
          <a:prstGeom prst="rect">
            <a:avLst/>
          </a:prstGeom>
        </p:spPr>
      </p:pic>
      <p:pic>
        <p:nvPicPr>
          <p:cNvPr id="17" name="Picture 16" descr="A picture containing text, clock, gauge&#10;&#10;Description automatically generated">
            <a:extLst>
              <a:ext uri="{FF2B5EF4-FFF2-40B4-BE49-F238E27FC236}">
                <a16:creationId xmlns:a16="http://schemas.microsoft.com/office/drawing/2014/main" id="{7993BDD1-5DBD-CF45-BF92-28DA9CC756D8}"/>
              </a:ext>
            </a:extLst>
          </p:cNvPr>
          <p:cNvPicPr>
            <a:picLocks noChangeAspect="1"/>
          </p:cNvPicPr>
          <p:nvPr/>
        </p:nvPicPr>
        <p:blipFill>
          <a:blip r:embed="rId6"/>
          <a:stretch>
            <a:fillRect/>
          </a:stretch>
        </p:blipFill>
        <p:spPr>
          <a:xfrm>
            <a:off x="1031750" y="4741475"/>
            <a:ext cx="3670300" cy="1358900"/>
          </a:xfrm>
          <a:prstGeom prst="rect">
            <a:avLst/>
          </a:prstGeom>
        </p:spPr>
      </p:pic>
      <p:pic>
        <p:nvPicPr>
          <p:cNvPr id="21" name="Picture 20" descr="Text&#10;&#10;Description automatically generated with low confidence">
            <a:extLst>
              <a:ext uri="{FF2B5EF4-FFF2-40B4-BE49-F238E27FC236}">
                <a16:creationId xmlns:a16="http://schemas.microsoft.com/office/drawing/2014/main" id="{592E19DB-83C2-A74D-950D-E8C36FA007B7}"/>
              </a:ext>
            </a:extLst>
          </p:cNvPr>
          <p:cNvPicPr>
            <a:picLocks noChangeAspect="1"/>
          </p:cNvPicPr>
          <p:nvPr/>
        </p:nvPicPr>
        <p:blipFill>
          <a:blip r:embed="rId7"/>
          <a:stretch>
            <a:fillRect/>
          </a:stretch>
        </p:blipFill>
        <p:spPr>
          <a:xfrm>
            <a:off x="6561560" y="4695239"/>
            <a:ext cx="3839988" cy="1358900"/>
          </a:xfrm>
          <a:prstGeom prst="rect">
            <a:avLst/>
          </a:prstGeom>
        </p:spPr>
      </p:pic>
      <p:cxnSp>
        <p:nvCxnSpPr>
          <p:cNvPr id="23" name="Straight Arrow Connector 22">
            <a:extLst>
              <a:ext uri="{FF2B5EF4-FFF2-40B4-BE49-F238E27FC236}">
                <a16:creationId xmlns:a16="http://schemas.microsoft.com/office/drawing/2014/main" id="{3E767E5A-71CF-0548-955F-DA3CEE9611AD}"/>
              </a:ext>
            </a:extLst>
          </p:cNvPr>
          <p:cNvCxnSpPr>
            <a:cxnSpLocks/>
            <a:stCxn id="9" idx="3"/>
          </p:cNvCxnSpPr>
          <p:nvPr/>
        </p:nvCxnSpPr>
        <p:spPr>
          <a:xfrm>
            <a:off x="4702050" y="3777474"/>
            <a:ext cx="457727" cy="5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2626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The math behind LDA</a:t>
            </a:r>
          </a:p>
        </p:txBody>
      </p:sp>
      <p:pic>
        <p:nvPicPr>
          <p:cNvPr id="21" name="Picture 20" descr="Text&#10;&#10;Description automatically generated with low confidence">
            <a:extLst>
              <a:ext uri="{FF2B5EF4-FFF2-40B4-BE49-F238E27FC236}">
                <a16:creationId xmlns:a16="http://schemas.microsoft.com/office/drawing/2014/main" id="{592E19DB-83C2-A74D-950D-E8C36FA007B7}"/>
              </a:ext>
            </a:extLst>
          </p:cNvPr>
          <p:cNvPicPr>
            <a:picLocks noChangeAspect="1"/>
          </p:cNvPicPr>
          <p:nvPr/>
        </p:nvPicPr>
        <p:blipFill>
          <a:blip r:embed="rId3"/>
          <a:stretch>
            <a:fillRect/>
          </a:stretch>
        </p:blipFill>
        <p:spPr>
          <a:xfrm>
            <a:off x="3452378" y="1990562"/>
            <a:ext cx="2868600" cy="1015144"/>
          </a:xfrm>
          <a:prstGeom prst="rect">
            <a:avLst/>
          </a:prstGeom>
        </p:spPr>
      </p:pic>
      <p:pic>
        <p:nvPicPr>
          <p:cNvPr id="14" name="Picture 13" descr="A picture containing diagram&#10;&#10;Description automatically generated">
            <a:extLst>
              <a:ext uri="{FF2B5EF4-FFF2-40B4-BE49-F238E27FC236}">
                <a16:creationId xmlns:a16="http://schemas.microsoft.com/office/drawing/2014/main" id="{506FD5B9-BE17-5B4D-9100-CC1ABEA8B51D}"/>
              </a:ext>
            </a:extLst>
          </p:cNvPr>
          <p:cNvPicPr>
            <a:picLocks noChangeAspect="1"/>
          </p:cNvPicPr>
          <p:nvPr/>
        </p:nvPicPr>
        <p:blipFill>
          <a:blip r:embed="rId4"/>
          <a:stretch>
            <a:fillRect/>
          </a:stretch>
        </p:blipFill>
        <p:spPr>
          <a:xfrm>
            <a:off x="2032000" y="3342384"/>
            <a:ext cx="4361139" cy="968379"/>
          </a:xfrm>
          <a:prstGeom prst="rect">
            <a:avLst/>
          </a:prstGeom>
        </p:spPr>
      </p:pic>
      <p:sp>
        <p:nvSpPr>
          <p:cNvPr id="16" name="Down Arrow 15">
            <a:extLst>
              <a:ext uri="{FF2B5EF4-FFF2-40B4-BE49-F238E27FC236}">
                <a16:creationId xmlns:a16="http://schemas.microsoft.com/office/drawing/2014/main" id="{0261839F-9B53-D745-925C-9D39C942FF31}"/>
              </a:ext>
            </a:extLst>
          </p:cNvPr>
          <p:cNvSpPr/>
          <p:nvPr/>
        </p:nvSpPr>
        <p:spPr>
          <a:xfrm>
            <a:off x="5232400" y="3005706"/>
            <a:ext cx="152400" cy="3366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a:extLst>
              <a:ext uri="{FF2B5EF4-FFF2-40B4-BE49-F238E27FC236}">
                <a16:creationId xmlns:a16="http://schemas.microsoft.com/office/drawing/2014/main" id="{AE6BC696-5108-D147-8C2E-E438C0D83B94}"/>
              </a:ext>
            </a:extLst>
          </p:cNvPr>
          <p:cNvSpPr/>
          <p:nvPr/>
        </p:nvSpPr>
        <p:spPr>
          <a:xfrm rot="10800000" flipV="1">
            <a:off x="5232400" y="4454461"/>
            <a:ext cx="152400" cy="4032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2C05E68B-EE9D-9645-91C4-8BCFEA2BADA2}"/>
              </a:ext>
            </a:extLst>
          </p:cNvPr>
          <p:cNvPicPr>
            <a:picLocks noChangeAspect="1"/>
          </p:cNvPicPr>
          <p:nvPr/>
        </p:nvPicPr>
        <p:blipFill>
          <a:blip r:embed="rId5"/>
          <a:stretch>
            <a:fillRect/>
          </a:stretch>
        </p:blipFill>
        <p:spPr>
          <a:xfrm>
            <a:off x="2789397" y="5084417"/>
            <a:ext cx="6354763" cy="645406"/>
          </a:xfrm>
          <a:prstGeom prst="rect">
            <a:avLst/>
          </a:prstGeom>
        </p:spPr>
      </p:pic>
    </p:spTree>
    <p:extLst>
      <p:ext uri="{BB962C8B-B14F-4D97-AF65-F5344CB8AC3E}">
        <p14:creationId xmlns:p14="http://schemas.microsoft.com/office/powerpoint/2010/main" val="2224405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Calculate the score</a:t>
            </a:r>
          </a:p>
        </p:txBody>
      </p:sp>
      <p:pic>
        <p:nvPicPr>
          <p:cNvPr id="22" name="Picture 21">
            <a:extLst>
              <a:ext uri="{FF2B5EF4-FFF2-40B4-BE49-F238E27FC236}">
                <a16:creationId xmlns:a16="http://schemas.microsoft.com/office/drawing/2014/main" id="{2C05E68B-EE9D-9645-91C4-8BCFEA2BADA2}"/>
              </a:ext>
            </a:extLst>
          </p:cNvPr>
          <p:cNvPicPr>
            <a:picLocks noChangeAspect="1"/>
          </p:cNvPicPr>
          <p:nvPr/>
        </p:nvPicPr>
        <p:blipFill>
          <a:blip r:embed="rId3"/>
          <a:stretch>
            <a:fillRect/>
          </a:stretch>
        </p:blipFill>
        <p:spPr>
          <a:xfrm>
            <a:off x="5693728" y="1788164"/>
            <a:ext cx="4806581" cy="488169"/>
          </a:xfrm>
          <a:prstGeom prst="rect">
            <a:avLst/>
          </a:prstGeom>
        </p:spPr>
      </p:pic>
      <p:pic>
        <p:nvPicPr>
          <p:cNvPr id="4" name="Picture 3">
            <a:extLst>
              <a:ext uri="{FF2B5EF4-FFF2-40B4-BE49-F238E27FC236}">
                <a16:creationId xmlns:a16="http://schemas.microsoft.com/office/drawing/2014/main" id="{8FDA1DF1-BE3B-C942-8DA6-398FE09212D9}"/>
              </a:ext>
            </a:extLst>
          </p:cNvPr>
          <p:cNvPicPr>
            <a:picLocks noChangeAspect="1"/>
          </p:cNvPicPr>
          <p:nvPr/>
        </p:nvPicPr>
        <p:blipFill>
          <a:blip r:embed="rId4"/>
          <a:stretch>
            <a:fillRect/>
          </a:stretch>
        </p:blipFill>
        <p:spPr>
          <a:xfrm>
            <a:off x="5693728" y="2865088"/>
            <a:ext cx="3746500" cy="584200"/>
          </a:xfrm>
          <a:prstGeom prst="rect">
            <a:avLst/>
          </a:prstGeom>
        </p:spPr>
      </p:pic>
      <p:pic>
        <p:nvPicPr>
          <p:cNvPr id="6" name="Picture 5" descr="Text&#10;&#10;Description automatically generated with medium confidence">
            <a:extLst>
              <a:ext uri="{FF2B5EF4-FFF2-40B4-BE49-F238E27FC236}">
                <a16:creationId xmlns:a16="http://schemas.microsoft.com/office/drawing/2014/main" id="{4D664126-686B-4C4A-8A22-79C909B415FE}"/>
              </a:ext>
            </a:extLst>
          </p:cNvPr>
          <p:cNvPicPr>
            <a:picLocks noChangeAspect="1"/>
          </p:cNvPicPr>
          <p:nvPr/>
        </p:nvPicPr>
        <p:blipFill>
          <a:blip r:embed="rId5"/>
          <a:stretch>
            <a:fillRect/>
          </a:stretch>
        </p:blipFill>
        <p:spPr>
          <a:xfrm>
            <a:off x="5693727" y="4193472"/>
            <a:ext cx="4051300" cy="520700"/>
          </a:xfrm>
          <a:prstGeom prst="rect">
            <a:avLst/>
          </a:prstGeom>
        </p:spPr>
      </p:pic>
      <p:pic>
        <p:nvPicPr>
          <p:cNvPr id="9" name="Picture 8">
            <a:extLst>
              <a:ext uri="{FF2B5EF4-FFF2-40B4-BE49-F238E27FC236}">
                <a16:creationId xmlns:a16="http://schemas.microsoft.com/office/drawing/2014/main" id="{3C4439EC-B67C-8748-A6B6-BC269B098FC6}"/>
              </a:ext>
            </a:extLst>
          </p:cNvPr>
          <p:cNvPicPr>
            <a:picLocks noChangeAspect="1"/>
          </p:cNvPicPr>
          <p:nvPr/>
        </p:nvPicPr>
        <p:blipFill>
          <a:blip r:embed="rId6"/>
          <a:stretch>
            <a:fillRect/>
          </a:stretch>
        </p:blipFill>
        <p:spPr>
          <a:xfrm>
            <a:off x="5800165" y="5692552"/>
            <a:ext cx="3229535" cy="472799"/>
          </a:xfrm>
          <a:prstGeom prst="rect">
            <a:avLst/>
          </a:prstGeom>
        </p:spPr>
      </p:pic>
      <p:graphicFrame>
        <p:nvGraphicFramePr>
          <p:cNvPr id="11" name="Table 10">
            <a:extLst>
              <a:ext uri="{FF2B5EF4-FFF2-40B4-BE49-F238E27FC236}">
                <a16:creationId xmlns:a16="http://schemas.microsoft.com/office/drawing/2014/main" id="{020C73DE-E4E2-1648-A90D-5B538A6BD99B}"/>
              </a:ext>
            </a:extLst>
          </p:cNvPr>
          <p:cNvGraphicFramePr>
            <a:graphicFrameLocks noGrp="1"/>
          </p:cNvGraphicFramePr>
          <p:nvPr>
            <p:extLst>
              <p:ext uri="{D42A27DB-BD31-4B8C-83A1-F6EECF244321}">
                <p14:modId xmlns:p14="http://schemas.microsoft.com/office/powerpoint/2010/main" val="1765422087"/>
              </p:ext>
            </p:extLst>
          </p:nvPr>
        </p:nvGraphicFramePr>
        <p:xfrm>
          <a:off x="1045632" y="1884018"/>
          <a:ext cx="4051300" cy="4059575"/>
        </p:xfrm>
        <a:graphic>
          <a:graphicData uri="http://schemas.openxmlformats.org/drawingml/2006/table">
            <a:tbl>
              <a:tblPr>
                <a:tableStyleId>{5C22544A-7EE6-4342-B048-85BDC9FD1C3A}</a:tableStyleId>
              </a:tblPr>
              <a:tblGrid>
                <a:gridCol w="1012825">
                  <a:extLst>
                    <a:ext uri="{9D8B030D-6E8A-4147-A177-3AD203B41FA5}">
                      <a16:colId xmlns:a16="http://schemas.microsoft.com/office/drawing/2014/main" val="1975902181"/>
                    </a:ext>
                  </a:extLst>
                </a:gridCol>
                <a:gridCol w="1012825">
                  <a:extLst>
                    <a:ext uri="{9D8B030D-6E8A-4147-A177-3AD203B41FA5}">
                      <a16:colId xmlns:a16="http://schemas.microsoft.com/office/drawing/2014/main" val="772134762"/>
                    </a:ext>
                  </a:extLst>
                </a:gridCol>
                <a:gridCol w="1012825">
                  <a:extLst>
                    <a:ext uri="{9D8B030D-6E8A-4147-A177-3AD203B41FA5}">
                      <a16:colId xmlns:a16="http://schemas.microsoft.com/office/drawing/2014/main" val="2751103831"/>
                    </a:ext>
                  </a:extLst>
                </a:gridCol>
                <a:gridCol w="1012825">
                  <a:extLst>
                    <a:ext uri="{9D8B030D-6E8A-4147-A177-3AD203B41FA5}">
                      <a16:colId xmlns:a16="http://schemas.microsoft.com/office/drawing/2014/main" val="99619145"/>
                    </a:ext>
                  </a:extLst>
                </a:gridCol>
              </a:tblGrid>
              <a:tr h="312275">
                <a:tc>
                  <a:txBody>
                    <a:bodyPr/>
                    <a:lstStyle/>
                    <a:p>
                      <a:pPr algn="ctr" fontAlgn="b"/>
                      <a:r>
                        <a:rPr lang="en-CA" sz="1400" b="1" u="none" strike="noStrike" dirty="0">
                          <a:effectLst/>
                        </a:rPr>
                        <a:t>Infection</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CRP(mg/L)</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Temp (C)</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Scores</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56326299"/>
                  </a:ext>
                </a:extLst>
              </a:tr>
              <a:tr h="312275">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40</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41.6</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11001621"/>
                  </a:ext>
                </a:extLst>
              </a:tr>
              <a:tr h="312275">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11.1</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37.2</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38.4</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72880202"/>
                  </a:ext>
                </a:extLst>
              </a:tr>
              <a:tr h="312275">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30</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36.5</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40.6</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83378657"/>
                  </a:ext>
                </a:extLst>
              </a:tr>
              <a:tr h="312275">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21.4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39.4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42.2</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12718414"/>
                  </a:ext>
                </a:extLst>
              </a:tr>
              <a:tr h="312275">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10.7</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39.6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40.8</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42192854"/>
                  </a:ext>
                </a:extLst>
              </a:tr>
              <a:tr h="312275">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40.7</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40.8</a:t>
                      </a:r>
                      <a:endParaRPr lang="en-CA" sz="14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62906449"/>
                  </a:ext>
                </a:extLst>
              </a:tr>
              <a:tr h="312275">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37.6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43.5</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12028795"/>
                  </a:ext>
                </a:extLst>
              </a:tr>
              <a:tr h="312275">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31.1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46.4</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7310041"/>
                  </a:ext>
                </a:extLst>
              </a:tr>
              <a:tr h="312275">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50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38.5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45.5</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36944638"/>
                  </a:ext>
                </a:extLst>
              </a:tr>
              <a:tr h="312275">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60.4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39.4</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48</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25245124"/>
                  </a:ext>
                </a:extLst>
              </a:tr>
              <a:tr h="312275">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45.7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38.6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45</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00131291"/>
                  </a:ext>
                </a:extLst>
              </a:tr>
              <a:tr h="312275">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17.3</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44.8</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78914726"/>
                  </a:ext>
                </a:extLst>
              </a:tr>
            </a:tbl>
          </a:graphicData>
        </a:graphic>
      </p:graphicFrame>
      <p:sp>
        <p:nvSpPr>
          <p:cNvPr id="18" name="TextBox 17">
            <a:extLst>
              <a:ext uri="{FF2B5EF4-FFF2-40B4-BE49-F238E27FC236}">
                <a16:creationId xmlns:a16="http://schemas.microsoft.com/office/drawing/2014/main" id="{E36DD35A-67F9-0345-B198-5286F69F98FC}"/>
              </a:ext>
            </a:extLst>
          </p:cNvPr>
          <p:cNvSpPr txBox="1"/>
          <p:nvPr/>
        </p:nvSpPr>
        <p:spPr>
          <a:xfrm>
            <a:off x="5693727" y="2502998"/>
            <a:ext cx="4650423" cy="369332"/>
          </a:xfrm>
          <a:prstGeom prst="rect">
            <a:avLst/>
          </a:prstGeom>
          <a:noFill/>
        </p:spPr>
        <p:txBody>
          <a:bodyPr wrap="square">
            <a:spAutoFit/>
          </a:bodyPr>
          <a:lstStyle/>
          <a:p>
            <a:r>
              <a:rPr lang="en-US" dirty="0"/>
              <a:t>The variance of the scores for the virus group</a:t>
            </a:r>
          </a:p>
        </p:txBody>
      </p:sp>
      <p:sp>
        <p:nvSpPr>
          <p:cNvPr id="23" name="TextBox 22">
            <a:extLst>
              <a:ext uri="{FF2B5EF4-FFF2-40B4-BE49-F238E27FC236}">
                <a16:creationId xmlns:a16="http://schemas.microsoft.com/office/drawing/2014/main" id="{EE0F5E06-129B-2842-86A3-2896FA87CDA8}"/>
              </a:ext>
            </a:extLst>
          </p:cNvPr>
          <p:cNvSpPr txBox="1"/>
          <p:nvPr/>
        </p:nvSpPr>
        <p:spPr>
          <a:xfrm>
            <a:off x="5693727" y="3468529"/>
            <a:ext cx="5164773" cy="649444"/>
          </a:xfrm>
          <a:prstGeom prst="rect">
            <a:avLst/>
          </a:prstGeom>
          <a:noFill/>
        </p:spPr>
        <p:txBody>
          <a:bodyPr wrap="square">
            <a:spAutoFit/>
          </a:bodyPr>
          <a:lstStyle/>
          <a:p>
            <a:endParaRPr lang="en-US" dirty="0"/>
          </a:p>
          <a:p>
            <a:r>
              <a:rPr lang="en-US" dirty="0"/>
              <a:t>The variance of the scores for the bacteria group</a:t>
            </a:r>
          </a:p>
        </p:txBody>
      </p:sp>
      <p:sp>
        <p:nvSpPr>
          <p:cNvPr id="15" name="TextBox 14">
            <a:extLst>
              <a:ext uri="{FF2B5EF4-FFF2-40B4-BE49-F238E27FC236}">
                <a16:creationId xmlns:a16="http://schemas.microsoft.com/office/drawing/2014/main" id="{0ABCDC0F-DBF0-8946-88B8-C055464E118D}"/>
              </a:ext>
            </a:extLst>
          </p:cNvPr>
          <p:cNvSpPr txBox="1"/>
          <p:nvPr/>
        </p:nvSpPr>
        <p:spPr>
          <a:xfrm>
            <a:off x="5693727" y="5186363"/>
            <a:ext cx="3712463" cy="369332"/>
          </a:xfrm>
          <a:prstGeom prst="rect">
            <a:avLst/>
          </a:prstGeom>
          <a:noFill/>
        </p:spPr>
        <p:txBody>
          <a:bodyPr wrap="square" rtlCol="0">
            <a:spAutoFit/>
          </a:bodyPr>
          <a:lstStyle/>
          <a:p>
            <a:r>
              <a:rPr lang="en-US" dirty="0"/>
              <a:t>The average of these variances </a:t>
            </a:r>
          </a:p>
        </p:txBody>
      </p:sp>
    </p:spTree>
    <p:extLst>
      <p:ext uri="{BB962C8B-B14F-4D97-AF65-F5344CB8AC3E}">
        <p14:creationId xmlns:p14="http://schemas.microsoft.com/office/powerpoint/2010/main" val="2204845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Normalize the weights</a:t>
            </a:r>
          </a:p>
        </p:txBody>
      </p:sp>
      <p:pic>
        <p:nvPicPr>
          <p:cNvPr id="9" name="Picture 8">
            <a:extLst>
              <a:ext uri="{FF2B5EF4-FFF2-40B4-BE49-F238E27FC236}">
                <a16:creationId xmlns:a16="http://schemas.microsoft.com/office/drawing/2014/main" id="{3C4439EC-B67C-8748-A6B6-BC269B098FC6}"/>
              </a:ext>
            </a:extLst>
          </p:cNvPr>
          <p:cNvPicPr>
            <a:picLocks noChangeAspect="1"/>
          </p:cNvPicPr>
          <p:nvPr/>
        </p:nvPicPr>
        <p:blipFill>
          <a:blip r:embed="rId3"/>
          <a:stretch>
            <a:fillRect/>
          </a:stretch>
        </p:blipFill>
        <p:spPr>
          <a:xfrm>
            <a:off x="6061903" y="2041388"/>
            <a:ext cx="3000080" cy="439207"/>
          </a:xfrm>
          <a:prstGeom prst="rect">
            <a:avLst/>
          </a:prstGeom>
        </p:spPr>
      </p:pic>
      <p:pic>
        <p:nvPicPr>
          <p:cNvPr id="5" name="Picture 4" descr="Shape, polygon&#10;&#10;Description automatically generated">
            <a:extLst>
              <a:ext uri="{FF2B5EF4-FFF2-40B4-BE49-F238E27FC236}">
                <a16:creationId xmlns:a16="http://schemas.microsoft.com/office/drawing/2014/main" id="{7030B6EF-63BA-8A49-ADB6-DF39EDB1B5E5}"/>
              </a:ext>
            </a:extLst>
          </p:cNvPr>
          <p:cNvPicPr>
            <a:picLocks noChangeAspect="1"/>
          </p:cNvPicPr>
          <p:nvPr/>
        </p:nvPicPr>
        <p:blipFill>
          <a:blip r:embed="rId4"/>
          <a:stretch>
            <a:fillRect/>
          </a:stretch>
        </p:blipFill>
        <p:spPr>
          <a:xfrm>
            <a:off x="5943600" y="3356010"/>
            <a:ext cx="4125965" cy="1216212"/>
          </a:xfrm>
          <a:prstGeom prst="rect">
            <a:avLst/>
          </a:prstGeom>
        </p:spPr>
      </p:pic>
      <p:pic>
        <p:nvPicPr>
          <p:cNvPr id="12" name="Picture 11">
            <a:extLst>
              <a:ext uri="{FF2B5EF4-FFF2-40B4-BE49-F238E27FC236}">
                <a16:creationId xmlns:a16="http://schemas.microsoft.com/office/drawing/2014/main" id="{7F306F72-0A58-EB42-B800-9CE3AEE3BAAD}"/>
              </a:ext>
            </a:extLst>
          </p:cNvPr>
          <p:cNvPicPr>
            <a:picLocks noChangeAspect="1"/>
          </p:cNvPicPr>
          <p:nvPr/>
        </p:nvPicPr>
        <p:blipFill>
          <a:blip r:embed="rId5"/>
          <a:stretch>
            <a:fillRect/>
          </a:stretch>
        </p:blipFill>
        <p:spPr>
          <a:xfrm>
            <a:off x="6061903" y="5472242"/>
            <a:ext cx="3943056" cy="399918"/>
          </a:xfrm>
          <a:prstGeom prst="rect">
            <a:avLst/>
          </a:prstGeom>
        </p:spPr>
      </p:pic>
      <p:sp>
        <p:nvSpPr>
          <p:cNvPr id="17" name="Down Arrow 16">
            <a:extLst>
              <a:ext uri="{FF2B5EF4-FFF2-40B4-BE49-F238E27FC236}">
                <a16:creationId xmlns:a16="http://schemas.microsoft.com/office/drawing/2014/main" id="{8BD510CD-CBA0-C64D-A044-331066DDEBB8}"/>
              </a:ext>
            </a:extLst>
          </p:cNvPr>
          <p:cNvSpPr/>
          <p:nvPr/>
        </p:nvSpPr>
        <p:spPr>
          <a:xfrm>
            <a:off x="7957231" y="4853893"/>
            <a:ext cx="152400" cy="3366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a16="http://schemas.microsoft.com/office/drawing/2014/main" id="{3440193C-6B94-9C4E-BB81-2B41FB125B88}"/>
              </a:ext>
            </a:extLst>
          </p:cNvPr>
          <p:cNvGraphicFramePr>
            <a:graphicFrameLocks noGrp="1"/>
          </p:cNvGraphicFramePr>
          <p:nvPr>
            <p:extLst>
              <p:ext uri="{D42A27DB-BD31-4B8C-83A1-F6EECF244321}">
                <p14:modId xmlns:p14="http://schemas.microsoft.com/office/powerpoint/2010/main" val="3952870301"/>
              </p:ext>
            </p:extLst>
          </p:nvPr>
        </p:nvGraphicFramePr>
        <p:xfrm>
          <a:off x="942975" y="2067346"/>
          <a:ext cx="4386265" cy="3804814"/>
        </p:xfrm>
        <a:graphic>
          <a:graphicData uri="http://schemas.openxmlformats.org/drawingml/2006/table">
            <a:tbl>
              <a:tblPr>
                <a:tableStyleId>{5C22544A-7EE6-4342-B048-85BDC9FD1C3A}</a:tableStyleId>
              </a:tblPr>
              <a:tblGrid>
                <a:gridCol w="877253">
                  <a:extLst>
                    <a:ext uri="{9D8B030D-6E8A-4147-A177-3AD203B41FA5}">
                      <a16:colId xmlns:a16="http://schemas.microsoft.com/office/drawing/2014/main" val="2742688325"/>
                    </a:ext>
                  </a:extLst>
                </a:gridCol>
                <a:gridCol w="877253">
                  <a:extLst>
                    <a:ext uri="{9D8B030D-6E8A-4147-A177-3AD203B41FA5}">
                      <a16:colId xmlns:a16="http://schemas.microsoft.com/office/drawing/2014/main" val="4065201474"/>
                    </a:ext>
                  </a:extLst>
                </a:gridCol>
                <a:gridCol w="877253">
                  <a:extLst>
                    <a:ext uri="{9D8B030D-6E8A-4147-A177-3AD203B41FA5}">
                      <a16:colId xmlns:a16="http://schemas.microsoft.com/office/drawing/2014/main" val="3774425251"/>
                    </a:ext>
                  </a:extLst>
                </a:gridCol>
                <a:gridCol w="877253">
                  <a:extLst>
                    <a:ext uri="{9D8B030D-6E8A-4147-A177-3AD203B41FA5}">
                      <a16:colId xmlns:a16="http://schemas.microsoft.com/office/drawing/2014/main" val="476854486"/>
                    </a:ext>
                  </a:extLst>
                </a:gridCol>
                <a:gridCol w="877253">
                  <a:extLst>
                    <a:ext uri="{9D8B030D-6E8A-4147-A177-3AD203B41FA5}">
                      <a16:colId xmlns:a16="http://schemas.microsoft.com/office/drawing/2014/main" val="2722052144"/>
                    </a:ext>
                  </a:extLst>
                </a:gridCol>
              </a:tblGrid>
              <a:tr h="292678">
                <a:tc>
                  <a:txBody>
                    <a:bodyPr/>
                    <a:lstStyle/>
                    <a:p>
                      <a:pPr algn="ctr" fontAlgn="b"/>
                      <a:r>
                        <a:rPr lang="en-CA" sz="1200" b="1"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Temp (C)</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Scores</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New Scores</a:t>
                      </a:r>
                      <a:endParaRPr lang="en-CA"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79694461"/>
                  </a:ext>
                </a:extLst>
              </a:tr>
              <a:tr h="292678">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36</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41.6</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29.5</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3561950"/>
                  </a:ext>
                </a:extLst>
              </a:tr>
              <a:tr h="292678">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11.1</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37.2</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38.4</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27.3</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53239534"/>
                  </a:ext>
                </a:extLst>
              </a:tr>
              <a:tr h="292678">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30</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36.5</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40.6</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28.8</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10353907"/>
                  </a:ext>
                </a:extLst>
              </a:tr>
              <a:tr h="292678">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21.4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39.4</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42.2</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29.9</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63648292"/>
                  </a:ext>
                </a:extLst>
              </a:tr>
              <a:tr h="292678">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10.7</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39.6</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40.8</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28.9</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57414396"/>
                  </a:ext>
                </a:extLst>
              </a:tr>
              <a:tr h="292678">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40.7</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40.8</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28.9</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78670044"/>
                  </a:ext>
                </a:extLst>
              </a:tr>
              <a:tr h="292678">
                <a:tc>
                  <a:txBody>
                    <a:bodyPr/>
                    <a:lstStyle/>
                    <a:p>
                      <a:pPr algn="ctr" fontAlgn="b"/>
                      <a:r>
                        <a:rPr lang="en-CA" sz="1200" u="none" strike="noStrike" dirty="0">
                          <a:effectLst/>
                        </a:rPr>
                        <a:t>Bacterial</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43.5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30.8</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65490766"/>
                  </a:ext>
                </a:extLst>
              </a:tr>
              <a:tr h="292678">
                <a:tc>
                  <a:txBody>
                    <a:bodyPr/>
                    <a:lstStyle/>
                    <a:p>
                      <a:pPr algn="ctr" fontAlgn="b"/>
                      <a:r>
                        <a:rPr lang="en-CA" sz="1200" u="none" strike="noStrike" dirty="0">
                          <a:effectLst/>
                        </a:rPr>
                        <a:t>Bacterial</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31.1</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46.4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32.9</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87616751"/>
                  </a:ext>
                </a:extLst>
              </a:tr>
              <a:tr h="292678">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32.3</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65156706"/>
                  </a:ext>
                </a:extLst>
              </a:tr>
              <a:tr h="292678">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39.4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48</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34</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53354922"/>
                  </a:ext>
                </a:extLst>
              </a:tr>
              <a:tr h="292678">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31.9</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99300291"/>
                  </a:ext>
                </a:extLst>
              </a:tr>
              <a:tr h="292678">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44.8</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31.8</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02601725"/>
                  </a:ext>
                </a:extLst>
              </a:tr>
            </a:tbl>
          </a:graphicData>
        </a:graphic>
      </p:graphicFrame>
    </p:spTree>
    <p:extLst>
      <p:ext uri="{BB962C8B-B14F-4D97-AF65-F5344CB8AC3E}">
        <p14:creationId xmlns:p14="http://schemas.microsoft.com/office/powerpoint/2010/main" val="3301055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Normalize the weights</a:t>
            </a:r>
          </a:p>
        </p:txBody>
      </p:sp>
      <p:graphicFrame>
        <p:nvGraphicFramePr>
          <p:cNvPr id="13" name="Table 12">
            <a:extLst>
              <a:ext uri="{FF2B5EF4-FFF2-40B4-BE49-F238E27FC236}">
                <a16:creationId xmlns:a16="http://schemas.microsoft.com/office/drawing/2014/main" id="{3440193C-6B94-9C4E-BB81-2B41FB125B88}"/>
              </a:ext>
            </a:extLst>
          </p:cNvPr>
          <p:cNvGraphicFramePr>
            <a:graphicFrameLocks noGrp="1"/>
          </p:cNvGraphicFramePr>
          <p:nvPr>
            <p:extLst>
              <p:ext uri="{D42A27DB-BD31-4B8C-83A1-F6EECF244321}">
                <p14:modId xmlns:p14="http://schemas.microsoft.com/office/powerpoint/2010/main" val="3970106134"/>
              </p:ext>
            </p:extLst>
          </p:nvPr>
        </p:nvGraphicFramePr>
        <p:xfrm>
          <a:off x="914401" y="1801349"/>
          <a:ext cx="4414840" cy="4070807"/>
        </p:xfrm>
        <a:graphic>
          <a:graphicData uri="http://schemas.openxmlformats.org/drawingml/2006/table">
            <a:tbl>
              <a:tblPr>
                <a:tableStyleId>{5C22544A-7EE6-4342-B048-85BDC9FD1C3A}</a:tableStyleId>
              </a:tblPr>
              <a:tblGrid>
                <a:gridCol w="882968">
                  <a:extLst>
                    <a:ext uri="{9D8B030D-6E8A-4147-A177-3AD203B41FA5}">
                      <a16:colId xmlns:a16="http://schemas.microsoft.com/office/drawing/2014/main" val="2742688325"/>
                    </a:ext>
                  </a:extLst>
                </a:gridCol>
                <a:gridCol w="882968">
                  <a:extLst>
                    <a:ext uri="{9D8B030D-6E8A-4147-A177-3AD203B41FA5}">
                      <a16:colId xmlns:a16="http://schemas.microsoft.com/office/drawing/2014/main" val="4065201474"/>
                    </a:ext>
                  </a:extLst>
                </a:gridCol>
                <a:gridCol w="882968">
                  <a:extLst>
                    <a:ext uri="{9D8B030D-6E8A-4147-A177-3AD203B41FA5}">
                      <a16:colId xmlns:a16="http://schemas.microsoft.com/office/drawing/2014/main" val="3774425251"/>
                    </a:ext>
                  </a:extLst>
                </a:gridCol>
                <a:gridCol w="882968">
                  <a:extLst>
                    <a:ext uri="{9D8B030D-6E8A-4147-A177-3AD203B41FA5}">
                      <a16:colId xmlns:a16="http://schemas.microsoft.com/office/drawing/2014/main" val="476854486"/>
                    </a:ext>
                  </a:extLst>
                </a:gridCol>
                <a:gridCol w="882968">
                  <a:extLst>
                    <a:ext uri="{9D8B030D-6E8A-4147-A177-3AD203B41FA5}">
                      <a16:colId xmlns:a16="http://schemas.microsoft.com/office/drawing/2014/main" val="2722052144"/>
                    </a:ext>
                  </a:extLst>
                </a:gridCol>
              </a:tblGrid>
              <a:tr h="313139">
                <a:tc>
                  <a:txBody>
                    <a:bodyPr/>
                    <a:lstStyle/>
                    <a:p>
                      <a:pPr algn="ctr" fontAlgn="b"/>
                      <a:r>
                        <a:rPr lang="en-CA" sz="1200" b="1"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Temp (C)</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Scores</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New Scores</a:t>
                      </a:r>
                      <a:endParaRPr lang="en-CA"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79694461"/>
                  </a:ext>
                </a:extLst>
              </a:tr>
              <a:tr h="313139">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36</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41.6</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29.5</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3561950"/>
                  </a:ext>
                </a:extLst>
              </a:tr>
              <a:tr h="313139">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11.1</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37.2</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38.4</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27.3</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53239534"/>
                  </a:ext>
                </a:extLst>
              </a:tr>
              <a:tr h="313139">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30</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36.5</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40.6</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28.8</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10353907"/>
                  </a:ext>
                </a:extLst>
              </a:tr>
              <a:tr h="313139">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21.4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39.4</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42.2</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29.9</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63648292"/>
                  </a:ext>
                </a:extLst>
              </a:tr>
              <a:tr h="313139">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10.7</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39.6</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40.8</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28.9</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57414396"/>
                  </a:ext>
                </a:extLst>
              </a:tr>
              <a:tr h="313139">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40.7</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40.8</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28.9</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78670044"/>
                  </a:ext>
                </a:extLst>
              </a:tr>
              <a:tr h="313139">
                <a:tc>
                  <a:txBody>
                    <a:bodyPr/>
                    <a:lstStyle/>
                    <a:p>
                      <a:pPr algn="ctr" fontAlgn="b"/>
                      <a:r>
                        <a:rPr lang="en-CA" sz="1200" u="none" strike="noStrike" dirty="0">
                          <a:effectLst/>
                        </a:rPr>
                        <a:t>Bacterial</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43.5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30.8</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65490766"/>
                  </a:ext>
                </a:extLst>
              </a:tr>
              <a:tr h="313139">
                <a:tc>
                  <a:txBody>
                    <a:bodyPr/>
                    <a:lstStyle/>
                    <a:p>
                      <a:pPr algn="ctr" fontAlgn="b"/>
                      <a:r>
                        <a:rPr lang="en-CA" sz="1200" u="none" strike="noStrike" dirty="0">
                          <a:effectLst/>
                        </a:rPr>
                        <a:t>Bacterial</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31.1</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46.4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32.9</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87616751"/>
                  </a:ext>
                </a:extLst>
              </a:tr>
              <a:tr h="313139">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32.3</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65156706"/>
                  </a:ext>
                </a:extLst>
              </a:tr>
              <a:tr h="313139">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39.4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48</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34</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53354922"/>
                  </a:ext>
                </a:extLst>
              </a:tr>
              <a:tr h="313139">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31.9</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99300291"/>
                  </a:ext>
                </a:extLst>
              </a:tr>
              <a:tr h="313139">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44.8</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31.8</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02601725"/>
                  </a:ext>
                </a:extLst>
              </a:tr>
            </a:tbl>
          </a:graphicData>
        </a:graphic>
      </p:graphicFrame>
      <p:sp>
        <p:nvSpPr>
          <p:cNvPr id="16" name="TextBox 15">
            <a:extLst>
              <a:ext uri="{FF2B5EF4-FFF2-40B4-BE49-F238E27FC236}">
                <a16:creationId xmlns:a16="http://schemas.microsoft.com/office/drawing/2014/main" id="{835B06F6-B35E-8A4C-BFD7-DC4F15C01B5D}"/>
              </a:ext>
            </a:extLst>
          </p:cNvPr>
          <p:cNvSpPr txBox="1"/>
          <p:nvPr/>
        </p:nvSpPr>
        <p:spPr>
          <a:xfrm>
            <a:off x="5693727" y="2502998"/>
            <a:ext cx="5021898" cy="369332"/>
          </a:xfrm>
          <a:prstGeom prst="rect">
            <a:avLst/>
          </a:prstGeom>
          <a:noFill/>
        </p:spPr>
        <p:txBody>
          <a:bodyPr wrap="square">
            <a:spAutoFit/>
          </a:bodyPr>
          <a:lstStyle/>
          <a:p>
            <a:r>
              <a:rPr lang="en-US" dirty="0"/>
              <a:t>The variance of the new scores for the virus group</a:t>
            </a:r>
          </a:p>
        </p:txBody>
      </p:sp>
      <p:sp>
        <p:nvSpPr>
          <p:cNvPr id="18" name="TextBox 17">
            <a:extLst>
              <a:ext uri="{FF2B5EF4-FFF2-40B4-BE49-F238E27FC236}">
                <a16:creationId xmlns:a16="http://schemas.microsoft.com/office/drawing/2014/main" id="{6153ABB7-E495-5045-8260-13E716E4EC93}"/>
              </a:ext>
            </a:extLst>
          </p:cNvPr>
          <p:cNvSpPr txBox="1"/>
          <p:nvPr/>
        </p:nvSpPr>
        <p:spPr>
          <a:xfrm>
            <a:off x="5801971" y="4981846"/>
            <a:ext cx="3604219" cy="369332"/>
          </a:xfrm>
          <a:prstGeom prst="rect">
            <a:avLst/>
          </a:prstGeom>
          <a:noFill/>
        </p:spPr>
        <p:txBody>
          <a:bodyPr wrap="square" rtlCol="0">
            <a:spAutoFit/>
          </a:bodyPr>
          <a:lstStyle/>
          <a:p>
            <a:r>
              <a:rPr lang="en-US" dirty="0"/>
              <a:t>The pooled variances </a:t>
            </a:r>
          </a:p>
        </p:txBody>
      </p:sp>
      <p:pic>
        <p:nvPicPr>
          <p:cNvPr id="19" name="Picture 18">
            <a:extLst>
              <a:ext uri="{FF2B5EF4-FFF2-40B4-BE49-F238E27FC236}">
                <a16:creationId xmlns:a16="http://schemas.microsoft.com/office/drawing/2014/main" id="{9DC6C3C6-5D46-1E42-8542-C93F59332BE0}"/>
              </a:ext>
            </a:extLst>
          </p:cNvPr>
          <p:cNvPicPr>
            <a:picLocks noChangeAspect="1"/>
          </p:cNvPicPr>
          <p:nvPr/>
        </p:nvPicPr>
        <p:blipFill>
          <a:blip r:embed="rId3"/>
          <a:stretch>
            <a:fillRect/>
          </a:stretch>
        </p:blipFill>
        <p:spPr>
          <a:xfrm>
            <a:off x="6233148" y="1801349"/>
            <a:ext cx="3943056" cy="399918"/>
          </a:xfrm>
          <a:prstGeom prst="rect">
            <a:avLst/>
          </a:prstGeom>
        </p:spPr>
      </p:pic>
      <p:sp>
        <p:nvSpPr>
          <p:cNvPr id="20" name="TextBox 19">
            <a:extLst>
              <a:ext uri="{FF2B5EF4-FFF2-40B4-BE49-F238E27FC236}">
                <a16:creationId xmlns:a16="http://schemas.microsoft.com/office/drawing/2014/main" id="{D9FB87B7-60DE-0A45-AF52-3F02D4AF80C4}"/>
              </a:ext>
            </a:extLst>
          </p:cNvPr>
          <p:cNvSpPr txBox="1"/>
          <p:nvPr/>
        </p:nvSpPr>
        <p:spPr>
          <a:xfrm>
            <a:off x="5693727" y="3429000"/>
            <a:ext cx="5273993" cy="646331"/>
          </a:xfrm>
          <a:prstGeom prst="rect">
            <a:avLst/>
          </a:prstGeom>
          <a:noFill/>
        </p:spPr>
        <p:txBody>
          <a:bodyPr wrap="square">
            <a:spAutoFit/>
          </a:bodyPr>
          <a:lstStyle/>
          <a:p>
            <a:endParaRPr lang="en-US" dirty="0"/>
          </a:p>
          <a:p>
            <a:r>
              <a:rPr lang="en-US" dirty="0"/>
              <a:t>The variance of the new scores for the bacteria group</a:t>
            </a:r>
          </a:p>
        </p:txBody>
      </p:sp>
      <p:pic>
        <p:nvPicPr>
          <p:cNvPr id="6" name="Picture 5" descr="Text&#10;&#10;Description automatically generated">
            <a:extLst>
              <a:ext uri="{FF2B5EF4-FFF2-40B4-BE49-F238E27FC236}">
                <a16:creationId xmlns:a16="http://schemas.microsoft.com/office/drawing/2014/main" id="{DCD0737B-10B5-934A-8261-A36C376D2B45}"/>
              </a:ext>
            </a:extLst>
          </p:cNvPr>
          <p:cNvPicPr>
            <a:picLocks noChangeAspect="1"/>
          </p:cNvPicPr>
          <p:nvPr/>
        </p:nvPicPr>
        <p:blipFill>
          <a:blip r:embed="rId4"/>
          <a:stretch>
            <a:fillRect/>
          </a:stretch>
        </p:blipFill>
        <p:spPr>
          <a:xfrm>
            <a:off x="5721158" y="2881210"/>
            <a:ext cx="3657600" cy="609600"/>
          </a:xfrm>
          <a:prstGeom prst="rect">
            <a:avLst/>
          </a:prstGeom>
        </p:spPr>
      </p:pic>
      <p:pic>
        <p:nvPicPr>
          <p:cNvPr id="21" name="Picture 20" descr="Text&#10;&#10;Description automatically generated with medium confidence">
            <a:extLst>
              <a:ext uri="{FF2B5EF4-FFF2-40B4-BE49-F238E27FC236}">
                <a16:creationId xmlns:a16="http://schemas.microsoft.com/office/drawing/2014/main" id="{E63F98D0-747B-1340-96FF-DCF93C9EB03A}"/>
              </a:ext>
            </a:extLst>
          </p:cNvPr>
          <p:cNvPicPr>
            <a:picLocks noChangeAspect="1"/>
          </p:cNvPicPr>
          <p:nvPr/>
        </p:nvPicPr>
        <p:blipFill>
          <a:blip r:embed="rId5"/>
          <a:stretch>
            <a:fillRect/>
          </a:stretch>
        </p:blipFill>
        <p:spPr>
          <a:xfrm>
            <a:off x="5721158" y="4132881"/>
            <a:ext cx="3949700" cy="622300"/>
          </a:xfrm>
          <a:prstGeom prst="rect">
            <a:avLst/>
          </a:prstGeom>
        </p:spPr>
      </p:pic>
      <p:pic>
        <p:nvPicPr>
          <p:cNvPr id="23" name="Picture 22" descr="A picture containing text&#10;&#10;Description automatically generated">
            <a:extLst>
              <a:ext uri="{FF2B5EF4-FFF2-40B4-BE49-F238E27FC236}">
                <a16:creationId xmlns:a16="http://schemas.microsoft.com/office/drawing/2014/main" id="{27BE52BB-3A66-0B4F-AD21-FA5ED0D9F6A0}"/>
              </a:ext>
            </a:extLst>
          </p:cNvPr>
          <p:cNvPicPr>
            <a:picLocks noChangeAspect="1"/>
          </p:cNvPicPr>
          <p:nvPr/>
        </p:nvPicPr>
        <p:blipFill>
          <a:blip r:embed="rId6"/>
          <a:stretch>
            <a:fillRect/>
          </a:stretch>
        </p:blipFill>
        <p:spPr>
          <a:xfrm>
            <a:off x="5721158" y="5489011"/>
            <a:ext cx="3225800" cy="419100"/>
          </a:xfrm>
          <a:prstGeom prst="rect">
            <a:avLst/>
          </a:prstGeom>
        </p:spPr>
      </p:pic>
    </p:spTree>
    <p:extLst>
      <p:ext uri="{BB962C8B-B14F-4D97-AF65-F5344CB8AC3E}">
        <p14:creationId xmlns:p14="http://schemas.microsoft.com/office/powerpoint/2010/main" val="3399621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a:bodyPr>
          <a:lstStyle/>
          <a:p>
            <a:pPr algn="ctr"/>
            <a:r>
              <a:rPr lang="en-US" dirty="0"/>
              <a:t>Centered scores</a:t>
            </a:r>
          </a:p>
        </p:txBody>
      </p:sp>
      <p:graphicFrame>
        <p:nvGraphicFramePr>
          <p:cNvPr id="3" name="Table 2">
            <a:extLst>
              <a:ext uri="{FF2B5EF4-FFF2-40B4-BE49-F238E27FC236}">
                <a16:creationId xmlns:a16="http://schemas.microsoft.com/office/drawing/2014/main" id="{FFB58B20-56E4-5E40-AD42-C204A1E50FE7}"/>
              </a:ext>
            </a:extLst>
          </p:cNvPr>
          <p:cNvGraphicFramePr>
            <a:graphicFrameLocks noGrp="1"/>
          </p:cNvGraphicFramePr>
          <p:nvPr>
            <p:extLst>
              <p:ext uri="{D42A27DB-BD31-4B8C-83A1-F6EECF244321}">
                <p14:modId xmlns:p14="http://schemas.microsoft.com/office/powerpoint/2010/main" val="3236992437"/>
              </p:ext>
            </p:extLst>
          </p:nvPr>
        </p:nvGraphicFramePr>
        <p:xfrm>
          <a:off x="628651" y="1734300"/>
          <a:ext cx="4657723" cy="4253697"/>
        </p:xfrm>
        <a:graphic>
          <a:graphicData uri="http://schemas.openxmlformats.org/drawingml/2006/table">
            <a:tbl>
              <a:tblPr>
                <a:tableStyleId>{5C22544A-7EE6-4342-B048-85BDC9FD1C3A}</a:tableStyleId>
              </a:tblPr>
              <a:tblGrid>
                <a:gridCol w="854125">
                  <a:extLst>
                    <a:ext uri="{9D8B030D-6E8A-4147-A177-3AD203B41FA5}">
                      <a16:colId xmlns:a16="http://schemas.microsoft.com/office/drawing/2014/main" val="3813560895"/>
                    </a:ext>
                  </a:extLst>
                </a:gridCol>
                <a:gridCol w="725686">
                  <a:extLst>
                    <a:ext uri="{9D8B030D-6E8A-4147-A177-3AD203B41FA5}">
                      <a16:colId xmlns:a16="http://schemas.microsoft.com/office/drawing/2014/main" val="90757709"/>
                    </a:ext>
                  </a:extLst>
                </a:gridCol>
                <a:gridCol w="725686">
                  <a:extLst>
                    <a:ext uri="{9D8B030D-6E8A-4147-A177-3AD203B41FA5}">
                      <a16:colId xmlns:a16="http://schemas.microsoft.com/office/drawing/2014/main" val="575475158"/>
                    </a:ext>
                  </a:extLst>
                </a:gridCol>
                <a:gridCol w="725686">
                  <a:extLst>
                    <a:ext uri="{9D8B030D-6E8A-4147-A177-3AD203B41FA5}">
                      <a16:colId xmlns:a16="http://schemas.microsoft.com/office/drawing/2014/main" val="2678563778"/>
                    </a:ext>
                  </a:extLst>
                </a:gridCol>
                <a:gridCol w="725686">
                  <a:extLst>
                    <a:ext uri="{9D8B030D-6E8A-4147-A177-3AD203B41FA5}">
                      <a16:colId xmlns:a16="http://schemas.microsoft.com/office/drawing/2014/main" val="2808924541"/>
                    </a:ext>
                  </a:extLst>
                </a:gridCol>
                <a:gridCol w="900854">
                  <a:extLst>
                    <a:ext uri="{9D8B030D-6E8A-4147-A177-3AD203B41FA5}">
                      <a16:colId xmlns:a16="http://schemas.microsoft.com/office/drawing/2014/main" val="2144642811"/>
                    </a:ext>
                  </a:extLst>
                </a:gridCol>
              </a:tblGrid>
              <a:tr h="434715">
                <a:tc>
                  <a:txBody>
                    <a:bodyPr/>
                    <a:lstStyle/>
                    <a:p>
                      <a:pPr algn="ctr" fontAlgn="b"/>
                      <a:r>
                        <a:rPr lang="en-CA" sz="1400" b="1" u="none" strike="noStrike">
                          <a:effectLst/>
                        </a:rPr>
                        <a:t>Infection</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CRP</a:t>
                      </a:r>
                    </a:p>
                    <a:p>
                      <a:pPr algn="ctr" fontAlgn="b"/>
                      <a:r>
                        <a:rPr lang="en-CA" sz="1400" b="1" u="none" strike="noStrike" dirty="0">
                          <a:effectLst/>
                        </a:rPr>
                        <a:t>(mg/L)</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Temp (C)</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Scores</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New Scores</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Center scores</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69306386"/>
                  </a:ext>
                </a:extLst>
              </a:tr>
              <a:tr h="31812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41.6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29.5</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-1.1</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65232255"/>
                  </a:ext>
                </a:extLst>
              </a:tr>
              <a:tr h="31812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11.1</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37.2</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38.4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27.3</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-3.3</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1638268"/>
                  </a:ext>
                </a:extLst>
              </a:tr>
              <a:tr h="31812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30</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36.5</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28.8</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-1.8</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52767247"/>
                  </a:ext>
                </a:extLst>
              </a:tr>
              <a:tr h="31812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21.4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39.4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42.2</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29.9</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-0.7</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23963299"/>
                  </a:ext>
                </a:extLst>
              </a:tr>
              <a:tr h="31812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10.7</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39.6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40.8</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28.9</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-1.7</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64924476"/>
                  </a:ext>
                </a:extLst>
              </a:tr>
              <a:tr h="318121">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40.7</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40.8</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28.9</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-1.7</a:t>
                      </a:r>
                      <a:endParaRPr lang="en-CA" sz="14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28939903"/>
                  </a:ext>
                </a:extLst>
              </a:tr>
              <a:tr h="31812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37.6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43.5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30.8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0.2</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39747079"/>
                  </a:ext>
                </a:extLst>
              </a:tr>
              <a:tr h="31812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31.1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46.4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32.9</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2.3</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64812821"/>
                  </a:ext>
                </a:extLst>
              </a:tr>
              <a:tr h="31812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50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38.5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45.5</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32.3</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1.7</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24945014"/>
                  </a:ext>
                </a:extLst>
              </a:tr>
              <a:tr h="31812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60.4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39.4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3.5</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50518022"/>
                  </a:ext>
                </a:extLst>
              </a:tr>
              <a:tr h="31812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45.7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38.6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31.9</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1.3</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92526589"/>
                  </a:ext>
                </a:extLst>
              </a:tr>
              <a:tr h="318121">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17.3</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44.8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31.8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67210003"/>
                  </a:ext>
                </a:extLst>
              </a:tr>
            </a:tbl>
          </a:graphicData>
        </a:graphic>
      </p:graphicFrame>
      <p:pic>
        <p:nvPicPr>
          <p:cNvPr id="5" name="Picture 4">
            <a:extLst>
              <a:ext uri="{FF2B5EF4-FFF2-40B4-BE49-F238E27FC236}">
                <a16:creationId xmlns:a16="http://schemas.microsoft.com/office/drawing/2014/main" id="{FF8E83F8-2907-CA4C-8305-4A095AE4FB1F}"/>
              </a:ext>
            </a:extLst>
          </p:cNvPr>
          <p:cNvPicPr>
            <a:picLocks noChangeAspect="1"/>
          </p:cNvPicPr>
          <p:nvPr/>
        </p:nvPicPr>
        <p:blipFill>
          <a:blip r:embed="rId3"/>
          <a:stretch>
            <a:fillRect/>
          </a:stretch>
        </p:blipFill>
        <p:spPr>
          <a:xfrm>
            <a:off x="5519640" y="2520111"/>
            <a:ext cx="6180014" cy="537392"/>
          </a:xfrm>
          <a:prstGeom prst="rect">
            <a:avLst/>
          </a:prstGeom>
        </p:spPr>
      </p:pic>
      <p:sp>
        <p:nvSpPr>
          <p:cNvPr id="7" name="TextBox 6">
            <a:extLst>
              <a:ext uri="{FF2B5EF4-FFF2-40B4-BE49-F238E27FC236}">
                <a16:creationId xmlns:a16="http://schemas.microsoft.com/office/drawing/2014/main" id="{4D623946-58D0-8C47-B96C-1BA94145939D}"/>
              </a:ext>
            </a:extLst>
          </p:cNvPr>
          <p:cNvSpPr txBox="1"/>
          <p:nvPr/>
        </p:nvSpPr>
        <p:spPr>
          <a:xfrm>
            <a:off x="5704713" y="1746465"/>
            <a:ext cx="5858636" cy="369332"/>
          </a:xfrm>
          <a:prstGeom prst="rect">
            <a:avLst/>
          </a:prstGeom>
          <a:noFill/>
        </p:spPr>
        <p:txBody>
          <a:bodyPr wrap="square" rtlCol="0">
            <a:spAutoFit/>
          </a:bodyPr>
          <a:lstStyle/>
          <a:p>
            <a:pPr algn="ctr"/>
            <a:r>
              <a:rPr lang="en-US" dirty="0"/>
              <a:t>Using this equation to have the center scores</a:t>
            </a:r>
          </a:p>
        </p:txBody>
      </p:sp>
    </p:spTree>
    <p:extLst>
      <p:ext uri="{BB962C8B-B14F-4D97-AF65-F5344CB8AC3E}">
        <p14:creationId xmlns:p14="http://schemas.microsoft.com/office/powerpoint/2010/main" val="1610376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fontScale="90000"/>
          </a:bodyPr>
          <a:lstStyle/>
          <a:p>
            <a:pPr algn="ctr"/>
            <a:r>
              <a:rPr lang="en-US" dirty="0"/>
              <a:t>Standardized discriminant function coefficients</a:t>
            </a:r>
          </a:p>
        </p:txBody>
      </p:sp>
      <p:pic>
        <p:nvPicPr>
          <p:cNvPr id="6" name="Picture 5" descr="Diagram&#10;&#10;Description automatically generated with medium confidence">
            <a:extLst>
              <a:ext uri="{FF2B5EF4-FFF2-40B4-BE49-F238E27FC236}">
                <a16:creationId xmlns:a16="http://schemas.microsoft.com/office/drawing/2014/main" id="{77478694-F4E0-B24E-9E5E-DA10D935A3C8}"/>
              </a:ext>
            </a:extLst>
          </p:cNvPr>
          <p:cNvPicPr>
            <a:picLocks noChangeAspect="1"/>
          </p:cNvPicPr>
          <p:nvPr/>
        </p:nvPicPr>
        <p:blipFill>
          <a:blip r:embed="rId3"/>
          <a:stretch>
            <a:fillRect/>
          </a:stretch>
        </p:blipFill>
        <p:spPr>
          <a:xfrm>
            <a:off x="8924291" y="2848754"/>
            <a:ext cx="2971800" cy="1371600"/>
          </a:xfrm>
          <a:prstGeom prst="rect">
            <a:avLst/>
          </a:prstGeom>
        </p:spPr>
      </p:pic>
      <p:pic>
        <p:nvPicPr>
          <p:cNvPr id="11" name="Picture 10" descr="Diagram&#10;&#10;Description automatically generated with medium confidence">
            <a:extLst>
              <a:ext uri="{FF2B5EF4-FFF2-40B4-BE49-F238E27FC236}">
                <a16:creationId xmlns:a16="http://schemas.microsoft.com/office/drawing/2014/main" id="{EF28916E-4EE5-5D43-88A8-27B577257DEA}"/>
              </a:ext>
            </a:extLst>
          </p:cNvPr>
          <p:cNvPicPr>
            <a:picLocks noChangeAspect="1"/>
          </p:cNvPicPr>
          <p:nvPr/>
        </p:nvPicPr>
        <p:blipFill>
          <a:blip r:embed="rId4"/>
          <a:stretch>
            <a:fillRect/>
          </a:stretch>
        </p:blipFill>
        <p:spPr>
          <a:xfrm>
            <a:off x="8660766" y="1486145"/>
            <a:ext cx="2755900" cy="1206500"/>
          </a:xfrm>
          <a:prstGeom prst="rect">
            <a:avLst/>
          </a:prstGeom>
        </p:spPr>
      </p:pic>
      <p:graphicFrame>
        <p:nvGraphicFramePr>
          <p:cNvPr id="12" name="Table 11">
            <a:extLst>
              <a:ext uri="{FF2B5EF4-FFF2-40B4-BE49-F238E27FC236}">
                <a16:creationId xmlns:a16="http://schemas.microsoft.com/office/drawing/2014/main" id="{99B88F39-6A01-F647-A459-B20839B7B894}"/>
              </a:ext>
            </a:extLst>
          </p:cNvPr>
          <p:cNvGraphicFramePr>
            <a:graphicFrameLocks noGrp="1"/>
          </p:cNvGraphicFramePr>
          <p:nvPr>
            <p:extLst>
              <p:ext uri="{D42A27DB-BD31-4B8C-83A1-F6EECF244321}">
                <p14:modId xmlns:p14="http://schemas.microsoft.com/office/powerpoint/2010/main" val="2720763346"/>
              </p:ext>
            </p:extLst>
          </p:nvPr>
        </p:nvGraphicFramePr>
        <p:xfrm>
          <a:off x="528639" y="1546717"/>
          <a:ext cx="4781355" cy="3954953"/>
        </p:xfrm>
        <a:graphic>
          <a:graphicData uri="http://schemas.openxmlformats.org/drawingml/2006/table">
            <a:tbl>
              <a:tblPr>
                <a:tableStyleId>{5C22544A-7EE6-4342-B048-85BDC9FD1C3A}</a:tableStyleId>
              </a:tblPr>
              <a:tblGrid>
                <a:gridCol w="956271">
                  <a:extLst>
                    <a:ext uri="{9D8B030D-6E8A-4147-A177-3AD203B41FA5}">
                      <a16:colId xmlns:a16="http://schemas.microsoft.com/office/drawing/2014/main" val="1844960515"/>
                    </a:ext>
                  </a:extLst>
                </a:gridCol>
                <a:gridCol w="956271">
                  <a:extLst>
                    <a:ext uri="{9D8B030D-6E8A-4147-A177-3AD203B41FA5}">
                      <a16:colId xmlns:a16="http://schemas.microsoft.com/office/drawing/2014/main" val="2207722105"/>
                    </a:ext>
                  </a:extLst>
                </a:gridCol>
                <a:gridCol w="956271">
                  <a:extLst>
                    <a:ext uri="{9D8B030D-6E8A-4147-A177-3AD203B41FA5}">
                      <a16:colId xmlns:a16="http://schemas.microsoft.com/office/drawing/2014/main" val="2073823929"/>
                    </a:ext>
                  </a:extLst>
                </a:gridCol>
                <a:gridCol w="956271">
                  <a:extLst>
                    <a:ext uri="{9D8B030D-6E8A-4147-A177-3AD203B41FA5}">
                      <a16:colId xmlns:a16="http://schemas.microsoft.com/office/drawing/2014/main" val="1411309323"/>
                    </a:ext>
                  </a:extLst>
                </a:gridCol>
                <a:gridCol w="956271">
                  <a:extLst>
                    <a:ext uri="{9D8B030D-6E8A-4147-A177-3AD203B41FA5}">
                      <a16:colId xmlns:a16="http://schemas.microsoft.com/office/drawing/2014/main" val="2277603756"/>
                    </a:ext>
                  </a:extLst>
                </a:gridCol>
              </a:tblGrid>
              <a:tr h="245513">
                <a:tc>
                  <a:txBody>
                    <a:bodyPr/>
                    <a:lstStyle/>
                    <a:p>
                      <a:pPr algn="ctr" fontAlgn="b"/>
                      <a:r>
                        <a:rPr lang="en-CA" sz="1400" b="1" u="none" strike="noStrike">
                          <a:effectLst/>
                        </a:rPr>
                        <a:t>Infection</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CRP(mg/L)</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Temp (C)</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Z CRP</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Z Temp</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96963544"/>
                  </a:ext>
                </a:extLst>
              </a:tr>
              <a:tr h="309120">
                <a:tc>
                  <a:txBody>
                    <a:bodyPr/>
                    <a:lstStyle/>
                    <a:p>
                      <a:pPr algn="ctr" fontAlgn="b"/>
                      <a:r>
                        <a:rPr lang="en-CA" sz="1400" u="none" strike="noStrike" dirty="0">
                          <a:solidFill>
                            <a:srgbClr val="0070C0"/>
                          </a:solidFill>
                          <a:effectLst/>
                        </a:rPr>
                        <a:t>Viral</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0.7</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-1.5</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41848391"/>
                  </a:ext>
                </a:extLst>
              </a:tr>
              <a:tr h="309120">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11.1</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37.2</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-1.3</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-0.9</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99899076"/>
                  </a:ext>
                </a:extLst>
              </a:tr>
              <a:tr h="309120">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30</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36.5</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-1.3</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35277071"/>
                  </a:ext>
                </a:extLst>
              </a:tr>
              <a:tr h="309120">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21.4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39.4</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0.2</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91061151"/>
                  </a:ext>
                </a:extLst>
              </a:tr>
              <a:tr h="309120">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10.7</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39.6</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-1.4</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0.3</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50869102"/>
                  </a:ext>
                </a:extLst>
              </a:tr>
              <a:tr h="309120">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40.7</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-1.9</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0.8</a:t>
                      </a:r>
                      <a:endParaRPr lang="en-CA" sz="14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41882891"/>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37.6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-0.7</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70945826"/>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31.1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1.6</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70295860"/>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50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38.5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-0.3</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37314541"/>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60.4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39.4</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2.1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0.2</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07278412"/>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45.7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38.6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-0.2</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60773826"/>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17.3</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-0.9</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1.8</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57541042"/>
                  </a:ext>
                </a:extLst>
              </a:tr>
            </a:tbl>
          </a:graphicData>
        </a:graphic>
      </p:graphicFrame>
      <p:pic>
        <p:nvPicPr>
          <p:cNvPr id="16" name="Picture 15" descr="Text&#10;&#10;Description automatically generated with low confidence">
            <a:extLst>
              <a:ext uri="{FF2B5EF4-FFF2-40B4-BE49-F238E27FC236}">
                <a16:creationId xmlns:a16="http://schemas.microsoft.com/office/drawing/2014/main" id="{4639CC88-2FFF-F642-AA96-E1AF70BB292A}"/>
              </a:ext>
            </a:extLst>
          </p:cNvPr>
          <p:cNvPicPr>
            <a:picLocks noChangeAspect="1"/>
          </p:cNvPicPr>
          <p:nvPr/>
        </p:nvPicPr>
        <p:blipFill>
          <a:blip r:embed="rId5"/>
          <a:stretch>
            <a:fillRect/>
          </a:stretch>
        </p:blipFill>
        <p:spPr>
          <a:xfrm>
            <a:off x="5520306" y="4753400"/>
            <a:ext cx="2933700" cy="431800"/>
          </a:xfrm>
          <a:prstGeom prst="rect">
            <a:avLst/>
          </a:prstGeom>
        </p:spPr>
      </p:pic>
      <p:pic>
        <p:nvPicPr>
          <p:cNvPr id="18" name="Picture 17" descr="A picture containing text&#10;&#10;Description automatically generated">
            <a:extLst>
              <a:ext uri="{FF2B5EF4-FFF2-40B4-BE49-F238E27FC236}">
                <a16:creationId xmlns:a16="http://schemas.microsoft.com/office/drawing/2014/main" id="{A8BB239C-ADB8-A441-B984-8068D5016B87}"/>
              </a:ext>
            </a:extLst>
          </p:cNvPr>
          <p:cNvPicPr>
            <a:picLocks noChangeAspect="1"/>
          </p:cNvPicPr>
          <p:nvPr/>
        </p:nvPicPr>
        <p:blipFill>
          <a:blip r:embed="rId6"/>
          <a:stretch>
            <a:fillRect/>
          </a:stretch>
        </p:blipFill>
        <p:spPr>
          <a:xfrm>
            <a:off x="5572599" y="1697904"/>
            <a:ext cx="1346200" cy="520700"/>
          </a:xfrm>
          <a:prstGeom prst="rect">
            <a:avLst/>
          </a:prstGeom>
        </p:spPr>
      </p:pic>
      <p:pic>
        <p:nvPicPr>
          <p:cNvPr id="20" name="Picture 19" descr="Text&#10;&#10;Description automatically generated">
            <a:extLst>
              <a:ext uri="{FF2B5EF4-FFF2-40B4-BE49-F238E27FC236}">
                <a16:creationId xmlns:a16="http://schemas.microsoft.com/office/drawing/2014/main" id="{3432E746-8A3F-614E-9340-5FEF41B0655E}"/>
              </a:ext>
            </a:extLst>
          </p:cNvPr>
          <p:cNvPicPr>
            <a:picLocks noChangeAspect="1"/>
          </p:cNvPicPr>
          <p:nvPr/>
        </p:nvPicPr>
        <p:blipFill>
          <a:blip r:embed="rId7"/>
          <a:stretch>
            <a:fillRect/>
          </a:stretch>
        </p:blipFill>
        <p:spPr>
          <a:xfrm>
            <a:off x="5569075" y="2723890"/>
            <a:ext cx="2806700" cy="469900"/>
          </a:xfrm>
          <a:prstGeom prst="rect">
            <a:avLst/>
          </a:prstGeom>
        </p:spPr>
      </p:pic>
      <p:pic>
        <p:nvPicPr>
          <p:cNvPr id="22" name="Picture 21" descr="A picture containing text&#10;&#10;Description automatically generated">
            <a:extLst>
              <a:ext uri="{FF2B5EF4-FFF2-40B4-BE49-F238E27FC236}">
                <a16:creationId xmlns:a16="http://schemas.microsoft.com/office/drawing/2014/main" id="{2AEB46CC-5BEF-D644-98C2-DD9EA8F81BF3}"/>
              </a:ext>
            </a:extLst>
          </p:cNvPr>
          <p:cNvPicPr>
            <a:picLocks noChangeAspect="1"/>
          </p:cNvPicPr>
          <p:nvPr/>
        </p:nvPicPr>
        <p:blipFill>
          <a:blip r:embed="rId8"/>
          <a:stretch>
            <a:fillRect/>
          </a:stretch>
        </p:blipFill>
        <p:spPr>
          <a:xfrm>
            <a:off x="5569075" y="3592483"/>
            <a:ext cx="2806700" cy="465793"/>
          </a:xfrm>
          <a:prstGeom prst="rect">
            <a:avLst/>
          </a:prstGeom>
        </p:spPr>
      </p:pic>
      <p:pic>
        <p:nvPicPr>
          <p:cNvPr id="24" name="Picture 23" descr="A picture containing text, watch&#10;&#10;Description automatically generated">
            <a:extLst>
              <a:ext uri="{FF2B5EF4-FFF2-40B4-BE49-F238E27FC236}">
                <a16:creationId xmlns:a16="http://schemas.microsoft.com/office/drawing/2014/main" id="{B41796D5-F8E5-144B-BE8F-F07C78A2A447}"/>
              </a:ext>
            </a:extLst>
          </p:cNvPr>
          <p:cNvPicPr>
            <a:picLocks noChangeAspect="1"/>
          </p:cNvPicPr>
          <p:nvPr/>
        </p:nvPicPr>
        <p:blipFill>
          <a:blip r:embed="rId9"/>
          <a:stretch>
            <a:fillRect/>
          </a:stretch>
        </p:blipFill>
        <p:spPr>
          <a:xfrm>
            <a:off x="8865553" y="4561870"/>
            <a:ext cx="2413000" cy="939800"/>
          </a:xfrm>
          <a:prstGeom prst="rect">
            <a:avLst/>
          </a:prstGeom>
        </p:spPr>
      </p:pic>
      <p:sp>
        <p:nvSpPr>
          <p:cNvPr id="26" name="TextBox 25">
            <a:extLst>
              <a:ext uri="{FF2B5EF4-FFF2-40B4-BE49-F238E27FC236}">
                <a16:creationId xmlns:a16="http://schemas.microsoft.com/office/drawing/2014/main" id="{BEE86B7B-F428-FE48-8380-4C79FD6E22F7}"/>
              </a:ext>
            </a:extLst>
          </p:cNvPr>
          <p:cNvSpPr txBox="1"/>
          <p:nvPr/>
        </p:nvSpPr>
        <p:spPr>
          <a:xfrm>
            <a:off x="528639" y="5687576"/>
            <a:ext cx="6486756" cy="369332"/>
          </a:xfrm>
          <a:prstGeom prst="rect">
            <a:avLst/>
          </a:prstGeom>
          <a:noFill/>
        </p:spPr>
        <p:txBody>
          <a:bodyPr wrap="square" rtlCol="0">
            <a:spAutoFit/>
          </a:bodyPr>
          <a:lstStyle/>
          <a:p>
            <a:r>
              <a:rPr lang="en-US" b="1" dirty="0"/>
              <a:t>Example:</a:t>
            </a:r>
            <a:r>
              <a:rPr lang="en-US" dirty="0"/>
              <a:t> Calculate the standardized CRP value for person 1   z = </a:t>
            </a:r>
          </a:p>
        </p:txBody>
      </p:sp>
      <p:pic>
        <p:nvPicPr>
          <p:cNvPr id="28" name="Picture 27" descr="Text&#10;&#10;Description automatically generated with medium confidence">
            <a:extLst>
              <a:ext uri="{FF2B5EF4-FFF2-40B4-BE49-F238E27FC236}">
                <a16:creationId xmlns:a16="http://schemas.microsoft.com/office/drawing/2014/main" id="{827D0A40-6B12-5447-B702-CE574E6479E4}"/>
              </a:ext>
            </a:extLst>
          </p:cNvPr>
          <p:cNvPicPr>
            <a:picLocks noChangeAspect="1"/>
          </p:cNvPicPr>
          <p:nvPr/>
        </p:nvPicPr>
        <p:blipFill>
          <a:blip r:embed="rId10"/>
          <a:stretch>
            <a:fillRect/>
          </a:stretch>
        </p:blipFill>
        <p:spPr>
          <a:xfrm>
            <a:off x="6987156" y="5561711"/>
            <a:ext cx="1606976" cy="670954"/>
          </a:xfrm>
          <a:prstGeom prst="rect">
            <a:avLst/>
          </a:prstGeom>
        </p:spPr>
      </p:pic>
    </p:spTree>
    <p:extLst>
      <p:ext uri="{BB962C8B-B14F-4D97-AF65-F5344CB8AC3E}">
        <p14:creationId xmlns:p14="http://schemas.microsoft.com/office/powerpoint/2010/main" val="2143452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443346"/>
            <a:ext cx="9792208" cy="886690"/>
          </a:xfrm>
        </p:spPr>
        <p:txBody>
          <a:bodyPr>
            <a:normAutofit fontScale="90000"/>
          </a:bodyPr>
          <a:lstStyle/>
          <a:p>
            <a:pPr algn="ctr"/>
            <a:r>
              <a:rPr lang="en-US" dirty="0"/>
              <a:t>Standardized discriminant function coefficients</a:t>
            </a:r>
          </a:p>
        </p:txBody>
      </p:sp>
      <p:graphicFrame>
        <p:nvGraphicFramePr>
          <p:cNvPr id="12" name="Table 11">
            <a:extLst>
              <a:ext uri="{FF2B5EF4-FFF2-40B4-BE49-F238E27FC236}">
                <a16:creationId xmlns:a16="http://schemas.microsoft.com/office/drawing/2014/main" id="{99B88F39-6A01-F647-A459-B20839B7B894}"/>
              </a:ext>
            </a:extLst>
          </p:cNvPr>
          <p:cNvGraphicFramePr>
            <a:graphicFrameLocks noGrp="1"/>
          </p:cNvGraphicFramePr>
          <p:nvPr/>
        </p:nvGraphicFramePr>
        <p:xfrm>
          <a:off x="528639" y="1546717"/>
          <a:ext cx="4781355" cy="3954953"/>
        </p:xfrm>
        <a:graphic>
          <a:graphicData uri="http://schemas.openxmlformats.org/drawingml/2006/table">
            <a:tbl>
              <a:tblPr>
                <a:tableStyleId>{5C22544A-7EE6-4342-B048-85BDC9FD1C3A}</a:tableStyleId>
              </a:tblPr>
              <a:tblGrid>
                <a:gridCol w="956271">
                  <a:extLst>
                    <a:ext uri="{9D8B030D-6E8A-4147-A177-3AD203B41FA5}">
                      <a16:colId xmlns:a16="http://schemas.microsoft.com/office/drawing/2014/main" val="1844960515"/>
                    </a:ext>
                  </a:extLst>
                </a:gridCol>
                <a:gridCol w="956271">
                  <a:extLst>
                    <a:ext uri="{9D8B030D-6E8A-4147-A177-3AD203B41FA5}">
                      <a16:colId xmlns:a16="http://schemas.microsoft.com/office/drawing/2014/main" val="2207722105"/>
                    </a:ext>
                  </a:extLst>
                </a:gridCol>
                <a:gridCol w="956271">
                  <a:extLst>
                    <a:ext uri="{9D8B030D-6E8A-4147-A177-3AD203B41FA5}">
                      <a16:colId xmlns:a16="http://schemas.microsoft.com/office/drawing/2014/main" val="2073823929"/>
                    </a:ext>
                  </a:extLst>
                </a:gridCol>
                <a:gridCol w="956271">
                  <a:extLst>
                    <a:ext uri="{9D8B030D-6E8A-4147-A177-3AD203B41FA5}">
                      <a16:colId xmlns:a16="http://schemas.microsoft.com/office/drawing/2014/main" val="1411309323"/>
                    </a:ext>
                  </a:extLst>
                </a:gridCol>
                <a:gridCol w="956271">
                  <a:extLst>
                    <a:ext uri="{9D8B030D-6E8A-4147-A177-3AD203B41FA5}">
                      <a16:colId xmlns:a16="http://schemas.microsoft.com/office/drawing/2014/main" val="2277603756"/>
                    </a:ext>
                  </a:extLst>
                </a:gridCol>
              </a:tblGrid>
              <a:tr h="245513">
                <a:tc>
                  <a:txBody>
                    <a:bodyPr/>
                    <a:lstStyle/>
                    <a:p>
                      <a:pPr algn="ctr" fontAlgn="b"/>
                      <a:r>
                        <a:rPr lang="en-CA" sz="1400" b="1" u="none" strike="noStrike">
                          <a:effectLst/>
                        </a:rPr>
                        <a:t>Infection</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CRP(mg/L)</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Temp (C)</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Z CRP</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Z Temp</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96963544"/>
                  </a:ext>
                </a:extLst>
              </a:tr>
              <a:tr h="309120">
                <a:tc>
                  <a:txBody>
                    <a:bodyPr/>
                    <a:lstStyle/>
                    <a:p>
                      <a:pPr algn="ctr" fontAlgn="b"/>
                      <a:r>
                        <a:rPr lang="en-CA" sz="1400" u="none" strike="noStrike" dirty="0">
                          <a:solidFill>
                            <a:srgbClr val="0070C0"/>
                          </a:solidFill>
                          <a:effectLst/>
                        </a:rPr>
                        <a:t>Viral</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0.7</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-1.5</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41848391"/>
                  </a:ext>
                </a:extLst>
              </a:tr>
              <a:tr h="309120">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11.1</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37.2</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-1.3</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-0.9</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99899076"/>
                  </a:ext>
                </a:extLst>
              </a:tr>
              <a:tr h="309120">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30</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36.5</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-1.3</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35277071"/>
                  </a:ext>
                </a:extLst>
              </a:tr>
              <a:tr h="309120">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21.4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39.4</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-0.6</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0.2</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91061151"/>
                  </a:ext>
                </a:extLst>
              </a:tr>
              <a:tr h="309120">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10.7</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39.6</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-1.4</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0.3</a:t>
                      </a:r>
                      <a:endParaRPr lang="en-CA" sz="14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50869102"/>
                  </a:ext>
                </a:extLst>
              </a:tr>
              <a:tr h="309120">
                <a:tc>
                  <a:txBody>
                    <a:bodyPr/>
                    <a:lstStyle/>
                    <a:p>
                      <a:pPr algn="ctr" fontAlgn="b"/>
                      <a:r>
                        <a:rPr lang="en-CA" sz="1400" u="none" strike="noStrike">
                          <a:solidFill>
                            <a:srgbClr val="0070C0"/>
                          </a:solidFill>
                          <a:effectLst/>
                        </a:rPr>
                        <a:t>Viral</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3.4</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a:solidFill>
                            <a:srgbClr val="0070C0"/>
                          </a:solidFill>
                          <a:effectLst/>
                        </a:rPr>
                        <a:t>40.7</a:t>
                      </a:r>
                      <a:endParaRPr lang="en-CA" sz="14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-1.9</a:t>
                      </a:r>
                      <a:endParaRPr lang="en-CA" sz="14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solidFill>
                            <a:srgbClr val="0070C0"/>
                          </a:solidFill>
                          <a:effectLst/>
                        </a:rPr>
                        <a:t>0.8</a:t>
                      </a:r>
                      <a:endParaRPr lang="en-CA" sz="14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41882891"/>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37.6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-0.7</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70945826"/>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31.1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1.6</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70295860"/>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50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38.5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-0.3</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37314541"/>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60.4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39.4</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2.1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0.2</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07278412"/>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45.7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38.6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-0.2</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60773826"/>
                  </a:ext>
                </a:extLst>
              </a:tr>
              <a:tr h="309120">
                <a:tc>
                  <a:txBody>
                    <a:bodyPr/>
                    <a:lstStyle/>
                    <a:p>
                      <a:pPr algn="ctr" fontAlgn="b"/>
                      <a:r>
                        <a:rPr lang="en-CA" sz="1400" u="none" strike="noStrike">
                          <a:effectLst/>
                        </a:rPr>
                        <a:t>Bacterial</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17.3</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42.7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-0.9</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1.8</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57541042"/>
                  </a:ext>
                </a:extLst>
              </a:tr>
            </a:tbl>
          </a:graphicData>
        </a:graphic>
      </p:graphicFrame>
      <p:pic>
        <p:nvPicPr>
          <p:cNvPr id="4" name="Picture 3">
            <a:extLst>
              <a:ext uri="{FF2B5EF4-FFF2-40B4-BE49-F238E27FC236}">
                <a16:creationId xmlns:a16="http://schemas.microsoft.com/office/drawing/2014/main" id="{8D696E1A-32F9-3649-9B29-8B4FF395981E}"/>
              </a:ext>
            </a:extLst>
          </p:cNvPr>
          <p:cNvPicPr>
            <a:picLocks noChangeAspect="1"/>
          </p:cNvPicPr>
          <p:nvPr/>
        </p:nvPicPr>
        <p:blipFill>
          <a:blip r:embed="rId3"/>
          <a:stretch>
            <a:fillRect/>
          </a:stretch>
        </p:blipFill>
        <p:spPr>
          <a:xfrm>
            <a:off x="5808850" y="1462649"/>
            <a:ext cx="5133850" cy="475820"/>
          </a:xfrm>
          <a:prstGeom prst="rect">
            <a:avLst/>
          </a:prstGeom>
        </p:spPr>
      </p:pic>
      <p:pic>
        <p:nvPicPr>
          <p:cNvPr id="7" name="Picture 6">
            <a:extLst>
              <a:ext uri="{FF2B5EF4-FFF2-40B4-BE49-F238E27FC236}">
                <a16:creationId xmlns:a16="http://schemas.microsoft.com/office/drawing/2014/main" id="{16182286-5F5F-594D-BC5E-EC4D389B8641}"/>
              </a:ext>
            </a:extLst>
          </p:cNvPr>
          <p:cNvPicPr>
            <a:picLocks noChangeAspect="1"/>
          </p:cNvPicPr>
          <p:nvPr/>
        </p:nvPicPr>
        <p:blipFill>
          <a:blip r:embed="rId4"/>
          <a:stretch>
            <a:fillRect/>
          </a:stretch>
        </p:blipFill>
        <p:spPr>
          <a:xfrm>
            <a:off x="5929313" y="3169040"/>
            <a:ext cx="4601529" cy="556145"/>
          </a:xfrm>
          <a:prstGeom prst="rect">
            <a:avLst/>
          </a:prstGeom>
        </p:spPr>
      </p:pic>
      <p:sp>
        <p:nvSpPr>
          <p:cNvPr id="9" name="TextBox 8">
            <a:extLst>
              <a:ext uri="{FF2B5EF4-FFF2-40B4-BE49-F238E27FC236}">
                <a16:creationId xmlns:a16="http://schemas.microsoft.com/office/drawing/2014/main" id="{ECEA3DDC-0752-6943-A998-CD762B22609B}"/>
              </a:ext>
            </a:extLst>
          </p:cNvPr>
          <p:cNvSpPr txBox="1"/>
          <p:nvPr/>
        </p:nvSpPr>
        <p:spPr>
          <a:xfrm>
            <a:off x="5929313" y="2508125"/>
            <a:ext cx="5133849" cy="461665"/>
          </a:xfrm>
          <a:prstGeom prst="rect">
            <a:avLst/>
          </a:prstGeom>
          <a:noFill/>
        </p:spPr>
        <p:txBody>
          <a:bodyPr wrap="square" rtlCol="0">
            <a:spAutoFit/>
          </a:bodyPr>
          <a:lstStyle/>
          <a:p>
            <a:r>
              <a:rPr lang="en-US" sz="2400" dirty="0"/>
              <a:t>After rescale</a:t>
            </a:r>
          </a:p>
        </p:txBody>
      </p:sp>
    </p:spTree>
    <p:extLst>
      <p:ext uri="{BB962C8B-B14F-4D97-AF65-F5344CB8AC3E}">
        <p14:creationId xmlns:p14="http://schemas.microsoft.com/office/powerpoint/2010/main" val="4044013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6" name="TextBox 5">
            <a:extLst>
              <a:ext uri="{FF2B5EF4-FFF2-40B4-BE49-F238E27FC236}">
                <a16:creationId xmlns:a16="http://schemas.microsoft.com/office/drawing/2014/main" id="{03A4715B-39C7-9840-B339-BB2569CBAD8D}"/>
              </a:ext>
            </a:extLst>
          </p:cNvPr>
          <p:cNvSpPr txBox="1"/>
          <p:nvPr/>
        </p:nvSpPr>
        <p:spPr>
          <a:xfrm>
            <a:off x="2257425" y="2143124"/>
            <a:ext cx="7515225" cy="923330"/>
          </a:xfrm>
          <a:prstGeom prst="rect">
            <a:avLst/>
          </a:prstGeom>
          <a:noFill/>
        </p:spPr>
        <p:txBody>
          <a:bodyPr wrap="square" rtlCol="0">
            <a:spAutoFit/>
          </a:bodyPr>
          <a:lstStyle/>
          <a:p>
            <a:pPr algn="ctr"/>
            <a:r>
              <a:rPr lang="en-US" sz="5400" dirty="0"/>
              <a:t>Thank you</a:t>
            </a:r>
          </a:p>
        </p:txBody>
      </p:sp>
    </p:spTree>
    <p:extLst>
      <p:ext uri="{BB962C8B-B14F-4D97-AF65-F5344CB8AC3E}">
        <p14:creationId xmlns:p14="http://schemas.microsoft.com/office/powerpoint/2010/main" val="22684475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RegularSeedLeftStep">
      <a:dk1>
        <a:srgbClr val="000000"/>
      </a:dk1>
      <a:lt1>
        <a:srgbClr val="FFFFFF"/>
      </a:lt1>
      <a:dk2>
        <a:srgbClr val="213A3A"/>
      </a:dk2>
      <a:lt2>
        <a:srgbClr val="E8E4E2"/>
      </a:lt2>
      <a:accent1>
        <a:srgbClr val="299BE7"/>
      </a:accent1>
      <a:accent2>
        <a:srgbClr val="13B3B0"/>
      </a:accent2>
      <a:accent3>
        <a:srgbClr val="21B876"/>
      </a:accent3>
      <a:accent4>
        <a:srgbClr val="14BC2D"/>
      </a:accent4>
      <a:accent5>
        <a:srgbClr val="4AB921"/>
      </a:accent5>
      <a:accent6>
        <a:srgbClr val="7FB113"/>
      </a:accent6>
      <a:hlink>
        <a:srgbClr val="BC703E"/>
      </a:hlink>
      <a:folHlink>
        <a:srgbClr val="7F7F7F"/>
      </a:folHlink>
    </a:clrScheme>
    <a:fontScheme name="Savon">
      <a:majorFont>
        <a:latin typeface="Gill Sans M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4381</TotalTime>
  <Words>4019</Words>
  <Application>Microsoft Macintosh PowerPoint</Application>
  <PresentationFormat>Widescreen</PresentationFormat>
  <Paragraphs>941</Paragraphs>
  <Slides>26</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Garamond</vt:lpstr>
      <vt:lpstr>Gill Sans MT</vt:lpstr>
      <vt:lpstr>SavonVTI</vt:lpstr>
      <vt:lpstr> Linear Discriminant Analysis     </vt:lpstr>
      <vt:lpstr>PCA vs LDA</vt:lpstr>
      <vt:lpstr>Separation</vt:lpstr>
      <vt:lpstr>Separation</vt:lpstr>
      <vt:lpstr>Separation</vt:lpstr>
      <vt:lpstr>LDA</vt:lpstr>
      <vt:lpstr>LDA</vt:lpstr>
      <vt:lpstr>LDA</vt:lpstr>
      <vt:lpstr>LDA</vt:lpstr>
      <vt:lpstr>LDA vs PCA</vt:lpstr>
      <vt:lpstr>LDA vs PCA</vt:lpstr>
      <vt:lpstr>The weights</vt:lpstr>
      <vt:lpstr>Separation between the groups</vt:lpstr>
      <vt:lpstr>Separation between the groups</vt:lpstr>
      <vt:lpstr>The math behind LDA</vt:lpstr>
      <vt:lpstr>Pooled within-group covariance matrix</vt:lpstr>
      <vt:lpstr>Between-group covariance matrix</vt:lpstr>
      <vt:lpstr>The math behind LDA</vt:lpstr>
      <vt:lpstr>The math behind LDA</vt:lpstr>
      <vt:lpstr>Calculate the score</vt:lpstr>
      <vt:lpstr>Normalize the weights</vt:lpstr>
      <vt:lpstr>Normalize the weights</vt:lpstr>
      <vt:lpstr>Centered scores</vt:lpstr>
      <vt:lpstr>Standardized discriminant function coefficients</vt:lpstr>
      <vt:lpstr>Standardized discriminant function coefficients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JESSICA Pham</dc:creator>
  <cp:lastModifiedBy>Quynh Nguyen</cp:lastModifiedBy>
  <cp:revision>278</cp:revision>
  <dcterms:created xsi:type="dcterms:W3CDTF">2021-12-23T04:02:59Z</dcterms:created>
  <dcterms:modified xsi:type="dcterms:W3CDTF">2022-02-25T00:25:54Z</dcterms:modified>
</cp:coreProperties>
</file>