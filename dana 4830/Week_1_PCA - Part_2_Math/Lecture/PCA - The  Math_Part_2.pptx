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79" r:id="rId3"/>
    <p:sldId id="278" r:id="rId4"/>
    <p:sldId id="281" r:id="rId5"/>
    <p:sldId id="285" r:id="rId6"/>
    <p:sldId id="286" r:id="rId7"/>
    <p:sldId id="287" r:id="rId8"/>
    <p:sldId id="288" r:id="rId9"/>
    <p:sldId id="289" r:id="rId10"/>
    <p:sldId id="290" r:id="rId11"/>
    <p:sldId id="291" r:id="rId12"/>
    <p:sldId id="292" r:id="rId13"/>
    <p:sldId id="293" r:id="rId14"/>
    <p:sldId id="294" r:id="rId15"/>
    <p:sldId id="295" r:id="rId16"/>
    <p:sldId id="29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49"/>
    <p:restoredTop sz="79228"/>
  </p:normalViewPr>
  <p:slideViewPr>
    <p:cSldViewPr snapToGrid="0" snapToObjects="1">
      <p:cViewPr varScale="1">
        <p:scale>
          <a:sx n="98" d="100"/>
          <a:sy n="98" d="100"/>
        </p:scale>
        <p:origin x="129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17495B-ABCA-3F47-8112-25D0B08533D1}" type="datetimeFigureOut">
              <a:rPr lang="en-US" smtClean="0"/>
              <a:t>1/4/22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C7C4D5-BEEB-F94C-8585-BA65B8C125AF}" type="slidenum">
              <a:rPr lang="en-US" smtClean="0"/>
              <a:t>‹#›</a:t>
            </a:fld>
            <a:endParaRPr lang="en-US"/>
          </a:p>
        </p:txBody>
      </p:sp>
    </p:spTree>
    <p:extLst>
      <p:ext uri="{BB962C8B-B14F-4D97-AF65-F5344CB8AC3E}">
        <p14:creationId xmlns:p14="http://schemas.microsoft.com/office/powerpoint/2010/main" val="3709170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lecture is about mathematical details behind the principal component analysis.</a:t>
            </a:r>
          </a:p>
          <a:p>
            <a:endParaRPr lang="en-US" dirty="0"/>
          </a:p>
        </p:txBody>
      </p:sp>
      <p:sp>
        <p:nvSpPr>
          <p:cNvPr id="4" name="Slide Number Placeholder 3"/>
          <p:cNvSpPr>
            <a:spLocks noGrp="1"/>
          </p:cNvSpPr>
          <p:nvPr>
            <p:ph type="sldNum" sz="quarter" idx="5"/>
          </p:nvPr>
        </p:nvSpPr>
        <p:spPr/>
        <p:txBody>
          <a:bodyPr/>
          <a:lstStyle/>
          <a:p>
            <a:fld id="{55C7C4D5-BEEB-F94C-8585-BA65B8C125AF}" type="slidenum">
              <a:rPr lang="en-US" smtClean="0"/>
              <a:t>1</a:t>
            </a:fld>
            <a:endParaRPr lang="en-US"/>
          </a:p>
        </p:txBody>
      </p:sp>
    </p:spTree>
    <p:extLst>
      <p:ext uri="{BB962C8B-B14F-4D97-AF65-F5344CB8AC3E}">
        <p14:creationId xmlns:p14="http://schemas.microsoft.com/office/powerpoint/2010/main" val="5993545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C7C4D5-BEEB-F94C-8585-BA65B8C125AF}" type="slidenum">
              <a:rPr lang="en-US" smtClean="0"/>
              <a:t>2</a:t>
            </a:fld>
            <a:endParaRPr lang="en-US"/>
          </a:p>
        </p:txBody>
      </p:sp>
    </p:spTree>
    <p:extLst>
      <p:ext uri="{BB962C8B-B14F-4D97-AF65-F5344CB8AC3E}">
        <p14:creationId xmlns:p14="http://schemas.microsoft.com/office/powerpoint/2010/main" val="39902662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use PCA to combine the two blood pressure variables into just 1 variable based on data from 6 individuals. For example, person 1 has a diastolic blood pressure of 78 and a systolic blood pressure of 126 whereas person 2 has a diastolic blood pressure of 80 and a systolic blood pressure of 128 and so on. This data seems to be a strong positive correlation between 2 variables.</a:t>
            </a:r>
          </a:p>
        </p:txBody>
      </p:sp>
      <p:sp>
        <p:nvSpPr>
          <p:cNvPr id="4" name="Slide Number Placeholder 3"/>
          <p:cNvSpPr>
            <a:spLocks noGrp="1"/>
          </p:cNvSpPr>
          <p:nvPr>
            <p:ph type="sldNum" sz="quarter" idx="5"/>
          </p:nvPr>
        </p:nvSpPr>
        <p:spPr/>
        <p:txBody>
          <a:bodyPr/>
          <a:lstStyle/>
          <a:p>
            <a:fld id="{55C7C4D5-BEEB-F94C-8585-BA65B8C125AF}" type="slidenum">
              <a:rPr lang="en-US" smtClean="0"/>
              <a:t>3</a:t>
            </a:fld>
            <a:endParaRPr lang="en-US"/>
          </a:p>
        </p:txBody>
      </p:sp>
    </p:spTree>
    <p:extLst>
      <p:ext uri="{BB962C8B-B14F-4D97-AF65-F5344CB8AC3E}">
        <p14:creationId xmlns:p14="http://schemas.microsoft.com/office/powerpoint/2010/main" val="443105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this case, we center the data, which means that we subtract all the values for each variable by its corresponding mean. Therefore, we subtract the mean systolic blood pressure from the individual observations. Centering the systolic blood pressure results in the following values, which tell how far away the original values are from the mean. We do the same calculations for the diastolic. When we center the data, the data points will be around the origin. This will help us later when we rotate the data. This plot after centering the data, where the x-axis represents the centered systolic blood pressure, y-axis represents the centered diastolic blood pressure.</a:t>
            </a:r>
          </a:p>
          <a:p>
            <a:endParaRPr lang="en-US" dirty="0"/>
          </a:p>
        </p:txBody>
      </p:sp>
      <p:sp>
        <p:nvSpPr>
          <p:cNvPr id="4" name="Slide Number Placeholder 3"/>
          <p:cNvSpPr>
            <a:spLocks noGrp="1"/>
          </p:cNvSpPr>
          <p:nvPr>
            <p:ph type="sldNum" sz="quarter" idx="5"/>
          </p:nvPr>
        </p:nvSpPr>
        <p:spPr/>
        <p:txBody>
          <a:bodyPr/>
          <a:lstStyle/>
          <a:p>
            <a:fld id="{55C7C4D5-BEEB-F94C-8585-BA65B8C125AF}" type="slidenum">
              <a:rPr lang="en-US" smtClean="0"/>
              <a:t>4</a:t>
            </a:fld>
            <a:endParaRPr lang="en-US"/>
          </a:p>
        </p:txBody>
      </p:sp>
    </p:spTree>
    <p:extLst>
      <p:ext uri="{BB962C8B-B14F-4D97-AF65-F5344CB8AC3E}">
        <p14:creationId xmlns:p14="http://schemas.microsoft.com/office/powerpoint/2010/main" val="10603620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we will get the same values in the covariance matrix if we instead would use the original data since the variance doesn’t change when we center the data. Remember that the main diagonal of the covariance matrix includes the variance of each variable. The sample variance of the centered systolic blood pressure is calculated like this. When we calculate the variance of the centered data, the calculations become a bit simpler since the mean of the centered data is always equal to 0. To calculate the sample variance of the centered data, we simply sum the squared values and divide by the sample size minus 1.</a:t>
            </a:r>
          </a:p>
          <a:p>
            <a:r>
              <a:rPr lang="en-US" dirty="0"/>
              <a:t>From the plot we see that the spread in the diastolic blood pressure is a bit higher compared to the spread in the systolic blood pressure. </a:t>
            </a:r>
          </a:p>
        </p:txBody>
      </p:sp>
      <p:sp>
        <p:nvSpPr>
          <p:cNvPr id="4" name="Slide Number Placeholder 3"/>
          <p:cNvSpPr>
            <a:spLocks noGrp="1"/>
          </p:cNvSpPr>
          <p:nvPr>
            <p:ph type="sldNum" sz="quarter" idx="5"/>
          </p:nvPr>
        </p:nvSpPr>
        <p:spPr/>
        <p:txBody>
          <a:bodyPr/>
          <a:lstStyle/>
          <a:p>
            <a:fld id="{55C7C4D5-BEEB-F94C-8585-BA65B8C125AF}" type="slidenum">
              <a:rPr lang="en-US" smtClean="0"/>
              <a:t>5</a:t>
            </a:fld>
            <a:endParaRPr lang="en-US"/>
          </a:p>
        </p:txBody>
      </p:sp>
    </p:spTree>
    <p:extLst>
      <p:ext uri="{BB962C8B-B14F-4D97-AF65-F5344CB8AC3E}">
        <p14:creationId xmlns:p14="http://schemas.microsoft.com/office/powerpoint/2010/main" val="4511096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substitute A by the covariance matrix and this term by lambda times the identity matrix, which has the same number of rows and columns as the covariance matrix. Subtracting these 2 matrices result in the following matrix. Next, we calculate the determinant of this matrix. After some simplifications, we have the following quadratic equation. </a:t>
            </a:r>
          </a:p>
        </p:txBody>
      </p:sp>
      <p:sp>
        <p:nvSpPr>
          <p:cNvPr id="4" name="Slide Number Placeholder 3"/>
          <p:cNvSpPr>
            <a:spLocks noGrp="1"/>
          </p:cNvSpPr>
          <p:nvPr>
            <p:ph type="sldNum" sz="quarter" idx="5"/>
          </p:nvPr>
        </p:nvSpPr>
        <p:spPr/>
        <p:txBody>
          <a:bodyPr/>
          <a:lstStyle/>
          <a:p>
            <a:fld id="{55C7C4D5-BEEB-F94C-8585-BA65B8C125AF}" type="slidenum">
              <a:rPr lang="en-US" smtClean="0"/>
              <a:t>6</a:t>
            </a:fld>
            <a:endParaRPr lang="en-US"/>
          </a:p>
        </p:txBody>
      </p:sp>
    </p:spTree>
    <p:extLst>
      <p:ext uri="{BB962C8B-B14F-4D97-AF65-F5344CB8AC3E}">
        <p14:creationId xmlns:p14="http://schemas.microsoft.com/office/powerpoint/2010/main" val="36349486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start by calculating the eigenvector of the covariance matrix with the corresponding eigenvalue 12.08. we use this equation. We plug in the covariance matrix and one of the 2 eigenvalues. We can illustrate this vector in the plot. </a:t>
            </a:r>
          </a:p>
        </p:txBody>
      </p:sp>
      <p:sp>
        <p:nvSpPr>
          <p:cNvPr id="4" name="Slide Number Placeholder 3"/>
          <p:cNvSpPr>
            <a:spLocks noGrp="1"/>
          </p:cNvSpPr>
          <p:nvPr>
            <p:ph type="sldNum" sz="quarter" idx="5"/>
          </p:nvPr>
        </p:nvSpPr>
        <p:spPr/>
        <p:txBody>
          <a:bodyPr/>
          <a:lstStyle/>
          <a:p>
            <a:fld id="{55C7C4D5-BEEB-F94C-8585-BA65B8C125AF}" type="slidenum">
              <a:rPr lang="en-US" smtClean="0"/>
              <a:t>7</a:t>
            </a:fld>
            <a:endParaRPr lang="en-US"/>
          </a:p>
        </p:txBody>
      </p:sp>
    </p:spTree>
    <p:extLst>
      <p:ext uri="{BB962C8B-B14F-4D97-AF65-F5344CB8AC3E}">
        <p14:creationId xmlns:p14="http://schemas.microsoft.com/office/powerpoint/2010/main" val="29893201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normalize this vector to unit length, which means that it should have a length of 1. We do the same with the second eigenvector (0.32).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55C7C4D5-BEEB-F94C-8585-BA65B8C125AF}" type="slidenum">
              <a:rPr lang="en-US" smtClean="0"/>
              <a:t>8</a:t>
            </a:fld>
            <a:endParaRPr lang="en-US"/>
          </a:p>
        </p:txBody>
      </p:sp>
    </p:spTree>
    <p:extLst>
      <p:ext uri="{BB962C8B-B14F-4D97-AF65-F5344CB8AC3E}">
        <p14:creationId xmlns:p14="http://schemas.microsoft.com/office/powerpoint/2010/main" val="2330340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the covariance matrix is a symmetric matrix, the eigenvectors will be orthogonal, which means that the angle between them is 90 degrees. Next we order the eigenvectors based on their corresponding eigenvalues, where the eigenvector with the largest eigenvalue becomes our first eigenvector. Since this eigenvector has the largest eigenvalue, it will represent our first eigenvector. We name this vector v1 instead of v2. Let’s put these two eigenvectors together into a matrix, where the first column represents the first eigenvector with the highest eigenvalue, and the second column represents the second eigenvector.</a:t>
            </a:r>
          </a:p>
        </p:txBody>
      </p:sp>
      <p:sp>
        <p:nvSpPr>
          <p:cNvPr id="4" name="Slide Number Placeholder 3"/>
          <p:cNvSpPr>
            <a:spLocks noGrp="1"/>
          </p:cNvSpPr>
          <p:nvPr>
            <p:ph type="sldNum" sz="quarter" idx="5"/>
          </p:nvPr>
        </p:nvSpPr>
        <p:spPr/>
        <p:txBody>
          <a:bodyPr/>
          <a:lstStyle/>
          <a:p>
            <a:fld id="{55C7C4D5-BEEB-F94C-8585-BA65B8C125AF}" type="slidenum">
              <a:rPr lang="en-US" smtClean="0"/>
              <a:t>9</a:t>
            </a:fld>
            <a:endParaRPr lang="en-US"/>
          </a:p>
        </p:txBody>
      </p:sp>
    </p:spTree>
    <p:extLst>
      <p:ext uri="{BB962C8B-B14F-4D97-AF65-F5344CB8AC3E}">
        <p14:creationId xmlns:p14="http://schemas.microsoft.com/office/powerpoint/2010/main" val="7379083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this matrix to transform our original centered data so that the 2 variables are completely uncorrelated. We define a matrix D, which includes our centered data. Next, we multiply our data matrix D by matrix V, which includes our eigenvectors as columns. Then we get a new matrix with transformed data.</a:t>
            </a:r>
          </a:p>
          <a:p>
            <a:r>
              <a:rPr lang="en-US" dirty="0"/>
              <a:t>When we go from our original data matrix to transformed data, it can be seen like we rotate the data clockwise until the 2 eigenvectors point in the same direction as the x and y-axes of the plot. </a:t>
            </a:r>
          </a:p>
          <a:p>
            <a:r>
              <a:rPr lang="en-US" dirty="0"/>
              <a:t>Note that the label of the axes have been changed to principal component 1 and 2. We have the score plot after doing rotation.</a:t>
            </a:r>
          </a:p>
        </p:txBody>
      </p:sp>
      <p:sp>
        <p:nvSpPr>
          <p:cNvPr id="4" name="Slide Number Placeholder 3"/>
          <p:cNvSpPr>
            <a:spLocks noGrp="1"/>
          </p:cNvSpPr>
          <p:nvPr>
            <p:ph type="sldNum" sz="quarter" idx="5"/>
          </p:nvPr>
        </p:nvSpPr>
        <p:spPr/>
        <p:txBody>
          <a:bodyPr/>
          <a:lstStyle/>
          <a:p>
            <a:fld id="{55C7C4D5-BEEB-F94C-8585-BA65B8C125AF}" type="slidenum">
              <a:rPr lang="en-US" smtClean="0"/>
              <a:t>10</a:t>
            </a:fld>
            <a:endParaRPr lang="en-US"/>
          </a:p>
        </p:txBody>
      </p:sp>
    </p:spTree>
    <p:extLst>
      <p:ext uri="{BB962C8B-B14F-4D97-AF65-F5344CB8AC3E}">
        <p14:creationId xmlns:p14="http://schemas.microsoft.com/office/powerpoint/2010/main" val="14325154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compare the centered data with the transformed data. The variance of the systolic blood pressure is 4.4 whereas the variance of the diastolic blood pressure is 8. We see that the covariance is 5.6, which tells us that there is a positive correlation between the two variables. When we transform the data, using PCA, the first variable called PC1 has a variance of 12.08 whereas PC2 has only a variance of 0.32. This means that almost all variance is kept in the first principal component. If we divide the variance of the first principal component by the total variance, we see the first principal component captures 97.4% of the total variance.</a:t>
            </a:r>
          </a:p>
          <a:p>
            <a:r>
              <a:rPr lang="en-US" dirty="0"/>
              <a:t>Note that the variance of the principal components correspond to the two eigenvalues we calculated earlier. Thus, the eigenvalues of the covariance matrix represent the variances of the principal components. When we study the covariance matrix of our transformed data, we see that the covariance between PC1 and PC2 are equal to 0, which means that PC1 and PC2 are completely uncorrelated. We also see the variance of PC1 and PC2, correspond to the eigenvalues associated to the first and the second eigenvector. Note that the total variance of PC1 and PC2 is 12.4, which corresponds to the total variance of the original variables. </a:t>
            </a:r>
          </a:p>
        </p:txBody>
      </p:sp>
      <p:sp>
        <p:nvSpPr>
          <p:cNvPr id="4" name="Slide Number Placeholder 3"/>
          <p:cNvSpPr>
            <a:spLocks noGrp="1"/>
          </p:cNvSpPr>
          <p:nvPr>
            <p:ph type="sldNum" sz="quarter" idx="5"/>
          </p:nvPr>
        </p:nvSpPr>
        <p:spPr/>
        <p:txBody>
          <a:bodyPr/>
          <a:lstStyle/>
          <a:p>
            <a:fld id="{55C7C4D5-BEEB-F94C-8585-BA65B8C125AF}" type="slidenum">
              <a:rPr lang="en-US" smtClean="0"/>
              <a:t>11</a:t>
            </a:fld>
            <a:endParaRPr lang="en-US"/>
          </a:p>
        </p:txBody>
      </p:sp>
    </p:spTree>
    <p:extLst>
      <p:ext uri="{BB962C8B-B14F-4D97-AF65-F5344CB8AC3E}">
        <p14:creationId xmlns:p14="http://schemas.microsoft.com/office/powerpoint/2010/main" val="32621097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that when we multiplied the centered data by the matrix that includes the eigenvector as columns, we got the transformed data. This is the same as using this equation to calculate the principal components that we saw in the previous lecture. Where the weights for the first principal component comes from the first eigenvector with the highest eigenvalue whereas the weights for the second principal component comes from the second eigenvector.</a:t>
            </a:r>
          </a:p>
        </p:txBody>
      </p:sp>
      <p:sp>
        <p:nvSpPr>
          <p:cNvPr id="4" name="Slide Number Placeholder 3"/>
          <p:cNvSpPr>
            <a:spLocks noGrp="1"/>
          </p:cNvSpPr>
          <p:nvPr>
            <p:ph type="sldNum" sz="quarter" idx="5"/>
          </p:nvPr>
        </p:nvSpPr>
        <p:spPr/>
        <p:txBody>
          <a:bodyPr/>
          <a:lstStyle/>
          <a:p>
            <a:fld id="{55C7C4D5-BEEB-F94C-8585-BA65B8C125AF}" type="slidenum">
              <a:rPr lang="en-US" smtClean="0"/>
              <a:t>12</a:t>
            </a:fld>
            <a:endParaRPr lang="en-US"/>
          </a:p>
        </p:txBody>
      </p:sp>
    </p:spTree>
    <p:extLst>
      <p:ext uri="{BB962C8B-B14F-4D97-AF65-F5344CB8AC3E}">
        <p14:creationId xmlns:p14="http://schemas.microsoft.com/office/powerpoint/2010/main" val="40811757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the first principal component captures almost all variance, which can be interpreted as it stores almost all information about the 2 variables, we can simply delete the second principal component because it includes almost no information. As we have seen previously, by using the following equation, we can combine 2 variables into just 1 variable, in a way that maximize the variance of the linear combination. The weights can be interpreted as how much each variable contributes to the principal component. Since the absolute of the weight for the diastolic blood pressure is higher than that of the systolic blood pressure, PCA put more weight on the diastolic blood pressure when the two variables are combined. </a:t>
            </a:r>
          </a:p>
        </p:txBody>
      </p:sp>
      <p:sp>
        <p:nvSpPr>
          <p:cNvPr id="4" name="Slide Number Placeholder 3"/>
          <p:cNvSpPr>
            <a:spLocks noGrp="1"/>
          </p:cNvSpPr>
          <p:nvPr>
            <p:ph type="sldNum" sz="quarter" idx="5"/>
          </p:nvPr>
        </p:nvSpPr>
        <p:spPr/>
        <p:txBody>
          <a:bodyPr/>
          <a:lstStyle/>
          <a:p>
            <a:fld id="{55C7C4D5-BEEB-F94C-8585-BA65B8C125AF}" type="slidenum">
              <a:rPr lang="en-US" smtClean="0"/>
              <a:t>13</a:t>
            </a:fld>
            <a:endParaRPr lang="en-US"/>
          </a:p>
        </p:txBody>
      </p:sp>
    </p:spTree>
    <p:extLst>
      <p:ext uri="{BB962C8B-B14F-4D97-AF65-F5344CB8AC3E}">
        <p14:creationId xmlns:p14="http://schemas.microsoft.com/office/powerpoint/2010/main" val="8811933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see why the first eigenvector points in the same direction as the data. This is the previous eigenvector and if we extend it by multiplying by 6 we can draw this vector. </a:t>
            </a:r>
          </a:p>
          <a:p>
            <a:r>
              <a:rPr lang="en-US" dirty="0"/>
              <a:t>Note that this is also an eigenvector of the covariance matrix since it has the same direction as the eigenvector with the unit length.</a:t>
            </a:r>
          </a:p>
        </p:txBody>
      </p:sp>
      <p:sp>
        <p:nvSpPr>
          <p:cNvPr id="4" name="Slide Number Placeholder 3"/>
          <p:cNvSpPr>
            <a:spLocks noGrp="1"/>
          </p:cNvSpPr>
          <p:nvPr>
            <p:ph type="sldNum" sz="quarter" idx="5"/>
          </p:nvPr>
        </p:nvSpPr>
        <p:spPr/>
        <p:txBody>
          <a:bodyPr/>
          <a:lstStyle/>
          <a:p>
            <a:fld id="{55C7C4D5-BEEB-F94C-8585-BA65B8C125AF}" type="slidenum">
              <a:rPr lang="en-US" smtClean="0"/>
              <a:t>14</a:t>
            </a:fld>
            <a:endParaRPr lang="en-US"/>
          </a:p>
        </p:txBody>
      </p:sp>
    </p:spTree>
    <p:extLst>
      <p:ext uri="{BB962C8B-B14F-4D97-AF65-F5344CB8AC3E}">
        <p14:creationId xmlns:p14="http://schemas.microsoft.com/office/powerpoint/2010/main" val="10618752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example, let’s take an arbitrary vector with the coordinates 4 and 1, multiplying the covariance matrix by this arbitrary vector will result in the following vector. We see that the covariance matrix will rotate this vector so that it has a similar direction as the eigenvector.</a:t>
            </a:r>
          </a:p>
        </p:txBody>
      </p:sp>
      <p:sp>
        <p:nvSpPr>
          <p:cNvPr id="4" name="Slide Number Placeholder 3"/>
          <p:cNvSpPr>
            <a:spLocks noGrp="1"/>
          </p:cNvSpPr>
          <p:nvPr>
            <p:ph type="sldNum" sz="quarter" idx="5"/>
          </p:nvPr>
        </p:nvSpPr>
        <p:spPr/>
        <p:txBody>
          <a:bodyPr/>
          <a:lstStyle/>
          <a:p>
            <a:fld id="{55C7C4D5-BEEB-F94C-8585-BA65B8C125AF}" type="slidenum">
              <a:rPr lang="en-US" smtClean="0"/>
              <a:t>15</a:t>
            </a:fld>
            <a:endParaRPr lang="en-US"/>
          </a:p>
        </p:txBody>
      </p:sp>
    </p:spTree>
    <p:extLst>
      <p:ext uri="{BB962C8B-B14F-4D97-AF65-F5344CB8AC3E}">
        <p14:creationId xmlns:p14="http://schemas.microsoft.com/office/powerpoint/2010/main" val="37153989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30E5C-9D8C-2D4D-909F-A9DACE771F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CDB9B5A-12C5-AE4B-B608-7447F5688EF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206E278-2420-2E44-B049-B5115D167A06}"/>
              </a:ext>
            </a:extLst>
          </p:cNvPr>
          <p:cNvSpPr>
            <a:spLocks noGrp="1"/>
          </p:cNvSpPr>
          <p:nvPr>
            <p:ph type="dt" sz="half" idx="10"/>
          </p:nvPr>
        </p:nvSpPr>
        <p:spPr/>
        <p:txBody>
          <a:bodyPr/>
          <a:lstStyle/>
          <a:p>
            <a:fld id="{4ECDF0E9-5937-3F40-B4F7-C304D29F0535}" type="datetimeFigureOut">
              <a:rPr lang="en-US" smtClean="0"/>
              <a:t>1/4/22</a:t>
            </a:fld>
            <a:endParaRPr lang="en-US"/>
          </a:p>
        </p:txBody>
      </p:sp>
      <p:sp>
        <p:nvSpPr>
          <p:cNvPr id="5" name="Footer Placeholder 4">
            <a:extLst>
              <a:ext uri="{FF2B5EF4-FFF2-40B4-BE49-F238E27FC236}">
                <a16:creationId xmlns:a16="http://schemas.microsoft.com/office/drawing/2014/main" id="{5CCEF893-3785-4F43-AE0A-68C759777C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180EFE-5E18-6944-8713-76AF685785C3}"/>
              </a:ext>
            </a:extLst>
          </p:cNvPr>
          <p:cNvSpPr>
            <a:spLocks noGrp="1"/>
          </p:cNvSpPr>
          <p:nvPr>
            <p:ph type="sldNum" sz="quarter" idx="12"/>
          </p:nvPr>
        </p:nvSpPr>
        <p:spPr/>
        <p:txBody>
          <a:bodyPr/>
          <a:lstStyle/>
          <a:p>
            <a:fld id="{2497D439-049B-D34E-A776-B7670A8937EB}" type="slidenum">
              <a:rPr lang="en-US" smtClean="0"/>
              <a:t>‹#›</a:t>
            </a:fld>
            <a:endParaRPr lang="en-US"/>
          </a:p>
        </p:txBody>
      </p:sp>
    </p:spTree>
    <p:extLst>
      <p:ext uri="{BB962C8B-B14F-4D97-AF65-F5344CB8AC3E}">
        <p14:creationId xmlns:p14="http://schemas.microsoft.com/office/powerpoint/2010/main" val="3704593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79FF0-F7A5-2B43-8F1D-270C8B7EC1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99A9D6-6F95-F74D-B0A5-7B6744E4CA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6075AF-FC07-F24C-B077-CE719F862F91}"/>
              </a:ext>
            </a:extLst>
          </p:cNvPr>
          <p:cNvSpPr>
            <a:spLocks noGrp="1"/>
          </p:cNvSpPr>
          <p:nvPr>
            <p:ph type="dt" sz="half" idx="10"/>
          </p:nvPr>
        </p:nvSpPr>
        <p:spPr/>
        <p:txBody>
          <a:bodyPr/>
          <a:lstStyle/>
          <a:p>
            <a:fld id="{4ECDF0E9-5937-3F40-B4F7-C304D29F0535}" type="datetimeFigureOut">
              <a:rPr lang="en-US" smtClean="0"/>
              <a:t>1/4/22</a:t>
            </a:fld>
            <a:endParaRPr lang="en-US"/>
          </a:p>
        </p:txBody>
      </p:sp>
      <p:sp>
        <p:nvSpPr>
          <p:cNvPr id="5" name="Footer Placeholder 4">
            <a:extLst>
              <a:ext uri="{FF2B5EF4-FFF2-40B4-BE49-F238E27FC236}">
                <a16:creationId xmlns:a16="http://schemas.microsoft.com/office/drawing/2014/main" id="{4EFB9F5A-953B-9548-902D-77D2158BA8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78EC52-D61B-4345-8A2D-95DCB4746578}"/>
              </a:ext>
            </a:extLst>
          </p:cNvPr>
          <p:cNvSpPr>
            <a:spLocks noGrp="1"/>
          </p:cNvSpPr>
          <p:nvPr>
            <p:ph type="sldNum" sz="quarter" idx="12"/>
          </p:nvPr>
        </p:nvSpPr>
        <p:spPr/>
        <p:txBody>
          <a:bodyPr/>
          <a:lstStyle/>
          <a:p>
            <a:fld id="{2497D439-049B-D34E-A776-B7670A8937EB}" type="slidenum">
              <a:rPr lang="en-US" smtClean="0"/>
              <a:t>‹#›</a:t>
            </a:fld>
            <a:endParaRPr lang="en-US"/>
          </a:p>
        </p:txBody>
      </p:sp>
    </p:spTree>
    <p:extLst>
      <p:ext uri="{BB962C8B-B14F-4D97-AF65-F5344CB8AC3E}">
        <p14:creationId xmlns:p14="http://schemas.microsoft.com/office/powerpoint/2010/main" val="2328289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76088-86A3-A642-BF13-8AC77E47C9E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BC3524-0162-AB40-8D24-699ACD5D706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9E2D09C-4FB3-1443-8362-6F7C84C590B9}"/>
              </a:ext>
            </a:extLst>
          </p:cNvPr>
          <p:cNvSpPr>
            <a:spLocks noGrp="1"/>
          </p:cNvSpPr>
          <p:nvPr>
            <p:ph type="dt" sz="half" idx="10"/>
          </p:nvPr>
        </p:nvSpPr>
        <p:spPr/>
        <p:txBody>
          <a:bodyPr/>
          <a:lstStyle/>
          <a:p>
            <a:fld id="{4ECDF0E9-5937-3F40-B4F7-C304D29F0535}" type="datetimeFigureOut">
              <a:rPr lang="en-US" smtClean="0"/>
              <a:t>1/4/22</a:t>
            </a:fld>
            <a:endParaRPr lang="en-US"/>
          </a:p>
        </p:txBody>
      </p:sp>
      <p:sp>
        <p:nvSpPr>
          <p:cNvPr id="5" name="Footer Placeholder 4">
            <a:extLst>
              <a:ext uri="{FF2B5EF4-FFF2-40B4-BE49-F238E27FC236}">
                <a16:creationId xmlns:a16="http://schemas.microsoft.com/office/drawing/2014/main" id="{624B3E73-F185-E24A-8008-D9DD692DAC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F4D6E1-ED07-9841-B2C6-EB9D2BD765C4}"/>
              </a:ext>
            </a:extLst>
          </p:cNvPr>
          <p:cNvSpPr>
            <a:spLocks noGrp="1"/>
          </p:cNvSpPr>
          <p:nvPr>
            <p:ph type="sldNum" sz="quarter" idx="12"/>
          </p:nvPr>
        </p:nvSpPr>
        <p:spPr/>
        <p:txBody>
          <a:bodyPr/>
          <a:lstStyle/>
          <a:p>
            <a:fld id="{2497D439-049B-D34E-A776-B7670A8937EB}" type="slidenum">
              <a:rPr lang="en-US" smtClean="0"/>
              <a:t>‹#›</a:t>
            </a:fld>
            <a:endParaRPr lang="en-US"/>
          </a:p>
        </p:txBody>
      </p:sp>
    </p:spTree>
    <p:extLst>
      <p:ext uri="{BB962C8B-B14F-4D97-AF65-F5344CB8AC3E}">
        <p14:creationId xmlns:p14="http://schemas.microsoft.com/office/powerpoint/2010/main" val="266331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B2067-9CF1-2E45-BC3C-2F4F4AFFC4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0D8139-7AD4-AD45-A99F-E3D72BE6DE6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1A64E4C-730A-B64E-A29C-00524C10820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A08245-1F00-B544-8629-286DC11CA391}"/>
              </a:ext>
            </a:extLst>
          </p:cNvPr>
          <p:cNvSpPr>
            <a:spLocks noGrp="1"/>
          </p:cNvSpPr>
          <p:nvPr>
            <p:ph type="dt" sz="half" idx="10"/>
          </p:nvPr>
        </p:nvSpPr>
        <p:spPr/>
        <p:txBody>
          <a:bodyPr/>
          <a:lstStyle/>
          <a:p>
            <a:fld id="{4ECDF0E9-5937-3F40-B4F7-C304D29F0535}" type="datetimeFigureOut">
              <a:rPr lang="en-US" smtClean="0"/>
              <a:t>1/4/22</a:t>
            </a:fld>
            <a:endParaRPr lang="en-US"/>
          </a:p>
        </p:txBody>
      </p:sp>
      <p:sp>
        <p:nvSpPr>
          <p:cNvPr id="6" name="Footer Placeholder 5">
            <a:extLst>
              <a:ext uri="{FF2B5EF4-FFF2-40B4-BE49-F238E27FC236}">
                <a16:creationId xmlns:a16="http://schemas.microsoft.com/office/drawing/2014/main" id="{156F0669-8093-8E4F-A287-CE3D09BC1B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CDE0E3-C4F0-F64B-B55C-F17C9C6E98A2}"/>
              </a:ext>
            </a:extLst>
          </p:cNvPr>
          <p:cNvSpPr>
            <a:spLocks noGrp="1"/>
          </p:cNvSpPr>
          <p:nvPr>
            <p:ph type="sldNum" sz="quarter" idx="12"/>
          </p:nvPr>
        </p:nvSpPr>
        <p:spPr/>
        <p:txBody>
          <a:bodyPr/>
          <a:lstStyle/>
          <a:p>
            <a:fld id="{2497D439-049B-D34E-A776-B7670A8937EB}" type="slidenum">
              <a:rPr lang="en-US" smtClean="0"/>
              <a:t>‹#›</a:t>
            </a:fld>
            <a:endParaRPr lang="en-US"/>
          </a:p>
        </p:txBody>
      </p:sp>
    </p:spTree>
    <p:extLst>
      <p:ext uri="{BB962C8B-B14F-4D97-AF65-F5344CB8AC3E}">
        <p14:creationId xmlns:p14="http://schemas.microsoft.com/office/powerpoint/2010/main" val="12623667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0C0F1-F7C6-5843-B3F3-5CCDE0CCBA7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CA4FA35-DDA5-8243-8A56-8C328894E7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F40A1E-7A90-3D49-92E0-03367A3222A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853D802-625A-1C4F-9ABA-2470541B5B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BE7F465-4B10-BF4F-9550-D65BFF8FD71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A835245-F93E-FC4C-91D5-4E33FFCF6FD3}"/>
              </a:ext>
            </a:extLst>
          </p:cNvPr>
          <p:cNvSpPr>
            <a:spLocks noGrp="1"/>
          </p:cNvSpPr>
          <p:nvPr>
            <p:ph type="dt" sz="half" idx="10"/>
          </p:nvPr>
        </p:nvSpPr>
        <p:spPr/>
        <p:txBody>
          <a:bodyPr/>
          <a:lstStyle/>
          <a:p>
            <a:fld id="{4ECDF0E9-5937-3F40-B4F7-C304D29F0535}" type="datetimeFigureOut">
              <a:rPr lang="en-US" smtClean="0"/>
              <a:t>1/4/22</a:t>
            </a:fld>
            <a:endParaRPr lang="en-US"/>
          </a:p>
        </p:txBody>
      </p:sp>
      <p:sp>
        <p:nvSpPr>
          <p:cNvPr id="8" name="Footer Placeholder 7">
            <a:extLst>
              <a:ext uri="{FF2B5EF4-FFF2-40B4-BE49-F238E27FC236}">
                <a16:creationId xmlns:a16="http://schemas.microsoft.com/office/drawing/2014/main" id="{CC44581B-2D76-104F-BC9F-BC39C5167A6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33F4DD6-D53B-7142-ACA5-F1CB47EBC7F2}"/>
              </a:ext>
            </a:extLst>
          </p:cNvPr>
          <p:cNvSpPr>
            <a:spLocks noGrp="1"/>
          </p:cNvSpPr>
          <p:nvPr>
            <p:ph type="sldNum" sz="quarter" idx="12"/>
          </p:nvPr>
        </p:nvSpPr>
        <p:spPr/>
        <p:txBody>
          <a:bodyPr/>
          <a:lstStyle/>
          <a:p>
            <a:fld id="{2497D439-049B-D34E-A776-B7670A8937EB}" type="slidenum">
              <a:rPr lang="en-US" smtClean="0"/>
              <a:t>‹#›</a:t>
            </a:fld>
            <a:endParaRPr lang="en-US"/>
          </a:p>
        </p:txBody>
      </p:sp>
    </p:spTree>
    <p:extLst>
      <p:ext uri="{BB962C8B-B14F-4D97-AF65-F5344CB8AC3E}">
        <p14:creationId xmlns:p14="http://schemas.microsoft.com/office/powerpoint/2010/main" val="2871428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2FB27-8CDF-F048-8CBC-5410AB43749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FE753E3-3795-A547-9D44-D09ECEF85D09}"/>
              </a:ext>
            </a:extLst>
          </p:cNvPr>
          <p:cNvSpPr>
            <a:spLocks noGrp="1"/>
          </p:cNvSpPr>
          <p:nvPr>
            <p:ph type="dt" sz="half" idx="10"/>
          </p:nvPr>
        </p:nvSpPr>
        <p:spPr/>
        <p:txBody>
          <a:bodyPr/>
          <a:lstStyle/>
          <a:p>
            <a:fld id="{4ECDF0E9-5937-3F40-B4F7-C304D29F0535}" type="datetimeFigureOut">
              <a:rPr lang="en-US" smtClean="0"/>
              <a:t>1/4/22</a:t>
            </a:fld>
            <a:endParaRPr lang="en-US"/>
          </a:p>
        </p:txBody>
      </p:sp>
      <p:sp>
        <p:nvSpPr>
          <p:cNvPr id="4" name="Footer Placeholder 3">
            <a:extLst>
              <a:ext uri="{FF2B5EF4-FFF2-40B4-BE49-F238E27FC236}">
                <a16:creationId xmlns:a16="http://schemas.microsoft.com/office/drawing/2014/main" id="{CA0C1DAB-A3A2-0E4B-B1E6-177FCB95570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58E3480-F473-BA4A-8321-4534974DA536}"/>
              </a:ext>
            </a:extLst>
          </p:cNvPr>
          <p:cNvSpPr>
            <a:spLocks noGrp="1"/>
          </p:cNvSpPr>
          <p:nvPr>
            <p:ph type="sldNum" sz="quarter" idx="12"/>
          </p:nvPr>
        </p:nvSpPr>
        <p:spPr/>
        <p:txBody>
          <a:bodyPr/>
          <a:lstStyle/>
          <a:p>
            <a:fld id="{2497D439-049B-D34E-A776-B7670A8937EB}" type="slidenum">
              <a:rPr lang="en-US" smtClean="0"/>
              <a:t>‹#›</a:t>
            </a:fld>
            <a:endParaRPr lang="en-US"/>
          </a:p>
        </p:txBody>
      </p:sp>
    </p:spTree>
    <p:extLst>
      <p:ext uri="{BB962C8B-B14F-4D97-AF65-F5344CB8AC3E}">
        <p14:creationId xmlns:p14="http://schemas.microsoft.com/office/powerpoint/2010/main" val="15191064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77380E-6B02-EE44-85FD-02DDC42AB6E8}"/>
              </a:ext>
            </a:extLst>
          </p:cNvPr>
          <p:cNvSpPr>
            <a:spLocks noGrp="1"/>
          </p:cNvSpPr>
          <p:nvPr>
            <p:ph type="dt" sz="half" idx="10"/>
          </p:nvPr>
        </p:nvSpPr>
        <p:spPr/>
        <p:txBody>
          <a:bodyPr/>
          <a:lstStyle/>
          <a:p>
            <a:fld id="{4ECDF0E9-5937-3F40-B4F7-C304D29F0535}" type="datetimeFigureOut">
              <a:rPr lang="en-US" smtClean="0"/>
              <a:t>1/4/22</a:t>
            </a:fld>
            <a:endParaRPr lang="en-US"/>
          </a:p>
        </p:txBody>
      </p:sp>
      <p:sp>
        <p:nvSpPr>
          <p:cNvPr id="3" name="Footer Placeholder 2">
            <a:extLst>
              <a:ext uri="{FF2B5EF4-FFF2-40B4-BE49-F238E27FC236}">
                <a16:creationId xmlns:a16="http://schemas.microsoft.com/office/drawing/2014/main" id="{E5B55AF2-E5E7-E544-B94B-A76B7D7D95F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7F57688-2542-D046-948F-12CB824608EE}"/>
              </a:ext>
            </a:extLst>
          </p:cNvPr>
          <p:cNvSpPr>
            <a:spLocks noGrp="1"/>
          </p:cNvSpPr>
          <p:nvPr>
            <p:ph type="sldNum" sz="quarter" idx="12"/>
          </p:nvPr>
        </p:nvSpPr>
        <p:spPr/>
        <p:txBody>
          <a:bodyPr/>
          <a:lstStyle/>
          <a:p>
            <a:fld id="{2497D439-049B-D34E-A776-B7670A8937EB}" type="slidenum">
              <a:rPr lang="en-US" smtClean="0"/>
              <a:t>‹#›</a:t>
            </a:fld>
            <a:endParaRPr lang="en-US"/>
          </a:p>
        </p:txBody>
      </p:sp>
    </p:spTree>
    <p:extLst>
      <p:ext uri="{BB962C8B-B14F-4D97-AF65-F5344CB8AC3E}">
        <p14:creationId xmlns:p14="http://schemas.microsoft.com/office/powerpoint/2010/main" val="3392227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64B05-D05D-8040-980F-164EC61433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BBD2637-565D-9145-BADD-CAB5E3BBDF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EC1C23C-4C85-EA46-BD41-0CAA745672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BA7A3E-FCC9-2F46-B317-F0A399948AB0}"/>
              </a:ext>
            </a:extLst>
          </p:cNvPr>
          <p:cNvSpPr>
            <a:spLocks noGrp="1"/>
          </p:cNvSpPr>
          <p:nvPr>
            <p:ph type="dt" sz="half" idx="10"/>
          </p:nvPr>
        </p:nvSpPr>
        <p:spPr/>
        <p:txBody>
          <a:bodyPr/>
          <a:lstStyle/>
          <a:p>
            <a:fld id="{4ECDF0E9-5937-3F40-B4F7-C304D29F0535}" type="datetimeFigureOut">
              <a:rPr lang="en-US" smtClean="0"/>
              <a:t>1/4/22</a:t>
            </a:fld>
            <a:endParaRPr lang="en-US"/>
          </a:p>
        </p:txBody>
      </p:sp>
      <p:sp>
        <p:nvSpPr>
          <p:cNvPr id="6" name="Footer Placeholder 5">
            <a:extLst>
              <a:ext uri="{FF2B5EF4-FFF2-40B4-BE49-F238E27FC236}">
                <a16:creationId xmlns:a16="http://schemas.microsoft.com/office/drawing/2014/main" id="{C808BE20-4C5A-0444-9C49-21EDEE832D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37EEC4-4B48-5F47-8253-BE1FD0820F4B}"/>
              </a:ext>
            </a:extLst>
          </p:cNvPr>
          <p:cNvSpPr>
            <a:spLocks noGrp="1"/>
          </p:cNvSpPr>
          <p:nvPr>
            <p:ph type="sldNum" sz="quarter" idx="12"/>
          </p:nvPr>
        </p:nvSpPr>
        <p:spPr/>
        <p:txBody>
          <a:bodyPr/>
          <a:lstStyle/>
          <a:p>
            <a:fld id="{2497D439-049B-D34E-A776-B7670A8937EB}" type="slidenum">
              <a:rPr lang="en-US" smtClean="0"/>
              <a:t>‹#›</a:t>
            </a:fld>
            <a:endParaRPr lang="en-US"/>
          </a:p>
        </p:txBody>
      </p:sp>
    </p:spTree>
    <p:extLst>
      <p:ext uri="{BB962C8B-B14F-4D97-AF65-F5344CB8AC3E}">
        <p14:creationId xmlns:p14="http://schemas.microsoft.com/office/powerpoint/2010/main" val="3099271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C4795-E97C-0C43-9509-1579E2573D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7D9AFF7-29CD-FE48-8122-D268F326A6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F12BBF-C740-524D-987E-E6E38914A1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4F80E2-EC18-2E46-9139-D80A8251A1AC}"/>
              </a:ext>
            </a:extLst>
          </p:cNvPr>
          <p:cNvSpPr>
            <a:spLocks noGrp="1"/>
          </p:cNvSpPr>
          <p:nvPr>
            <p:ph type="dt" sz="half" idx="10"/>
          </p:nvPr>
        </p:nvSpPr>
        <p:spPr/>
        <p:txBody>
          <a:bodyPr/>
          <a:lstStyle/>
          <a:p>
            <a:fld id="{4ECDF0E9-5937-3F40-B4F7-C304D29F0535}" type="datetimeFigureOut">
              <a:rPr lang="en-US" smtClean="0"/>
              <a:t>1/4/22</a:t>
            </a:fld>
            <a:endParaRPr lang="en-US"/>
          </a:p>
        </p:txBody>
      </p:sp>
      <p:sp>
        <p:nvSpPr>
          <p:cNvPr id="6" name="Footer Placeholder 5">
            <a:extLst>
              <a:ext uri="{FF2B5EF4-FFF2-40B4-BE49-F238E27FC236}">
                <a16:creationId xmlns:a16="http://schemas.microsoft.com/office/drawing/2014/main" id="{BBC12A17-3919-6242-B7BB-47D5669C67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F2C793-0231-2643-BEEA-5C9EB6356B45}"/>
              </a:ext>
            </a:extLst>
          </p:cNvPr>
          <p:cNvSpPr>
            <a:spLocks noGrp="1"/>
          </p:cNvSpPr>
          <p:nvPr>
            <p:ph type="sldNum" sz="quarter" idx="12"/>
          </p:nvPr>
        </p:nvSpPr>
        <p:spPr/>
        <p:txBody>
          <a:bodyPr/>
          <a:lstStyle/>
          <a:p>
            <a:fld id="{2497D439-049B-D34E-A776-B7670A8937EB}" type="slidenum">
              <a:rPr lang="en-US" smtClean="0"/>
              <a:t>‹#›</a:t>
            </a:fld>
            <a:endParaRPr lang="en-US"/>
          </a:p>
        </p:txBody>
      </p:sp>
    </p:spTree>
    <p:extLst>
      <p:ext uri="{BB962C8B-B14F-4D97-AF65-F5344CB8AC3E}">
        <p14:creationId xmlns:p14="http://schemas.microsoft.com/office/powerpoint/2010/main" val="1203771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FCA37-1762-1B46-BA0D-38BEAF0B02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A0BA2CF-8C63-0943-8A89-189EB63D7E4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4C1D3F-B4A1-3149-9D4C-66D643AC1AA9}"/>
              </a:ext>
            </a:extLst>
          </p:cNvPr>
          <p:cNvSpPr>
            <a:spLocks noGrp="1"/>
          </p:cNvSpPr>
          <p:nvPr>
            <p:ph type="dt" sz="half" idx="10"/>
          </p:nvPr>
        </p:nvSpPr>
        <p:spPr/>
        <p:txBody>
          <a:bodyPr/>
          <a:lstStyle/>
          <a:p>
            <a:fld id="{4ECDF0E9-5937-3F40-B4F7-C304D29F0535}" type="datetimeFigureOut">
              <a:rPr lang="en-US" smtClean="0"/>
              <a:t>1/4/22</a:t>
            </a:fld>
            <a:endParaRPr lang="en-US"/>
          </a:p>
        </p:txBody>
      </p:sp>
      <p:sp>
        <p:nvSpPr>
          <p:cNvPr id="5" name="Footer Placeholder 4">
            <a:extLst>
              <a:ext uri="{FF2B5EF4-FFF2-40B4-BE49-F238E27FC236}">
                <a16:creationId xmlns:a16="http://schemas.microsoft.com/office/drawing/2014/main" id="{836E1F23-2F5A-8547-B958-6E3C0D6456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131AB0-D55D-A743-9878-99012343E345}"/>
              </a:ext>
            </a:extLst>
          </p:cNvPr>
          <p:cNvSpPr>
            <a:spLocks noGrp="1"/>
          </p:cNvSpPr>
          <p:nvPr>
            <p:ph type="sldNum" sz="quarter" idx="12"/>
          </p:nvPr>
        </p:nvSpPr>
        <p:spPr/>
        <p:txBody>
          <a:bodyPr/>
          <a:lstStyle/>
          <a:p>
            <a:fld id="{2497D439-049B-D34E-A776-B7670A8937EB}" type="slidenum">
              <a:rPr lang="en-US" smtClean="0"/>
              <a:t>‹#›</a:t>
            </a:fld>
            <a:endParaRPr lang="en-US"/>
          </a:p>
        </p:txBody>
      </p:sp>
    </p:spTree>
    <p:extLst>
      <p:ext uri="{BB962C8B-B14F-4D97-AF65-F5344CB8AC3E}">
        <p14:creationId xmlns:p14="http://schemas.microsoft.com/office/powerpoint/2010/main" val="10419865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28DD806-6395-0940-AE4C-CB893C70423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36B03D0-EAA0-E64F-B5AF-3410AA85830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963CB4-9EBA-504D-BCF6-60F2E1FA04A4}"/>
              </a:ext>
            </a:extLst>
          </p:cNvPr>
          <p:cNvSpPr>
            <a:spLocks noGrp="1"/>
          </p:cNvSpPr>
          <p:nvPr>
            <p:ph type="dt" sz="half" idx="10"/>
          </p:nvPr>
        </p:nvSpPr>
        <p:spPr/>
        <p:txBody>
          <a:bodyPr/>
          <a:lstStyle/>
          <a:p>
            <a:fld id="{4ECDF0E9-5937-3F40-B4F7-C304D29F0535}" type="datetimeFigureOut">
              <a:rPr lang="en-US" smtClean="0"/>
              <a:t>1/4/22</a:t>
            </a:fld>
            <a:endParaRPr lang="en-US"/>
          </a:p>
        </p:txBody>
      </p:sp>
      <p:sp>
        <p:nvSpPr>
          <p:cNvPr id="5" name="Footer Placeholder 4">
            <a:extLst>
              <a:ext uri="{FF2B5EF4-FFF2-40B4-BE49-F238E27FC236}">
                <a16:creationId xmlns:a16="http://schemas.microsoft.com/office/drawing/2014/main" id="{B2B79CC9-206F-8746-B7F2-54A05ED7C0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BB38A1-D025-F64F-BF53-DC114C274CEF}"/>
              </a:ext>
            </a:extLst>
          </p:cNvPr>
          <p:cNvSpPr>
            <a:spLocks noGrp="1"/>
          </p:cNvSpPr>
          <p:nvPr>
            <p:ph type="sldNum" sz="quarter" idx="12"/>
          </p:nvPr>
        </p:nvSpPr>
        <p:spPr/>
        <p:txBody>
          <a:bodyPr/>
          <a:lstStyle/>
          <a:p>
            <a:fld id="{2497D439-049B-D34E-A776-B7670A8937EB}" type="slidenum">
              <a:rPr lang="en-US" smtClean="0"/>
              <a:t>‹#›</a:t>
            </a:fld>
            <a:endParaRPr lang="en-US"/>
          </a:p>
        </p:txBody>
      </p:sp>
    </p:spTree>
    <p:extLst>
      <p:ext uri="{BB962C8B-B14F-4D97-AF65-F5344CB8AC3E}">
        <p14:creationId xmlns:p14="http://schemas.microsoft.com/office/powerpoint/2010/main" val="25219542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CC7ED5-02C9-6B41-87FF-37A70DA9FD0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5FE7AB7-AF74-A646-B019-D57ADFA98A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EA8205-84FD-ED4E-923F-F4865969FD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CDF0E9-5937-3F40-B4F7-C304D29F0535}" type="datetimeFigureOut">
              <a:rPr lang="en-US" smtClean="0"/>
              <a:t>1/4/22</a:t>
            </a:fld>
            <a:endParaRPr lang="en-US"/>
          </a:p>
        </p:txBody>
      </p:sp>
      <p:sp>
        <p:nvSpPr>
          <p:cNvPr id="5" name="Footer Placeholder 4">
            <a:extLst>
              <a:ext uri="{FF2B5EF4-FFF2-40B4-BE49-F238E27FC236}">
                <a16:creationId xmlns:a16="http://schemas.microsoft.com/office/drawing/2014/main" id="{9144D7B2-D7C7-2149-B6D6-1E6F2CB558F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D6C9464-C644-3846-B3D0-66788E46AF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97D439-049B-D34E-A776-B7670A8937EB}" type="slidenum">
              <a:rPr lang="en-US" smtClean="0"/>
              <a:t>‹#›</a:t>
            </a:fld>
            <a:endParaRPr lang="en-US"/>
          </a:p>
        </p:txBody>
      </p:sp>
    </p:spTree>
    <p:extLst>
      <p:ext uri="{BB962C8B-B14F-4D97-AF65-F5344CB8AC3E}">
        <p14:creationId xmlns:p14="http://schemas.microsoft.com/office/powerpoint/2010/main" val="42798236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7A944-7ECC-B649-8508-28F7CC8E4BC1}"/>
              </a:ext>
            </a:extLst>
          </p:cNvPr>
          <p:cNvSpPr>
            <a:spLocks noGrp="1"/>
          </p:cNvSpPr>
          <p:nvPr>
            <p:ph type="ctrTitle"/>
          </p:nvPr>
        </p:nvSpPr>
        <p:spPr>
          <a:xfrm>
            <a:off x="1524000" y="-31830"/>
            <a:ext cx="9144000" cy="1872205"/>
          </a:xfrm>
        </p:spPr>
        <p:txBody>
          <a:bodyPr/>
          <a:lstStyle/>
          <a:p>
            <a:r>
              <a:rPr lang="en-US" b="1" dirty="0"/>
              <a:t>The math behind PCA</a:t>
            </a:r>
          </a:p>
        </p:txBody>
      </p:sp>
      <p:sp>
        <p:nvSpPr>
          <p:cNvPr id="3" name="Subtitle 2">
            <a:extLst>
              <a:ext uri="{FF2B5EF4-FFF2-40B4-BE49-F238E27FC236}">
                <a16:creationId xmlns:a16="http://schemas.microsoft.com/office/drawing/2014/main" id="{27CADEE7-022F-EB43-B0E1-F237CA922B96}"/>
              </a:ext>
            </a:extLst>
          </p:cNvPr>
          <p:cNvSpPr>
            <a:spLocks noGrp="1"/>
          </p:cNvSpPr>
          <p:nvPr>
            <p:ph type="subTitle" idx="1"/>
          </p:nvPr>
        </p:nvSpPr>
        <p:spPr>
          <a:xfrm>
            <a:off x="1057276" y="2461846"/>
            <a:ext cx="9610724" cy="2795954"/>
          </a:xfrm>
        </p:spPr>
        <p:txBody>
          <a:bodyPr>
            <a:normAutofit/>
          </a:bodyPr>
          <a:lstStyle/>
          <a:p>
            <a:pPr marL="342900" indent="-342900" algn="l">
              <a:lnSpc>
                <a:spcPct val="150000"/>
              </a:lnSpc>
              <a:buFont typeface="Arial" panose="020B0604020202020204" pitchFamily="34" charset="0"/>
              <a:buChar char="•"/>
            </a:pPr>
            <a:r>
              <a:rPr lang="en-US" sz="3200" dirty="0"/>
              <a:t>Using simple linear algebra in order to understand the math behind PCA.</a:t>
            </a:r>
          </a:p>
          <a:p>
            <a:pPr marL="342900" indent="-342900" algn="l">
              <a:lnSpc>
                <a:spcPct val="150000"/>
              </a:lnSpc>
              <a:buFont typeface="Arial" panose="020B0604020202020204" pitchFamily="34" charset="0"/>
              <a:buChar char="•"/>
            </a:pPr>
            <a:r>
              <a:rPr lang="en-US" sz="3200" dirty="0"/>
              <a:t>Eigen-decomposition of the covariance matrix.</a:t>
            </a:r>
          </a:p>
        </p:txBody>
      </p:sp>
    </p:spTree>
    <p:extLst>
      <p:ext uri="{BB962C8B-B14F-4D97-AF65-F5344CB8AC3E}">
        <p14:creationId xmlns:p14="http://schemas.microsoft.com/office/powerpoint/2010/main" val="39608248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14">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6E3AEA-9EC6-4540-886B-D4F7C34BC23E}"/>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dirty="0">
                <a:solidFill>
                  <a:schemeClr val="bg1"/>
                </a:solidFill>
                <a:latin typeface="+mj-lt"/>
                <a:ea typeface="+mj-ea"/>
                <a:cs typeface="+mj-cs"/>
              </a:rPr>
              <a:t>PCA</a:t>
            </a:r>
          </a:p>
        </p:txBody>
      </p:sp>
      <p:sp>
        <p:nvSpPr>
          <p:cNvPr id="3" name="TextBox 2">
            <a:extLst>
              <a:ext uri="{FF2B5EF4-FFF2-40B4-BE49-F238E27FC236}">
                <a16:creationId xmlns:a16="http://schemas.microsoft.com/office/drawing/2014/main" id="{C3EE5C08-7A01-0E4A-A781-D6B7A0330E60}"/>
              </a:ext>
            </a:extLst>
          </p:cNvPr>
          <p:cNvSpPr txBox="1"/>
          <p:nvPr/>
        </p:nvSpPr>
        <p:spPr>
          <a:xfrm>
            <a:off x="1685925" y="2328863"/>
            <a:ext cx="8358190" cy="3693319"/>
          </a:xfrm>
          <a:prstGeom prst="rect">
            <a:avLst/>
          </a:prstGeom>
          <a:noFill/>
        </p:spPr>
        <p:txBody>
          <a:bodyPr wrap="square" rtlCol="0">
            <a:spAutoFit/>
          </a:bodyPr>
          <a:lstStyle/>
          <a:p>
            <a:pPr marL="342900" indent="-342900">
              <a:lnSpc>
                <a:spcPct val="150000"/>
              </a:lnSpc>
              <a:buAutoNum type="arabicPeriod"/>
            </a:pPr>
            <a:r>
              <a:rPr lang="en-US" sz="2400" dirty="0"/>
              <a:t>Center the data</a:t>
            </a:r>
          </a:p>
          <a:p>
            <a:pPr marL="342900" indent="-342900">
              <a:lnSpc>
                <a:spcPct val="150000"/>
              </a:lnSpc>
              <a:buAutoNum type="arabicPeriod"/>
            </a:pPr>
            <a:r>
              <a:rPr lang="en-US" sz="2400" dirty="0"/>
              <a:t>Calculate the covariance matrix</a:t>
            </a:r>
          </a:p>
          <a:p>
            <a:pPr marL="342900" indent="-342900">
              <a:lnSpc>
                <a:spcPct val="150000"/>
              </a:lnSpc>
              <a:buAutoNum type="arabicPeriod"/>
            </a:pPr>
            <a:r>
              <a:rPr lang="en-US" sz="2400" dirty="0"/>
              <a:t>Calculate eigenvalues of the covariance matrix</a:t>
            </a:r>
          </a:p>
          <a:p>
            <a:pPr marL="342900" indent="-342900">
              <a:lnSpc>
                <a:spcPct val="150000"/>
              </a:lnSpc>
              <a:buFontTx/>
              <a:buAutoNum type="arabicPeriod"/>
            </a:pPr>
            <a:r>
              <a:rPr lang="en-US" sz="2400" dirty="0"/>
              <a:t>Calculate eigenvectors of the covariance matrix</a:t>
            </a:r>
          </a:p>
          <a:p>
            <a:pPr marL="342900" indent="-342900">
              <a:lnSpc>
                <a:spcPct val="150000"/>
              </a:lnSpc>
              <a:buFontTx/>
              <a:buAutoNum type="arabicPeriod"/>
            </a:pPr>
            <a:r>
              <a:rPr lang="en-US" sz="2400" dirty="0"/>
              <a:t>Order the eigenvectors</a:t>
            </a:r>
          </a:p>
          <a:p>
            <a:pPr marL="342900" indent="-342900">
              <a:lnSpc>
                <a:spcPct val="150000"/>
              </a:lnSpc>
              <a:buFontTx/>
              <a:buAutoNum type="arabicPeriod"/>
            </a:pPr>
            <a:r>
              <a:rPr lang="en-US" sz="2400" dirty="0"/>
              <a:t>Calculate the principal components</a:t>
            </a:r>
          </a:p>
          <a:p>
            <a:pPr marL="342900" indent="-342900">
              <a:buAutoNum type="arabicPeriod"/>
            </a:pPr>
            <a:endParaRPr lang="en-US" dirty="0"/>
          </a:p>
        </p:txBody>
      </p:sp>
      <p:sp>
        <p:nvSpPr>
          <p:cNvPr id="4" name="TextBox 3">
            <a:extLst>
              <a:ext uri="{FF2B5EF4-FFF2-40B4-BE49-F238E27FC236}">
                <a16:creationId xmlns:a16="http://schemas.microsoft.com/office/drawing/2014/main" id="{282E368F-BCBA-FE4E-80FA-C51F328B4C7E}"/>
              </a:ext>
            </a:extLst>
          </p:cNvPr>
          <p:cNvSpPr txBox="1"/>
          <p:nvPr/>
        </p:nvSpPr>
        <p:spPr>
          <a:xfrm>
            <a:off x="928687" y="1687434"/>
            <a:ext cx="4814887" cy="800219"/>
          </a:xfrm>
          <a:prstGeom prst="rect">
            <a:avLst/>
          </a:prstGeom>
          <a:noFill/>
        </p:spPr>
        <p:txBody>
          <a:bodyPr wrap="square" rtlCol="0">
            <a:spAutoFit/>
          </a:bodyPr>
          <a:lstStyle/>
          <a:p>
            <a:r>
              <a:rPr lang="en-US" sz="2800" b="1" dirty="0"/>
              <a:t>The steps to compute a PCA:</a:t>
            </a:r>
          </a:p>
          <a:p>
            <a:endParaRPr lang="en-US" dirty="0"/>
          </a:p>
        </p:txBody>
      </p:sp>
    </p:spTree>
    <p:extLst>
      <p:ext uri="{BB962C8B-B14F-4D97-AF65-F5344CB8AC3E}">
        <p14:creationId xmlns:p14="http://schemas.microsoft.com/office/powerpoint/2010/main" val="9992572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14">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6E3AEA-9EC6-4540-886B-D4F7C34BC23E}"/>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Example data</a:t>
            </a:r>
          </a:p>
        </p:txBody>
      </p:sp>
      <p:pic>
        <p:nvPicPr>
          <p:cNvPr id="5" name="Picture 4" descr="Chart, scatter chart&#10;&#10;Description automatically generated">
            <a:extLst>
              <a:ext uri="{FF2B5EF4-FFF2-40B4-BE49-F238E27FC236}">
                <a16:creationId xmlns:a16="http://schemas.microsoft.com/office/drawing/2014/main" id="{48AF8BCA-1356-AB46-B726-1603E4029ACB}"/>
              </a:ext>
            </a:extLst>
          </p:cNvPr>
          <p:cNvPicPr>
            <a:picLocks noChangeAspect="1"/>
          </p:cNvPicPr>
          <p:nvPr/>
        </p:nvPicPr>
        <p:blipFill>
          <a:blip r:embed="rId3"/>
          <a:stretch>
            <a:fillRect/>
          </a:stretch>
        </p:blipFill>
        <p:spPr>
          <a:xfrm>
            <a:off x="920761" y="2289590"/>
            <a:ext cx="4971444" cy="3654011"/>
          </a:xfrm>
          <a:prstGeom prst="rect">
            <a:avLst/>
          </a:prstGeom>
        </p:spPr>
      </p:pic>
      <p:graphicFrame>
        <p:nvGraphicFramePr>
          <p:cNvPr id="13" name="Table 12">
            <a:extLst>
              <a:ext uri="{FF2B5EF4-FFF2-40B4-BE49-F238E27FC236}">
                <a16:creationId xmlns:a16="http://schemas.microsoft.com/office/drawing/2014/main" id="{930518D8-DE8F-8B44-AA6D-6BF6E61E21AE}"/>
              </a:ext>
            </a:extLst>
          </p:cNvPr>
          <p:cNvGraphicFramePr>
            <a:graphicFrameLocks noGrp="1"/>
          </p:cNvGraphicFramePr>
          <p:nvPr>
            <p:extLst>
              <p:ext uri="{D42A27DB-BD31-4B8C-83A1-F6EECF244321}">
                <p14:modId xmlns:p14="http://schemas.microsoft.com/office/powerpoint/2010/main" val="2417194872"/>
              </p:ext>
            </p:extLst>
          </p:nvPr>
        </p:nvGraphicFramePr>
        <p:xfrm>
          <a:off x="7243763" y="2289590"/>
          <a:ext cx="3857624" cy="3654014"/>
        </p:xfrm>
        <a:graphic>
          <a:graphicData uri="http://schemas.openxmlformats.org/drawingml/2006/table">
            <a:tbl>
              <a:tblPr>
                <a:tableStyleId>{5C22544A-7EE6-4342-B048-85BDC9FD1C3A}</a:tableStyleId>
              </a:tblPr>
              <a:tblGrid>
                <a:gridCol w="1928812">
                  <a:extLst>
                    <a:ext uri="{9D8B030D-6E8A-4147-A177-3AD203B41FA5}">
                      <a16:colId xmlns:a16="http://schemas.microsoft.com/office/drawing/2014/main" val="1472191680"/>
                    </a:ext>
                  </a:extLst>
                </a:gridCol>
                <a:gridCol w="1928812">
                  <a:extLst>
                    <a:ext uri="{9D8B030D-6E8A-4147-A177-3AD203B41FA5}">
                      <a16:colId xmlns:a16="http://schemas.microsoft.com/office/drawing/2014/main" val="1952636570"/>
                    </a:ext>
                  </a:extLst>
                </a:gridCol>
              </a:tblGrid>
              <a:tr h="522002">
                <a:tc>
                  <a:txBody>
                    <a:bodyPr/>
                    <a:lstStyle/>
                    <a:p>
                      <a:pPr algn="ctr" fontAlgn="b"/>
                      <a:r>
                        <a:rPr lang="en-CA" sz="2000" b="1" u="none" strike="noStrike" dirty="0">
                          <a:effectLst/>
                        </a:rPr>
                        <a:t>Systolic BP</a:t>
                      </a:r>
                      <a:endParaRPr lang="en-CA" sz="20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2000" b="1" u="none" strike="noStrike" dirty="0">
                          <a:effectLst/>
                        </a:rPr>
                        <a:t>Diastolic BP</a:t>
                      </a:r>
                      <a:endParaRPr lang="en-CA" sz="20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403499795"/>
                  </a:ext>
                </a:extLst>
              </a:tr>
              <a:tr h="522002">
                <a:tc>
                  <a:txBody>
                    <a:bodyPr/>
                    <a:lstStyle/>
                    <a:p>
                      <a:pPr algn="ctr" fontAlgn="b"/>
                      <a:r>
                        <a:rPr lang="en-CA" sz="2000" u="none" strike="noStrike" dirty="0">
                          <a:effectLst/>
                        </a:rPr>
                        <a:t>126</a:t>
                      </a:r>
                      <a:endParaRPr lang="en-CA" sz="20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2000" u="none" strike="noStrike">
                          <a:effectLst/>
                        </a:rPr>
                        <a:t>78</a:t>
                      </a:r>
                      <a:endParaRPr lang="en-CA" sz="20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718132622"/>
                  </a:ext>
                </a:extLst>
              </a:tr>
              <a:tr h="522002">
                <a:tc>
                  <a:txBody>
                    <a:bodyPr/>
                    <a:lstStyle/>
                    <a:p>
                      <a:pPr algn="ctr" fontAlgn="b"/>
                      <a:r>
                        <a:rPr lang="en-CA" sz="2000" u="none" strike="noStrike" dirty="0">
                          <a:effectLst/>
                        </a:rPr>
                        <a:t>128</a:t>
                      </a:r>
                      <a:endParaRPr lang="en-CA" sz="20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2000" u="none" strike="noStrike">
                          <a:effectLst/>
                        </a:rPr>
                        <a:t>80</a:t>
                      </a:r>
                      <a:endParaRPr lang="en-CA" sz="20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12042712"/>
                  </a:ext>
                </a:extLst>
              </a:tr>
              <a:tr h="522002">
                <a:tc>
                  <a:txBody>
                    <a:bodyPr/>
                    <a:lstStyle/>
                    <a:p>
                      <a:pPr algn="ctr" fontAlgn="b"/>
                      <a:r>
                        <a:rPr lang="en-CA" sz="2000" u="none" strike="noStrike" dirty="0">
                          <a:effectLst/>
                        </a:rPr>
                        <a:t>128</a:t>
                      </a:r>
                      <a:endParaRPr lang="en-CA" sz="20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2000" u="none" strike="noStrike" dirty="0">
                          <a:effectLst/>
                        </a:rPr>
                        <a:t>82</a:t>
                      </a:r>
                      <a:endParaRPr lang="en-CA" sz="20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463439956"/>
                  </a:ext>
                </a:extLst>
              </a:tr>
              <a:tr h="522002">
                <a:tc>
                  <a:txBody>
                    <a:bodyPr/>
                    <a:lstStyle/>
                    <a:p>
                      <a:pPr algn="ctr" fontAlgn="b"/>
                      <a:r>
                        <a:rPr lang="en-CA" sz="2000" u="none" strike="noStrike" dirty="0">
                          <a:effectLst/>
                        </a:rPr>
                        <a:t>130</a:t>
                      </a:r>
                      <a:endParaRPr lang="en-CA" sz="20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2000" u="none" strike="noStrike" dirty="0">
                          <a:effectLst/>
                        </a:rPr>
                        <a:t>82</a:t>
                      </a:r>
                      <a:endParaRPr lang="en-CA" sz="20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836231990"/>
                  </a:ext>
                </a:extLst>
              </a:tr>
              <a:tr h="522002">
                <a:tc>
                  <a:txBody>
                    <a:bodyPr/>
                    <a:lstStyle/>
                    <a:p>
                      <a:pPr algn="ctr" fontAlgn="b"/>
                      <a:r>
                        <a:rPr lang="en-CA" sz="2000" u="none" strike="noStrike" dirty="0">
                          <a:effectLst/>
                        </a:rPr>
                        <a:t>130</a:t>
                      </a:r>
                      <a:endParaRPr lang="en-CA" sz="20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2000" u="none" strike="noStrike" dirty="0">
                          <a:effectLst/>
                        </a:rPr>
                        <a:t>84</a:t>
                      </a:r>
                      <a:endParaRPr lang="en-CA" sz="20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691947449"/>
                  </a:ext>
                </a:extLst>
              </a:tr>
              <a:tr h="522002">
                <a:tc>
                  <a:txBody>
                    <a:bodyPr/>
                    <a:lstStyle/>
                    <a:p>
                      <a:pPr algn="ctr" fontAlgn="b"/>
                      <a:r>
                        <a:rPr lang="en-CA" sz="2000" u="none" strike="noStrike">
                          <a:effectLst/>
                        </a:rPr>
                        <a:t>132</a:t>
                      </a:r>
                      <a:endParaRPr lang="en-CA" sz="20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2000" u="none" strike="noStrike" dirty="0">
                          <a:effectLst/>
                        </a:rPr>
                        <a:t>86</a:t>
                      </a:r>
                      <a:endParaRPr lang="en-CA" sz="20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837984411"/>
                  </a:ext>
                </a:extLst>
              </a:tr>
            </a:tbl>
          </a:graphicData>
        </a:graphic>
      </p:graphicFrame>
    </p:spTree>
    <p:extLst>
      <p:ext uri="{BB962C8B-B14F-4D97-AF65-F5344CB8AC3E}">
        <p14:creationId xmlns:p14="http://schemas.microsoft.com/office/powerpoint/2010/main" val="3516967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14">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6E3AEA-9EC6-4540-886B-D4F7C34BC23E}"/>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dirty="0">
                <a:solidFill>
                  <a:schemeClr val="bg1"/>
                </a:solidFill>
                <a:latin typeface="+mj-lt"/>
                <a:ea typeface="+mj-ea"/>
                <a:cs typeface="+mj-cs"/>
              </a:rPr>
              <a:t>1. Center the data</a:t>
            </a:r>
          </a:p>
        </p:txBody>
      </p:sp>
      <p:graphicFrame>
        <p:nvGraphicFramePr>
          <p:cNvPr id="13" name="Table 12">
            <a:extLst>
              <a:ext uri="{FF2B5EF4-FFF2-40B4-BE49-F238E27FC236}">
                <a16:creationId xmlns:a16="http://schemas.microsoft.com/office/drawing/2014/main" id="{930518D8-DE8F-8B44-AA6D-6BF6E61E21AE}"/>
              </a:ext>
            </a:extLst>
          </p:cNvPr>
          <p:cNvGraphicFramePr>
            <a:graphicFrameLocks noGrp="1"/>
          </p:cNvGraphicFramePr>
          <p:nvPr>
            <p:extLst>
              <p:ext uri="{D42A27DB-BD31-4B8C-83A1-F6EECF244321}">
                <p14:modId xmlns:p14="http://schemas.microsoft.com/office/powerpoint/2010/main" val="1269144065"/>
              </p:ext>
            </p:extLst>
          </p:nvPr>
        </p:nvGraphicFramePr>
        <p:xfrm>
          <a:off x="733424" y="1771651"/>
          <a:ext cx="3509964" cy="2400300"/>
        </p:xfrm>
        <a:graphic>
          <a:graphicData uri="http://schemas.openxmlformats.org/drawingml/2006/table">
            <a:tbl>
              <a:tblPr>
                <a:tableStyleId>{5C22544A-7EE6-4342-B048-85BDC9FD1C3A}</a:tableStyleId>
              </a:tblPr>
              <a:tblGrid>
                <a:gridCol w="1754982">
                  <a:extLst>
                    <a:ext uri="{9D8B030D-6E8A-4147-A177-3AD203B41FA5}">
                      <a16:colId xmlns:a16="http://schemas.microsoft.com/office/drawing/2014/main" val="1472191680"/>
                    </a:ext>
                  </a:extLst>
                </a:gridCol>
                <a:gridCol w="1754982">
                  <a:extLst>
                    <a:ext uri="{9D8B030D-6E8A-4147-A177-3AD203B41FA5}">
                      <a16:colId xmlns:a16="http://schemas.microsoft.com/office/drawing/2014/main" val="1952636570"/>
                    </a:ext>
                  </a:extLst>
                </a:gridCol>
              </a:tblGrid>
              <a:tr h="342900">
                <a:tc>
                  <a:txBody>
                    <a:bodyPr/>
                    <a:lstStyle/>
                    <a:p>
                      <a:pPr algn="ctr" fontAlgn="b"/>
                      <a:r>
                        <a:rPr lang="en-CA" sz="2000" b="1" u="none" strike="noStrike" dirty="0">
                          <a:effectLst/>
                        </a:rPr>
                        <a:t>Systolic BP</a:t>
                      </a:r>
                      <a:endParaRPr lang="en-CA" sz="20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2000" b="1" u="none" strike="noStrike" dirty="0">
                          <a:effectLst/>
                        </a:rPr>
                        <a:t>Diastolic BP</a:t>
                      </a:r>
                      <a:endParaRPr lang="en-CA" sz="20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403499795"/>
                  </a:ext>
                </a:extLst>
              </a:tr>
              <a:tr h="342900">
                <a:tc>
                  <a:txBody>
                    <a:bodyPr/>
                    <a:lstStyle/>
                    <a:p>
                      <a:pPr algn="ctr" fontAlgn="b"/>
                      <a:r>
                        <a:rPr lang="en-CA" sz="1800" u="none" strike="noStrike" dirty="0">
                          <a:effectLst/>
                        </a:rPr>
                        <a:t>126 – 129 = -3</a:t>
                      </a:r>
                      <a:endParaRPr lang="en-CA"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800" u="none" strike="noStrike" dirty="0">
                          <a:effectLst/>
                        </a:rPr>
                        <a:t>78 – 82 = -4</a:t>
                      </a:r>
                      <a:endParaRPr lang="en-CA" sz="1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718132622"/>
                  </a:ext>
                </a:extLst>
              </a:tr>
              <a:tr h="342900">
                <a:tc>
                  <a:txBody>
                    <a:bodyPr/>
                    <a:lstStyle/>
                    <a:p>
                      <a:pPr algn="ctr" fontAlgn="b"/>
                      <a:r>
                        <a:rPr lang="en-CA" sz="1800" u="none" strike="noStrike" dirty="0">
                          <a:effectLst/>
                        </a:rPr>
                        <a:t>128 – 129 = -1</a:t>
                      </a:r>
                      <a:endParaRPr lang="en-CA"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800" u="none" strike="noStrike" dirty="0">
                          <a:effectLst/>
                        </a:rPr>
                        <a:t>80 – 82 = -2</a:t>
                      </a:r>
                      <a:endParaRPr lang="en-CA" sz="1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12042712"/>
                  </a:ext>
                </a:extLst>
              </a:tr>
              <a:tr h="342900">
                <a:tc>
                  <a:txBody>
                    <a:bodyPr/>
                    <a:lstStyle/>
                    <a:p>
                      <a:pPr algn="ctr" fontAlgn="b"/>
                      <a:r>
                        <a:rPr lang="en-CA" sz="1800" u="none" strike="noStrike" dirty="0">
                          <a:effectLst/>
                        </a:rPr>
                        <a:t>128 – 129 = -1</a:t>
                      </a:r>
                      <a:endParaRPr lang="en-CA"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800" u="none" strike="noStrike" dirty="0">
                          <a:effectLst/>
                        </a:rPr>
                        <a:t>82 – 82 = 0</a:t>
                      </a:r>
                      <a:endParaRPr lang="en-CA" sz="1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463439956"/>
                  </a:ext>
                </a:extLst>
              </a:tr>
              <a:tr h="342900">
                <a:tc>
                  <a:txBody>
                    <a:bodyPr/>
                    <a:lstStyle/>
                    <a:p>
                      <a:pPr algn="ctr" fontAlgn="b"/>
                      <a:r>
                        <a:rPr lang="en-CA" sz="1800" u="none" strike="noStrike" dirty="0">
                          <a:effectLst/>
                        </a:rPr>
                        <a:t>130 – 129 = 1 </a:t>
                      </a:r>
                      <a:endParaRPr lang="en-CA"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800" u="none" strike="noStrike" dirty="0">
                          <a:effectLst/>
                        </a:rPr>
                        <a:t>82 – 82 = 0</a:t>
                      </a:r>
                      <a:endParaRPr lang="en-CA" sz="1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836231990"/>
                  </a:ext>
                </a:extLst>
              </a:tr>
              <a:tr h="342900">
                <a:tc>
                  <a:txBody>
                    <a:bodyPr/>
                    <a:lstStyle/>
                    <a:p>
                      <a:pPr algn="ctr" fontAlgn="b"/>
                      <a:r>
                        <a:rPr lang="en-CA" sz="1800" u="none" strike="noStrike" dirty="0">
                          <a:effectLst/>
                        </a:rPr>
                        <a:t>130 – 129 = 1</a:t>
                      </a:r>
                      <a:endParaRPr lang="en-CA"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800" u="none" strike="noStrike" dirty="0">
                          <a:effectLst/>
                        </a:rPr>
                        <a:t>84 – 82 = 2</a:t>
                      </a:r>
                      <a:endParaRPr lang="en-CA" sz="1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691947449"/>
                  </a:ext>
                </a:extLst>
              </a:tr>
              <a:tr h="342900">
                <a:tc>
                  <a:txBody>
                    <a:bodyPr/>
                    <a:lstStyle/>
                    <a:p>
                      <a:pPr algn="ctr" fontAlgn="b"/>
                      <a:r>
                        <a:rPr lang="en-CA" sz="1800" u="none" strike="noStrike" dirty="0">
                          <a:effectLst/>
                        </a:rPr>
                        <a:t>132 – 129 = 3</a:t>
                      </a:r>
                      <a:endParaRPr lang="en-CA"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800" u="none" strike="noStrike" dirty="0">
                          <a:effectLst/>
                        </a:rPr>
                        <a:t>86 – 82 = 4</a:t>
                      </a:r>
                      <a:endParaRPr lang="en-CA" sz="1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837984411"/>
                  </a:ext>
                </a:extLst>
              </a:tr>
            </a:tbl>
          </a:graphicData>
        </a:graphic>
      </p:graphicFrame>
      <p:graphicFrame>
        <p:nvGraphicFramePr>
          <p:cNvPr id="3" name="Table 2">
            <a:extLst>
              <a:ext uri="{FF2B5EF4-FFF2-40B4-BE49-F238E27FC236}">
                <a16:creationId xmlns:a16="http://schemas.microsoft.com/office/drawing/2014/main" id="{8FC31125-186F-4A40-87B9-7FB808075E2D}"/>
              </a:ext>
            </a:extLst>
          </p:cNvPr>
          <p:cNvGraphicFramePr>
            <a:graphicFrameLocks noGrp="1"/>
          </p:cNvGraphicFramePr>
          <p:nvPr>
            <p:extLst>
              <p:ext uri="{D42A27DB-BD31-4B8C-83A1-F6EECF244321}">
                <p14:modId xmlns:p14="http://schemas.microsoft.com/office/powerpoint/2010/main" val="2298737564"/>
              </p:ext>
            </p:extLst>
          </p:nvPr>
        </p:nvGraphicFramePr>
        <p:xfrm>
          <a:off x="7534274" y="1771651"/>
          <a:ext cx="3052764" cy="2400300"/>
        </p:xfrm>
        <a:graphic>
          <a:graphicData uri="http://schemas.openxmlformats.org/drawingml/2006/table">
            <a:tbl>
              <a:tblPr>
                <a:tableStyleId>{5C22544A-7EE6-4342-B048-85BDC9FD1C3A}</a:tableStyleId>
              </a:tblPr>
              <a:tblGrid>
                <a:gridCol w="1526382">
                  <a:extLst>
                    <a:ext uri="{9D8B030D-6E8A-4147-A177-3AD203B41FA5}">
                      <a16:colId xmlns:a16="http://schemas.microsoft.com/office/drawing/2014/main" val="859006036"/>
                    </a:ext>
                  </a:extLst>
                </a:gridCol>
                <a:gridCol w="1526382">
                  <a:extLst>
                    <a:ext uri="{9D8B030D-6E8A-4147-A177-3AD203B41FA5}">
                      <a16:colId xmlns:a16="http://schemas.microsoft.com/office/drawing/2014/main" val="1671857533"/>
                    </a:ext>
                  </a:extLst>
                </a:gridCol>
              </a:tblGrid>
              <a:tr h="507204">
                <a:tc>
                  <a:txBody>
                    <a:bodyPr/>
                    <a:lstStyle/>
                    <a:p>
                      <a:pPr algn="ctr" fontAlgn="b"/>
                      <a:r>
                        <a:rPr lang="en-CA" sz="2000" b="1" u="none" strike="noStrike" dirty="0">
                          <a:effectLst/>
                        </a:rPr>
                        <a:t>Centered SBP</a:t>
                      </a:r>
                      <a:endParaRPr lang="en-CA" sz="20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2000" b="1" u="none" strike="noStrike" dirty="0">
                          <a:effectLst/>
                        </a:rPr>
                        <a:t>Centered DBP</a:t>
                      </a:r>
                      <a:endParaRPr lang="en-CA" sz="20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42653376"/>
                  </a:ext>
                </a:extLst>
              </a:tr>
              <a:tr h="315516">
                <a:tc>
                  <a:txBody>
                    <a:bodyPr/>
                    <a:lstStyle/>
                    <a:p>
                      <a:pPr algn="ctr" fontAlgn="b"/>
                      <a:r>
                        <a:rPr lang="en-CA" sz="2000" b="0" i="0" u="none" strike="noStrike" dirty="0">
                          <a:solidFill>
                            <a:srgbClr val="000000"/>
                          </a:solidFill>
                          <a:effectLst/>
                          <a:latin typeface="Calibri" panose="020F0502020204030204" pitchFamily="34" charset="0"/>
                        </a:rPr>
                        <a:t>-3</a:t>
                      </a:r>
                    </a:p>
                  </a:txBody>
                  <a:tcPr marL="9525" marR="9525" marT="9525" marB="0" anchor="ctr"/>
                </a:tc>
                <a:tc>
                  <a:txBody>
                    <a:bodyPr/>
                    <a:lstStyle/>
                    <a:p>
                      <a:pPr algn="ctr" fontAlgn="b"/>
                      <a:r>
                        <a:rPr lang="en-CA" sz="2000" b="0" i="0" u="none" strike="noStrike" dirty="0">
                          <a:solidFill>
                            <a:srgbClr val="000000"/>
                          </a:solidFill>
                          <a:effectLst/>
                          <a:latin typeface="Calibri" panose="020F0502020204030204" pitchFamily="34" charset="0"/>
                        </a:rPr>
                        <a:t>-4</a:t>
                      </a:r>
                    </a:p>
                  </a:txBody>
                  <a:tcPr marL="9525" marR="9525" marT="9525" marB="0" anchor="ctr"/>
                </a:tc>
                <a:extLst>
                  <a:ext uri="{0D108BD9-81ED-4DB2-BD59-A6C34878D82A}">
                    <a16:rowId xmlns:a16="http://schemas.microsoft.com/office/drawing/2014/main" val="3715578906"/>
                  </a:ext>
                </a:extLst>
              </a:tr>
              <a:tr h="315516">
                <a:tc>
                  <a:txBody>
                    <a:bodyPr/>
                    <a:lstStyle/>
                    <a:p>
                      <a:pPr algn="ctr" fontAlgn="b"/>
                      <a:r>
                        <a:rPr lang="en-CA" sz="2000" b="0" i="0" u="none" strike="noStrike" dirty="0">
                          <a:solidFill>
                            <a:srgbClr val="000000"/>
                          </a:solidFill>
                          <a:effectLst/>
                          <a:latin typeface="Calibri" panose="020F0502020204030204" pitchFamily="34" charset="0"/>
                        </a:rPr>
                        <a:t>-1</a:t>
                      </a:r>
                    </a:p>
                  </a:txBody>
                  <a:tcPr marL="9525" marR="9525" marT="9525" marB="0" anchor="ctr"/>
                </a:tc>
                <a:tc>
                  <a:txBody>
                    <a:bodyPr/>
                    <a:lstStyle/>
                    <a:p>
                      <a:pPr algn="ctr" fontAlgn="b"/>
                      <a:r>
                        <a:rPr lang="en-CA" sz="2000" b="0" i="0" u="none" strike="noStrike" dirty="0">
                          <a:solidFill>
                            <a:srgbClr val="000000"/>
                          </a:solidFill>
                          <a:effectLst/>
                          <a:latin typeface="Calibri" panose="020F0502020204030204" pitchFamily="34" charset="0"/>
                        </a:rPr>
                        <a:t>-2</a:t>
                      </a:r>
                    </a:p>
                  </a:txBody>
                  <a:tcPr marL="9525" marR="9525" marT="9525" marB="0" anchor="ctr"/>
                </a:tc>
                <a:extLst>
                  <a:ext uri="{0D108BD9-81ED-4DB2-BD59-A6C34878D82A}">
                    <a16:rowId xmlns:a16="http://schemas.microsoft.com/office/drawing/2014/main" val="2405886572"/>
                  </a:ext>
                </a:extLst>
              </a:tr>
              <a:tr h="315516">
                <a:tc>
                  <a:txBody>
                    <a:bodyPr/>
                    <a:lstStyle/>
                    <a:p>
                      <a:pPr algn="ctr" fontAlgn="b"/>
                      <a:r>
                        <a:rPr lang="en-CA" sz="2000" b="0" i="0" u="none" strike="noStrike" dirty="0">
                          <a:solidFill>
                            <a:srgbClr val="000000"/>
                          </a:solidFill>
                          <a:effectLst/>
                          <a:latin typeface="Calibri" panose="020F0502020204030204" pitchFamily="34" charset="0"/>
                        </a:rPr>
                        <a:t>-1</a:t>
                      </a:r>
                    </a:p>
                  </a:txBody>
                  <a:tcPr marL="9525" marR="9525" marT="9525" marB="0" anchor="ctr"/>
                </a:tc>
                <a:tc>
                  <a:txBody>
                    <a:bodyPr/>
                    <a:lstStyle/>
                    <a:p>
                      <a:pPr algn="ctr" fontAlgn="b"/>
                      <a:r>
                        <a:rPr lang="en-CA" sz="2000" b="0" i="0" u="none" strike="noStrike" dirty="0">
                          <a:solidFill>
                            <a:srgbClr val="000000"/>
                          </a:solidFill>
                          <a:effectLst/>
                          <a:latin typeface="Calibri" panose="020F0502020204030204" pitchFamily="34" charset="0"/>
                        </a:rPr>
                        <a:t>0</a:t>
                      </a:r>
                    </a:p>
                  </a:txBody>
                  <a:tcPr marL="9525" marR="9525" marT="9525" marB="0" anchor="ctr"/>
                </a:tc>
                <a:extLst>
                  <a:ext uri="{0D108BD9-81ED-4DB2-BD59-A6C34878D82A}">
                    <a16:rowId xmlns:a16="http://schemas.microsoft.com/office/drawing/2014/main" val="1396870750"/>
                  </a:ext>
                </a:extLst>
              </a:tr>
              <a:tr h="315516">
                <a:tc>
                  <a:txBody>
                    <a:bodyPr/>
                    <a:lstStyle/>
                    <a:p>
                      <a:pPr algn="ctr" fontAlgn="b"/>
                      <a:r>
                        <a:rPr lang="en-CA" sz="2000" b="0" i="0" u="none" strike="noStrike" dirty="0">
                          <a:solidFill>
                            <a:srgbClr val="000000"/>
                          </a:solidFill>
                          <a:effectLst/>
                          <a:latin typeface="Calibri" panose="020F0502020204030204" pitchFamily="34" charset="0"/>
                        </a:rPr>
                        <a:t>1</a:t>
                      </a:r>
                    </a:p>
                  </a:txBody>
                  <a:tcPr marL="9525" marR="9525" marT="9525" marB="0" anchor="ctr"/>
                </a:tc>
                <a:tc>
                  <a:txBody>
                    <a:bodyPr/>
                    <a:lstStyle/>
                    <a:p>
                      <a:pPr algn="ctr" fontAlgn="b"/>
                      <a:r>
                        <a:rPr lang="en-CA" sz="2000" b="0" i="0" u="none" strike="noStrike" dirty="0">
                          <a:solidFill>
                            <a:srgbClr val="000000"/>
                          </a:solidFill>
                          <a:effectLst/>
                          <a:latin typeface="Calibri" panose="020F0502020204030204" pitchFamily="34" charset="0"/>
                        </a:rPr>
                        <a:t>0</a:t>
                      </a:r>
                    </a:p>
                  </a:txBody>
                  <a:tcPr marL="9525" marR="9525" marT="9525" marB="0" anchor="ctr"/>
                </a:tc>
                <a:extLst>
                  <a:ext uri="{0D108BD9-81ED-4DB2-BD59-A6C34878D82A}">
                    <a16:rowId xmlns:a16="http://schemas.microsoft.com/office/drawing/2014/main" val="1774803852"/>
                  </a:ext>
                </a:extLst>
              </a:tr>
              <a:tr h="315516">
                <a:tc>
                  <a:txBody>
                    <a:bodyPr/>
                    <a:lstStyle/>
                    <a:p>
                      <a:pPr algn="ctr" fontAlgn="b"/>
                      <a:r>
                        <a:rPr lang="en-CA" sz="2000" b="0" i="0" u="none" strike="noStrike" dirty="0">
                          <a:solidFill>
                            <a:srgbClr val="000000"/>
                          </a:solidFill>
                          <a:effectLst/>
                          <a:latin typeface="Calibri" panose="020F0502020204030204" pitchFamily="34" charset="0"/>
                        </a:rPr>
                        <a:t>1</a:t>
                      </a:r>
                    </a:p>
                  </a:txBody>
                  <a:tcPr marL="9525" marR="9525" marT="9525" marB="0" anchor="ctr"/>
                </a:tc>
                <a:tc>
                  <a:txBody>
                    <a:bodyPr/>
                    <a:lstStyle/>
                    <a:p>
                      <a:pPr algn="ctr" fontAlgn="b"/>
                      <a:r>
                        <a:rPr lang="en-CA" sz="2000" b="0" i="0" u="none" strike="noStrike" dirty="0">
                          <a:solidFill>
                            <a:srgbClr val="000000"/>
                          </a:solidFill>
                          <a:effectLst/>
                          <a:latin typeface="Calibri" panose="020F0502020204030204" pitchFamily="34" charset="0"/>
                        </a:rPr>
                        <a:t>2</a:t>
                      </a:r>
                    </a:p>
                  </a:txBody>
                  <a:tcPr marL="9525" marR="9525" marT="9525" marB="0" anchor="ctr"/>
                </a:tc>
                <a:extLst>
                  <a:ext uri="{0D108BD9-81ED-4DB2-BD59-A6C34878D82A}">
                    <a16:rowId xmlns:a16="http://schemas.microsoft.com/office/drawing/2014/main" val="1625077560"/>
                  </a:ext>
                </a:extLst>
              </a:tr>
              <a:tr h="315516">
                <a:tc>
                  <a:txBody>
                    <a:bodyPr/>
                    <a:lstStyle/>
                    <a:p>
                      <a:pPr algn="ctr" fontAlgn="b"/>
                      <a:r>
                        <a:rPr lang="en-CA" sz="2000" b="0" i="0" u="none" strike="noStrike" dirty="0">
                          <a:solidFill>
                            <a:srgbClr val="000000"/>
                          </a:solidFill>
                          <a:effectLst/>
                          <a:latin typeface="Calibri" panose="020F0502020204030204" pitchFamily="34" charset="0"/>
                        </a:rPr>
                        <a:t>3</a:t>
                      </a:r>
                    </a:p>
                  </a:txBody>
                  <a:tcPr marL="9525" marR="9525" marT="9525" marB="0" anchor="ctr"/>
                </a:tc>
                <a:tc>
                  <a:txBody>
                    <a:bodyPr/>
                    <a:lstStyle/>
                    <a:p>
                      <a:pPr algn="ctr" fontAlgn="b"/>
                      <a:r>
                        <a:rPr lang="en-CA" sz="2000" b="0" i="0" u="none" strike="noStrike" dirty="0">
                          <a:solidFill>
                            <a:srgbClr val="000000"/>
                          </a:solidFill>
                          <a:effectLst/>
                          <a:latin typeface="Calibri" panose="020F0502020204030204" pitchFamily="34" charset="0"/>
                        </a:rPr>
                        <a:t>4</a:t>
                      </a:r>
                    </a:p>
                  </a:txBody>
                  <a:tcPr marL="9525" marR="9525" marT="9525" marB="0" anchor="ctr"/>
                </a:tc>
                <a:extLst>
                  <a:ext uri="{0D108BD9-81ED-4DB2-BD59-A6C34878D82A}">
                    <a16:rowId xmlns:a16="http://schemas.microsoft.com/office/drawing/2014/main" val="464928589"/>
                  </a:ext>
                </a:extLst>
              </a:tr>
            </a:tbl>
          </a:graphicData>
        </a:graphic>
      </p:graphicFrame>
      <p:pic>
        <p:nvPicPr>
          <p:cNvPr id="7" name="Picture 6" descr="Chart&#10;&#10;Description automatically generated">
            <a:extLst>
              <a:ext uri="{FF2B5EF4-FFF2-40B4-BE49-F238E27FC236}">
                <a16:creationId xmlns:a16="http://schemas.microsoft.com/office/drawing/2014/main" id="{C27E5E95-C7A3-1F43-8C90-639233739C6E}"/>
              </a:ext>
            </a:extLst>
          </p:cNvPr>
          <p:cNvPicPr>
            <a:picLocks noChangeAspect="1"/>
          </p:cNvPicPr>
          <p:nvPr/>
        </p:nvPicPr>
        <p:blipFill>
          <a:blip r:embed="rId3"/>
          <a:stretch>
            <a:fillRect/>
          </a:stretch>
        </p:blipFill>
        <p:spPr>
          <a:xfrm>
            <a:off x="7534275" y="4391241"/>
            <a:ext cx="3052763" cy="2094452"/>
          </a:xfrm>
          <a:prstGeom prst="rect">
            <a:avLst/>
          </a:prstGeom>
        </p:spPr>
      </p:pic>
      <p:pic>
        <p:nvPicPr>
          <p:cNvPr id="9" name="Picture 8" descr="Chart, scatter chart&#10;&#10;Description automatically generated">
            <a:extLst>
              <a:ext uri="{FF2B5EF4-FFF2-40B4-BE49-F238E27FC236}">
                <a16:creationId xmlns:a16="http://schemas.microsoft.com/office/drawing/2014/main" id="{2393DB51-9D71-7A4C-A70D-DCDE8165FF02}"/>
              </a:ext>
            </a:extLst>
          </p:cNvPr>
          <p:cNvPicPr>
            <a:picLocks noChangeAspect="1"/>
          </p:cNvPicPr>
          <p:nvPr/>
        </p:nvPicPr>
        <p:blipFill>
          <a:blip r:embed="rId4"/>
          <a:stretch>
            <a:fillRect/>
          </a:stretch>
        </p:blipFill>
        <p:spPr>
          <a:xfrm>
            <a:off x="733424" y="4391241"/>
            <a:ext cx="3052763" cy="2156629"/>
          </a:xfrm>
          <a:prstGeom prst="rect">
            <a:avLst/>
          </a:prstGeom>
        </p:spPr>
      </p:pic>
      <p:sp>
        <p:nvSpPr>
          <p:cNvPr id="14" name="Right Arrow 13">
            <a:extLst>
              <a:ext uri="{FF2B5EF4-FFF2-40B4-BE49-F238E27FC236}">
                <a16:creationId xmlns:a16="http://schemas.microsoft.com/office/drawing/2014/main" id="{0A1C937A-581C-764D-807B-023660DABE8F}"/>
              </a:ext>
            </a:extLst>
          </p:cNvPr>
          <p:cNvSpPr/>
          <p:nvPr/>
        </p:nvSpPr>
        <p:spPr>
          <a:xfrm>
            <a:off x="4657727" y="2927051"/>
            <a:ext cx="2357436" cy="5019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EDAF60CC-21E8-684D-BD06-3AA304FC64DD}"/>
              </a:ext>
            </a:extLst>
          </p:cNvPr>
          <p:cNvSpPr txBox="1"/>
          <p:nvPr/>
        </p:nvSpPr>
        <p:spPr>
          <a:xfrm>
            <a:off x="4657727" y="2602469"/>
            <a:ext cx="4493416" cy="400110"/>
          </a:xfrm>
          <a:prstGeom prst="rect">
            <a:avLst/>
          </a:prstGeom>
          <a:noFill/>
        </p:spPr>
        <p:txBody>
          <a:bodyPr wrap="square">
            <a:spAutoFit/>
          </a:bodyPr>
          <a:lstStyle/>
          <a:p>
            <a:r>
              <a:rPr lang="en-US" sz="2000" dirty="0"/>
              <a:t>The centered data</a:t>
            </a:r>
          </a:p>
        </p:txBody>
      </p:sp>
    </p:spTree>
    <p:extLst>
      <p:ext uri="{BB962C8B-B14F-4D97-AF65-F5344CB8AC3E}">
        <p14:creationId xmlns:p14="http://schemas.microsoft.com/office/powerpoint/2010/main" val="13384111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14">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6E3AEA-9EC6-4540-886B-D4F7C34BC23E}"/>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dirty="0">
                <a:solidFill>
                  <a:schemeClr val="bg1"/>
                </a:solidFill>
              </a:rPr>
              <a:t>2</a:t>
            </a:r>
            <a:r>
              <a:rPr lang="en-US" sz="3200" kern="1200" dirty="0">
                <a:solidFill>
                  <a:schemeClr val="bg1"/>
                </a:solidFill>
                <a:latin typeface="+mj-lt"/>
                <a:ea typeface="+mj-ea"/>
                <a:cs typeface="+mj-cs"/>
              </a:rPr>
              <a:t>. Calculate the covariance matrix</a:t>
            </a:r>
          </a:p>
        </p:txBody>
      </p:sp>
      <p:graphicFrame>
        <p:nvGraphicFramePr>
          <p:cNvPr id="3" name="Table 2">
            <a:extLst>
              <a:ext uri="{FF2B5EF4-FFF2-40B4-BE49-F238E27FC236}">
                <a16:creationId xmlns:a16="http://schemas.microsoft.com/office/drawing/2014/main" id="{8FC31125-186F-4A40-87B9-7FB808075E2D}"/>
              </a:ext>
            </a:extLst>
          </p:cNvPr>
          <p:cNvGraphicFramePr>
            <a:graphicFrameLocks noGrp="1"/>
          </p:cNvGraphicFramePr>
          <p:nvPr>
            <p:extLst>
              <p:ext uri="{D42A27DB-BD31-4B8C-83A1-F6EECF244321}">
                <p14:modId xmlns:p14="http://schemas.microsoft.com/office/powerpoint/2010/main" val="2827407252"/>
              </p:ext>
            </p:extLst>
          </p:nvPr>
        </p:nvGraphicFramePr>
        <p:xfrm>
          <a:off x="809083" y="4570097"/>
          <a:ext cx="2962818" cy="1773555"/>
        </p:xfrm>
        <a:graphic>
          <a:graphicData uri="http://schemas.openxmlformats.org/drawingml/2006/table">
            <a:tbl>
              <a:tblPr>
                <a:tableStyleId>{5C22544A-7EE6-4342-B048-85BDC9FD1C3A}</a:tableStyleId>
              </a:tblPr>
              <a:tblGrid>
                <a:gridCol w="1481409">
                  <a:extLst>
                    <a:ext uri="{9D8B030D-6E8A-4147-A177-3AD203B41FA5}">
                      <a16:colId xmlns:a16="http://schemas.microsoft.com/office/drawing/2014/main" val="859006036"/>
                    </a:ext>
                  </a:extLst>
                </a:gridCol>
                <a:gridCol w="1481409">
                  <a:extLst>
                    <a:ext uri="{9D8B030D-6E8A-4147-A177-3AD203B41FA5}">
                      <a16:colId xmlns:a16="http://schemas.microsoft.com/office/drawing/2014/main" val="1671857533"/>
                    </a:ext>
                  </a:extLst>
                </a:gridCol>
              </a:tblGrid>
              <a:tr h="244929">
                <a:tc>
                  <a:txBody>
                    <a:bodyPr/>
                    <a:lstStyle/>
                    <a:p>
                      <a:pPr algn="ctr" fontAlgn="b"/>
                      <a:r>
                        <a:rPr lang="en-CA" sz="1600" b="1" u="none" strike="noStrike" dirty="0">
                          <a:effectLst/>
                        </a:rPr>
                        <a:t>Centered SBP</a:t>
                      </a:r>
                      <a:endParaRPr lang="en-CA" sz="16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b="1" u="none" strike="noStrike" dirty="0">
                          <a:effectLst/>
                        </a:rPr>
                        <a:t>Centered DBP</a:t>
                      </a:r>
                      <a:endParaRPr lang="en-CA" sz="16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42653376"/>
                  </a:ext>
                </a:extLst>
              </a:tr>
              <a:tr h="244929">
                <a:tc>
                  <a:txBody>
                    <a:bodyPr/>
                    <a:lstStyle/>
                    <a:p>
                      <a:pPr algn="ctr" fontAlgn="b"/>
                      <a:r>
                        <a:rPr lang="en-CA" sz="1600" b="0" i="0" u="none" strike="noStrike" dirty="0">
                          <a:solidFill>
                            <a:srgbClr val="000000"/>
                          </a:solidFill>
                          <a:effectLst/>
                          <a:latin typeface="Calibri" panose="020F0502020204030204" pitchFamily="34" charset="0"/>
                        </a:rPr>
                        <a:t>-3</a:t>
                      </a:r>
                    </a:p>
                  </a:txBody>
                  <a:tcPr marL="9525" marR="9525" marT="9525" marB="0" anchor="ctr"/>
                </a:tc>
                <a:tc>
                  <a:txBody>
                    <a:bodyPr/>
                    <a:lstStyle/>
                    <a:p>
                      <a:pPr algn="ctr" fontAlgn="b"/>
                      <a:r>
                        <a:rPr lang="en-CA" sz="1600" b="0" i="0" u="none" strike="noStrike" dirty="0">
                          <a:solidFill>
                            <a:srgbClr val="000000"/>
                          </a:solidFill>
                          <a:effectLst/>
                          <a:latin typeface="Calibri" panose="020F0502020204030204" pitchFamily="34" charset="0"/>
                        </a:rPr>
                        <a:t>-4</a:t>
                      </a:r>
                    </a:p>
                  </a:txBody>
                  <a:tcPr marL="9525" marR="9525" marT="9525" marB="0" anchor="ctr"/>
                </a:tc>
                <a:extLst>
                  <a:ext uri="{0D108BD9-81ED-4DB2-BD59-A6C34878D82A}">
                    <a16:rowId xmlns:a16="http://schemas.microsoft.com/office/drawing/2014/main" val="3715578906"/>
                  </a:ext>
                </a:extLst>
              </a:tr>
              <a:tr h="244929">
                <a:tc>
                  <a:txBody>
                    <a:bodyPr/>
                    <a:lstStyle/>
                    <a:p>
                      <a:pPr algn="ctr" fontAlgn="b"/>
                      <a:r>
                        <a:rPr lang="en-CA" sz="1600" b="0" i="0" u="none" strike="noStrike" dirty="0">
                          <a:solidFill>
                            <a:srgbClr val="000000"/>
                          </a:solidFill>
                          <a:effectLst/>
                          <a:latin typeface="Calibri" panose="020F0502020204030204" pitchFamily="34" charset="0"/>
                        </a:rPr>
                        <a:t>-1</a:t>
                      </a:r>
                    </a:p>
                  </a:txBody>
                  <a:tcPr marL="9525" marR="9525" marT="9525" marB="0" anchor="ctr"/>
                </a:tc>
                <a:tc>
                  <a:txBody>
                    <a:bodyPr/>
                    <a:lstStyle/>
                    <a:p>
                      <a:pPr algn="ctr" fontAlgn="b"/>
                      <a:r>
                        <a:rPr lang="en-CA" sz="1600" b="0" i="0" u="none" strike="noStrike" dirty="0">
                          <a:solidFill>
                            <a:srgbClr val="000000"/>
                          </a:solidFill>
                          <a:effectLst/>
                          <a:latin typeface="Calibri" panose="020F0502020204030204" pitchFamily="34" charset="0"/>
                        </a:rPr>
                        <a:t>-2</a:t>
                      </a:r>
                    </a:p>
                  </a:txBody>
                  <a:tcPr marL="9525" marR="9525" marT="9525" marB="0" anchor="ctr"/>
                </a:tc>
                <a:extLst>
                  <a:ext uri="{0D108BD9-81ED-4DB2-BD59-A6C34878D82A}">
                    <a16:rowId xmlns:a16="http://schemas.microsoft.com/office/drawing/2014/main" val="2405886572"/>
                  </a:ext>
                </a:extLst>
              </a:tr>
              <a:tr h="244929">
                <a:tc>
                  <a:txBody>
                    <a:bodyPr/>
                    <a:lstStyle/>
                    <a:p>
                      <a:pPr algn="ctr" fontAlgn="b"/>
                      <a:r>
                        <a:rPr lang="en-CA" sz="1600" b="0" i="0" u="none" strike="noStrike" dirty="0">
                          <a:solidFill>
                            <a:srgbClr val="000000"/>
                          </a:solidFill>
                          <a:effectLst/>
                          <a:latin typeface="Calibri" panose="020F0502020204030204" pitchFamily="34" charset="0"/>
                        </a:rPr>
                        <a:t>-1</a:t>
                      </a:r>
                    </a:p>
                  </a:txBody>
                  <a:tcPr marL="9525" marR="9525" marT="9525" marB="0" anchor="ctr"/>
                </a:tc>
                <a:tc>
                  <a:txBody>
                    <a:bodyPr/>
                    <a:lstStyle/>
                    <a:p>
                      <a:pPr algn="ctr" fontAlgn="b"/>
                      <a:r>
                        <a:rPr lang="en-CA" sz="1600" b="0" i="0" u="none" strike="noStrike" dirty="0">
                          <a:solidFill>
                            <a:srgbClr val="000000"/>
                          </a:solidFill>
                          <a:effectLst/>
                          <a:latin typeface="Calibri" panose="020F0502020204030204" pitchFamily="34" charset="0"/>
                        </a:rPr>
                        <a:t>0</a:t>
                      </a:r>
                    </a:p>
                  </a:txBody>
                  <a:tcPr marL="9525" marR="9525" marT="9525" marB="0" anchor="ctr"/>
                </a:tc>
                <a:extLst>
                  <a:ext uri="{0D108BD9-81ED-4DB2-BD59-A6C34878D82A}">
                    <a16:rowId xmlns:a16="http://schemas.microsoft.com/office/drawing/2014/main" val="1396870750"/>
                  </a:ext>
                </a:extLst>
              </a:tr>
              <a:tr h="244929">
                <a:tc>
                  <a:txBody>
                    <a:bodyPr/>
                    <a:lstStyle/>
                    <a:p>
                      <a:pPr algn="ctr" fontAlgn="b"/>
                      <a:r>
                        <a:rPr lang="en-CA" sz="1600" b="0" i="0" u="none" strike="noStrike" dirty="0">
                          <a:solidFill>
                            <a:srgbClr val="000000"/>
                          </a:solidFill>
                          <a:effectLst/>
                          <a:latin typeface="Calibri" panose="020F0502020204030204" pitchFamily="34" charset="0"/>
                        </a:rPr>
                        <a:t>1</a:t>
                      </a:r>
                    </a:p>
                  </a:txBody>
                  <a:tcPr marL="9525" marR="9525" marT="9525" marB="0" anchor="ctr"/>
                </a:tc>
                <a:tc>
                  <a:txBody>
                    <a:bodyPr/>
                    <a:lstStyle/>
                    <a:p>
                      <a:pPr algn="ctr" fontAlgn="b"/>
                      <a:r>
                        <a:rPr lang="en-CA" sz="1600" b="0" i="0" u="none" strike="noStrike" dirty="0">
                          <a:solidFill>
                            <a:srgbClr val="000000"/>
                          </a:solidFill>
                          <a:effectLst/>
                          <a:latin typeface="Calibri" panose="020F0502020204030204" pitchFamily="34" charset="0"/>
                        </a:rPr>
                        <a:t>0</a:t>
                      </a:r>
                    </a:p>
                  </a:txBody>
                  <a:tcPr marL="9525" marR="9525" marT="9525" marB="0" anchor="ctr"/>
                </a:tc>
                <a:extLst>
                  <a:ext uri="{0D108BD9-81ED-4DB2-BD59-A6C34878D82A}">
                    <a16:rowId xmlns:a16="http://schemas.microsoft.com/office/drawing/2014/main" val="1774803852"/>
                  </a:ext>
                </a:extLst>
              </a:tr>
              <a:tr h="244929">
                <a:tc>
                  <a:txBody>
                    <a:bodyPr/>
                    <a:lstStyle/>
                    <a:p>
                      <a:pPr algn="ctr" fontAlgn="b"/>
                      <a:r>
                        <a:rPr lang="en-CA" sz="1600" b="0" i="0" u="none" strike="noStrike" dirty="0">
                          <a:solidFill>
                            <a:srgbClr val="000000"/>
                          </a:solidFill>
                          <a:effectLst/>
                          <a:latin typeface="Calibri" panose="020F0502020204030204" pitchFamily="34" charset="0"/>
                        </a:rPr>
                        <a:t>1</a:t>
                      </a:r>
                    </a:p>
                  </a:txBody>
                  <a:tcPr marL="9525" marR="9525" marT="9525" marB="0" anchor="ctr"/>
                </a:tc>
                <a:tc>
                  <a:txBody>
                    <a:bodyPr/>
                    <a:lstStyle/>
                    <a:p>
                      <a:pPr algn="ctr" fontAlgn="b"/>
                      <a:r>
                        <a:rPr lang="en-CA" sz="1600" b="0" i="0" u="none" strike="noStrike" dirty="0">
                          <a:solidFill>
                            <a:srgbClr val="000000"/>
                          </a:solidFill>
                          <a:effectLst/>
                          <a:latin typeface="Calibri" panose="020F0502020204030204" pitchFamily="34" charset="0"/>
                        </a:rPr>
                        <a:t>2</a:t>
                      </a:r>
                    </a:p>
                  </a:txBody>
                  <a:tcPr marL="9525" marR="9525" marT="9525" marB="0" anchor="ctr"/>
                </a:tc>
                <a:extLst>
                  <a:ext uri="{0D108BD9-81ED-4DB2-BD59-A6C34878D82A}">
                    <a16:rowId xmlns:a16="http://schemas.microsoft.com/office/drawing/2014/main" val="1625077560"/>
                  </a:ext>
                </a:extLst>
              </a:tr>
              <a:tr h="244929">
                <a:tc>
                  <a:txBody>
                    <a:bodyPr/>
                    <a:lstStyle/>
                    <a:p>
                      <a:pPr algn="ctr" fontAlgn="b"/>
                      <a:r>
                        <a:rPr lang="en-CA" sz="1600" b="0" i="0" u="none" strike="noStrike" dirty="0">
                          <a:solidFill>
                            <a:srgbClr val="000000"/>
                          </a:solidFill>
                          <a:effectLst/>
                          <a:latin typeface="Calibri" panose="020F0502020204030204" pitchFamily="34" charset="0"/>
                        </a:rPr>
                        <a:t>3</a:t>
                      </a:r>
                    </a:p>
                  </a:txBody>
                  <a:tcPr marL="9525" marR="9525" marT="9525" marB="0" anchor="ctr"/>
                </a:tc>
                <a:tc>
                  <a:txBody>
                    <a:bodyPr/>
                    <a:lstStyle/>
                    <a:p>
                      <a:pPr algn="ctr" fontAlgn="b"/>
                      <a:r>
                        <a:rPr lang="en-CA" sz="1600" b="0" i="0" u="none" strike="noStrike" dirty="0">
                          <a:solidFill>
                            <a:srgbClr val="000000"/>
                          </a:solidFill>
                          <a:effectLst/>
                          <a:latin typeface="Calibri" panose="020F0502020204030204" pitchFamily="34" charset="0"/>
                        </a:rPr>
                        <a:t>4</a:t>
                      </a:r>
                    </a:p>
                  </a:txBody>
                  <a:tcPr marL="9525" marR="9525" marT="9525" marB="0" anchor="ctr"/>
                </a:tc>
                <a:extLst>
                  <a:ext uri="{0D108BD9-81ED-4DB2-BD59-A6C34878D82A}">
                    <a16:rowId xmlns:a16="http://schemas.microsoft.com/office/drawing/2014/main" val="464928589"/>
                  </a:ext>
                </a:extLst>
              </a:tr>
            </a:tbl>
          </a:graphicData>
        </a:graphic>
      </p:graphicFrame>
      <p:pic>
        <p:nvPicPr>
          <p:cNvPr id="5" name="Picture 4">
            <a:extLst>
              <a:ext uri="{FF2B5EF4-FFF2-40B4-BE49-F238E27FC236}">
                <a16:creationId xmlns:a16="http://schemas.microsoft.com/office/drawing/2014/main" id="{411CAB1C-78D8-CB4D-B8D5-C1EC28011DF9}"/>
              </a:ext>
            </a:extLst>
          </p:cNvPr>
          <p:cNvPicPr>
            <a:picLocks noChangeAspect="1"/>
          </p:cNvPicPr>
          <p:nvPr/>
        </p:nvPicPr>
        <p:blipFill>
          <a:blip r:embed="rId3"/>
          <a:stretch>
            <a:fillRect/>
          </a:stretch>
        </p:blipFill>
        <p:spPr>
          <a:xfrm>
            <a:off x="2308832" y="1694808"/>
            <a:ext cx="9601500" cy="588939"/>
          </a:xfrm>
          <a:prstGeom prst="rect">
            <a:avLst/>
          </a:prstGeom>
        </p:spPr>
      </p:pic>
      <p:pic>
        <p:nvPicPr>
          <p:cNvPr id="8" name="Picture 7">
            <a:extLst>
              <a:ext uri="{FF2B5EF4-FFF2-40B4-BE49-F238E27FC236}">
                <a16:creationId xmlns:a16="http://schemas.microsoft.com/office/drawing/2014/main" id="{B1882ABE-4F2C-3C43-A05C-E699CED45811}"/>
              </a:ext>
            </a:extLst>
          </p:cNvPr>
          <p:cNvPicPr>
            <a:picLocks noChangeAspect="1"/>
          </p:cNvPicPr>
          <p:nvPr/>
        </p:nvPicPr>
        <p:blipFill>
          <a:blip r:embed="rId4"/>
          <a:stretch>
            <a:fillRect/>
          </a:stretch>
        </p:blipFill>
        <p:spPr>
          <a:xfrm>
            <a:off x="2308832" y="3410798"/>
            <a:ext cx="9601500" cy="556966"/>
          </a:xfrm>
          <a:prstGeom prst="rect">
            <a:avLst/>
          </a:prstGeom>
        </p:spPr>
      </p:pic>
      <p:pic>
        <p:nvPicPr>
          <p:cNvPr id="11" name="Picture 10">
            <a:extLst>
              <a:ext uri="{FF2B5EF4-FFF2-40B4-BE49-F238E27FC236}">
                <a16:creationId xmlns:a16="http://schemas.microsoft.com/office/drawing/2014/main" id="{6CFD82D8-D55D-9543-9B20-AE34AD701D8E}"/>
              </a:ext>
            </a:extLst>
          </p:cNvPr>
          <p:cNvPicPr>
            <a:picLocks noChangeAspect="1"/>
          </p:cNvPicPr>
          <p:nvPr/>
        </p:nvPicPr>
        <p:blipFill>
          <a:blip r:embed="rId5"/>
          <a:stretch>
            <a:fillRect/>
          </a:stretch>
        </p:blipFill>
        <p:spPr>
          <a:xfrm>
            <a:off x="2308832" y="2491748"/>
            <a:ext cx="9601500" cy="588939"/>
          </a:xfrm>
          <a:prstGeom prst="rect">
            <a:avLst/>
          </a:prstGeom>
        </p:spPr>
      </p:pic>
      <p:pic>
        <p:nvPicPr>
          <p:cNvPr id="15" name="Picture 14" descr="Chart&#10;&#10;Description automatically generated">
            <a:extLst>
              <a:ext uri="{FF2B5EF4-FFF2-40B4-BE49-F238E27FC236}">
                <a16:creationId xmlns:a16="http://schemas.microsoft.com/office/drawing/2014/main" id="{AA9F2187-B16A-4C45-90F4-EEEB6C511E10}"/>
              </a:ext>
            </a:extLst>
          </p:cNvPr>
          <p:cNvPicPr>
            <a:picLocks noChangeAspect="1"/>
          </p:cNvPicPr>
          <p:nvPr/>
        </p:nvPicPr>
        <p:blipFill>
          <a:blip r:embed="rId6"/>
          <a:stretch>
            <a:fillRect/>
          </a:stretch>
        </p:blipFill>
        <p:spPr>
          <a:xfrm>
            <a:off x="8768303" y="4346837"/>
            <a:ext cx="2614614" cy="1996815"/>
          </a:xfrm>
          <a:prstGeom prst="rect">
            <a:avLst/>
          </a:prstGeom>
        </p:spPr>
      </p:pic>
      <p:sp>
        <p:nvSpPr>
          <p:cNvPr id="16" name="TextBox 15">
            <a:extLst>
              <a:ext uri="{FF2B5EF4-FFF2-40B4-BE49-F238E27FC236}">
                <a16:creationId xmlns:a16="http://schemas.microsoft.com/office/drawing/2014/main" id="{BB82A8F9-1442-6140-9E1A-96AEB97D3A59}"/>
              </a:ext>
            </a:extLst>
          </p:cNvPr>
          <p:cNvSpPr txBox="1"/>
          <p:nvPr/>
        </p:nvSpPr>
        <p:spPr>
          <a:xfrm>
            <a:off x="171599" y="1799464"/>
            <a:ext cx="2657326" cy="369332"/>
          </a:xfrm>
          <a:prstGeom prst="rect">
            <a:avLst/>
          </a:prstGeom>
          <a:noFill/>
        </p:spPr>
        <p:txBody>
          <a:bodyPr wrap="square" rtlCol="0">
            <a:spAutoFit/>
          </a:bodyPr>
          <a:lstStyle/>
          <a:p>
            <a:r>
              <a:rPr lang="en-US" dirty="0"/>
              <a:t>The variance of SBP</a:t>
            </a:r>
          </a:p>
        </p:txBody>
      </p:sp>
      <p:sp>
        <p:nvSpPr>
          <p:cNvPr id="20" name="TextBox 19">
            <a:extLst>
              <a:ext uri="{FF2B5EF4-FFF2-40B4-BE49-F238E27FC236}">
                <a16:creationId xmlns:a16="http://schemas.microsoft.com/office/drawing/2014/main" id="{81DE9B2A-1355-FA46-BBBF-8305DBD64190}"/>
              </a:ext>
            </a:extLst>
          </p:cNvPr>
          <p:cNvSpPr txBox="1"/>
          <p:nvPr/>
        </p:nvSpPr>
        <p:spPr>
          <a:xfrm>
            <a:off x="241759" y="2613858"/>
            <a:ext cx="2764972" cy="369332"/>
          </a:xfrm>
          <a:prstGeom prst="rect">
            <a:avLst/>
          </a:prstGeom>
          <a:noFill/>
        </p:spPr>
        <p:txBody>
          <a:bodyPr wrap="square">
            <a:spAutoFit/>
          </a:bodyPr>
          <a:lstStyle/>
          <a:p>
            <a:r>
              <a:rPr lang="en-US" dirty="0"/>
              <a:t>The variance of DBP</a:t>
            </a:r>
          </a:p>
        </p:txBody>
      </p:sp>
      <p:sp>
        <p:nvSpPr>
          <p:cNvPr id="22" name="TextBox 21">
            <a:extLst>
              <a:ext uri="{FF2B5EF4-FFF2-40B4-BE49-F238E27FC236}">
                <a16:creationId xmlns:a16="http://schemas.microsoft.com/office/drawing/2014/main" id="{58F17728-0469-6146-B139-F782FC7597AF}"/>
              </a:ext>
            </a:extLst>
          </p:cNvPr>
          <p:cNvSpPr txBox="1"/>
          <p:nvPr/>
        </p:nvSpPr>
        <p:spPr>
          <a:xfrm>
            <a:off x="277584" y="3334196"/>
            <a:ext cx="2151292" cy="646331"/>
          </a:xfrm>
          <a:prstGeom prst="rect">
            <a:avLst/>
          </a:prstGeom>
          <a:noFill/>
        </p:spPr>
        <p:txBody>
          <a:bodyPr wrap="square">
            <a:spAutoFit/>
          </a:bodyPr>
          <a:lstStyle/>
          <a:p>
            <a:r>
              <a:rPr lang="en-US" dirty="0"/>
              <a:t>The covariance of SBP&amp;DBP</a:t>
            </a:r>
          </a:p>
        </p:txBody>
      </p:sp>
      <p:graphicFrame>
        <p:nvGraphicFramePr>
          <p:cNvPr id="4" name="Table 3">
            <a:extLst>
              <a:ext uri="{FF2B5EF4-FFF2-40B4-BE49-F238E27FC236}">
                <a16:creationId xmlns:a16="http://schemas.microsoft.com/office/drawing/2014/main" id="{A2B9D388-65FA-6A4E-BE57-B02C8D116367}"/>
              </a:ext>
            </a:extLst>
          </p:cNvPr>
          <p:cNvGraphicFramePr>
            <a:graphicFrameLocks noGrp="1"/>
          </p:cNvGraphicFramePr>
          <p:nvPr>
            <p:extLst>
              <p:ext uri="{D42A27DB-BD31-4B8C-83A1-F6EECF244321}">
                <p14:modId xmlns:p14="http://schemas.microsoft.com/office/powerpoint/2010/main" val="2595961339"/>
              </p:ext>
            </p:extLst>
          </p:nvPr>
        </p:nvGraphicFramePr>
        <p:xfrm>
          <a:off x="5383965" y="4570097"/>
          <a:ext cx="2216985" cy="1773555"/>
        </p:xfrm>
        <a:graphic>
          <a:graphicData uri="http://schemas.openxmlformats.org/drawingml/2006/table">
            <a:tbl>
              <a:tblPr>
                <a:tableStyleId>{5C22544A-7EE6-4342-B048-85BDC9FD1C3A}</a:tableStyleId>
              </a:tblPr>
              <a:tblGrid>
                <a:gridCol w="734877">
                  <a:extLst>
                    <a:ext uri="{9D8B030D-6E8A-4147-A177-3AD203B41FA5}">
                      <a16:colId xmlns:a16="http://schemas.microsoft.com/office/drawing/2014/main" val="4169286068"/>
                    </a:ext>
                  </a:extLst>
                </a:gridCol>
                <a:gridCol w="741054">
                  <a:extLst>
                    <a:ext uri="{9D8B030D-6E8A-4147-A177-3AD203B41FA5}">
                      <a16:colId xmlns:a16="http://schemas.microsoft.com/office/drawing/2014/main" val="1265776257"/>
                    </a:ext>
                  </a:extLst>
                </a:gridCol>
                <a:gridCol w="741054">
                  <a:extLst>
                    <a:ext uri="{9D8B030D-6E8A-4147-A177-3AD203B41FA5}">
                      <a16:colId xmlns:a16="http://schemas.microsoft.com/office/drawing/2014/main" val="293538253"/>
                    </a:ext>
                  </a:extLst>
                </a:gridCol>
              </a:tblGrid>
              <a:tr h="591185">
                <a:tc>
                  <a:txBody>
                    <a:bodyPr/>
                    <a:lstStyle/>
                    <a:p>
                      <a:pPr algn="ctr" fontAlgn="b"/>
                      <a:r>
                        <a:rPr lang="en-CA" sz="1600" u="none" strike="noStrike">
                          <a:effectLst/>
                        </a:rPr>
                        <a:t> </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b="1" u="none" strike="noStrike" dirty="0">
                          <a:effectLst/>
                        </a:rPr>
                        <a:t>SBP</a:t>
                      </a:r>
                      <a:endParaRPr lang="en-CA" sz="16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b="1" u="none" strike="noStrike" dirty="0">
                          <a:effectLst/>
                        </a:rPr>
                        <a:t>DBP</a:t>
                      </a:r>
                      <a:endParaRPr lang="en-CA" sz="16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487335167"/>
                  </a:ext>
                </a:extLst>
              </a:tr>
              <a:tr h="591185">
                <a:tc>
                  <a:txBody>
                    <a:bodyPr/>
                    <a:lstStyle/>
                    <a:p>
                      <a:pPr algn="ctr" fontAlgn="b"/>
                      <a:r>
                        <a:rPr lang="en-CA" sz="1600" b="1" u="none" strike="noStrike" dirty="0">
                          <a:effectLst/>
                        </a:rPr>
                        <a:t>SBP</a:t>
                      </a:r>
                      <a:endParaRPr lang="en-CA" sz="16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4.4</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5.6</a:t>
                      </a:r>
                      <a:endParaRPr lang="en-CA" sz="16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129259602"/>
                  </a:ext>
                </a:extLst>
              </a:tr>
              <a:tr h="591185">
                <a:tc>
                  <a:txBody>
                    <a:bodyPr/>
                    <a:lstStyle/>
                    <a:p>
                      <a:pPr algn="ctr" fontAlgn="b"/>
                      <a:r>
                        <a:rPr lang="en-CA" sz="1600" b="1" u="none" strike="noStrike" dirty="0">
                          <a:effectLst/>
                        </a:rPr>
                        <a:t>DBP</a:t>
                      </a:r>
                      <a:endParaRPr lang="en-CA" sz="16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5.6</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8</a:t>
                      </a:r>
                      <a:endParaRPr lang="en-CA" sz="16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531488141"/>
                  </a:ext>
                </a:extLst>
              </a:tr>
            </a:tbl>
          </a:graphicData>
        </a:graphic>
      </p:graphicFrame>
    </p:spTree>
    <p:extLst>
      <p:ext uri="{BB962C8B-B14F-4D97-AF65-F5344CB8AC3E}">
        <p14:creationId xmlns:p14="http://schemas.microsoft.com/office/powerpoint/2010/main" val="3505126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14">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6E3AEA-9EC6-4540-886B-D4F7C34BC23E}"/>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dirty="0">
                <a:solidFill>
                  <a:schemeClr val="bg1"/>
                </a:solidFill>
              </a:rPr>
              <a:t>3</a:t>
            </a:r>
            <a:r>
              <a:rPr lang="en-US" sz="3200" kern="1200" dirty="0">
                <a:solidFill>
                  <a:schemeClr val="bg1"/>
                </a:solidFill>
                <a:latin typeface="+mj-lt"/>
                <a:ea typeface="+mj-ea"/>
                <a:cs typeface="+mj-cs"/>
              </a:rPr>
              <a:t>. Calculate the eigenvalues of the covariance matrix</a:t>
            </a:r>
          </a:p>
        </p:txBody>
      </p:sp>
      <p:pic>
        <p:nvPicPr>
          <p:cNvPr id="8" name="Picture 7" descr="Text, calendar&#10;&#10;Description automatically generated with medium confidence">
            <a:extLst>
              <a:ext uri="{FF2B5EF4-FFF2-40B4-BE49-F238E27FC236}">
                <a16:creationId xmlns:a16="http://schemas.microsoft.com/office/drawing/2014/main" id="{1BAF0373-2999-6A49-A49C-88AFC42180CF}"/>
              </a:ext>
            </a:extLst>
          </p:cNvPr>
          <p:cNvPicPr>
            <a:picLocks noChangeAspect="1"/>
          </p:cNvPicPr>
          <p:nvPr/>
        </p:nvPicPr>
        <p:blipFill>
          <a:blip r:embed="rId3"/>
          <a:stretch>
            <a:fillRect/>
          </a:stretch>
        </p:blipFill>
        <p:spPr>
          <a:xfrm>
            <a:off x="5871597" y="1837081"/>
            <a:ext cx="4015353" cy="1549400"/>
          </a:xfrm>
          <a:prstGeom prst="rect">
            <a:avLst/>
          </a:prstGeom>
        </p:spPr>
      </p:pic>
      <p:graphicFrame>
        <p:nvGraphicFramePr>
          <p:cNvPr id="15" name="Table 14">
            <a:extLst>
              <a:ext uri="{FF2B5EF4-FFF2-40B4-BE49-F238E27FC236}">
                <a16:creationId xmlns:a16="http://schemas.microsoft.com/office/drawing/2014/main" id="{052F6E69-C362-4F4C-9CC2-7D7F128DBC54}"/>
              </a:ext>
            </a:extLst>
          </p:cNvPr>
          <p:cNvGraphicFramePr>
            <a:graphicFrameLocks noGrp="1"/>
          </p:cNvGraphicFramePr>
          <p:nvPr>
            <p:extLst>
              <p:ext uri="{D42A27DB-BD31-4B8C-83A1-F6EECF244321}">
                <p14:modId xmlns:p14="http://schemas.microsoft.com/office/powerpoint/2010/main" val="2252552193"/>
              </p:ext>
            </p:extLst>
          </p:nvPr>
        </p:nvGraphicFramePr>
        <p:xfrm>
          <a:off x="1414462" y="1897218"/>
          <a:ext cx="2743745" cy="1274607"/>
        </p:xfrm>
        <a:graphic>
          <a:graphicData uri="http://schemas.openxmlformats.org/drawingml/2006/table">
            <a:tbl>
              <a:tblPr>
                <a:tableStyleId>{5C22544A-7EE6-4342-B048-85BDC9FD1C3A}</a:tableStyleId>
              </a:tblPr>
              <a:tblGrid>
                <a:gridCol w="909485">
                  <a:extLst>
                    <a:ext uri="{9D8B030D-6E8A-4147-A177-3AD203B41FA5}">
                      <a16:colId xmlns:a16="http://schemas.microsoft.com/office/drawing/2014/main" val="4169286068"/>
                    </a:ext>
                  </a:extLst>
                </a:gridCol>
                <a:gridCol w="917130">
                  <a:extLst>
                    <a:ext uri="{9D8B030D-6E8A-4147-A177-3AD203B41FA5}">
                      <a16:colId xmlns:a16="http://schemas.microsoft.com/office/drawing/2014/main" val="1265776257"/>
                    </a:ext>
                  </a:extLst>
                </a:gridCol>
                <a:gridCol w="917130">
                  <a:extLst>
                    <a:ext uri="{9D8B030D-6E8A-4147-A177-3AD203B41FA5}">
                      <a16:colId xmlns:a16="http://schemas.microsoft.com/office/drawing/2014/main" val="293538253"/>
                    </a:ext>
                  </a:extLst>
                </a:gridCol>
              </a:tblGrid>
              <a:tr h="424869">
                <a:tc>
                  <a:txBody>
                    <a:bodyPr/>
                    <a:lstStyle/>
                    <a:p>
                      <a:pPr algn="ctr" fontAlgn="b"/>
                      <a:r>
                        <a:rPr lang="en-CA" sz="1600" u="none" strike="noStrike">
                          <a:effectLst/>
                        </a:rPr>
                        <a:t> </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b="1" u="none" strike="noStrike" dirty="0">
                          <a:effectLst/>
                        </a:rPr>
                        <a:t>SBP</a:t>
                      </a:r>
                      <a:endParaRPr lang="en-CA" sz="16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b="1" u="none" strike="noStrike" dirty="0">
                          <a:effectLst/>
                        </a:rPr>
                        <a:t>DBP</a:t>
                      </a:r>
                      <a:endParaRPr lang="en-CA" sz="16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487335167"/>
                  </a:ext>
                </a:extLst>
              </a:tr>
              <a:tr h="424869">
                <a:tc>
                  <a:txBody>
                    <a:bodyPr/>
                    <a:lstStyle/>
                    <a:p>
                      <a:pPr algn="ctr" fontAlgn="b"/>
                      <a:r>
                        <a:rPr lang="en-CA" sz="1600" b="1" u="none" strike="noStrike" dirty="0">
                          <a:effectLst/>
                        </a:rPr>
                        <a:t>SBP</a:t>
                      </a:r>
                      <a:endParaRPr lang="en-CA" sz="16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4.4</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5.6</a:t>
                      </a:r>
                      <a:endParaRPr lang="en-CA" sz="16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129259602"/>
                  </a:ext>
                </a:extLst>
              </a:tr>
              <a:tr h="424869">
                <a:tc>
                  <a:txBody>
                    <a:bodyPr/>
                    <a:lstStyle/>
                    <a:p>
                      <a:pPr algn="ctr" fontAlgn="b"/>
                      <a:r>
                        <a:rPr lang="en-CA" sz="1600" b="1" u="none" strike="noStrike" dirty="0">
                          <a:effectLst/>
                        </a:rPr>
                        <a:t>DBP</a:t>
                      </a:r>
                      <a:endParaRPr lang="en-CA" sz="16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5.6</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8</a:t>
                      </a:r>
                      <a:endParaRPr lang="en-CA" sz="16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531488141"/>
                  </a:ext>
                </a:extLst>
              </a:tr>
            </a:tbl>
          </a:graphicData>
        </a:graphic>
      </p:graphicFrame>
      <p:pic>
        <p:nvPicPr>
          <p:cNvPr id="11" name="Picture 10" descr="A picture containing text&#10;&#10;Description automatically generated">
            <a:extLst>
              <a:ext uri="{FF2B5EF4-FFF2-40B4-BE49-F238E27FC236}">
                <a16:creationId xmlns:a16="http://schemas.microsoft.com/office/drawing/2014/main" id="{78FE4137-F483-644E-8990-A539610087B1}"/>
              </a:ext>
            </a:extLst>
          </p:cNvPr>
          <p:cNvPicPr>
            <a:picLocks noChangeAspect="1"/>
          </p:cNvPicPr>
          <p:nvPr/>
        </p:nvPicPr>
        <p:blipFill>
          <a:blip r:embed="rId4"/>
          <a:stretch>
            <a:fillRect/>
          </a:stretch>
        </p:blipFill>
        <p:spPr>
          <a:xfrm>
            <a:off x="5871597" y="4014367"/>
            <a:ext cx="4015352" cy="533400"/>
          </a:xfrm>
          <a:prstGeom prst="rect">
            <a:avLst/>
          </a:prstGeom>
        </p:spPr>
      </p:pic>
      <p:pic>
        <p:nvPicPr>
          <p:cNvPr id="16" name="Picture 15" descr="A picture containing text&#10;&#10;Description automatically generated">
            <a:extLst>
              <a:ext uri="{FF2B5EF4-FFF2-40B4-BE49-F238E27FC236}">
                <a16:creationId xmlns:a16="http://schemas.microsoft.com/office/drawing/2014/main" id="{9689E37C-860F-C949-BFD4-1A7DED877771}"/>
              </a:ext>
            </a:extLst>
          </p:cNvPr>
          <p:cNvPicPr>
            <a:picLocks noChangeAspect="1"/>
          </p:cNvPicPr>
          <p:nvPr/>
        </p:nvPicPr>
        <p:blipFill>
          <a:blip r:embed="rId5"/>
          <a:stretch>
            <a:fillRect/>
          </a:stretch>
        </p:blipFill>
        <p:spPr>
          <a:xfrm>
            <a:off x="6577013" y="5108125"/>
            <a:ext cx="3176916" cy="393700"/>
          </a:xfrm>
          <a:prstGeom prst="rect">
            <a:avLst/>
          </a:prstGeom>
        </p:spPr>
      </p:pic>
      <p:pic>
        <p:nvPicPr>
          <p:cNvPr id="21" name="Picture 20" descr="A white paper with black writing&#10;&#10;Description automatically generated with low confidence">
            <a:extLst>
              <a:ext uri="{FF2B5EF4-FFF2-40B4-BE49-F238E27FC236}">
                <a16:creationId xmlns:a16="http://schemas.microsoft.com/office/drawing/2014/main" id="{07633F3B-5C57-2044-BDA6-06D8D06ABFDF}"/>
              </a:ext>
            </a:extLst>
          </p:cNvPr>
          <p:cNvPicPr>
            <a:picLocks noChangeAspect="1"/>
          </p:cNvPicPr>
          <p:nvPr/>
        </p:nvPicPr>
        <p:blipFill>
          <a:blip r:embed="rId6"/>
          <a:stretch>
            <a:fillRect/>
          </a:stretch>
        </p:blipFill>
        <p:spPr>
          <a:xfrm>
            <a:off x="7159393" y="6163739"/>
            <a:ext cx="2033772" cy="369332"/>
          </a:xfrm>
          <a:prstGeom prst="rect">
            <a:avLst/>
          </a:prstGeom>
        </p:spPr>
      </p:pic>
      <p:sp>
        <p:nvSpPr>
          <p:cNvPr id="25" name="Down Arrow 24">
            <a:extLst>
              <a:ext uri="{FF2B5EF4-FFF2-40B4-BE49-F238E27FC236}">
                <a16:creationId xmlns:a16="http://schemas.microsoft.com/office/drawing/2014/main" id="{C34474F4-A1A5-F74C-A634-DE308A44CF17}"/>
              </a:ext>
            </a:extLst>
          </p:cNvPr>
          <p:cNvSpPr/>
          <p:nvPr/>
        </p:nvSpPr>
        <p:spPr>
          <a:xfrm>
            <a:off x="7879273" y="3621721"/>
            <a:ext cx="166539" cy="35211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Down Arrow 25">
            <a:extLst>
              <a:ext uri="{FF2B5EF4-FFF2-40B4-BE49-F238E27FC236}">
                <a16:creationId xmlns:a16="http://schemas.microsoft.com/office/drawing/2014/main" id="{E59A6E23-9D32-9B46-8B24-18AC0C556F5C}"/>
              </a:ext>
            </a:extLst>
          </p:cNvPr>
          <p:cNvSpPr/>
          <p:nvPr/>
        </p:nvSpPr>
        <p:spPr>
          <a:xfrm rot="10800000" flipV="1">
            <a:off x="7941341" y="4639477"/>
            <a:ext cx="154643" cy="3937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Down Arrow 26">
            <a:extLst>
              <a:ext uri="{FF2B5EF4-FFF2-40B4-BE49-F238E27FC236}">
                <a16:creationId xmlns:a16="http://schemas.microsoft.com/office/drawing/2014/main" id="{6949BF44-6020-A042-9666-D908F7AF6AEA}"/>
              </a:ext>
            </a:extLst>
          </p:cNvPr>
          <p:cNvSpPr/>
          <p:nvPr/>
        </p:nvSpPr>
        <p:spPr>
          <a:xfrm rot="10800000" flipH="1" flipV="1">
            <a:off x="8015688" y="5749490"/>
            <a:ext cx="160591" cy="25955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Picture 32" descr="Diagram, schematic&#10;&#10;Description automatically generated">
            <a:extLst>
              <a:ext uri="{FF2B5EF4-FFF2-40B4-BE49-F238E27FC236}">
                <a16:creationId xmlns:a16="http://schemas.microsoft.com/office/drawing/2014/main" id="{C789A35F-9098-214D-B323-D1024049EACA}"/>
              </a:ext>
            </a:extLst>
          </p:cNvPr>
          <p:cNvPicPr>
            <a:picLocks noChangeAspect="1"/>
          </p:cNvPicPr>
          <p:nvPr/>
        </p:nvPicPr>
        <p:blipFill>
          <a:blip r:embed="rId7"/>
          <a:stretch>
            <a:fillRect/>
          </a:stretch>
        </p:blipFill>
        <p:spPr>
          <a:xfrm>
            <a:off x="560469" y="3800475"/>
            <a:ext cx="4326140" cy="2725933"/>
          </a:xfrm>
          <a:prstGeom prst="rect">
            <a:avLst/>
          </a:prstGeom>
        </p:spPr>
      </p:pic>
      <p:sp>
        <p:nvSpPr>
          <p:cNvPr id="34" name="TextBox 33">
            <a:extLst>
              <a:ext uri="{FF2B5EF4-FFF2-40B4-BE49-F238E27FC236}">
                <a16:creationId xmlns:a16="http://schemas.microsoft.com/office/drawing/2014/main" id="{A457A49F-9927-5D42-B089-3E06D0A426DE}"/>
              </a:ext>
            </a:extLst>
          </p:cNvPr>
          <p:cNvSpPr txBox="1"/>
          <p:nvPr/>
        </p:nvSpPr>
        <p:spPr>
          <a:xfrm>
            <a:off x="9986963" y="5868134"/>
            <a:ext cx="2023267" cy="369332"/>
          </a:xfrm>
          <a:prstGeom prst="rect">
            <a:avLst/>
          </a:prstGeom>
          <a:noFill/>
        </p:spPr>
        <p:txBody>
          <a:bodyPr wrap="square" rtlCol="0">
            <a:spAutoFit/>
          </a:bodyPr>
          <a:lstStyle/>
          <a:p>
            <a:r>
              <a:rPr lang="en-US" dirty="0"/>
              <a:t> </a:t>
            </a:r>
          </a:p>
        </p:txBody>
      </p:sp>
      <p:sp>
        <p:nvSpPr>
          <p:cNvPr id="36" name="TextBox 35">
            <a:extLst>
              <a:ext uri="{FF2B5EF4-FFF2-40B4-BE49-F238E27FC236}">
                <a16:creationId xmlns:a16="http://schemas.microsoft.com/office/drawing/2014/main" id="{722B7535-446B-FD48-85DD-1160EC8E35B3}"/>
              </a:ext>
            </a:extLst>
          </p:cNvPr>
          <p:cNvSpPr txBox="1"/>
          <p:nvPr/>
        </p:nvSpPr>
        <p:spPr>
          <a:xfrm>
            <a:off x="9986962" y="6009046"/>
            <a:ext cx="2205037" cy="646331"/>
          </a:xfrm>
          <a:prstGeom prst="rect">
            <a:avLst/>
          </a:prstGeom>
          <a:noFill/>
        </p:spPr>
        <p:txBody>
          <a:bodyPr wrap="square" rtlCol="0">
            <a:spAutoFit/>
          </a:bodyPr>
          <a:lstStyle/>
          <a:p>
            <a:r>
              <a:rPr lang="en-US" dirty="0"/>
              <a:t>Eigenvalues of the covariance matrix</a:t>
            </a:r>
          </a:p>
        </p:txBody>
      </p:sp>
      <p:sp>
        <p:nvSpPr>
          <p:cNvPr id="37" name="Right Arrow 36">
            <a:extLst>
              <a:ext uri="{FF2B5EF4-FFF2-40B4-BE49-F238E27FC236}">
                <a16:creationId xmlns:a16="http://schemas.microsoft.com/office/drawing/2014/main" id="{0D3C2EE4-FFD5-7D4D-9160-673EA9406466}"/>
              </a:ext>
            </a:extLst>
          </p:cNvPr>
          <p:cNvSpPr/>
          <p:nvPr/>
        </p:nvSpPr>
        <p:spPr>
          <a:xfrm>
            <a:off x="9499905" y="6295313"/>
            <a:ext cx="342899" cy="1061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6225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14">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6E3AEA-9EC6-4540-886B-D4F7C34BC23E}"/>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dirty="0">
                <a:solidFill>
                  <a:schemeClr val="bg1"/>
                </a:solidFill>
                <a:latin typeface="+mj-lt"/>
                <a:ea typeface="+mj-ea"/>
                <a:cs typeface="+mj-cs"/>
              </a:rPr>
              <a:t>4. Calculate the eigenvectors of the covariance matrix</a:t>
            </a:r>
          </a:p>
        </p:txBody>
      </p:sp>
      <p:graphicFrame>
        <p:nvGraphicFramePr>
          <p:cNvPr id="15" name="Table 14">
            <a:extLst>
              <a:ext uri="{FF2B5EF4-FFF2-40B4-BE49-F238E27FC236}">
                <a16:creationId xmlns:a16="http://schemas.microsoft.com/office/drawing/2014/main" id="{052F6E69-C362-4F4C-9CC2-7D7F128DBC54}"/>
              </a:ext>
            </a:extLst>
          </p:cNvPr>
          <p:cNvGraphicFramePr>
            <a:graphicFrameLocks noGrp="1"/>
          </p:cNvGraphicFramePr>
          <p:nvPr/>
        </p:nvGraphicFramePr>
        <p:xfrm>
          <a:off x="1414462" y="1897218"/>
          <a:ext cx="2743745" cy="1274607"/>
        </p:xfrm>
        <a:graphic>
          <a:graphicData uri="http://schemas.openxmlformats.org/drawingml/2006/table">
            <a:tbl>
              <a:tblPr>
                <a:tableStyleId>{5C22544A-7EE6-4342-B048-85BDC9FD1C3A}</a:tableStyleId>
              </a:tblPr>
              <a:tblGrid>
                <a:gridCol w="909485">
                  <a:extLst>
                    <a:ext uri="{9D8B030D-6E8A-4147-A177-3AD203B41FA5}">
                      <a16:colId xmlns:a16="http://schemas.microsoft.com/office/drawing/2014/main" val="4169286068"/>
                    </a:ext>
                  </a:extLst>
                </a:gridCol>
                <a:gridCol w="917130">
                  <a:extLst>
                    <a:ext uri="{9D8B030D-6E8A-4147-A177-3AD203B41FA5}">
                      <a16:colId xmlns:a16="http://schemas.microsoft.com/office/drawing/2014/main" val="1265776257"/>
                    </a:ext>
                  </a:extLst>
                </a:gridCol>
                <a:gridCol w="917130">
                  <a:extLst>
                    <a:ext uri="{9D8B030D-6E8A-4147-A177-3AD203B41FA5}">
                      <a16:colId xmlns:a16="http://schemas.microsoft.com/office/drawing/2014/main" val="293538253"/>
                    </a:ext>
                  </a:extLst>
                </a:gridCol>
              </a:tblGrid>
              <a:tr h="424869">
                <a:tc>
                  <a:txBody>
                    <a:bodyPr/>
                    <a:lstStyle/>
                    <a:p>
                      <a:pPr algn="ctr" fontAlgn="b"/>
                      <a:r>
                        <a:rPr lang="en-CA" sz="1600" u="none" strike="noStrike">
                          <a:effectLst/>
                        </a:rPr>
                        <a:t> </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b="1" u="none" strike="noStrike" dirty="0">
                          <a:effectLst/>
                        </a:rPr>
                        <a:t>SBP</a:t>
                      </a:r>
                      <a:endParaRPr lang="en-CA" sz="16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b="1" u="none" strike="noStrike" dirty="0">
                          <a:effectLst/>
                        </a:rPr>
                        <a:t>DBP</a:t>
                      </a:r>
                      <a:endParaRPr lang="en-CA" sz="16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487335167"/>
                  </a:ext>
                </a:extLst>
              </a:tr>
              <a:tr h="424869">
                <a:tc>
                  <a:txBody>
                    <a:bodyPr/>
                    <a:lstStyle/>
                    <a:p>
                      <a:pPr algn="ctr" fontAlgn="b"/>
                      <a:r>
                        <a:rPr lang="en-CA" sz="1600" b="1" u="none" strike="noStrike" dirty="0">
                          <a:effectLst/>
                        </a:rPr>
                        <a:t>SBP</a:t>
                      </a:r>
                      <a:endParaRPr lang="en-CA" sz="16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4.4</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5.6</a:t>
                      </a:r>
                      <a:endParaRPr lang="en-CA" sz="16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129259602"/>
                  </a:ext>
                </a:extLst>
              </a:tr>
              <a:tr h="424869">
                <a:tc>
                  <a:txBody>
                    <a:bodyPr/>
                    <a:lstStyle/>
                    <a:p>
                      <a:pPr algn="ctr" fontAlgn="b"/>
                      <a:r>
                        <a:rPr lang="en-CA" sz="1600" b="1" u="none" strike="noStrike" dirty="0">
                          <a:effectLst/>
                        </a:rPr>
                        <a:t>DBP</a:t>
                      </a:r>
                      <a:endParaRPr lang="en-CA" sz="16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5.6</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8</a:t>
                      </a:r>
                      <a:endParaRPr lang="en-CA" sz="16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531488141"/>
                  </a:ext>
                </a:extLst>
              </a:tr>
            </a:tbl>
          </a:graphicData>
        </a:graphic>
      </p:graphicFrame>
      <p:sp>
        <p:nvSpPr>
          <p:cNvPr id="34" name="TextBox 33">
            <a:extLst>
              <a:ext uri="{FF2B5EF4-FFF2-40B4-BE49-F238E27FC236}">
                <a16:creationId xmlns:a16="http://schemas.microsoft.com/office/drawing/2014/main" id="{A457A49F-9927-5D42-B089-3E06D0A426DE}"/>
              </a:ext>
            </a:extLst>
          </p:cNvPr>
          <p:cNvSpPr txBox="1"/>
          <p:nvPr/>
        </p:nvSpPr>
        <p:spPr>
          <a:xfrm>
            <a:off x="9986963" y="5868134"/>
            <a:ext cx="2023267" cy="369332"/>
          </a:xfrm>
          <a:prstGeom prst="rect">
            <a:avLst/>
          </a:prstGeom>
          <a:noFill/>
        </p:spPr>
        <p:txBody>
          <a:bodyPr wrap="square" rtlCol="0">
            <a:spAutoFit/>
          </a:bodyPr>
          <a:lstStyle/>
          <a:p>
            <a:r>
              <a:rPr lang="en-US" dirty="0"/>
              <a:t> </a:t>
            </a:r>
          </a:p>
        </p:txBody>
      </p:sp>
      <p:pic>
        <p:nvPicPr>
          <p:cNvPr id="4" name="Picture 3" descr="Text&#10;&#10;Description automatically generated with medium confidence">
            <a:extLst>
              <a:ext uri="{FF2B5EF4-FFF2-40B4-BE49-F238E27FC236}">
                <a16:creationId xmlns:a16="http://schemas.microsoft.com/office/drawing/2014/main" id="{1F1C4263-FF16-2047-BD70-A289B8B04A50}"/>
              </a:ext>
            </a:extLst>
          </p:cNvPr>
          <p:cNvPicPr>
            <a:picLocks noChangeAspect="1"/>
          </p:cNvPicPr>
          <p:nvPr/>
        </p:nvPicPr>
        <p:blipFill>
          <a:blip r:embed="rId3"/>
          <a:stretch>
            <a:fillRect/>
          </a:stretch>
        </p:blipFill>
        <p:spPr>
          <a:xfrm>
            <a:off x="6415131" y="4135425"/>
            <a:ext cx="3020050" cy="900207"/>
          </a:xfrm>
          <a:prstGeom prst="rect">
            <a:avLst/>
          </a:prstGeom>
        </p:spPr>
      </p:pic>
      <p:pic>
        <p:nvPicPr>
          <p:cNvPr id="6" name="Picture 5" descr="Diagram&#10;&#10;Description automatically generated with medium confidence">
            <a:extLst>
              <a:ext uri="{FF2B5EF4-FFF2-40B4-BE49-F238E27FC236}">
                <a16:creationId xmlns:a16="http://schemas.microsoft.com/office/drawing/2014/main" id="{8C202A0A-0DFD-2043-84FE-76F00CE4838D}"/>
              </a:ext>
            </a:extLst>
          </p:cNvPr>
          <p:cNvPicPr>
            <a:picLocks noChangeAspect="1"/>
          </p:cNvPicPr>
          <p:nvPr/>
        </p:nvPicPr>
        <p:blipFill>
          <a:blip r:embed="rId4"/>
          <a:stretch>
            <a:fillRect/>
          </a:stretch>
        </p:blipFill>
        <p:spPr>
          <a:xfrm>
            <a:off x="5836988" y="1811636"/>
            <a:ext cx="3833813" cy="1619250"/>
          </a:xfrm>
          <a:prstGeom prst="rect">
            <a:avLst/>
          </a:prstGeom>
        </p:spPr>
      </p:pic>
      <p:sp>
        <p:nvSpPr>
          <p:cNvPr id="22" name="Down Arrow 21">
            <a:extLst>
              <a:ext uri="{FF2B5EF4-FFF2-40B4-BE49-F238E27FC236}">
                <a16:creationId xmlns:a16="http://schemas.microsoft.com/office/drawing/2014/main" id="{2E71F552-0838-0046-8F54-1BCC1834DF66}"/>
              </a:ext>
            </a:extLst>
          </p:cNvPr>
          <p:cNvSpPr/>
          <p:nvPr/>
        </p:nvSpPr>
        <p:spPr>
          <a:xfrm>
            <a:off x="7712733" y="3621277"/>
            <a:ext cx="166539" cy="35211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own Arrow 23">
            <a:extLst>
              <a:ext uri="{FF2B5EF4-FFF2-40B4-BE49-F238E27FC236}">
                <a16:creationId xmlns:a16="http://schemas.microsoft.com/office/drawing/2014/main" id="{16C66F9D-A3DE-0840-B6FE-3824AC042DE4}"/>
              </a:ext>
            </a:extLst>
          </p:cNvPr>
          <p:cNvSpPr/>
          <p:nvPr/>
        </p:nvSpPr>
        <p:spPr>
          <a:xfrm>
            <a:off x="7796002" y="5263358"/>
            <a:ext cx="166539" cy="35211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picture containing text, clock&#10;&#10;Description automatically generated">
            <a:extLst>
              <a:ext uri="{FF2B5EF4-FFF2-40B4-BE49-F238E27FC236}">
                <a16:creationId xmlns:a16="http://schemas.microsoft.com/office/drawing/2014/main" id="{6BD64E08-6FFE-394A-A373-B40D769E3D1E}"/>
              </a:ext>
            </a:extLst>
          </p:cNvPr>
          <p:cNvPicPr>
            <a:picLocks noChangeAspect="1"/>
          </p:cNvPicPr>
          <p:nvPr/>
        </p:nvPicPr>
        <p:blipFill>
          <a:blip r:embed="rId5"/>
          <a:stretch>
            <a:fillRect/>
          </a:stretch>
        </p:blipFill>
        <p:spPr>
          <a:xfrm>
            <a:off x="7054788" y="5757863"/>
            <a:ext cx="1315889" cy="821522"/>
          </a:xfrm>
          <a:prstGeom prst="rect">
            <a:avLst/>
          </a:prstGeom>
        </p:spPr>
      </p:pic>
      <p:sp>
        <p:nvSpPr>
          <p:cNvPr id="28" name="Right Arrow 27">
            <a:extLst>
              <a:ext uri="{FF2B5EF4-FFF2-40B4-BE49-F238E27FC236}">
                <a16:creationId xmlns:a16="http://schemas.microsoft.com/office/drawing/2014/main" id="{BAEC3424-0472-424D-B8C5-B2C9AA23FC32}"/>
              </a:ext>
            </a:extLst>
          </p:cNvPr>
          <p:cNvSpPr/>
          <p:nvPr/>
        </p:nvSpPr>
        <p:spPr>
          <a:xfrm>
            <a:off x="8472488" y="6086475"/>
            <a:ext cx="428625" cy="21924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A0A55B3D-2E3A-CA48-8DAB-9606814C57AC}"/>
              </a:ext>
            </a:extLst>
          </p:cNvPr>
          <p:cNvSpPr txBox="1"/>
          <p:nvPr/>
        </p:nvSpPr>
        <p:spPr>
          <a:xfrm>
            <a:off x="9002924" y="5868134"/>
            <a:ext cx="3020050" cy="646331"/>
          </a:xfrm>
          <a:prstGeom prst="rect">
            <a:avLst/>
          </a:prstGeom>
          <a:noFill/>
        </p:spPr>
        <p:txBody>
          <a:bodyPr wrap="square" rtlCol="0">
            <a:spAutoFit/>
          </a:bodyPr>
          <a:lstStyle/>
          <a:p>
            <a:r>
              <a:rPr lang="en-US" dirty="0"/>
              <a:t>An eigenvector of the covariance matrix</a:t>
            </a:r>
          </a:p>
        </p:txBody>
      </p:sp>
      <p:pic>
        <p:nvPicPr>
          <p:cNvPr id="17" name="Picture 16" descr="Diagram, schematic&#10;&#10;Description automatically generated">
            <a:extLst>
              <a:ext uri="{FF2B5EF4-FFF2-40B4-BE49-F238E27FC236}">
                <a16:creationId xmlns:a16="http://schemas.microsoft.com/office/drawing/2014/main" id="{FDEEC5E8-E963-414A-87E7-32CC340C7FE9}"/>
              </a:ext>
            </a:extLst>
          </p:cNvPr>
          <p:cNvPicPr>
            <a:picLocks noChangeAspect="1"/>
          </p:cNvPicPr>
          <p:nvPr/>
        </p:nvPicPr>
        <p:blipFill>
          <a:blip r:embed="rId6"/>
          <a:stretch>
            <a:fillRect/>
          </a:stretch>
        </p:blipFill>
        <p:spPr>
          <a:xfrm>
            <a:off x="1414462" y="3797332"/>
            <a:ext cx="3367299" cy="2525567"/>
          </a:xfrm>
          <a:prstGeom prst="rect">
            <a:avLst/>
          </a:prstGeom>
        </p:spPr>
      </p:pic>
    </p:spTree>
    <p:extLst>
      <p:ext uri="{BB962C8B-B14F-4D97-AF65-F5344CB8AC3E}">
        <p14:creationId xmlns:p14="http://schemas.microsoft.com/office/powerpoint/2010/main" val="16830839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14">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6E3AEA-9EC6-4540-886B-D4F7C34BC23E}"/>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dirty="0">
                <a:solidFill>
                  <a:schemeClr val="bg1"/>
                </a:solidFill>
                <a:latin typeface="+mj-lt"/>
                <a:ea typeface="+mj-ea"/>
                <a:cs typeface="+mj-cs"/>
              </a:rPr>
              <a:t>4. Calculate the eigenvectors of the covariance matrix</a:t>
            </a:r>
          </a:p>
        </p:txBody>
      </p:sp>
      <p:sp>
        <p:nvSpPr>
          <p:cNvPr id="34" name="TextBox 33">
            <a:extLst>
              <a:ext uri="{FF2B5EF4-FFF2-40B4-BE49-F238E27FC236}">
                <a16:creationId xmlns:a16="http://schemas.microsoft.com/office/drawing/2014/main" id="{A457A49F-9927-5D42-B089-3E06D0A426DE}"/>
              </a:ext>
            </a:extLst>
          </p:cNvPr>
          <p:cNvSpPr txBox="1"/>
          <p:nvPr/>
        </p:nvSpPr>
        <p:spPr>
          <a:xfrm>
            <a:off x="9986963" y="5868134"/>
            <a:ext cx="2023267" cy="369332"/>
          </a:xfrm>
          <a:prstGeom prst="rect">
            <a:avLst/>
          </a:prstGeom>
          <a:noFill/>
        </p:spPr>
        <p:txBody>
          <a:bodyPr wrap="square" rtlCol="0">
            <a:spAutoFit/>
          </a:bodyPr>
          <a:lstStyle/>
          <a:p>
            <a:r>
              <a:rPr lang="en-US" dirty="0"/>
              <a:t> </a:t>
            </a:r>
          </a:p>
        </p:txBody>
      </p:sp>
      <p:pic>
        <p:nvPicPr>
          <p:cNvPr id="7" name="Picture 6" descr="Diagram&#10;&#10;Description automatically generated with low confidence">
            <a:extLst>
              <a:ext uri="{FF2B5EF4-FFF2-40B4-BE49-F238E27FC236}">
                <a16:creationId xmlns:a16="http://schemas.microsoft.com/office/drawing/2014/main" id="{6D3F15AD-CDEE-464D-B737-93A5BC090331}"/>
              </a:ext>
            </a:extLst>
          </p:cNvPr>
          <p:cNvPicPr>
            <a:picLocks noChangeAspect="1"/>
          </p:cNvPicPr>
          <p:nvPr/>
        </p:nvPicPr>
        <p:blipFill>
          <a:blip r:embed="rId3"/>
          <a:stretch>
            <a:fillRect/>
          </a:stretch>
        </p:blipFill>
        <p:spPr>
          <a:xfrm>
            <a:off x="6386513" y="4762652"/>
            <a:ext cx="2411085" cy="1281953"/>
          </a:xfrm>
          <a:prstGeom prst="rect">
            <a:avLst/>
          </a:prstGeom>
        </p:spPr>
      </p:pic>
      <p:pic>
        <p:nvPicPr>
          <p:cNvPr id="9" name="Picture 8" descr="Text&#10;&#10;Description automatically generated with medium confidence">
            <a:extLst>
              <a:ext uri="{FF2B5EF4-FFF2-40B4-BE49-F238E27FC236}">
                <a16:creationId xmlns:a16="http://schemas.microsoft.com/office/drawing/2014/main" id="{CF650E82-CE26-5940-96B7-D6D1CDDC320F}"/>
              </a:ext>
            </a:extLst>
          </p:cNvPr>
          <p:cNvPicPr>
            <a:picLocks noChangeAspect="1"/>
          </p:cNvPicPr>
          <p:nvPr/>
        </p:nvPicPr>
        <p:blipFill>
          <a:blip r:embed="rId4"/>
          <a:stretch>
            <a:fillRect/>
          </a:stretch>
        </p:blipFill>
        <p:spPr>
          <a:xfrm>
            <a:off x="2789181" y="5075536"/>
            <a:ext cx="1968557" cy="656186"/>
          </a:xfrm>
          <a:prstGeom prst="rect">
            <a:avLst/>
          </a:prstGeom>
        </p:spPr>
      </p:pic>
      <p:pic>
        <p:nvPicPr>
          <p:cNvPr id="11" name="Picture 10" descr="A picture containing text&#10;&#10;Description automatically generated">
            <a:extLst>
              <a:ext uri="{FF2B5EF4-FFF2-40B4-BE49-F238E27FC236}">
                <a16:creationId xmlns:a16="http://schemas.microsoft.com/office/drawing/2014/main" id="{9BB2AF90-70BA-0240-BC0D-DA9C90DE332F}"/>
              </a:ext>
            </a:extLst>
          </p:cNvPr>
          <p:cNvPicPr>
            <a:picLocks noChangeAspect="1"/>
          </p:cNvPicPr>
          <p:nvPr/>
        </p:nvPicPr>
        <p:blipFill>
          <a:blip r:embed="rId5"/>
          <a:stretch>
            <a:fillRect/>
          </a:stretch>
        </p:blipFill>
        <p:spPr>
          <a:xfrm>
            <a:off x="6322336" y="2853490"/>
            <a:ext cx="2411085" cy="1151020"/>
          </a:xfrm>
          <a:prstGeom prst="rect">
            <a:avLst/>
          </a:prstGeom>
        </p:spPr>
      </p:pic>
      <p:pic>
        <p:nvPicPr>
          <p:cNvPr id="18" name="Picture 17" descr="A picture containing letter&#10;&#10;Description automatically generated">
            <a:extLst>
              <a:ext uri="{FF2B5EF4-FFF2-40B4-BE49-F238E27FC236}">
                <a16:creationId xmlns:a16="http://schemas.microsoft.com/office/drawing/2014/main" id="{F5B5331A-3DA9-E74B-BFDC-CD653B8C74BB}"/>
              </a:ext>
            </a:extLst>
          </p:cNvPr>
          <p:cNvPicPr>
            <a:picLocks noChangeAspect="1"/>
          </p:cNvPicPr>
          <p:nvPr/>
        </p:nvPicPr>
        <p:blipFill>
          <a:blip r:embed="rId6"/>
          <a:stretch>
            <a:fillRect/>
          </a:stretch>
        </p:blipFill>
        <p:spPr>
          <a:xfrm>
            <a:off x="2956007" y="3100907"/>
            <a:ext cx="1634904" cy="656186"/>
          </a:xfrm>
          <a:prstGeom prst="rect">
            <a:avLst/>
          </a:prstGeom>
        </p:spPr>
      </p:pic>
      <p:sp>
        <p:nvSpPr>
          <p:cNvPr id="19" name="TextBox 18">
            <a:extLst>
              <a:ext uri="{FF2B5EF4-FFF2-40B4-BE49-F238E27FC236}">
                <a16:creationId xmlns:a16="http://schemas.microsoft.com/office/drawing/2014/main" id="{04ABE6B4-6568-3A41-B310-A30F0407AADB}"/>
              </a:ext>
            </a:extLst>
          </p:cNvPr>
          <p:cNvSpPr txBox="1"/>
          <p:nvPr/>
        </p:nvSpPr>
        <p:spPr>
          <a:xfrm flipH="1">
            <a:off x="4464022" y="1827594"/>
            <a:ext cx="4876800" cy="461665"/>
          </a:xfrm>
          <a:prstGeom prst="rect">
            <a:avLst/>
          </a:prstGeom>
          <a:noFill/>
        </p:spPr>
        <p:txBody>
          <a:bodyPr wrap="square" rtlCol="0">
            <a:spAutoFit/>
          </a:bodyPr>
          <a:lstStyle/>
          <a:p>
            <a:r>
              <a:rPr lang="en-US" sz="2400" b="1" dirty="0"/>
              <a:t>Normalization eigenvector</a:t>
            </a:r>
          </a:p>
        </p:txBody>
      </p:sp>
    </p:spTree>
    <p:extLst>
      <p:ext uri="{BB962C8B-B14F-4D97-AF65-F5344CB8AC3E}">
        <p14:creationId xmlns:p14="http://schemas.microsoft.com/office/powerpoint/2010/main" val="1248031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14">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6E3AEA-9EC6-4540-886B-D4F7C34BC23E}"/>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dirty="0">
                <a:solidFill>
                  <a:schemeClr val="bg1"/>
                </a:solidFill>
              </a:rPr>
              <a:t>5</a:t>
            </a:r>
            <a:r>
              <a:rPr lang="en-US" sz="3200" kern="1200" dirty="0">
                <a:solidFill>
                  <a:schemeClr val="bg1"/>
                </a:solidFill>
                <a:latin typeface="+mj-lt"/>
                <a:ea typeface="+mj-ea"/>
                <a:cs typeface="+mj-cs"/>
              </a:rPr>
              <a:t>. Order the eigenvectors</a:t>
            </a:r>
          </a:p>
        </p:txBody>
      </p:sp>
      <p:sp>
        <p:nvSpPr>
          <p:cNvPr id="34" name="TextBox 33">
            <a:extLst>
              <a:ext uri="{FF2B5EF4-FFF2-40B4-BE49-F238E27FC236}">
                <a16:creationId xmlns:a16="http://schemas.microsoft.com/office/drawing/2014/main" id="{A457A49F-9927-5D42-B089-3E06D0A426DE}"/>
              </a:ext>
            </a:extLst>
          </p:cNvPr>
          <p:cNvSpPr txBox="1"/>
          <p:nvPr/>
        </p:nvSpPr>
        <p:spPr>
          <a:xfrm>
            <a:off x="9986963" y="5868134"/>
            <a:ext cx="2023267" cy="369332"/>
          </a:xfrm>
          <a:prstGeom prst="rect">
            <a:avLst/>
          </a:prstGeom>
          <a:noFill/>
        </p:spPr>
        <p:txBody>
          <a:bodyPr wrap="square" rtlCol="0">
            <a:spAutoFit/>
          </a:bodyPr>
          <a:lstStyle/>
          <a:p>
            <a:r>
              <a:rPr lang="en-US" dirty="0"/>
              <a:t> </a:t>
            </a:r>
          </a:p>
        </p:txBody>
      </p:sp>
      <p:pic>
        <p:nvPicPr>
          <p:cNvPr id="21" name="Picture 20">
            <a:extLst>
              <a:ext uri="{FF2B5EF4-FFF2-40B4-BE49-F238E27FC236}">
                <a16:creationId xmlns:a16="http://schemas.microsoft.com/office/drawing/2014/main" id="{3F52D6AD-2D4B-DF4B-AC72-39516B04307E}"/>
              </a:ext>
            </a:extLst>
          </p:cNvPr>
          <p:cNvPicPr>
            <a:picLocks noChangeAspect="1"/>
          </p:cNvPicPr>
          <p:nvPr/>
        </p:nvPicPr>
        <p:blipFill>
          <a:blip r:embed="rId3"/>
          <a:stretch>
            <a:fillRect/>
          </a:stretch>
        </p:blipFill>
        <p:spPr>
          <a:xfrm>
            <a:off x="942536" y="2170812"/>
            <a:ext cx="3415820" cy="969227"/>
          </a:xfrm>
          <a:prstGeom prst="rect">
            <a:avLst/>
          </a:prstGeom>
        </p:spPr>
      </p:pic>
      <p:pic>
        <p:nvPicPr>
          <p:cNvPr id="26" name="Picture 25" descr="A picture containing text&#10;&#10;Description automatically generated">
            <a:extLst>
              <a:ext uri="{FF2B5EF4-FFF2-40B4-BE49-F238E27FC236}">
                <a16:creationId xmlns:a16="http://schemas.microsoft.com/office/drawing/2014/main" id="{F7009EC3-30DC-BE4C-8423-CAF065F64245}"/>
              </a:ext>
            </a:extLst>
          </p:cNvPr>
          <p:cNvPicPr>
            <a:picLocks noChangeAspect="1"/>
          </p:cNvPicPr>
          <p:nvPr/>
        </p:nvPicPr>
        <p:blipFill>
          <a:blip r:embed="rId4"/>
          <a:stretch>
            <a:fillRect/>
          </a:stretch>
        </p:blipFill>
        <p:spPr>
          <a:xfrm>
            <a:off x="900181" y="3343812"/>
            <a:ext cx="3291880" cy="969227"/>
          </a:xfrm>
          <a:prstGeom prst="rect">
            <a:avLst/>
          </a:prstGeom>
        </p:spPr>
      </p:pic>
      <p:sp>
        <p:nvSpPr>
          <p:cNvPr id="27" name="TextBox 26">
            <a:extLst>
              <a:ext uri="{FF2B5EF4-FFF2-40B4-BE49-F238E27FC236}">
                <a16:creationId xmlns:a16="http://schemas.microsoft.com/office/drawing/2014/main" id="{EFB5E64B-712B-FB43-AD41-8839726A5E70}"/>
              </a:ext>
            </a:extLst>
          </p:cNvPr>
          <p:cNvSpPr txBox="1"/>
          <p:nvPr/>
        </p:nvSpPr>
        <p:spPr>
          <a:xfrm>
            <a:off x="556531" y="1628776"/>
            <a:ext cx="8901793" cy="461665"/>
          </a:xfrm>
          <a:prstGeom prst="rect">
            <a:avLst/>
          </a:prstGeom>
          <a:noFill/>
        </p:spPr>
        <p:txBody>
          <a:bodyPr wrap="square" rtlCol="0">
            <a:spAutoFit/>
          </a:bodyPr>
          <a:lstStyle/>
          <a:p>
            <a:r>
              <a:rPr lang="en-US" sz="2400" dirty="0"/>
              <a:t>Order the eigenvectors based on their corresponding eigenvalues</a:t>
            </a:r>
          </a:p>
        </p:txBody>
      </p:sp>
      <p:pic>
        <p:nvPicPr>
          <p:cNvPr id="4" name="Picture 3" descr="Chart, scatter chart&#10;&#10;Description automatically generated">
            <a:extLst>
              <a:ext uri="{FF2B5EF4-FFF2-40B4-BE49-F238E27FC236}">
                <a16:creationId xmlns:a16="http://schemas.microsoft.com/office/drawing/2014/main" id="{4AEB5AAE-0972-584E-9782-53FD42F51ACC}"/>
              </a:ext>
            </a:extLst>
          </p:cNvPr>
          <p:cNvPicPr>
            <a:picLocks noChangeAspect="1"/>
          </p:cNvPicPr>
          <p:nvPr/>
        </p:nvPicPr>
        <p:blipFill>
          <a:blip r:embed="rId5"/>
          <a:stretch>
            <a:fillRect/>
          </a:stretch>
        </p:blipFill>
        <p:spPr>
          <a:xfrm>
            <a:off x="7317645" y="2255104"/>
            <a:ext cx="4321051" cy="3414624"/>
          </a:xfrm>
          <a:prstGeom prst="rect">
            <a:avLst/>
          </a:prstGeom>
        </p:spPr>
      </p:pic>
      <p:sp>
        <p:nvSpPr>
          <p:cNvPr id="20" name="TextBox 19">
            <a:extLst>
              <a:ext uri="{FF2B5EF4-FFF2-40B4-BE49-F238E27FC236}">
                <a16:creationId xmlns:a16="http://schemas.microsoft.com/office/drawing/2014/main" id="{46312BBA-935B-FE4C-93DD-E580E58C2A9B}"/>
              </a:ext>
            </a:extLst>
          </p:cNvPr>
          <p:cNvSpPr txBox="1"/>
          <p:nvPr/>
        </p:nvSpPr>
        <p:spPr>
          <a:xfrm rot="10800000" flipV="1">
            <a:off x="553303" y="4862437"/>
            <a:ext cx="6890484" cy="461665"/>
          </a:xfrm>
          <a:prstGeom prst="rect">
            <a:avLst/>
          </a:prstGeom>
          <a:noFill/>
        </p:spPr>
        <p:txBody>
          <a:bodyPr wrap="square" rtlCol="0">
            <a:spAutoFit/>
          </a:bodyPr>
          <a:lstStyle/>
          <a:p>
            <a:r>
              <a:rPr lang="en-US" sz="2400" dirty="0"/>
              <a:t>Put these two eigenvectors together into a matrix </a:t>
            </a:r>
          </a:p>
        </p:txBody>
      </p:sp>
      <p:pic>
        <p:nvPicPr>
          <p:cNvPr id="6" name="Picture 5">
            <a:extLst>
              <a:ext uri="{FF2B5EF4-FFF2-40B4-BE49-F238E27FC236}">
                <a16:creationId xmlns:a16="http://schemas.microsoft.com/office/drawing/2014/main" id="{13375997-D4AA-1148-A907-9088C0B02877}"/>
              </a:ext>
            </a:extLst>
          </p:cNvPr>
          <p:cNvPicPr>
            <a:picLocks noChangeAspect="1"/>
          </p:cNvPicPr>
          <p:nvPr/>
        </p:nvPicPr>
        <p:blipFill>
          <a:blip r:embed="rId6"/>
          <a:stretch>
            <a:fillRect/>
          </a:stretch>
        </p:blipFill>
        <p:spPr>
          <a:xfrm>
            <a:off x="1052283" y="5535549"/>
            <a:ext cx="2651573" cy="906113"/>
          </a:xfrm>
          <a:prstGeom prst="rect">
            <a:avLst/>
          </a:prstGeom>
        </p:spPr>
      </p:pic>
    </p:spTree>
    <p:extLst>
      <p:ext uri="{BB962C8B-B14F-4D97-AF65-F5344CB8AC3E}">
        <p14:creationId xmlns:p14="http://schemas.microsoft.com/office/powerpoint/2010/main" val="7243629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14">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6E3AEA-9EC6-4540-886B-D4F7C34BC23E}"/>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dirty="0">
                <a:solidFill>
                  <a:schemeClr val="bg1"/>
                </a:solidFill>
                <a:latin typeface="+mj-lt"/>
                <a:ea typeface="+mj-ea"/>
                <a:cs typeface="+mj-cs"/>
              </a:rPr>
              <a:t>6. Calculate the principal components</a:t>
            </a:r>
          </a:p>
        </p:txBody>
      </p:sp>
      <p:sp>
        <p:nvSpPr>
          <p:cNvPr id="34" name="TextBox 33">
            <a:extLst>
              <a:ext uri="{FF2B5EF4-FFF2-40B4-BE49-F238E27FC236}">
                <a16:creationId xmlns:a16="http://schemas.microsoft.com/office/drawing/2014/main" id="{A457A49F-9927-5D42-B089-3E06D0A426DE}"/>
              </a:ext>
            </a:extLst>
          </p:cNvPr>
          <p:cNvSpPr txBox="1"/>
          <p:nvPr/>
        </p:nvSpPr>
        <p:spPr>
          <a:xfrm>
            <a:off x="9986963" y="5868134"/>
            <a:ext cx="2023267" cy="369332"/>
          </a:xfrm>
          <a:prstGeom prst="rect">
            <a:avLst/>
          </a:prstGeom>
          <a:noFill/>
        </p:spPr>
        <p:txBody>
          <a:bodyPr wrap="square" rtlCol="0">
            <a:spAutoFit/>
          </a:bodyPr>
          <a:lstStyle/>
          <a:p>
            <a:r>
              <a:rPr lang="en-US" dirty="0"/>
              <a:t> </a:t>
            </a:r>
          </a:p>
        </p:txBody>
      </p:sp>
      <p:pic>
        <p:nvPicPr>
          <p:cNvPr id="8" name="Picture 7" descr="Chart&#10;&#10;Description automatically generated">
            <a:extLst>
              <a:ext uri="{FF2B5EF4-FFF2-40B4-BE49-F238E27FC236}">
                <a16:creationId xmlns:a16="http://schemas.microsoft.com/office/drawing/2014/main" id="{A1C56031-E61E-A043-A8FF-0257AF9FF7E4}"/>
              </a:ext>
            </a:extLst>
          </p:cNvPr>
          <p:cNvPicPr>
            <a:picLocks noChangeAspect="1"/>
          </p:cNvPicPr>
          <p:nvPr/>
        </p:nvPicPr>
        <p:blipFill>
          <a:blip r:embed="rId3"/>
          <a:stretch>
            <a:fillRect/>
          </a:stretch>
        </p:blipFill>
        <p:spPr>
          <a:xfrm>
            <a:off x="7029450" y="3023577"/>
            <a:ext cx="4286250" cy="3220544"/>
          </a:xfrm>
          <a:prstGeom prst="rect">
            <a:avLst/>
          </a:prstGeom>
        </p:spPr>
      </p:pic>
      <p:sp>
        <p:nvSpPr>
          <p:cNvPr id="9" name="TextBox 8">
            <a:extLst>
              <a:ext uri="{FF2B5EF4-FFF2-40B4-BE49-F238E27FC236}">
                <a16:creationId xmlns:a16="http://schemas.microsoft.com/office/drawing/2014/main" id="{F074B41C-C27E-BF43-A055-73D6E258DBF8}"/>
              </a:ext>
            </a:extLst>
          </p:cNvPr>
          <p:cNvSpPr txBox="1"/>
          <p:nvPr/>
        </p:nvSpPr>
        <p:spPr>
          <a:xfrm>
            <a:off x="7986712" y="1799371"/>
            <a:ext cx="2771775" cy="1077218"/>
          </a:xfrm>
          <a:prstGeom prst="rect">
            <a:avLst/>
          </a:prstGeom>
          <a:noFill/>
        </p:spPr>
        <p:txBody>
          <a:bodyPr wrap="square" rtlCol="0">
            <a:spAutoFit/>
          </a:bodyPr>
          <a:lstStyle/>
          <a:p>
            <a:endParaRPr lang="en-US" dirty="0"/>
          </a:p>
          <a:p>
            <a:r>
              <a:rPr lang="en-US" sz="2800" b="1" dirty="0"/>
              <a:t>The score plot</a:t>
            </a:r>
          </a:p>
          <a:p>
            <a:endParaRPr lang="en-US" dirty="0"/>
          </a:p>
        </p:txBody>
      </p:sp>
      <p:pic>
        <p:nvPicPr>
          <p:cNvPr id="11" name="Picture 10" descr="A picture containing text&#10;&#10;Description automatically generated">
            <a:extLst>
              <a:ext uri="{FF2B5EF4-FFF2-40B4-BE49-F238E27FC236}">
                <a16:creationId xmlns:a16="http://schemas.microsoft.com/office/drawing/2014/main" id="{12035E24-9A20-844F-A284-A9C23FEF1721}"/>
              </a:ext>
            </a:extLst>
          </p:cNvPr>
          <p:cNvPicPr>
            <a:picLocks noChangeAspect="1"/>
          </p:cNvPicPr>
          <p:nvPr/>
        </p:nvPicPr>
        <p:blipFill>
          <a:blip r:embed="rId4"/>
          <a:stretch>
            <a:fillRect/>
          </a:stretch>
        </p:blipFill>
        <p:spPr>
          <a:xfrm>
            <a:off x="1586864" y="1851148"/>
            <a:ext cx="3994607" cy="1692731"/>
          </a:xfrm>
          <a:prstGeom prst="rect">
            <a:avLst/>
          </a:prstGeom>
        </p:spPr>
      </p:pic>
      <p:pic>
        <p:nvPicPr>
          <p:cNvPr id="13" name="Picture 12" descr="Table&#10;&#10;Description automatically generated">
            <a:extLst>
              <a:ext uri="{FF2B5EF4-FFF2-40B4-BE49-F238E27FC236}">
                <a16:creationId xmlns:a16="http://schemas.microsoft.com/office/drawing/2014/main" id="{7C0BBF22-5462-7A43-897C-8EF7EEEFB980}"/>
              </a:ext>
            </a:extLst>
          </p:cNvPr>
          <p:cNvPicPr>
            <a:picLocks noChangeAspect="1"/>
          </p:cNvPicPr>
          <p:nvPr/>
        </p:nvPicPr>
        <p:blipFill>
          <a:blip r:embed="rId5"/>
          <a:stretch>
            <a:fillRect/>
          </a:stretch>
        </p:blipFill>
        <p:spPr>
          <a:xfrm>
            <a:off x="1101088" y="4364874"/>
            <a:ext cx="4995141" cy="2150226"/>
          </a:xfrm>
          <a:prstGeom prst="rect">
            <a:avLst/>
          </a:prstGeom>
        </p:spPr>
      </p:pic>
      <p:sp>
        <p:nvSpPr>
          <p:cNvPr id="22" name="Down Arrow 21">
            <a:extLst>
              <a:ext uri="{FF2B5EF4-FFF2-40B4-BE49-F238E27FC236}">
                <a16:creationId xmlns:a16="http://schemas.microsoft.com/office/drawing/2014/main" id="{3E31DF5C-BFBC-F940-9260-1B8951AC8BF4}"/>
              </a:ext>
            </a:extLst>
          </p:cNvPr>
          <p:cNvSpPr/>
          <p:nvPr/>
        </p:nvSpPr>
        <p:spPr>
          <a:xfrm>
            <a:off x="3326021" y="3778321"/>
            <a:ext cx="188704" cy="35211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8130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14">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6E3AEA-9EC6-4540-886B-D4F7C34BC23E}"/>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dirty="0">
                <a:solidFill>
                  <a:schemeClr val="bg1"/>
                </a:solidFill>
                <a:latin typeface="+mj-lt"/>
                <a:ea typeface="+mj-ea"/>
                <a:cs typeface="+mj-cs"/>
              </a:rPr>
              <a:t>Interpret PCA</a:t>
            </a:r>
          </a:p>
        </p:txBody>
      </p:sp>
      <p:sp>
        <p:nvSpPr>
          <p:cNvPr id="34" name="TextBox 33">
            <a:extLst>
              <a:ext uri="{FF2B5EF4-FFF2-40B4-BE49-F238E27FC236}">
                <a16:creationId xmlns:a16="http://schemas.microsoft.com/office/drawing/2014/main" id="{A457A49F-9927-5D42-B089-3E06D0A426DE}"/>
              </a:ext>
            </a:extLst>
          </p:cNvPr>
          <p:cNvSpPr txBox="1"/>
          <p:nvPr/>
        </p:nvSpPr>
        <p:spPr>
          <a:xfrm>
            <a:off x="9986963" y="5868134"/>
            <a:ext cx="2023267" cy="369332"/>
          </a:xfrm>
          <a:prstGeom prst="rect">
            <a:avLst/>
          </a:prstGeom>
          <a:noFill/>
        </p:spPr>
        <p:txBody>
          <a:bodyPr wrap="square" rtlCol="0">
            <a:spAutoFit/>
          </a:bodyPr>
          <a:lstStyle/>
          <a:p>
            <a:r>
              <a:rPr lang="en-US" dirty="0"/>
              <a:t> </a:t>
            </a:r>
          </a:p>
        </p:txBody>
      </p:sp>
      <p:graphicFrame>
        <p:nvGraphicFramePr>
          <p:cNvPr id="3" name="Table 2">
            <a:extLst>
              <a:ext uri="{FF2B5EF4-FFF2-40B4-BE49-F238E27FC236}">
                <a16:creationId xmlns:a16="http://schemas.microsoft.com/office/drawing/2014/main" id="{4A1CB720-9792-824C-9C25-DA8D216D28FE}"/>
              </a:ext>
            </a:extLst>
          </p:cNvPr>
          <p:cNvGraphicFramePr>
            <a:graphicFrameLocks noGrp="1"/>
          </p:cNvGraphicFramePr>
          <p:nvPr>
            <p:extLst>
              <p:ext uri="{D42A27DB-BD31-4B8C-83A1-F6EECF244321}">
                <p14:modId xmlns:p14="http://schemas.microsoft.com/office/powerpoint/2010/main" val="770160194"/>
              </p:ext>
            </p:extLst>
          </p:nvPr>
        </p:nvGraphicFramePr>
        <p:xfrm>
          <a:off x="1171575" y="2368703"/>
          <a:ext cx="3614738" cy="1873096"/>
        </p:xfrm>
        <a:graphic>
          <a:graphicData uri="http://schemas.openxmlformats.org/drawingml/2006/table">
            <a:tbl>
              <a:tblPr>
                <a:tableStyleId>{5C22544A-7EE6-4342-B048-85BDC9FD1C3A}</a:tableStyleId>
              </a:tblPr>
              <a:tblGrid>
                <a:gridCol w="1807369">
                  <a:extLst>
                    <a:ext uri="{9D8B030D-6E8A-4147-A177-3AD203B41FA5}">
                      <a16:colId xmlns:a16="http://schemas.microsoft.com/office/drawing/2014/main" val="2394240713"/>
                    </a:ext>
                  </a:extLst>
                </a:gridCol>
                <a:gridCol w="1807369">
                  <a:extLst>
                    <a:ext uri="{9D8B030D-6E8A-4147-A177-3AD203B41FA5}">
                      <a16:colId xmlns:a16="http://schemas.microsoft.com/office/drawing/2014/main" val="2449488538"/>
                    </a:ext>
                  </a:extLst>
                </a:gridCol>
              </a:tblGrid>
              <a:tr h="234137">
                <a:tc>
                  <a:txBody>
                    <a:bodyPr/>
                    <a:lstStyle/>
                    <a:p>
                      <a:pPr algn="ctr" fontAlgn="b"/>
                      <a:r>
                        <a:rPr lang="en-CA" sz="1200" b="1" u="none" strike="noStrike" dirty="0">
                          <a:effectLst/>
                        </a:rPr>
                        <a:t>Centered SBP</a:t>
                      </a:r>
                      <a:endParaRPr lang="en-CA" sz="12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CA" sz="1200" b="1" u="none" strike="noStrike" dirty="0">
                          <a:effectLst/>
                        </a:rPr>
                        <a:t>Centered DBP</a:t>
                      </a:r>
                      <a:endParaRPr lang="en-CA" sz="12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239255882"/>
                  </a:ext>
                </a:extLst>
              </a:tr>
              <a:tr h="234137">
                <a:tc>
                  <a:txBody>
                    <a:bodyPr/>
                    <a:lstStyle/>
                    <a:p>
                      <a:pPr algn="ctr" fontAlgn="b"/>
                      <a:r>
                        <a:rPr lang="en-CA" sz="1200" u="none" strike="noStrike">
                          <a:effectLst/>
                        </a:rPr>
                        <a:t>-3</a:t>
                      </a:r>
                      <a:endParaRPr lang="en-CA"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CA" sz="1200" u="none" strike="noStrike">
                          <a:effectLst/>
                        </a:rPr>
                        <a:t>-4</a:t>
                      </a:r>
                      <a:endParaRPr lang="en-CA"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872150068"/>
                  </a:ext>
                </a:extLst>
              </a:tr>
              <a:tr h="234137">
                <a:tc>
                  <a:txBody>
                    <a:bodyPr/>
                    <a:lstStyle/>
                    <a:p>
                      <a:pPr algn="ctr" fontAlgn="b"/>
                      <a:r>
                        <a:rPr lang="en-CA" sz="1200" u="none" strike="noStrike">
                          <a:effectLst/>
                        </a:rPr>
                        <a:t>-1</a:t>
                      </a:r>
                      <a:endParaRPr lang="en-CA"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CA" sz="1200" u="none" strike="noStrike">
                          <a:effectLst/>
                        </a:rPr>
                        <a:t>-2</a:t>
                      </a:r>
                      <a:endParaRPr lang="en-CA"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956155223"/>
                  </a:ext>
                </a:extLst>
              </a:tr>
              <a:tr h="234137">
                <a:tc>
                  <a:txBody>
                    <a:bodyPr/>
                    <a:lstStyle/>
                    <a:p>
                      <a:pPr algn="ctr" fontAlgn="b"/>
                      <a:r>
                        <a:rPr lang="en-CA" sz="1200" u="none" strike="noStrike">
                          <a:effectLst/>
                        </a:rPr>
                        <a:t>-1</a:t>
                      </a:r>
                      <a:endParaRPr lang="en-CA"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CA" sz="1200" u="none" strike="noStrike">
                          <a:effectLst/>
                        </a:rPr>
                        <a:t>0</a:t>
                      </a:r>
                      <a:endParaRPr lang="en-CA"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290005684"/>
                  </a:ext>
                </a:extLst>
              </a:tr>
              <a:tr h="234137">
                <a:tc>
                  <a:txBody>
                    <a:bodyPr/>
                    <a:lstStyle/>
                    <a:p>
                      <a:pPr algn="ctr" fontAlgn="b"/>
                      <a:r>
                        <a:rPr lang="en-CA" sz="1200" u="none" strike="noStrike">
                          <a:effectLst/>
                        </a:rPr>
                        <a:t>1</a:t>
                      </a:r>
                      <a:endParaRPr lang="en-CA"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CA" sz="1200" u="none" strike="noStrike" dirty="0">
                          <a:effectLst/>
                        </a:rPr>
                        <a:t>0</a:t>
                      </a:r>
                      <a:endParaRPr lang="en-CA"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529576288"/>
                  </a:ext>
                </a:extLst>
              </a:tr>
              <a:tr h="234137">
                <a:tc>
                  <a:txBody>
                    <a:bodyPr/>
                    <a:lstStyle/>
                    <a:p>
                      <a:pPr algn="ctr" fontAlgn="b"/>
                      <a:r>
                        <a:rPr lang="en-CA" sz="1200" u="none" strike="noStrike">
                          <a:effectLst/>
                        </a:rPr>
                        <a:t>1</a:t>
                      </a:r>
                      <a:endParaRPr lang="en-CA"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CA" sz="1200" u="none" strike="noStrike" dirty="0">
                          <a:effectLst/>
                        </a:rPr>
                        <a:t>2</a:t>
                      </a:r>
                      <a:endParaRPr lang="en-CA"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15202863"/>
                  </a:ext>
                </a:extLst>
              </a:tr>
              <a:tr h="234137">
                <a:tc>
                  <a:txBody>
                    <a:bodyPr/>
                    <a:lstStyle/>
                    <a:p>
                      <a:pPr algn="ctr" fontAlgn="b"/>
                      <a:r>
                        <a:rPr lang="en-CA" sz="1200" u="none" strike="noStrike">
                          <a:effectLst/>
                        </a:rPr>
                        <a:t>3</a:t>
                      </a:r>
                      <a:endParaRPr lang="en-CA"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CA" sz="1200" u="none" strike="noStrike">
                          <a:effectLst/>
                        </a:rPr>
                        <a:t>4</a:t>
                      </a:r>
                      <a:endParaRPr lang="en-CA"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029190953"/>
                  </a:ext>
                </a:extLst>
              </a:tr>
              <a:tr h="234137">
                <a:tc>
                  <a:txBody>
                    <a:bodyPr/>
                    <a:lstStyle/>
                    <a:p>
                      <a:pPr algn="ctr" fontAlgn="b"/>
                      <a:r>
                        <a:rPr lang="en-CA" sz="1200" u="none" strike="noStrike">
                          <a:effectLst/>
                        </a:rPr>
                        <a:t>var = 4.4</a:t>
                      </a:r>
                      <a:endParaRPr lang="en-CA"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CA" sz="1200" u="none" strike="noStrike" dirty="0">
                          <a:effectLst/>
                        </a:rPr>
                        <a:t>var = 8.0</a:t>
                      </a:r>
                      <a:endParaRPr lang="en-CA"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95689907"/>
                  </a:ext>
                </a:extLst>
              </a:tr>
            </a:tbl>
          </a:graphicData>
        </a:graphic>
      </p:graphicFrame>
      <p:graphicFrame>
        <p:nvGraphicFramePr>
          <p:cNvPr id="4" name="Table 3">
            <a:extLst>
              <a:ext uri="{FF2B5EF4-FFF2-40B4-BE49-F238E27FC236}">
                <a16:creationId xmlns:a16="http://schemas.microsoft.com/office/drawing/2014/main" id="{BD669E89-F006-F240-9EFB-C8AD18F082D6}"/>
              </a:ext>
            </a:extLst>
          </p:cNvPr>
          <p:cNvGraphicFramePr>
            <a:graphicFrameLocks noGrp="1"/>
          </p:cNvGraphicFramePr>
          <p:nvPr>
            <p:extLst>
              <p:ext uri="{D42A27DB-BD31-4B8C-83A1-F6EECF244321}">
                <p14:modId xmlns:p14="http://schemas.microsoft.com/office/powerpoint/2010/main" val="3981330480"/>
              </p:ext>
            </p:extLst>
          </p:nvPr>
        </p:nvGraphicFramePr>
        <p:xfrm>
          <a:off x="7700962" y="2368703"/>
          <a:ext cx="3228976" cy="1873096"/>
        </p:xfrm>
        <a:graphic>
          <a:graphicData uri="http://schemas.openxmlformats.org/drawingml/2006/table">
            <a:tbl>
              <a:tblPr>
                <a:tableStyleId>{5C22544A-7EE6-4342-B048-85BDC9FD1C3A}</a:tableStyleId>
              </a:tblPr>
              <a:tblGrid>
                <a:gridCol w="1614488">
                  <a:extLst>
                    <a:ext uri="{9D8B030D-6E8A-4147-A177-3AD203B41FA5}">
                      <a16:colId xmlns:a16="http://schemas.microsoft.com/office/drawing/2014/main" val="3452962436"/>
                    </a:ext>
                  </a:extLst>
                </a:gridCol>
                <a:gridCol w="1614488">
                  <a:extLst>
                    <a:ext uri="{9D8B030D-6E8A-4147-A177-3AD203B41FA5}">
                      <a16:colId xmlns:a16="http://schemas.microsoft.com/office/drawing/2014/main" val="2762848368"/>
                    </a:ext>
                  </a:extLst>
                </a:gridCol>
              </a:tblGrid>
              <a:tr h="234137">
                <a:tc>
                  <a:txBody>
                    <a:bodyPr/>
                    <a:lstStyle/>
                    <a:p>
                      <a:pPr algn="ctr" fontAlgn="b"/>
                      <a:r>
                        <a:rPr lang="en-CA" sz="1200" b="1" u="none" strike="noStrike">
                          <a:effectLst/>
                        </a:rPr>
                        <a:t>PC1</a:t>
                      </a:r>
                      <a:endParaRPr lang="en-CA" sz="12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CA" sz="1200" b="1" u="none" strike="noStrike" dirty="0">
                          <a:effectLst/>
                        </a:rPr>
                        <a:t>PC2</a:t>
                      </a:r>
                      <a:endParaRPr lang="en-CA" sz="12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451901972"/>
                  </a:ext>
                </a:extLst>
              </a:tr>
              <a:tr h="234137">
                <a:tc>
                  <a:txBody>
                    <a:bodyPr/>
                    <a:lstStyle/>
                    <a:p>
                      <a:pPr algn="ctr" fontAlgn="b"/>
                      <a:r>
                        <a:rPr lang="en-CA" sz="1200" u="none" strike="noStrike">
                          <a:effectLst/>
                        </a:rPr>
                        <a:t>-5</a:t>
                      </a:r>
                      <a:endParaRPr lang="en-CA"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CA" sz="1200" u="none" strike="noStrike">
                          <a:effectLst/>
                        </a:rPr>
                        <a:t>0.1</a:t>
                      </a:r>
                      <a:endParaRPr lang="en-CA"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48822930"/>
                  </a:ext>
                </a:extLst>
              </a:tr>
              <a:tr h="234137">
                <a:tc>
                  <a:txBody>
                    <a:bodyPr/>
                    <a:lstStyle/>
                    <a:p>
                      <a:pPr algn="ctr" fontAlgn="b"/>
                      <a:r>
                        <a:rPr lang="en-CA" sz="1200" u="none" strike="noStrike">
                          <a:effectLst/>
                        </a:rPr>
                        <a:t>-2.2</a:t>
                      </a:r>
                      <a:endParaRPr lang="en-CA"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CA" sz="1200" u="none" strike="noStrike">
                          <a:effectLst/>
                        </a:rPr>
                        <a:t>-0.4</a:t>
                      </a:r>
                      <a:endParaRPr lang="en-CA"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20550873"/>
                  </a:ext>
                </a:extLst>
              </a:tr>
              <a:tr h="234137">
                <a:tc>
                  <a:txBody>
                    <a:bodyPr/>
                    <a:lstStyle/>
                    <a:p>
                      <a:pPr algn="ctr" fontAlgn="b"/>
                      <a:r>
                        <a:rPr lang="en-CA" sz="1200" u="none" strike="noStrike">
                          <a:effectLst/>
                        </a:rPr>
                        <a:t>-0.6</a:t>
                      </a:r>
                      <a:endParaRPr lang="en-CA"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CA" sz="1200" u="none" strike="noStrike" dirty="0">
                          <a:effectLst/>
                        </a:rPr>
                        <a:t>0.8</a:t>
                      </a:r>
                      <a:endParaRPr lang="en-CA"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5279640"/>
                  </a:ext>
                </a:extLst>
              </a:tr>
              <a:tr h="234137">
                <a:tc>
                  <a:txBody>
                    <a:bodyPr/>
                    <a:lstStyle/>
                    <a:p>
                      <a:pPr algn="ctr" fontAlgn="b"/>
                      <a:r>
                        <a:rPr lang="en-CA" sz="1200" u="none" strike="noStrike">
                          <a:effectLst/>
                        </a:rPr>
                        <a:t>0.6</a:t>
                      </a:r>
                      <a:endParaRPr lang="en-CA"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CA" sz="1200" u="none" strike="noStrike" dirty="0">
                          <a:effectLst/>
                        </a:rPr>
                        <a:t>-0.8</a:t>
                      </a:r>
                      <a:endParaRPr lang="en-CA"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130405303"/>
                  </a:ext>
                </a:extLst>
              </a:tr>
              <a:tr h="234137">
                <a:tc>
                  <a:txBody>
                    <a:bodyPr/>
                    <a:lstStyle/>
                    <a:p>
                      <a:pPr algn="ctr" fontAlgn="b"/>
                      <a:r>
                        <a:rPr lang="en-CA" sz="1200" u="none" strike="noStrike" dirty="0">
                          <a:effectLst/>
                        </a:rPr>
                        <a:t>2.2</a:t>
                      </a:r>
                      <a:endParaRPr lang="en-CA"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CA" sz="1200" u="none" strike="noStrike">
                          <a:effectLst/>
                        </a:rPr>
                        <a:t>0.4</a:t>
                      </a:r>
                      <a:endParaRPr lang="en-CA"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32626775"/>
                  </a:ext>
                </a:extLst>
              </a:tr>
              <a:tr h="234137">
                <a:tc>
                  <a:txBody>
                    <a:bodyPr/>
                    <a:lstStyle/>
                    <a:p>
                      <a:pPr algn="ctr" fontAlgn="b"/>
                      <a:r>
                        <a:rPr lang="en-CA" sz="1200" u="none" strike="noStrike">
                          <a:effectLst/>
                        </a:rPr>
                        <a:t>5</a:t>
                      </a:r>
                      <a:endParaRPr lang="en-CA"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CA" sz="1200" u="none" strike="noStrike">
                          <a:effectLst/>
                        </a:rPr>
                        <a:t>-0.1</a:t>
                      </a:r>
                      <a:endParaRPr lang="en-CA"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788436184"/>
                  </a:ext>
                </a:extLst>
              </a:tr>
              <a:tr h="234137">
                <a:tc>
                  <a:txBody>
                    <a:bodyPr/>
                    <a:lstStyle/>
                    <a:p>
                      <a:pPr algn="ctr" fontAlgn="b"/>
                      <a:r>
                        <a:rPr lang="en-CA" sz="1200" u="none" strike="noStrike">
                          <a:effectLst/>
                        </a:rPr>
                        <a:t>var = 12.08</a:t>
                      </a:r>
                      <a:endParaRPr lang="en-CA"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CA" sz="1200" u="none" strike="noStrike" dirty="0">
                          <a:effectLst/>
                        </a:rPr>
                        <a:t>var = 0.32</a:t>
                      </a:r>
                      <a:endParaRPr lang="en-CA"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421193875"/>
                  </a:ext>
                </a:extLst>
              </a:tr>
            </a:tbl>
          </a:graphicData>
        </a:graphic>
      </p:graphicFrame>
      <p:pic>
        <p:nvPicPr>
          <p:cNvPr id="6" name="Picture 5" descr="A picture containing text, watch, gauge&#10;&#10;Description automatically generated">
            <a:extLst>
              <a:ext uri="{FF2B5EF4-FFF2-40B4-BE49-F238E27FC236}">
                <a16:creationId xmlns:a16="http://schemas.microsoft.com/office/drawing/2014/main" id="{6E8045E9-46F5-1C4E-A794-881F81F46B7C}"/>
              </a:ext>
            </a:extLst>
          </p:cNvPr>
          <p:cNvPicPr>
            <a:picLocks noChangeAspect="1"/>
          </p:cNvPicPr>
          <p:nvPr/>
        </p:nvPicPr>
        <p:blipFill>
          <a:blip r:embed="rId3"/>
          <a:stretch>
            <a:fillRect/>
          </a:stretch>
        </p:blipFill>
        <p:spPr>
          <a:xfrm>
            <a:off x="8294135" y="4440295"/>
            <a:ext cx="2137735" cy="977900"/>
          </a:xfrm>
          <a:prstGeom prst="rect">
            <a:avLst/>
          </a:prstGeom>
        </p:spPr>
      </p:pic>
      <p:pic>
        <p:nvPicPr>
          <p:cNvPr id="18" name="Picture 17" descr="A picture containing text&#10;&#10;Description automatically generated">
            <a:extLst>
              <a:ext uri="{FF2B5EF4-FFF2-40B4-BE49-F238E27FC236}">
                <a16:creationId xmlns:a16="http://schemas.microsoft.com/office/drawing/2014/main" id="{A6298C8E-CA3A-724B-8575-649FB9B6DBFB}"/>
              </a:ext>
            </a:extLst>
          </p:cNvPr>
          <p:cNvPicPr>
            <a:picLocks noChangeAspect="1"/>
          </p:cNvPicPr>
          <p:nvPr/>
        </p:nvPicPr>
        <p:blipFill>
          <a:blip r:embed="rId4"/>
          <a:stretch>
            <a:fillRect/>
          </a:stretch>
        </p:blipFill>
        <p:spPr>
          <a:xfrm>
            <a:off x="2100968" y="4360213"/>
            <a:ext cx="1676400" cy="977900"/>
          </a:xfrm>
          <a:prstGeom prst="rect">
            <a:avLst/>
          </a:prstGeom>
        </p:spPr>
      </p:pic>
      <p:sp>
        <p:nvSpPr>
          <p:cNvPr id="19" name="TextBox 18">
            <a:extLst>
              <a:ext uri="{FF2B5EF4-FFF2-40B4-BE49-F238E27FC236}">
                <a16:creationId xmlns:a16="http://schemas.microsoft.com/office/drawing/2014/main" id="{0B2A22A7-4552-CE4D-A945-FC3662080656}"/>
              </a:ext>
            </a:extLst>
          </p:cNvPr>
          <p:cNvSpPr txBox="1"/>
          <p:nvPr/>
        </p:nvSpPr>
        <p:spPr>
          <a:xfrm>
            <a:off x="1745144" y="1693837"/>
            <a:ext cx="2884006" cy="461665"/>
          </a:xfrm>
          <a:prstGeom prst="rect">
            <a:avLst/>
          </a:prstGeom>
          <a:noFill/>
        </p:spPr>
        <p:txBody>
          <a:bodyPr wrap="square" rtlCol="0">
            <a:spAutoFit/>
          </a:bodyPr>
          <a:lstStyle/>
          <a:p>
            <a:r>
              <a:rPr lang="en-US" sz="2400" b="1" dirty="0"/>
              <a:t>The centered data</a:t>
            </a:r>
          </a:p>
        </p:txBody>
      </p:sp>
      <p:sp>
        <p:nvSpPr>
          <p:cNvPr id="20" name="TextBox 19">
            <a:extLst>
              <a:ext uri="{FF2B5EF4-FFF2-40B4-BE49-F238E27FC236}">
                <a16:creationId xmlns:a16="http://schemas.microsoft.com/office/drawing/2014/main" id="{4374CFE2-F23B-6045-A955-A671E3E8D331}"/>
              </a:ext>
            </a:extLst>
          </p:cNvPr>
          <p:cNvSpPr txBox="1"/>
          <p:nvPr/>
        </p:nvSpPr>
        <p:spPr>
          <a:xfrm>
            <a:off x="7872413" y="1693837"/>
            <a:ext cx="3057525" cy="461665"/>
          </a:xfrm>
          <a:prstGeom prst="rect">
            <a:avLst/>
          </a:prstGeom>
          <a:noFill/>
        </p:spPr>
        <p:txBody>
          <a:bodyPr wrap="square" rtlCol="0">
            <a:spAutoFit/>
          </a:bodyPr>
          <a:lstStyle/>
          <a:p>
            <a:r>
              <a:rPr lang="en-US" sz="2400" b="1" dirty="0"/>
              <a:t>The transformed data</a:t>
            </a:r>
          </a:p>
        </p:txBody>
      </p:sp>
      <p:pic>
        <p:nvPicPr>
          <p:cNvPr id="24" name="Picture 23" descr="A picture containing text&#10;&#10;Description automatically generated">
            <a:extLst>
              <a:ext uri="{FF2B5EF4-FFF2-40B4-BE49-F238E27FC236}">
                <a16:creationId xmlns:a16="http://schemas.microsoft.com/office/drawing/2014/main" id="{B30308E9-C782-1F43-AAEE-0647E087E202}"/>
              </a:ext>
            </a:extLst>
          </p:cNvPr>
          <p:cNvPicPr>
            <a:picLocks noChangeAspect="1"/>
          </p:cNvPicPr>
          <p:nvPr/>
        </p:nvPicPr>
        <p:blipFill>
          <a:blip r:embed="rId5"/>
          <a:stretch>
            <a:fillRect/>
          </a:stretch>
        </p:blipFill>
        <p:spPr>
          <a:xfrm>
            <a:off x="4883150" y="4912663"/>
            <a:ext cx="2425700" cy="850900"/>
          </a:xfrm>
          <a:prstGeom prst="rect">
            <a:avLst/>
          </a:prstGeom>
        </p:spPr>
      </p:pic>
      <p:sp>
        <p:nvSpPr>
          <p:cNvPr id="25" name="TextBox 24">
            <a:extLst>
              <a:ext uri="{FF2B5EF4-FFF2-40B4-BE49-F238E27FC236}">
                <a16:creationId xmlns:a16="http://schemas.microsoft.com/office/drawing/2014/main" id="{E4C371AC-5EF8-6141-9A34-3058F4D3F372}"/>
              </a:ext>
            </a:extLst>
          </p:cNvPr>
          <p:cNvSpPr txBox="1"/>
          <p:nvPr/>
        </p:nvSpPr>
        <p:spPr>
          <a:xfrm>
            <a:off x="1914527" y="5616691"/>
            <a:ext cx="10095704" cy="830997"/>
          </a:xfrm>
          <a:prstGeom prst="rect">
            <a:avLst/>
          </a:prstGeom>
          <a:noFill/>
        </p:spPr>
        <p:txBody>
          <a:bodyPr wrap="square" rtlCol="0">
            <a:spAutoFit/>
          </a:bodyPr>
          <a:lstStyle/>
          <a:p>
            <a:endParaRPr lang="en-US" sz="2400" dirty="0"/>
          </a:p>
          <a:p>
            <a:r>
              <a:rPr lang="en-US" sz="2400" b="1" dirty="0"/>
              <a:t>The first principal component captures 97.4% of the total variance</a:t>
            </a:r>
          </a:p>
        </p:txBody>
      </p:sp>
    </p:spTree>
    <p:extLst>
      <p:ext uri="{BB962C8B-B14F-4D97-AF65-F5344CB8AC3E}">
        <p14:creationId xmlns:p14="http://schemas.microsoft.com/office/powerpoint/2010/main" val="15703180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14">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6E3AEA-9EC6-4540-886B-D4F7C34BC23E}"/>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dirty="0">
                <a:solidFill>
                  <a:schemeClr val="bg1"/>
                </a:solidFill>
                <a:latin typeface="+mj-lt"/>
                <a:ea typeface="+mj-ea"/>
                <a:cs typeface="+mj-cs"/>
              </a:rPr>
              <a:t>Interpret PCA</a:t>
            </a:r>
          </a:p>
        </p:txBody>
      </p:sp>
      <p:sp>
        <p:nvSpPr>
          <p:cNvPr id="34" name="TextBox 33">
            <a:extLst>
              <a:ext uri="{FF2B5EF4-FFF2-40B4-BE49-F238E27FC236}">
                <a16:creationId xmlns:a16="http://schemas.microsoft.com/office/drawing/2014/main" id="{A457A49F-9927-5D42-B089-3E06D0A426DE}"/>
              </a:ext>
            </a:extLst>
          </p:cNvPr>
          <p:cNvSpPr txBox="1"/>
          <p:nvPr/>
        </p:nvSpPr>
        <p:spPr>
          <a:xfrm>
            <a:off x="9986963" y="5868134"/>
            <a:ext cx="2023267" cy="369332"/>
          </a:xfrm>
          <a:prstGeom prst="rect">
            <a:avLst/>
          </a:prstGeom>
          <a:noFill/>
        </p:spPr>
        <p:txBody>
          <a:bodyPr wrap="square" rtlCol="0">
            <a:spAutoFit/>
          </a:bodyPr>
          <a:lstStyle/>
          <a:p>
            <a:r>
              <a:rPr lang="en-US" dirty="0"/>
              <a:t> </a:t>
            </a:r>
          </a:p>
        </p:txBody>
      </p:sp>
      <p:graphicFrame>
        <p:nvGraphicFramePr>
          <p:cNvPr id="3" name="Table 2">
            <a:extLst>
              <a:ext uri="{FF2B5EF4-FFF2-40B4-BE49-F238E27FC236}">
                <a16:creationId xmlns:a16="http://schemas.microsoft.com/office/drawing/2014/main" id="{4A1CB720-9792-824C-9C25-DA8D216D28FE}"/>
              </a:ext>
            </a:extLst>
          </p:cNvPr>
          <p:cNvGraphicFramePr>
            <a:graphicFrameLocks noGrp="1"/>
          </p:cNvGraphicFramePr>
          <p:nvPr>
            <p:extLst>
              <p:ext uri="{D42A27DB-BD31-4B8C-83A1-F6EECF244321}">
                <p14:modId xmlns:p14="http://schemas.microsoft.com/office/powerpoint/2010/main" val="2239744988"/>
              </p:ext>
            </p:extLst>
          </p:nvPr>
        </p:nvGraphicFramePr>
        <p:xfrm>
          <a:off x="385763" y="2309155"/>
          <a:ext cx="2395538" cy="2037328"/>
        </p:xfrm>
        <a:graphic>
          <a:graphicData uri="http://schemas.openxmlformats.org/drawingml/2006/table">
            <a:tbl>
              <a:tblPr>
                <a:tableStyleId>{5C22544A-7EE6-4342-B048-85BDC9FD1C3A}</a:tableStyleId>
              </a:tblPr>
              <a:tblGrid>
                <a:gridCol w="1197769">
                  <a:extLst>
                    <a:ext uri="{9D8B030D-6E8A-4147-A177-3AD203B41FA5}">
                      <a16:colId xmlns:a16="http://schemas.microsoft.com/office/drawing/2014/main" val="2394240713"/>
                    </a:ext>
                  </a:extLst>
                </a:gridCol>
                <a:gridCol w="1197769">
                  <a:extLst>
                    <a:ext uri="{9D8B030D-6E8A-4147-A177-3AD203B41FA5}">
                      <a16:colId xmlns:a16="http://schemas.microsoft.com/office/drawing/2014/main" val="2449488538"/>
                    </a:ext>
                  </a:extLst>
                </a:gridCol>
              </a:tblGrid>
              <a:tr h="254666">
                <a:tc>
                  <a:txBody>
                    <a:bodyPr/>
                    <a:lstStyle/>
                    <a:p>
                      <a:pPr algn="ctr" fontAlgn="b"/>
                      <a:r>
                        <a:rPr lang="en-CA" sz="1200" b="1" u="none" strike="noStrike" dirty="0">
                          <a:effectLst/>
                        </a:rPr>
                        <a:t>Centered SBP</a:t>
                      </a:r>
                      <a:endParaRPr lang="en-CA" sz="12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CA" sz="1200" b="1" u="none" strike="noStrike" dirty="0">
                          <a:effectLst/>
                        </a:rPr>
                        <a:t>Centered DBP</a:t>
                      </a:r>
                      <a:endParaRPr lang="en-CA" sz="12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239255882"/>
                  </a:ext>
                </a:extLst>
              </a:tr>
              <a:tr h="254666">
                <a:tc>
                  <a:txBody>
                    <a:bodyPr/>
                    <a:lstStyle/>
                    <a:p>
                      <a:pPr algn="ctr" fontAlgn="b"/>
                      <a:r>
                        <a:rPr lang="en-CA" sz="1200" u="none" strike="noStrike">
                          <a:effectLst/>
                        </a:rPr>
                        <a:t>-3</a:t>
                      </a:r>
                      <a:endParaRPr lang="en-CA"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CA" sz="1200" u="none" strike="noStrike">
                          <a:effectLst/>
                        </a:rPr>
                        <a:t>-4</a:t>
                      </a:r>
                      <a:endParaRPr lang="en-CA"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872150068"/>
                  </a:ext>
                </a:extLst>
              </a:tr>
              <a:tr h="254666">
                <a:tc>
                  <a:txBody>
                    <a:bodyPr/>
                    <a:lstStyle/>
                    <a:p>
                      <a:pPr algn="ctr" fontAlgn="b"/>
                      <a:r>
                        <a:rPr lang="en-CA" sz="1200" u="none" strike="noStrike">
                          <a:effectLst/>
                        </a:rPr>
                        <a:t>-1</a:t>
                      </a:r>
                      <a:endParaRPr lang="en-CA"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CA" sz="1200" u="none" strike="noStrike">
                          <a:effectLst/>
                        </a:rPr>
                        <a:t>-2</a:t>
                      </a:r>
                      <a:endParaRPr lang="en-CA"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956155223"/>
                  </a:ext>
                </a:extLst>
              </a:tr>
              <a:tr h="254666">
                <a:tc>
                  <a:txBody>
                    <a:bodyPr/>
                    <a:lstStyle/>
                    <a:p>
                      <a:pPr algn="ctr" fontAlgn="b"/>
                      <a:r>
                        <a:rPr lang="en-CA" sz="1200" u="none" strike="noStrike">
                          <a:effectLst/>
                        </a:rPr>
                        <a:t>-1</a:t>
                      </a:r>
                      <a:endParaRPr lang="en-CA"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CA" sz="1200" u="none" strike="noStrike">
                          <a:effectLst/>
                        </a:rPr>
                        <a:t>0</a:t>
                      </a:r>
                      <a:endParaRPr lang="en-CA"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290005684"/>
                  </a:ext>
                </a:extLst>
              </a:tr>
              <a:tr h="254666">
                <a:tc>
                  <a:txBody>
                    <a:bodyPr/>
                    <a:lstStyle/>
                    <a:p>
                      <a:pPr algn="ctr" fontAlgn="b"/>
                      <a:r>
                        <a:rPr lang="en-CA" sz="1200" u="none" strike="noStrike">
                          <a:effectLst/>
                        </a:rPr>
                        <a:t>1</a:t>
                      </a:r>
                      <a:endParaRPr lang="en-CA"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CA" sz="1200" u="none" strike="noStrike" dirty="0">
                          <a:effectLst/>
                        </a:rPr>
                        <a:t>0</a:t>
                      </a:r>
                      <a:endParaRPr lang="en-CA"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529576288"/>
                  </a:ext>
                </a:extLst>
              </a:tr>
              <a:tr h="254666">
                <a:tc>
                  <a:txBody>
                    <a:bodyPr/>
                    <a:lstStyle/>
                    <a:p>
                      <a:pPr algn="ctr" fontAlgn="b"/>
                      <a:r>
                        <a:rPr lang="en-CA" sz="1200" u="none" strike="noStrike">
                          <a:effectLst/>
                        </a:rPr>
                        <a:t>1</a:t>
                      </a:r>
                      <a:endParaRPr lang="en-CA"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CA" sz="1200" u="none" strike="noStrike" dirty="0">
                          <a:effectLst/>
                        </a:rPr>
                        <a:t>2</a:t>
                      </a:r>
                      <a:endParaRPr lang="en-CA"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15202863"/>
                  </a:ext>
                </a:extLst>
              </a:tr>
              <a:tr h="254666">
                <a:tc>
                  <a:txBody>
                    <a:bodyPr/>
                    <a:lstStyle/>
                    <a:p>
                      <a:pPr algn="ctr" fontAlgn="b"/>
                      <a:r>
                        <a:rPr lang="en-CA" sz="1200" u="none" strike="noStrike">
                          <a:effectLst/>
                        </a:rPr>
                        <a:t>3</a:t>
                      </a:r>
                      <a:endParaRPr lang="en-CA"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CA" sz="1200" u="none" strike="noStrike">
                          <a:effectLst/>
                        </a:rPr>
                        <a:t>4</a:t>
                      </a:r>
                      <a:endParaRPr lang="en-CA"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029190953"/>
                  </a:ext>
                </a:extLst>
              </a:tr>
              <a:tr h="254666">
                <a:tc>
                  <a:txBody>
                    <a:bodyPr/>
                    <a:lstStyle/>
                    <a:p>
                      <a:pPr algn="ctr" fontAlgn="b"/>
                      <a:r>
                        <a:rPr lang="en-CA" sz="1200" u="none" strike="noStrike">
                          <a:effectLst/>
                        </a:rPr>
                        <a:t>var = 4.4</a:t>
                      </a:r>
                      <a:endParaRPr lang="en-CA"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CA" sz="1200" u="none" strike="noStrike" dirty="0">
                          <a:effectLst/>
                        </a:rPr>
                        <a:t>var = 8.0</a:t>
                      </a:r>
                      <a:endParaRPr lang="en-CA"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95689907"/>
                  </a:ext>
                </a:extLst>
              </a:tr>
            </a:tbl>
          </a:graphicData>
        </a:graphic>
      </p:graphicFrame>
      <p:graphicFrame>
        <p:nvGraphicFramePr>
          <p:cNvPr id="4" name="Table 3">
            <a:extLst>
              <a:ext uri="{FF2B5EF4-FFF2-40B4-BE49-F238E27FC236}">
                <a16:creationId xmlns:a16="http://schemas.microsoft.com/office/drawing/2014/main" id="{BD669E89-F006-F240-9EFB-C8AD18F082D6}"/>
              </a:ext>
            </a:extLst>
          </p:cNvPr>
          <p:cNvGraphicFramePr>
            <a:graphicFrameLocks noGrp="1"/>
          </p:cNvGraphicFramePr>
          <p:nvPr>
            <p:extLst>
              <p:ext uri="{D42A27DB-BD31-4B8C-83A1-F6EECF244321}">
                <p14:modId xmlns:p14="http://schemas.microsoft.com/office/powerpoint/2010/main" val="568167291"/>
              </p:ext>
            </p:extLst>
          </p:nvPr>
        </p:nvGraphicFramePr>
        <p:xfrm>
          <a:off x="9163048" y="2279839"/>
          <a:ext cx="2395540" cy="1961960"/>
        </p:xfrm>
        <a:graphic>
          <a:graphicData uri="http://schemas.openxmlformats.org/drawingml/2006/table">
            <a:tbl>
              <a:tblPr>
                <a:tableStyleId>{5C22544A-7EE6-4342-B048-85BDC9FD1C3A}</a:tableStyleId>
              </a:tblPr>
              <a:tblGrid>
                <a:gridCol w="1197770">
                  <a:extLst>
                    <a:ext uri="{9D8B030D-6E8A-4147-A177-3AD203B41FA5}">
                      <a16:colId xmlns:a16="http://schemas.microsoft.com/office/drawing/2014/main" val="3452962436"/>
                    </a:ext>
                  </a:extLst>
                </a:gridCol>
                <a:gridCol w="1197770">
                  <a:extLst>
                    <a:ext uri="{9D8B030D-6E8A-4147-A177-3AD203B41FA5}">
                      <a16:colId xmlns:a16="http://schemas.microsoft.com/office/drawing/2014/main" val="2762848368"/>
                    </a:ext>
                  </a:extLst>
                </a:gridCol>
              </a:tblGrid>
              <a:tr h="245245">
                <a:tc>
                  <a:txBody>
                    <a:bodyPr/>
                    <a:lstStyle/>
                    <a:p>
                      <a:pPr algn="ctr" fontAlgn="b"/>
                      <a:r>
                        <a:rPr lang="en-CA" sz="1200" b="1" u="none" strike="noStrike">
                          <a:effectLst/>
                        </a:rPr>
                        <a:t>PC1</a:t>
                      </a:r>
                      <a:endParaRPr lang="en-CA" sz="12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CA" sz="1200" b="1" u="none" strike="noStrike" dirty="0">
                          <a:effectLst/>
                        </a:rPr>
                        <a:t>PC2</a:t>
                      </a:r>
                      <a:endParaRPr lang="en-CA" sz="12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451901972"/>
                  </a:ext>
                </a:extLst>
              </a:tr>
              <a:tr h="245245">
                <a:tc>
                  <a:txBody>
                    <a:bodyPr/>
                    <a:lstStyle/>
                    <a:p>
                      <a:pPr algn="ctr" fontAlgn="b"/>
                      <a:r>
                        <a:rPr lang="en-CA" sz="1200" u="none" strike="noStrike">
                          <a:effectLst/>
                        </a:rPr>
                        <a:t>-5</a:t>
                      </a:r>
                      <a:endParaRPr lang="en-CA"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CA" sz="1200" u="none" strike="noStrike">
                          <a:effectLst/>
                        </a:rPr>
                        <a:t>0.1</a:t>
                      </a:r>
                      <a:endParaRPr lang="en-CA"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48822930"/>
                  </a:ext>
                </a:extLst>
              </a:tr>
              <a:tr h="245245">
                <a:tc>
                  <a:txBody>
                    <a:bodyPr/>
                    <a:lstStyle/>
                    <a:p>
                      <a:pPr algn="ctr" fontAlgn="b"/>
                      <a:r>
                        <a:rPr lang="en-CA" sz="1200" u="none" strike="noStrike">
                          <a:effectLst/>
                        </a:rPr>
                        <a:t>-2.2</a:t>
                      </a:r>
                      <a:endParaRPr lang="en-CA"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CA" sz="1200" u="none" strike="noStrike">
                          <a:effectLst/>
                        </a:rPr>
                        <a:t>-0.4</a:t>
                      </a:r>
                      <a:endParaRPr lang="en-CA"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20550873"/>
                  </a:ext>
                </a:extLst>
              </a:tr>
              <a:tr h="245245">
                <a:tc>
                  <a:txBody>
                    <a:bodyPr/>
                    <a:lstStyle/>
                    <a:p>
                      <a:pPr algn="ctr" fontAlgn="b"/>
                      <a:r>
                        <a:rPr lang="en-CA" sz="1200" u="none" strike="noStrike">
                          <a:effectLst/>
                        </a:rPr>
                        <a:t>-0.6</a:t>
                      </a:r>
                      <a:endParaRPr lang="en-CA"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CA" sz="1200" u="none" strike="noStrike" dirty="0">
                          <a:effectLst/>
                        </a:rPr>
                        <a:t>0.8</a:t>
                      </a:r>
                      <a:endParaRPr lang="en-CA"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5279640"/>
                  </a:ext>
                </a:extLst>
              </a:tr>
              <a:tr h="245245">
                <a:tc>
                  <a:txBody>
                    <a:bodyPr/>
                    <a:lstStyle/>
                    <a:p>
                      <a:pPr algn="ctr" fontAlgn="b"/>
                      <a:r>
                        <a:rPr lang="en-CA" sz="1200" u="none" strike="noStrike">
                          <a:effectLst/>
                        </a:rPr>
                        <a:t>0.6</a:t>
                      </a:r>
                      <a:endParaRPr lang="en-CA"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CA" sz="1200" u="none" strike="noStrike" dirty="0">
                          <a:effectLst/>
                        </a:rPr>
                        <a:t>-0.8</a:t>
                      </a:r>
                      <a:endParaRPr lang="en-CA"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130405303"/>
                  </a:ext>
                </a:extLst>
              </a:tr>
              <a:tr h="245245">
                <a:tc>
                  <a:txBody>
                    <a:bodyPr/>
                    <a:lstStyle/>
                    <a:p>
                      <a:pPr algn="ctr" fontAlgn="b"/>
                      <a:r>
                        <a:rPr lang="en-CA" sz="1200" u="none" strike="noStrike" dirty="0">
                          <a:effectLst/>
                        </a:rPr>
                        <a:t>2.2</a:t>
                      </a:r>
                      <a:endParaRPr lang="en-CA"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CA" sz="1200" u="none" strike="noStrike">
                          <a:effectLst/>
                        </a:rPr>
                        <a:t>0.4</a:t>
                      </a:r>
                      <a:endParaRPr lang="en-CA"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32626775"/>
                  </a:ext>
                </a:extLst>
              </a:tr>
              <a:tr h="245245">
                <a:tc>
                  <a:txBody>
                    <a:bodyPr/>
                    <a:lstStyle/>
                    <a:p>
                      <a:pPr algn="ctr" fontAlgn="b"/>
                      <a:r>
                        <a:rPr lang="en-CA" sz="1200" u="none" strike="noStrike">
                          <a:effectLst/>
                        </a:rPr>
                        <a:t>5</a:t>
                      </a:r>
                      <a:endParaRPr lang="en-CA"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CA" sz="1200" u="none" strike="noStrike">
                          <a:effectLst/>
                        </a:rPr>
                        <a:t>-0.1</a:t>
                      </a:r>
                      <a:endParaRPr lang="en-CA"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788436184"/>
                  </a:ext>
                </a:extLst>
              </a:tr>
              <a:tr h="245245">
                <a:tc>
                  <a:txBody>
                    <a:bodyPr/>
                    <a:lstStyle/>
                    <a:p>
                      <a:pPr algn="ctr" fontAlgn="b"/>
                      <a:r>
                        <a:rPr lang="en-CA" sz="1200" u="none" strike="noStrike">
                          <a:effectLst/>
                        </a:rPr>
                        <a:t>var = 12.08</a:t>
                      </a:r>
                      <a:endParaRPr lang="en-CA"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CA" sz="1200" u="none" strike="noStrike" dirty="0">
                          <a:effectLst/>
                        </a:rPr>
                        <a:t>var = 0.32</a:t>
                      </a:r>
                      <a:endParaRPr lang="en-CA"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421193875"/>
                  </a:ext>
                </a:extLst>
              </a:tr>
            </a:tbl>
          </a:graphicData>
        </a:graphic>
      </p:graphicFrame>
      <p:sp>
        <p:nvSpPr>
          <p:cNvPr id="19" name="TextBox 18">
            <a:extLst>
              <a:ext uri="{FF2B5EF4-FFF2-40B4-BE49-F238E27FC236}">
                <a16:creationId xmlns:a16="http://schemas.microsoft.com/office/drawing/2014/main" id="{0B2A22A7-4552-CE4D-A945-FC3662080656}"/>
              </a:ext>
            </a:extLst>
          </p:cNvPr>
          <p:cNvSpPr txBox="1"/>
          <p:nvPr/>
        </p:nvSpPr>
        <p:spPr>
          <a:xfrm>
            <a:off x="385763" y="1693837"/>
            <a:ext cx="4243387" cy="461665"/>
          </a:xfrm>
          <a:prstGeom prst="rect">
            <a:avLst/>
          </a:prstGeom>
          <a:noFill/>
        </p:spPr>
        <p:txBody>
          <a:bodyPr wrap="square" rtlCol="0">
            <a:spAutoFit/>
          </a:bodyPr>
          <a:lstStyle/>
          <a:p>
            <a:r>
              <a:rPr lang="en-US" sz="2400" b="1" dirty="0"/>
              <a:t>The centered data</a:t>
            </a:r>
          </a:p>
        </p:txBody>
      </p:sp>
      <p:sp>
        <p:nvSpPr>
          <p:cNvPr id="20" name="TextBox 19">
            <a:extLst>
              <a:ext uri="{FF2B5EF4-FFF2-40B4-BE49-F238E27FC236}">
                <a16:creationId xmlns:a16="http://schemas.microsoft.com/office/drawing/2014/main" id="{4374CFE2-F23B-6045-A955-A671E3E8D331}"/>
              </a:ext>
            </a:extLst>
          </p:cNvPr>
          <p:cNvSpPr txBox="1"/>
          <p:nvPr/>
        </p:nvSpPr>
        <p:spPr>
          <a:xfrm>
            <a:off x="7863506" y="1693837"/>
            <a:ext cx="3903952" cy="461665"/>
          </a:xfrm>
          <a:prstGeom prst="rect">
            <a:avLst/>
          </a:prstGeom>
          <a:noFill/>
        </p:spPr>
        <p:txBody>
          <a:bodyPr wrap="square" rtlCol="0">
            <a:spAutoFit/>
          </a:bodyPr>
          <a:lstStyle/>
          <a:p>
            <a:r>
              <a:rPr lang="en-US" sz="2400" dirty="0"/>
              <a:t>              </a:t>
            </a:r>
            <a:r>
              <a:rPr lang="en-US" sz="2400" b="1" dirty="0"/>
              <a:t>The transformed data</a:t>
            </a:r>
          </a:p>
        </p:txBody>
      </p:sp>
      <p:pic>
        <p:nvPicPr>
          <p:cNvPr id="7" name="Picture 6" descr="Chart&#10;&#10;Description automatically generated">
            <a:extLst>
              <a:ext uri="{FF2B5EF4-FFF2-40B4-BE49-F238E27FC236}">
                <a16:creationId xmlns:a16="http://schemas.microsoft.com/office/drawing/2014/main" id="{0D42B99E-335C-444C-9AE3-7A01573A23BC}"/>
              </a:ext>
            </a:extLst>
          </p:cNvPr>
          <p:cNvPicPr>
            <a:picLocks noChangeAspect="1"/>
          </p:cNvPicPr>
          <p:nvPr/>
        </p:nvPicPr>
        <p:blipFill>
          <a:blip r:embed="rId3"/>
          <a:stretch>
            <a:fillRect/>
          </a:stretch>
        </p:blipFill>
        <p:spPr>
          <a:xfrm>
            <a:off x="385763" y="4534618"/>
            <a:ext cx="2395538" cy="2037327"/>
          </a:xfrm>
          <a:prstGeom prst="rect">
            <a:avLst/>
          </a:prstGeom>
        </p:spPr>
      </p:pic>
      <p:pic>
        <p:nvPicPr>
          <p:cNvPr id="9" name="Picture 8" descr="Chart, scatter chart&#10;&#10;Description automatically generated">
            <a:extLst>
              <a:ext uri="{FF2B5EF4-FFF2-40B4-BE49-F238E27FC236}">
                <a16:creationId xmlns:a16="http://schemas.microsoft.com/office/drawing/2014/main" id="{866FEAC0-27EA-484C-AB00-EBA035CD4777}"/>
              </a:ext>
            </a:extLst>
          </p:cNvPr>
          <p:cNvPicPr>
            <a:picLocks noChangeAspect="1"/>
          </p:cNvPicPr>
          <p:nvPr/>
        </p:nvPicPr>
        <p:blipFill>
          <a:blip r:embed="rId4"/>
          <a:stretch>
            <a:fillRect/>
          </a:stretch>
        </p:blipFill>
        <p:spPr>
          <a:xfrm>
            <a:off x="9120186" y="4640750"/>
            <a:ext cx="2481263" cy="1825061"/>
          </a:xfrm>
          <a:prstGeom prst="rect">
            <a:avLst/>
          </a:prstGeom>
        </p:spPr>
      </p:pic>
      <p:pic>
        <p:nvPicPr>
          <p:cNvPr id="11" name="Picture 10" descr="A picture containing text, device&#10;&#10;Description automatically generated">
            <a:extLst>
              <a:ext uri="{FF2B5EF4-FFF2-40B4-BE49-F238E27FC236}">
                <a16:creationId xmlns:a16="http://schemas.microsoft.com/office/drawing/2014/main" id="{77F3C8B5-1CA5-9247-A603-7596B80CA6B4}"/>
              </a:ext>
            </a:extLst>
          </p:cNvPr>
          <p:cNvPicPr>
            <a:picLocks noChangeAspect="1"/>
          </p:cNvPicPr>
          <p:nvPr/>
        </p:nvPicPr>
        <p:blipFill>
          <a:blip r:embed="rId5"/>
          <a:stretch>
            <a:fillRect/>
          </a:stretch>
        </p:blipFill>
        <p:spPr>
          <a:xfrm>
            <a:off x="3829050" y="2088511"/>
            <a:ext cx="4034455" cy="2137737"/>
          </a:xfrm>
          <a:prstGeom prst="rect">
            <a:avLst/>
          </a:prstGeom>
        </p:spPr>
      </p:pic>
      <p:pic>
        <p:nvPicPr>
          <p:cNvPr id="15" name="Picture 14" descr="Text, letter&#10;&#10;Description automatically generated">
            <a:extLst>
              <a:ext uri="{FF2B5EF4-FFF2-40B4-BE49-F238E27FC236}">
                <a16:creationId xmlns:a16="http://schemas.microsoft.com/office/drawing/2014/main" id="{9324CFC2-E26E-AF40-8A3C-517E34F734FC}"/>
              </a:ext>
            </a:extLst>
          </p:cNvPr>
          <p:cNvPicPr>
            <a:picLocks noChangeAspect="1"/>
          </p:cNvPicPr>
          <p:nvPr/>
        </p:nvPicPr>
        <p:blipFill>
          <a:blip r:embed="rId6"/>
          <a:stretch>
            <a:fillRect/>
          </a:stretch>
        </p:blipFill>
        <p:spPr>
          <a:xfrm>
            <a:off x="3811057" y="4880906"/>
            <a:ext cx="4279373" cy="891536"/>
          </a:xfrm>
          <a:prstGeom prst="rect">
            <a:avLst/>
          </a:prstGeom>
        </p:spPr>
      </p:pic>
      <p:sp>
        <p:nvSpPr>
          <p:cNvPr id="16" name="Up-Down Arrow 15">
            <a:extLst>
              <a:ext uri="{FF2B5EF4-FFF2-40B4-BE49-F238E27FC236}">
                <a16:creationId xmlns:a16="http://schemas.microsoft.com/office/drawing/2014/main" id="{2620AE78-BE03-BF45-86B5-D2C39B6CAC19}"/>
              </a:ext>
            </a:extLst>
          </p:cNvPr>
          <p:cNvSpPr/>
          <p:nvPr/>
        </p:nvSpPr>
        <p:spPr>
          <a:xfrm>
            <a:off x="5715000" y="4202019"/>
            <a:ext cx="228600" cy="527044"/>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855385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14">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6E3AEA-9EC6-4540-886B-D4F7C34BC23E}"/>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dirty="0">
                <a:solidFill>
                  <a:schemeClr val="bg1"/>
                </a:solidFill>
                <a:latin typeface="+mj-lt"/>
                <a:ea typeface="+mj-ea"/>
                <a:cs typeface="+mj-cs"/>
              </a:rPr>
              <a:t>Interpret PCA</a:t>
            </a:r>
          </a:p>
        </p:txBody>
      </p:sp>
      <p:sp>
        <p:nvSpPr>
          <p:cNvPr id="34" name="TextBox 33">
            <a:extLst>
              <a:ext uri="{FF2B5EF4-FFF2-40B4-BE49-F238E27FC236}">
                <a16:creationId xmlns:a16="http://schemas.microsoft.com/office/drawing/2014/main" id="{A457A49F-9927-5D42-B089-3E06D0A426DE}"/>
              </a:ext>
            </a:extLst>
          </p:cNvPr>
          <p:cNvSpPr txBox="1"/>
          <p:nvPr/>
        </p:nvSpPr>
        <p:spPr>
          <a:xfrm>
            <a:off x="9986963" y="5868134"/>
            <a:ext cx="2023267" cy="369332"/>
          </a:xfrm>
          <a:prstGeom prst="rect">
            <a:avLst/>
          </a:prstGeom>
          <a:noFill/>
        </p:spPr>
        <p:txBody>
          <a:bodyPr wrap="square" rtlCol="0">
            <a:spAutoFit/>
          </a:bodyPr>
          <a:lstStyle/>
          <a:p>
            <a:r>
              <a:rPr lang="en-US" dirty="0"/>
              <a:t> </a:t>
            </a:r>
          </a:p>
        </p:txBody>
      </p:sp>
      <p:graphicFrame>
        <p:nvGraphicFramePr>
          <p:cNvPr id="3" name="Table 2">
            <a:extLst>
              <a:ext uri="{FF2B5EF4-FFF2-40B4-BE49-F238E27FC236}">
                <a16:creationId xmlns:a16="http://schemas.microsoft.com/office/drawing/2014/main" id="{4A1CB720-9792-824C-9C25-DA8D216D28FE}"/>
              </a:ext>
            </a:extLst>
          </p:cNvPr>
          <p:cNvGraphicFramePr>
            <a:graphicFrameLocks noGrp="1"/>
          </p:cNvGraphicFramePr>
          <p:nvPr>
            <p:extLst>
              <p:ext uri="{D42A27DB-BD31-4B8C-83A1-F6EECF244321}">
                <p14:modId xmlns:p14="http://schemas.microsoft.com/office/powerpoint/2010/main" val="441533631"/>
              </p:ext>
            </p:extLst>
          </p:nvPr>
        </p:nvGraphicFramePr>
        <p:xfrm>
          <a:off x="1343025" y="2323382"/>
          <a:ext cx="3386138" cy="2081419"/>
        </p:xfrm>
        <a:graphic>
          <a:graphicData uri="http://schemas.openxmlformats.org/drawingml/2006/table">
            <a:tbl>
              <a:tblPr>
                <a:tableStyleId>{5C22544A-7EE6-4342-B048-85BDC9FD1C3A}</a:tableStyleId>
              </a:tblPr>
              <a:tblGrid>
                <a:gridCol w="1693069">
                  <a:extLst>
                    <a:ext uri="{9D8B030D-6E8A-4147-A177-3AD203B41FA5}">
                      <a16:colId xmlns:a16="http://schemas.microsoft.com/office/drawing/2014/main" val="2394240713"/>
                    </a:ext>
                  </a:extLst>
                </a:gridCol>
                <a:gridCol w="1693069">
                  <a:extLst>
                    <a:ext uri="{9D8B030D-6E8A-4147-A177-3AD203B41FA5}">
                      <a16:colId xmlns:a16="http://schemas.microsoft.com/office/drawing/2014/main" val="2449488538"/>
                    </a:ext>
                  </a:extLst>
                </a:gridCol>
              </a:tblGrid>
              <a:tr h="252937">
                <a:tc>
                  <a:txBody>
                    <a:bodyPr/>
                    <a:lstStyle/>
                    <a:p>
                      <a:pPr algn="ctr" fontAlgn="b"/>
                      <a:r>
                        <a:rPr lang="en-CA" sz="1200" b="1" u="none" strike="noStrike" dirty="0">
                          <a:effectLst/>
                        </a:rPr>
                        <a:t>Centered SBP</a:t>
                      </a:r>
                      <a:endParaRPr lang="en-CA" sz="12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CA" sz="1200" b="1" u="none" strike="noStrike" dirty="0">
                          <a:effectLst/>
                        </a:rPr>
                        <a:t>Centered DBP</a:t>
                      </a:r>
                      <a:endParaRPr lang="en-CA" sz="12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239255882"/>
                  </a:ext>
                </a:extLst>
              </a:tr>
              <a:tr h="252937">
                <a:tc>
                  <a:txBody>
                    <a:bodyPr/>
                    <a:lstStyle/>
                    <a:p>
                      <a:pPr algn="ctr" fontAlgn="b"/>
                      <a:r>
                        <a:rPr lang="en-CA" sz="1200" u="none" strike="noStrike">
                          <a:effectLst/>
                        </a:rPr>
                        <a:t>-3</a:t>
                      </a:r>
                      <a:endParaRPr lang="en-CA"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CA" sz="1200" u="none" strike="noStrike">
                          <a:effectLst/>
                        </a:rPr>
                        <a:t>-4</a:t>
                      </a:r>
                      <a:endParaRPr lang="en-CA"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872150068"/>
                  </a:ext>
                </a:extLst>
              </a:tr>
              <a:tr h="252937">
                <a:tc>
                  <a:txBody>
                    <a:bodyPr/>
                    <a:lstStyle/>
                    <a:p>
                      <a:pPr algn="ctr" fontAlgn="b"/>
                      <a:r>
                        <a:rPr lang="en-CA" sz="1200" u="none" strike="noStrike">
                          <a:effectLst/>
                        </a:rPr>
                        <a:t>-1</a:t>
                      </a:r>
                      <a:endParaRPr lang="en-CA"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CA" sz="1200" u="none" strike="noStrike">
                          <a:effectLst/>
                        </a:rPr>
                        <a:t>-2</a:t>
                      </a:r>
                      <a:endParaRPr lang="en-CA"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956155223"/>
                  </a:ext>
                </a:extLst>
              </a:tr>
              <a:tr h="310860">
                <a:tc>
                  <a:txBody>
                    <a:bodyPr/>
                    <a:lstStyle/>
                    <a:p>
                      <a:pPr algn="ctr" fontAlgn="b"/>
                      <a:r>
                        <a:rPr lang="en-CA" sz="1200" u="none" strike="noStrike">
                          <a:effectLst/>
                        </a:rPr>
                        <a:t>-1</a:t>
                      </a:r>
                      <a:endParaRPr lang="en-CA"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CA" sz="1200" u="none" strike="noStrike">
                          <a:effectLst/>
                        </a:rPr>
                        <a:t>0</a:t>
                      </a:r>
                      <a:endParaRPr lang="en-CA"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290005684"/>
                  </a:ext>
                </a:extLst>
              </a:tr>
              <a:tr h="252937">
                <a:tc>
                  <a:txBody>
                    <a:bodyPr/>
                    <a:lstStyle/>
                    <a:p>
                      <a:pPr algn="ctr" fontAlgn="b"/>
                      <a:r>
                        <a:rPr lang="en-CA" sz="1200" u="none" strike="noStrike">
                          <a:effectLst/>
                        </a:rPr>
                        <a:t>1</a:t>
                      </a:r>
                      <a:endParaRPr lang="en-CA"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CA" sz="1200" u="none" strike="noStrike" dirty="0">
                          <a:effectLst/>
                        </a:rPr>
                        <a:t>0</a:t>
                      </a:r>
                      <a:endParaRPr lang="en-CA"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529576288"/>
                  </a:ext>
                </a:extLst>
              </a:tr>
              <a:tr h="252937">
                <a:tc>
                  <a:txBody>
                    <a:bodyPr/>
                    <a:lstStyle/>
                    <a:p>
                      <a:pPr algn="ctr" fontAlgn="b"/>
                      <a:r>
                        <a:rPr lang="en-CA" sz="1200" u="none" strike="noStrike">
                          <a:effectLst/>
                        </a:rPr>
                        <a:t>1</a:t>
                      </a:r>
                      <a:endParaRPr lang="en-CA"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CA" sz="1200" u="none" strike="noStrike" dirty="0">
                          <a:effectLst/>
                        </a:rPr>
                        <a:t>2</a:t>
                      </a:r>
                      <a:endParaRPr lang="en-CA"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15202863"/>
                  </a:ext>
                </a:extLst>
              </a:tr>
              <a:tr h="252937">
                <a:tc>
                  <a:txBody>
                    <a:bodyPr/>
                    <a:lstStyle/>
                    <a:p>
                      <a:pPr algn="ctr" fontAlgn="b"/>
                      <a:r>
                        <a:rPr lang="en-CA" sz="1200" u="none" strike="noStrike">
                          <a:effectLst/>
                        </a:rPr>
                        <a:t>3</a:t>
                      </a:r>
                      <a:endParaRPr lang="en-CA"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CA" sz="1200" u="none" strike="noStrike">
                          <a:effectLst/>
                        </a:rPr>
                        <a:t>4</a:t>
                      </a:r>
                      <a:endParaRPr lang="en-CA"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029190953"/>
                  </a:ext>
                </a:extLst>
              </a:tr>
              <a:tr h="252937">
                <a:tc>
                  <a:txBody>
                    <a:bodyPr/>
                    <a:lstStyle/>
                    <a:p>
                      <a:pPr algn="ctr" fontAlgn="b"/>
                      <a:r>
                        <a:rPr lang="en-CA" sz="1200" u="none" strike="noStrike">
                          <a:effectLst/>
                        </a:rPr>
                        <a:t>var = 4.4</a:t>
                      </a:r>
                      <a:endParaRPr lang="en-CA"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CA" sz="1200" u="none" strike="noStrike" dirty="0">
                          <a:effectLst/>
                        </a:rPr>
                        <a:t>var = 8.0</a:t>
                      </a:r>
                      <a:endParaRPr lang="en-CA"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95689907"/>
                  </a:ext>
                </a:extLst>
              </a:tr>
            </a:tbl>
          </a:graphicData>
        </a:graphic>
      </p:graphicFrame>
      <p:sp>
        <p:nvSpPr>
          <p:cNvPr id="19" name="TextBox 18">
            <a:extLst>
              <a:ext uri="{FF2B5EF4-FFF2-40B4-BE49-F238E27FC236}">
                <a16:creationId xmlns:a16="http://schemas.microsoft.com/office/drawing/2014/main" id="{0B2A22A7-4552-CE4D-A945-FC3662080656}"/>
              </a:ext>
            </a:extLst>
          </p:cNvPr>
          <p:cNvSpPr txBox="1"/>
          <p:nvPr/>
        </p:nvSpPr>
        <p:spPr>
          <a:xfrm>
            <a:off x="1771650" y="1693837"/>
            <a:ext cx="2857500" cy="461665"/>
          </a:xfrm>
          <a:prstGeom prst="rect">
            <a:avLst/>
          </a:prstGeom>
          <a:noFill/>
        </p:spPr>
        <p:txBody>
          <a:bodyPr wrap="square" rtlCol="0">
            <a:spAutoFit/>
          </a:bodyPr>
          <a:lstStyle/>
          <a:p>
            <a:r>
              <a:rPr lang="en-US" sz="2400" b="1" dirty="0"/>
              <a:t>The centered data</a:t>
            </a:r>
          </a:p>
        </p:txBody>
      </p:sp>
      <p:sp>
        <p:nvSpPr>
          <p:cNvPr id="20" name="TextBox 19">
            <a:extLst>
              <a:ext uri="{FF2B5EF4-FFF2-40B4-BE49-F238E27FC236}">
                <a16:creationId xmlns:a16="http://schemas.microsoft.com/office/drawing/2014/main" id="{4374CFE2-F23B-6045-A955-A671E3E8D331}"/>
              </a:ext>
            </a:extLst>
          </p:cNvPr>
          <p:cNvSpPr txBox="1"/>
          <p:nvPr/>
        </p:nvSpPr>
        <p:spPr>
          <a:xfrm>
            <a:off x="7863506" y="1693837"/>
            <a:ext cx="3903952" cy="461665"/>
          </a:xfrm>
          <a:prstGeom prst="rect">
            <a:avLst/>
          </a:prstGeom>
          <a:noFill/>
        </p:spPr>
        <p:txBody>
          <a:bodyPr wrap="square" rtlCol="0">
            <a:spAutoFit/>
          </a:bodyPr>
          <a:lstStyle/>
          <a:p>
            <a:r>
              <a:rPr lang="en-US" sz="2400" dirty="0"/>
              <a:t>              </a:t>
            </a:r>
            <a:r>
              <a:rPr lang="en-US" sz="2400" b="1" dirty="0"/>
              <a:t>The transformed data</a:t>
            </a:r>
          </a:p>
        </p:txBody>
      </p:sp>
      <p:pic>
        <p:nvPicPr>
          <p:cNvPr id="7" name="Picture 6" descr="Chart&#10;&#10;Description automatically generated">
            <a:extLst>
              <a:ext uri="{FF2B5EF4-FFF2-40B4-BE49-F238E27FC236}">
                <a16:creationId xmlns:a16="http://schemas.microsoft.com/office/drawing/2014/main" id="{0D42B99E-335C-444C-9AE3-7A01573A23BC}"/>
              </a:ext>
            </a:extLst>
          </p:cNvPr>
          <p:cNvPicPr>
            <a:picLocks noChangeAspect="1"/>
          </p:cNvPicPr>
          <p:nvPr/>
        </p:nvPicPr>
        <p:blipFill>
          <a:blip r:embed="rId3"/>
          <a:stretch>
            <a:fillRect/>
          </a:stretch>
        </p:blipFill>
        <p:spPr>
          <a:xfrm>
            <a:off x="1771650" y="4572681"/>
            <a:ext cx="2395538" cy="2037327"/>
          </a:xfrm>
          <a:prstGeom prst="rect">
            <a:avLst/>
          </a:prstGeom>
        </p:spPr>
      </p:pic>
      <p:graphicFrame>
        <p:nvGraphicFramePr>
          <p:cNvPr id="5" name="Table 4">
            <a:extLst>
              <a:ext uri="{FF2B5EF4-FFF2-40B4-BE49-F238E27FC236}">
                <a16:creationId xmlns:a16="http://schemas.microsoft.com/office/drawing/2014/main" id="{79A18CCF-1788-F844-8AF4-E54DF5F8C866}"/>
              </a:ext>
            </a:extLst>
          </p:cNvPr>
          <p:cNvGraphicFramePr>
            <a:graphicFrameLocks noGrp="1"/>
          </p:cNvGraphicFramePr>
          <p:nvPr>
            <p:extLst>
              <p:ext uri="{D42A27DB-BD31-4B8C-83A1-F6EECF244321}">
                <p14:modId xmlns:p14="http://schemas.microsoft.com/office/powerpoint/2010/main" val="2184942135"/>
              </p:ext>
            </p:extLst>
          </p:nvPr>
        </p:nvGraphicFramePr>
        <p:xfrm>
          <a:off x="9415463" y="2323382"/>
          <a:ext cx="1433512" cy="2081416"/>
        </p:xfrm>
        <a:graphic>
          <a:graphicData uri="http://schemas.openxmlformats.org/drawingml/2006/table">
            <a:tbl>
              <a:tblPr>
                <a:tableStyleId>{5C22544A-7EE6-4342-B048-85BDC9FD1C3A}</a:tableStyleId>
              </a:tblPr>
              <a:tblGrid>
                <a:gridCol w="1433512">
                  <a:extLst>
                    <a:ext uri="{9D8B030D-6E8A-4147-A177-3AD203B41FA5}">
                      <a16:colId xmlns:a16="http://schemas.microsoft.com/office/drawing/2014/main" val="3260500333"/>
                    </a:ext>
                  </a:extLst>
                </a:gridCol>
              </a:tblGrid>
              <a:tr h="260177">
                <a:tc>
                  <a:txBody>
                    <a:bodyPr/>
                    <a:lstStyle/>
                    <a:p>
                      <a:pPr algn="ctr" fontAlgn="b"/>
                      <a:r>
                        <a:rPr lang="en-CA" sz="1200" b="1" u="none" strike="noStrike" dirty="0">
                          <a:effectLst/>
                        </a:rPr>
                        <a:t>PC1</a:t>
                      </a:r>
                      <a:endParaRPr lang="en-CA" sz="12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14490168"/>
                  </a:ext>
                </a:extLst>
              </a:tr>
              <a:tr h="260177">
                <a:tc>
                  <a:txBody>
                    <a:bodyPr/>
                    <a:lstStyle/>
                    <a:p>
                      <a:pPr algn="ctr" fontAlgn="b"/>
                      <a:r>
                        <a:rPr lang="en-CA" sz="1200" u="none" strike="noStrike">
                          <a:effectLst/>
                        </a:rPr>
                        <a:t>-5</a:t>
                      </a:r>
                      <a:endParaRPr lang="en-CA"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24742331"/>
                  </a:ext>
                </a:extLst>
              </a:tr>
              <a:tr h="260177">
                <a:tc>
                  <a:txBody>
                    <a:bodyPr/>
                    <a:lstStyle/>
                    <a:p>
                      <a:pPr algn="ctr" fontAlgn="b"/>
                      <a:r>
                        <a:rPr lang="en-CA" sz="1200" u="none" strike="noStrike">
                          <a:effectLst/>
                        </a:rPr>
                        <a:t>-2.2</a:t>
                      </a:r>
                      <a:endParaRPr lang="en-CA"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59479378"/>
                  </a:ext>
                </a:extLst>
              </a:tr>
              <a:tr h="260177">
                <a:tc>
                  <a:txBody>
                    <a:bodyPr/>
                    <a:lstStyle/>
                    <a:p>
                      <a:pPr algn="ctr" fontAlgn="b"/>
                      <a:r>
                        <a:rPr lang="en-CA" sz="1200" u="none" strike="noStrike">
                          <a:effectLst/>
                        </a:rPr>
                        <a:t>-0.6</a:t>
                      </a:r>
                      <a:endParaRPr lang="en-CA"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186340606"/>
                  </a:ext>
                </a:extLst>
              </a:tr>
              <a:tr h="260177">
                <a:tc>
                  <a:txBody>
                    <a:bodyPr/>
                    <a:lstStyle/>
                    <a:p>
                      <a:pPr algn="ctr" fontAlgn="b"/>
                      <a:r>
                        <a:rPr lang="en-CA" sz="1200" u="none" strike="noStrike">
                          <a:effectLst/>
                        </a:rPr>
                        <a:t>0.6</a:t>
                      </a:r>
                      <a:endParaRPr lang="en-CA"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59635705"/>
                  </a:ext>
                </a:extLst>
              </a:tr>
              <a:tr h="260177">
                <a:tc>
                  <a:txBody>
                    <a:bodyPr/>
                    <a:lstStyle/>
                    <a:p>
                      <a:pPr algn="ctr" fontAlgn="b"/>
                      <a:r>
                        <a:rPr lang="en-CA" sz="1200" u="none" strike="noStrike">
                          <a:effectLst/>
                        </a:rPr>
                        <a:t>2.2</a:t>
                      </a:r>
                      <a:endParaRPr lang="en-CA"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87535360"/>
                  </a:ext>
                </a:extLst>
              </a:tr>
              <a:tr h="260177">
                <a:tc>
                  <a:txBody>
                    <a:bodyPr/>
                    <a:lstStyle/>
                    <a:p>
                      <a:pPr algn="ctr" fontAlgn="b"/>
                      <a:r>
                        <a:rPr lang="en-CA" sz="1200" u="none" strike="noStrike">
                          <a:effectLst/>
                        </a:rPr>
                        <a:t>5</a:t>
                      </a:r>
                      <a:endParaRPr lang="en-CA"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758498158"/>
                  </a:ext>
                </a:extLst>
              </a:tr>
              <a:tr h="260177">
                <a:tc>
                  <a:txBody>
                    <a:bodyPr/>
                    <a:lstStyle/>
                    <a:p>
                      <a:pPr algn="ctr" fontAlgn="b"/>
                      <a:r>
                        <a:rPr lang="en-CA" sz="1200" u="none" strike="noStrike" dirty="0">
                          <a:effectLst/>
                        </a:rPr>
                        <a:t>var = 12.08</a:t>
                      </a:r>
                      <a:endParaRPr lang="en-CA"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201777435"/>
                  </a:ext>
                </a:extLst>
              </a:tr>
            </a:tbl>
          </a:graphicData>
        </a:graphic>
      </p:graphicFrame>
      <p:pic>
        <p:nvPicPr>
          <p:cNvPr id="8" name="Picture 7">
            <a:extLst>
              <a:ext uri="{FF2B5EF4-FFF2-40B4-BE49-F238E27FC236}">
                <a16:creationId xmlns:a16="http://schemas.microsoft.com/office/drawing/2014/main" id="{E7FF46D9-CB86-6844-86E8-9BBBA48A5F3D}"/>
              </a:ext>
            </a:extLst>
          </p:cNvPr>
          <p:cNvPicPr>
            <a:picLocks noChangeAspect="1"/>
          </p:cNvPicPr>
          <p:nvPr/>
        </p:nvPicPr>
        <p:blipFill>
          <a:blip r:embed="rId4"/>
          <a:stretch>
            <a:fillRect/>
          </a:stretch>
        </p:blipFill>
        <p:spPr>
          <a:xfrm>
            <a:off x="5367337" y="4892881"/>
            <a:ext cx="6438900" cy="660400"/>
          </a:xfrm>
          <a:prstGeom prst="rect">
            <a:avLst/>
          </a:prstGeom>
        </p:spPr>
      </p:pic>
      <p:sp>
        <p:nvSpPr>
          <p:cNvPr id="10" name="Right Arrow 9">
            <a:extLst>
              <a:ext uri="{FF2B5EF4-FFF2-40B4-BE49-F238E27FC236}">
                <a16:creationId xmlns:a16="http://schemas.microsoft.com/office/drawing/2014/main" id="{39D032A0-27C0-D74F-86F3-D70F8F4B65B2}"/>
              </a:ext>
            </a:extLst>
          </p:cNvPr>
          <p:cNvSpPr/>
          <p:nvPr/>
        </p:nvSpPr>
        <p:spPr>
          <a:xfrm>
            <a:off x="6343650" y="3286125"/>
            <a:ext cx="1928813" cy="3143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268E9B5-5678-744E-B64A-9D53D7572D7A}"/>
              </a:ext>
            </a:extLst>
          </p:cNvPr>
          <p:cNvSpPr txBox="1"/>
          <p:nvPr/>
        </p:nvSpPr>
        <p:spPr>
          <a:xfrm>
            <a:off x="6529388" y="2828925"/>
            <a:ext cx="1211678" cy="369332"/>
          </a:xfrm>
          <a:prstGeom prst="rect">
            <a:avLst/>
          </a:prstGeom>
          <a:noFill/>
        </p:spPr>
        <p:txBody>
          <a:bodyPr wrap="none" rtlCol="0">
            <a:spAutoFit/>
          </a:bodyPr>
          <a:lstStyle/>
          <a:p>
            <a:r>
              <a:rPr lang="en-US" dirty="0"/>
              <a:t>Delete PC2</a:t>
            </a:r>
          </a:p>
        </p:txBody>
      </p:sp>
    </p:spTree>
    <p:extLst>
      <p:ext uri="{BB962C8B-B14F-4D97-AF65-F5344CB8AC3E}">
        <p14:creationId xmlns:p14="http://schemas.microsoft.com/office/powerpoint/2010/main" val="14042471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14">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6E3AEA-9EC6-4540-886B-D4F7C34BC23E}"/>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dirty="0">
                <a:solidFill>
                  <a:schemeClr val="bg1"/>
                </a:solidFill>
                <a:latin typeface="+mj-lt"/>
                <a:ea typeface="+mj-ea"/>
                <a:cs typeface="+mj-cs"/>
              </a:rPr>
              <a:t>Interpret </a:t>
            </a:r>
            <a:r>
              <a:rPr lang="en-US" sz="3200" dirty="0">
                <a:solidFill>
                  <a:schemeClr val="bg1"/>
                </a:solidFill>
              </a:rPr>
              <a:t>the eigenvector</a:t>
            </a:r>
            <a:endParaRPr lang="en-US" sz="3200" kern="1200" dirty="0">
              <a:solidFill>
                <a:schemeClr val="bg1"/>
              </a:solidFill>
              <a:latin typeface="+mj-lt"/>
              <a:ea typeface="+mj-ea"/>
              <a:cs typeface="+mj-cs"/>
            </a:endParaRPr>
          </a:p>
        </p:txBody>
      </p:sp>
      <p:sp>
        <p:nvSpPr>
          <p:cNvPr id="34" name="TextBox 33">
            <a:extLst>
              <a:ext uri="{FF2B5EF4-FFF2-40B4-BE49-F238E27FC236}">
                <a16:creationId xmlns:a16="http://schemas.microsoft.com/office/drawing/2014/main" id="{A457A49F-9927-5D42-B089-3E06D0A426DE}"/>
              </a:ext>
            </a:extLst>
          </p:cNvPr>
          <p:cNvSpPr txBox="1"/>
          <p:nvPr/>
        </p:nvSpPr>
        <p:spPr>
          <a:xfrm>
            <a:off x="9986963" y="5868134"/>
            <a:ext cx="2023267" cy="369332"/>
          </a:xfrm>
          <a:prstGeom prst="rect">
            <a:avLst/>
          </a:prstGeom>
          <a:noFill/>
        </p:spPr>
        <p:txBody>
          <a:bodyPr wrap="square" rtlCol="0">
            <a:spAutoFit/>
          </a:bodyPr>
          <a:lstStyle/>
          <a:p>
            <a:r>
              <a:rPr lang="en-US" dirty="0"/>
              <a:t> </a:t>
            </a:r>
          </a:p>
        </p:txBody>
      </p:sp>
      <p:pic>
        <p:nvPicPr>
          <p:cNvPr id="6" name="Picture 5" descr="Chart, line chart&#10;&#10;Description automatically generated">
            <a:extLst>
              <a:ext uri="{FF2B5EF4-FFF2-40B4-BE49-F238E27FC236}">
                <a16:creationId xmlns:a16="http://schemas.microsoft.com/office/drawing/2014/main" id="{CCB9989A-EC32-3843-8AE0-786943513F7A}"/>
              </a:ext>
            </a:extLst>
          </p:cNvPr>
          <p:cNvPicPr>
            <a:picLocks noChangeAspect="1"/>
          </p:cNvPicPr>
          <p:nvPr/>
        </p:nvPicPr>
        <p:blipFill>
          <a:blip r:embed="rId3"/>
          <a:stretch>
            <a:fillRect/>
          </a:stretch>
        </p:blipFill>
        <p:spPr>
          <a:xfrm>
            <a:off x="3651405" y="3317846"/>
            <a:ext cx="4437963" cy="3173942"/>
          </a:xfrm>
          <a:prstGeom prst="rect">
            <a:avLst/>
          </a:prstGeom>
        </p:spPr>
      </p:pic>
      <p:pic>
        <p:nvPicPr>
          <p:cNvPr id="11" name="Picture 10" descr="A picture containing text&#10;&#10;Description automatically generated">
            <a:extLst>
              <a:ext uri="{FF2B5EF4-FFF2-40B4-BE49-F238E27FC236}">
                <a16:creationId xmlns:a16="http://schemas.microsoft.com/office/drawing/2014/main" id="{956C1445-027C-3B4F-BC85-8DCF165C0DB7}"/>
              </a:ext>
            </a:extLst>
          </p:cNvPr>
          <p:cNvPicPr>
            <a:picLocks noChangeAspect="1"/>
          </p:cNvPicPr>
          <p:nvPr/>
        </p:nvPicPr>
        <p:blipFill>
          <a:blip r:embed="rId4"/>
          <a:stretch>
            <a:fillRect/>
          </a:stretch>
        </p:blipFill>
        <p:spPr>
          <a:xfrm>
            <a:off x="3138268" y="1852352"/>
            <a:ext cx="5161611" cy="1141413"/>
          </a:xfrm>
          <a:prstGeom prst="rect">
            <a:avLst/>
          </a:prstGeom>
        </p:spPr>
      </p:pic>
    </p:spTree>
    <p:extLst>
      <p:ext uri="{BB962C8B-B14F-4D97-AF65-F5344CB8AC3E}">
        <p14:creationId xmlns:p14="http://schemas.microsoft.com/office/powerpoint/2010/main" val="7792996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14">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6E3AEA-9EC6-4540-886B-D4F7C34BC23E}"/>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dirty="0">
                <a:solidFill>
                  <a:schemeClr val="bg1"/>
                </a:solidFill>
                <a:latin typeface="+mj-lt"/>
                <a:ea typeface="+mj-ea"/>
                <a:cs typeface="+mj-cs"/>
              </a:rPr>
              <a:t>Interpret </a:t>
            </a:r>
            <a:r>
              <a:rPr lang="en-US" sz="3200" dirty="0">
                <a:solidFill>
                  <a:schemeClr val="bg1"/>
                </a:solidFill>
              </a:rPr>
              <a:t>the eigenvector</a:t>
            </a:r>
            <a:endParaRPr lang="en-US" sz="3200" kern="1200" dirty="0">
              <a:solidFill>
                <a:schemeClr val="bg1"/>
              </a:solidFill>
              <a:latin typeface="+mj-lt"/>
              <a:ea typeface="+mj-ea"/>
              <a:cs typeface="+mj-cs"/>
            </a:endParaRPr>
          </a:p>
        </p:txBody>
      </p:sp>
      <p:sp>
        <p:nvSpPr>
          <p:cNvPr id="34" name="TextBox 33">
            <a:extLst>
              <a:ext uri="{FF2B5EF4-FFF2-40B4-BE49-F238E27FC236}">
                <a16:creationId xmlns:a16="http://schemas.microsoft.com/office/drawing/2014/main" id="{A457A49F-9927-5D42-B089-3E06D0A426DE}"/>
              </a:ext>
            </a:extLst>
          </p:cNvPr>
          <p:cNvSpPr txBox="1"/>
          <p:nvPr/>
        </p:nvSpPr>
        <p:spPr>
          <a:xfrm>
            <a:off x="9986963" y="5868134"/>
            <a:ext cx="2023267" cy="369332"/>
          </a:xfrm>
          <a:prstGeom prst="rect">
            <a:avLst/>
          </a:prstGeom>
          <a:noFill/>
        </p:spPr>
        <p:txBody>
          <a:bodyPr wrap="square" rtlCol="0">
            <a:spAutoFit/>
          </a:bodyPr>
          <a:lstStyle/>
          <a:p>
            <a:r>
              <a:rPr lang="en-US" dirty="0"/>
              <a:t> </a:t>
            </a:r>
          </a:p>
        </p:txBody>
      </p:sp>
      <p:sp>
        <p:nvSpPr>
          <p:cNvPr id="13" name="TextBox 12">
            <a:extLst>
              <a:ext uri="{FF2B5EF4-FFF2-40B4-BE49-F238E27FC236}">
                <a16:creationId xmlns:a16="http://schemas.microsoft.com/office/drawing/2014/main" id="{F7F48829-954A-7A49-B44A-1C9F24C2C8D7}"/>
              </a:ext>
            </a:extLst>
          </p:cNvPr>
          <p:cNvSpPr txBox="1"/>
          <p:nvPr/>
        </p:nvSpPr>
        <p:spPr>
          <a:xfrm>
            <a:off x="785814" y="1757635"/>
            <a:ext cx="2973122" cy="369332"/>
          </a:xfrm>
          <a:prstGeom prst="rect">
            <a:avLst/>
          </a:prstGeom>
          <a:noFill/>
        </p:spPr>
        <p:txBody>
          <a:bodyPr wrap="square" rtlCol="0">
            <a:spAutoFit/>
          </a:bodyPr>
          <a:lstStyle/>
          <a:p>
            <a:r>
              <a:rPr lang="en-US" dirty="0"/>
              <a:t>     </a:t>
            </a:r>
            <a:r>
              <a:rPr lang="en-US" b="1" dirty="0"/>
              <a:t>Covariance matrix</a:t>
            </a:r>
          </a:p>
        </p:txBody>
      </p:sp>
      <p:pic>
        <p:nvPicPr>
          <p:cNvPr id="15" name="Picture 14" descr="Text&#10;&#10;Description automatically generated">
            <a:extLst>
              <a:ext uri="{FF2B5EF4-FFF2-40B4-BE49-F238E27FC236}">
                <a16:creationId xmlns:a16="http://schemas.microsoft.com/office/drawing/2014/main" id="{3AFB1A14-9CCE-204C-96B5-82AC438CCAA1}"/>
              </a:ext>
            </a:extLst>
          </p:cNvPr>
          <p:cNvPicPr>
            <a:picLocks noChangeAspect="1"/>
          </p:cNvPicPr>
          <p:nvPr/>
        </p:nvPicPr>
        <p:blipFill>
          <a:blip r:embed="rId3"/>
          <a:stretch>
            <a:fillRect/>
          </a:stretch>
        </p:blipFill>
        <p:spPr>
          <a:xfrm>
            <a:off x="291896" y="2244157"/>
            <a:ext cx="4381440" cy="875711"/>
          </a:xfrm>
          <a:prstGeom prst="rect">
            <a:avLst/>
          </a:prstGeom>
        </p:spPr>
      </p:pic>
      <p:pic>
        <p:nvPicPr>
          <p:cNvPr id="4" name="Picture 3" descr="Chart&#10;&#10;Description automatically generated">
            <a:extLst>
              <a:ext uri="{FF2B5EF4-FFF2-40B4-BE49-F238E27FC236}">
                <a16:creationId xmlns:a16="http://schemas.microsoft.com/office/drawing/2014/main" id="{F8C125FF-BFD8-354C-A237-8BBC2362BF70}"/>
              </a:ext>
            </a:extLst>
          </p:cNvPr>
          <p:cNvPicPr>
            <a:picLocks noChangeAspect="1"/>
          </p:cNvPicPr>
          <p:nvPr/>
        </p:nvPicPr>
        <p:blipFill>
          <a:blip r:embed="rId4"/>
          <a:stretch>
            <a:fillRect/>
          </a:stretch>
        </p:blipFill>
        <p:spPr>
          <a:xfrm>
            <a:off x="1059348" y="3429001"/>
            <a:ext cx="2699588" cy="1951614"/>
          </a:xfrm>
          <a:prstGeom prst="rect">
            <a:avLst/>
          </a:prstGeom>
        </p:spPr>
      </p:pic>
      <p:sp>
        <p:nvSpPr>
          <p:cNvPr id="7" name="TextBox 6">
            <a:extLst>
              <a:ext uri="{FF2B5EF4-FFF2-40B4-BE49-F238E27FC236}">
                <a16:creationId xmlns:a16="http://schemas.microsoft.com/office/drawing/2014/main" id="{F5663199-1C22-944C-83D1-C02C2CA6675D}"/>
              </a:ext>
            </a:extLst>
          </p:cNvPr>
          <p:cNvSpPr txBox="1"/>
          <p:nvPr/>
        </p:nvSpPr>
        <p:spPr>
          <a:xfrm>
            <a:off x="741263" y="5727145"/>
            <a:ext cx="11210925" cy="830997"/>
          </a:xfrm>
          <a:prstGeom prst="rect">
            <a:avLst/>
          </a:prstGeom>
          <a:noFill/>
        </p:spPr>
        <p:txBody>
          <a:bodyPr wrap="square" rtlCol="0">
            <a:spAutoFit/>
          </a:bodyPr>
          <a:lstStyle/>
          <a:p>
            <a:r>
              <a:rPr lang="en-US" sz="2400" b="1" dirty="0"/>
              <a:t>Conclusion:</a:t>
            </a:r>
            <a:r>
              <a:rPr lang="en-US" sz="2400" dirty="0"/>
              <a:t> The values in the covariance matrix rotate vectors towards the eigenvector, which points in a direction where the data has a maximal variance 	</a:t>
            </a:r>
          </a:p>
        </p:txBody>
      </p:sp>
      <p:pic>
        <p:nvPicPr>
          <p:cNvPr id="9" name="Picture 8" descr="A picture containing text, clock&#10;&#10;Description automatically generated">
            <a:extLst>
              <a:ext uri="{FF2B5EF4-FFF2-40B4-BE49-F238E27FC236}">
                <a16:creationId xmlns:a16="http://schemas.microsoft.com/office/drawing/2014/main" id="{5605550D-743C-1B42-8EE4-E884044D841C}"/>
              </a:ext>
            </a:extLst>
          </p:cNvPr>
          <p:cNvPicPr>
            <a:picLocks noChangeAspect="1"/>
          </p:cNvPicPr>
          <p:nvPr/>
        </p:nvPicPr>
        <p:blipFill>
          <a:blip r:embed="rId5"/>
          <a:stretch>
            <a:fillRect/>
          </a:stretch>
        </p:blipFill>
        <p:spPr>
          <a:xfrm>
            <a:off x="7065914" y="2051232"/>
            <a:ext cx="2467463" cy="1261560"/>
          </a:xfrm>
          <a:prstGeom prst="rect">
            <a:avLst/>
          </a:prstGeom>
        </p:spPr>
      </p:pic>
      <p:pic>
        <p:nvPicPr>
          <p:cNvPr id="12" name="Picture 11" descr="A picture containing diagram&#10;&#10;Description automatically generated">
            <a:extLst>
              <a:ext uri="{FF2B5EF4-FFF2-40B4-BE49-F238E27FC236}">
                <a16:creationId xmlns:a16="http://schemas.microsoft.com/office/drawing/2014/main" id="{1B00AE96-6CC1-2D42-8548-3ADF0993837B}"/>
              </a:ext>
            </a:extLst>
          </p:cNvPr>
          <p:cNvPicPr>
            <a:picLocks noChangeAspect="1"/>
          </p:cNvPicPr>
          <p:nvPr/>
        </p:nvPicPr>
        <p:blipFill>
          <a:blip r:embed="rId6"/>
          <a:stretch>
            <a:fillRect/>
          </a:stretch>
        </p:blipFill>
        <p:spPr>
          <a:xfrm>
            <a:off x="9744075" y="2005437"/>
            <a:ext cx="1185863" cy="1304448"/>
          </a:xfrm>
          <a:prstGeom prst="rect">
            <a:avLst/>
          </a:prstGeom>
        </p:spPr>
      </p:pic>
      <p:pic>
        <p:nvPicPr>
          <p:cNvPr id="16" name="Picture 15" descr="Chart, line chart&#10;&#10;Description automatically generated">
            <a:extLst>
              <a:ext uri="{FF2B5EF4-FFF2-40B4-BE49-F238E27FC236}">
                <a16:creationId xmlns:a16="http://schemas.microsoft.com/office/drawing/2014/main" id="{93F7772B-5DF8-C742-9D36-34466414384F}"/>
              </a:ext>
            </a:extLst>
          </p:cNvPr>
          <p:cNvPicPr>
            <a:picLocks noChangeAspect="1"/>
          </p:cNvPicPr>
          <p:nvPr/>
        </p:nvPicPr>
        <p:blipFill>
          <a:blip r:embed="rId7"/>
          <a:stretch>
            <a:fillRect/>
          </a:stretch>
        </p:blipFill>
        <p:spPr>
          <a:xfrm>
            <a:off x="7506535" y="3378050"/>
            <a:ext cx="2722986" cy="1951614"/>
          </a:xfrm>
          <a:prstGeom prst="rect">
            <a:avLst/>
          </a:prstGeom>
        </p:spPr>
      </p:pic>
      <p:sp>
        <p:nvSpPr>
          <p:cNvPr id="19" name="Right Arrow 18">
            <a:extLst>
              <a:ext uri="{FF2B5EF4-FFF2-40B4-BE49-F238E27FC236}">
                <a16:creationId xmlns:a16="http://schemas.microsoft.com/office/drawing/2014/main" id="{56F27D0F-850C-6447-AD1A-3445CC5911EC}"/>
              </a:ext>
            </a:extLst>
          </p:cNvPr>
          <p:cNvSpPr/>
          <p:nvPr/>
        </p:nvSpPr>
        <p:spPr>
          <a:xfrm>
            <a:off x="5126087" y="2528888"/>
            <a:ext cx="1469061" cy="2859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530069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3DE5A-CF92-434F-B8E0-43DBF8143B06}"/>
              </a:ext>
            </a:extLst>
          </p:cNvPr>
          <p:cNvSpPr>
            <a:spLocks noGrp="1"/>
          </p:cNvSpPr>
          <p:nvPr>
            <p:ph type="title"/>
          </p:nvPr>
        </p:nvSpPr>
        <p:spPr/>
        <p:txBody>
          <a:bodyPr/>
          <a:lstStyle/>
          <a:p>
            <a:r>
              <a:rPr lang="en-GB" b="1" dirty="0"/>
              <a:t>References</a:t>
            </a:r>
          </a:p>
        </p:txBody>
      </p:sp>
      <p:sp>
        <p:nvSpPr>
          <p:cNvPr id="3" name="Content Placeholder 2">
            <a:extLst>
              <a:ext uri="{FF2B5EF4-FFF2-40B4-BE49-F238E27FC236}">
                <a16:creationId xmlns:a16="http://schemas.microsoft.com/office/drawing/2014/main" id="{3726A657-BBD6-1949-BA5A-B20EA6E3A925}"/>
              </a:ext>
            </a:extLst>
          </p:cNvPr>
          <p:cNvSpPr>
            <a:spLocks noGrp="1"/>
          </p:cNvSpPr>
          <p:nvPr>
            <p:ph idx="1"/>
          </p:nvPr>
        </p:nvSpPr>
        <p:spPr/>
        <p:txBody>
          <a:bodyPr/>
          <a:lstStyle/>
          <a:p>
            <a:r>
              <a:rPr lang="en-GB" dirty="0" err="1"/>
              <a:t>Tilevik</a:t>
            </a:r>
            <a:r>
              <a:rPr lang="en-GB" dirty="0"/>
              <a:t>, A. (n.d.) PCA1: Math. Available online: https://</a:t>
            </a:r>
            <a:r>
              <a:rPr lang="en-GB" dirty="0" err="1"/>
              <a:t>www.youtube.com</a:t>
            </a:r>
            <a:r>
              <a:rPr lang="en-GB" dirty="0"/>
              <a:t>/</a:t>
            </a:r>
            <a:r>
              <a:rPr lang="en-GB" dirty="0" err="1"/>
              <a:t>watch?v</a:t>
            </a:r>
            <a:r>
              <a:rPr lang="en-GB" dirty="0"/>
              <a:t>=S51bTyIwxFs&amp;t=1s</a:t>
            </a:r>
          </a:p>
        </p:txBody>
      </p:sp>
    </p:spTree>
    <p:extLst>
      <p:ext uri="{BB962C8B-B14F-4D97-AF65-F5344CB8AC3E}">
        <p14:creationId xmlns:p14="http://schemas.microsoft.com/office/powerpoint/2010/main" val="655179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3304</TotalTime>
  <Words>1863</Words>
  <Application>Microsoft Macintosh PowerPoint</Application>
  <PresentationFormat>Widescreen</PresentationFormat>
  <Paragraphs>263</Paragraphs>
  <Slides>16</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Calibri Light</vt:lpstr>
      <vt:lpstr>Office Theme</vt:lpstr>
      <vt:lpstr>The math behind PCA</vt:lpstr>
      <vt:lpstr>PCA</vt:lpstr>
      <vt:lpstr>Example data</vt:lpstr>
      <vt:lpstr>1. Center the data</vt:lpstr>
      <vt:lpstr>2. Calculate the covariance matrix</vt:lpstr>
      <vt:lpstr>3. Calculate the eigenvalues of the covariance matrix</vt:lpstr>
      <vt:lpstr>4. Calculate the eigenvectors of the covariance matrix</vt:lpstr>
      <vt:lpstr>4. Calculate the eigenvectors of the covariance matrix</vt:lpstr>
      <vt:lpstr>5. Order the eigenvectors</vt:lpstr>
      <vt:lpstr>6. Calculate the principal components</vt:lpstr>
      <vt:lpstr>Interpret PCA</vt:lpstr>
      <vt:lpstr>Interpret PCA</vt:lpstr>
      <vt:lpstr>Interpret PCA</vt:lpstr>
      <vt:lpstr>Interpret the eigenvector</vt:lpstr>
      <vt:lpstr>Interpret the eigenvector</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JESSICA Pham</dc:creator>
  <cp:lastModifiedBy>Quynh Nguyen</cp:lastModifiedBy>
  <cp:revision>178</cp:revision>
  <dcterms:created xsi:type="dcterms:W3CDTF">2021-12-20T06:40:25Z</dcterms:created>
  <dcterms:modified xsi:type="dcterms:W3CDTF">2022-01-05T00:08:59Z</dcterms:modified>
</cp:coreProperties>
</file>