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move 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2000" spc="-1" strike="noStrike">
                <a:latin typeface="Arial"/>
              </a:rPr>
              <a:t>Click to </a:t>
            </a:r>
            <a:r>
              <a:rPr b="0" lang="en-CA" sz="2000" spc="-1" strike="noStrike">
                <a:latin typeface="Arial"/>
              </a:rPr>
              <a:t>edit the </a:t>
            </a:r>
            <a:r>
              <a:rPr b="0" lang="en-CA" sz="2000" spc="-1" strike="noStrike">
                <a:latin typeface="Arial"/>
              </a:rPr>
              <a:t>notes </a:t>
            </a:r>
            <a:r>
              <a:rPr b="0" lang="en-CA" sz="2000" spc="-1" strike="noStrike">
                <a:latin typeface="Arial"/>
              </a:rPr>
              <a:t>format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1400" spc="-1" strike="noStrike">
                <a:latin typeface="Times New Roman"/>
              </a:rPr>
              <a:t>&lt;header&gt;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398F15D-735B-4869-A3E7-581DB62F3C57}" type="slidenum">
              <a:rPr b="0" lang="en-CA" sz="1400" spc="-1" strike="noStrike">
                <a:latin typeface="Times New Roman"/>
              </a:rPr>
              <a:t>&lt;number&gt;</a:t>
            </a:fld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will </a:t>
            </a:r>
            <a:r>
              <a:rPr b="0" lang="en-US" sz="2000" spc="-1" strike="noStrike">
                <a:latin typeface="Arial"/>
              </a:rPr>
              <a:t>see </a:t>
            </a:r>
            <a:r>
              <a:rPr b="0" lang="en-US" sz="2000" spc="-1" strike="noStrike">
                <a:latin typeface="Arial"/>
              </a:rPr>
              <a:t>how </a:t>
            </a:r>
            <a:r>
              <a:rPr b="0" lang="en-US" sz="2000" spc="-1" strike="noStrike">
                <a:latin typeface="Arial"/>
              </a:rPr>
              <a:t>diffe</a:t>
            </a:r>
            <a:r>
              <a:rPr b="0" lang="en-US" sz="2000" spc="-1" strike="noStrike">
                <a:latin typeface="Arial"/>
              </a:rPr>
              <a:t>rent </a:t>
            </a:r>
            <a:r>
              <a:rPr b="0" lang="en-US" sz="2000" spc="-1" strike="noStrike">
                <a:latin typeface="Arial"/>
              </a:rPr>
              <a:t>typ</a:t>
            </a:r>
            <a:r>
              <a:rPr b="0" lang="en-US" sz="2000" spc="-1" strike="noStrike">
                <a:latin typeface="Arial"/>
              </a:rPr>
              <a:t>es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con</a:t>
            </a:r>
            <a:r>
              <a:rPr b="0" lang="en-US" sz="2000" spc="-1" strike="noStrike">
                <a:latin typeface="Arial"/>
              </a:rPr>
              <a:t>stra</a:t>
            </a:r>
            <a:r>
              <a:rPr b="0" lang="en-US" sz="2000" spc="-1" strike="noStrike">
                <a:latin typeface="Arial"/>
              </a:rPr>
              <a:t>ints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max </a:t>
            </a:r>
            <a:r>
              <a:rPr b="0" lang="en-US" sz="2000" spc="-1" strike="noStrike">
                <a:latin typeface="Arial"/>
              </a:rPr>
              <a:t>rota</a:t>
            </a:r>
            <a:r>
              <a:rPr b="0" lang="en-US" sz="2000" spc="-1" strike="noStrike">
                <a:latin typeface="Arial"/>
              </a:rPr>
              <a:t>tion </a:t>
            </a:r>
            <a:r>
              <a:rPr b="0" lang="en-US" sz="2000" spc="-1" strike="noStrike">
                <a:latin typeface="Arial"/>
              </a:rPr>
              <a:t>can </a:t>
            </a:r>
            <a:r>
              <a:rPr b="0" lang="en-US" sz="2000" spc="-1" strike="noStrike">
                <a:latin typeface="Arial"/>
              </a:rPr>
              <a:t>be </a:t>
            </a:r>
            <a:r>
              <a:rPr b="0" lang="en-US" sz="2000" spc="-1" strike="noStrike">
                <a:latin typeface="Arial"/>
              </a:rPr>
              <a:t>use</a:t>
            </a:r>
            <a:r>
              <a:rPr b="0" lang="en-US" sz="2000" spc="-1" strike="noStrike">
                <a:latin typeface="Arial"/>
              </a:rPr>
              <a:t>d to </a:t>
            </a:r>
            <a:r>
              <a:rPr b="0" lang="en-US" sz="2000" spc="-1" strike="noStrike">
                <a:latin typeface="Arial"/>
              </a:rPr>
              <a:t>incr</a:t>
            </a:r>
            <a:r>
              <a:rPr b="0" lang="en-US" sz="2000" spc="-1" strike="noStrike">
                <a:latin typeface="Arial"/>
              </a:rPr>
              <a:t>eas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inte</a:t>
            </a:r>
            <a:r>
              <a:rPr b="0" lang="en-US" sz="2000" spc="-1" strike="noStrike">
                <a:latin typeface="Arial"/>
              </a:rPr>
              <a:t>rpre</a:t>
            </a:r>
            <a:r>
              <a:rPr b="0" lang="en-US" sz="2000" spc="-1" strike="noStrike">
                <a:latin typeface="Arial"/>
              </a:rPr>
              <a:t>tati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</a:t>
            </a:r>
            <a:r>
              <a:rPr b="0" lang="en-US" sz="2000" spc="-1" strike="noStrike">
                <a:latin typeface="Arial"/>
              </a:rPr>
              <a:t>ght</a:t>
            </a:r>
            <a:r>
              <a:rPr b="0" lang="en-US" sz="2000" spc="-1" strike="noStrike">
                <a:latin typeface="Arial"/>
              </a:rPr>
              <a:t>s.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0DA22D-8394-41B1-8667-0228BF0DC965}" type="slidenum">
              <a:rPr b="0" lang="en-US" sz="1200" spc="-1" strike="noStrike">
                <a:latin typeface="Times New Roman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In part 1, we retain only the first two principal components </a:t>
            </a:r>
            <a:r>
              <a:rPr b="0" lang="en-US" sz="2000" spc="-1" strike="noStrike">
                <a:latin typeface="Arial"/>
              </a:rPr>
              <a:t>so we can focus on the weights for the first two </a:t>
            </a:r>
            <a:r>
              <a:rPr b="0" lang="en-US" sz="2000" spc="-1" strike="noStrike">
                <a:latin typeface="Arial"/>
              </a:rPr>
              <a:t>components. Now we try to interpret the meaning of </a:t>
            </a:r>
            <a:r>
              <a:rPr b="0" lang="en-US" sz="2000" spc="-1" strike="noStrike">
                <a:latin typeface="Arial"/>
              </a:rPr>
              <a:t>these weights.</a:t>
            </a:r>
            <a:endParaRPr b="0" lang="en-CA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Recall that these weights are used as coefficients when </a:t>
            </a:r>
            <a:r>
              <a:rPr b="0" lang="en-US" sz="2000" spc="-1" strike="noStrike">
                <a:latin typeface="Arial"/>
              </a:rPr>
              <a:t>we calculate the score for the first component and </a:t>
            </a:r>
            <a:r>
              <a:rPr b="0" lang="en-US" sz="2000" spc="-1" strike="noStrike">
                <a:latin typeface="Arial"/>
              </a:rPr>
              <a:t>these specific values are the ones that generate </a:t>
            </a:r>
            <a:r>
              <a:rPr b="0" lang="en-US" sz="2000" spc="-1" strike="noStrike">
                <a:latin typeface="Arial"/>
              </a:rPr>
              <a:t>maximal variance of the first component.</a:t>
            </a:r>
            <a:endParaRPr b="0" lang="en-CA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We can interpret the valued of the weights as how much </a:t>
            </a:r>
            <a:r>
              <a:rPr b="0" lang="en-US" sz="2000" spc="-1" strike="noStrike">
                <a:latin typeface="Arial"/>
              </a:rPr>
              <a:t>each variable contributes to the linear combination. </a:t>
            </a:r>
            <a:r>
              <a:rPr b="0" lang="en-US" sz="2000" spc="-1" strike="noStrike">
                <a:latin typeface="Arial"/>
              </a:rPr>
              <a:t>When we do this, we should focus on the absolute </a:t>
            </a:r>
            <a:r>
              <a:rPr b="0" lang="en-US" sz="2000" spc="-1" strike="noStrike">
                <a:latin typeface="Arial"/>
              </a:rPr>
              <a:t>values and therefore ignore any negative signs. We see </a:t>
            </a:r>
            <a:r>
              <a:rPr b="0" lang="en-US" sz="2000" spc="-1" strike="noStrike">
                <a:latin typeface="Arial"/>
              </a:rPr>
              <a:t>that the weights are quite similar, which means that all </a:t>
            </a:r>
            <a:r>
              <a:rPr b="0" lang="en-US" sz="2000" spc="-1" strike="noStrike">
                <a:latin typeface="Arial"/>
              </a:rPr>
              <a:t>variables contribute to a similar extent when the scores </a:t>
            </a:r>
            <a:r>
              <a:rPr b="0" lang="en-US" sz="2000" spc="-1" strike="noStrike">
                <a:latin typeface="Arial"/>
              </a:rPr>
              <a:t>of PC1 are computed. The negative signs for the </a:t>
            </a:r>
            <a:r>
              <a:rPr b="0" lang="en-US" sz="2000" spc="-1" strike="noStrike">
                <a:latin typeface="Arial"/>
              </a:rPr>
              <a:t>weights associated with the diastolic and systolic blood </a:t>
            </a:r>
            <a:r>
              <a:rPr b="0" lang="en-US" sz="2000" spc="-1" strike="noStrike">
                <a:latin typeface="Arial"/>
              </a:rPr>
              <a:t>pressure tell us that these variables are negatively </a:t>
            </a:r>
            <a:r>
              <a:rPr b="0" lang="en-US" sz="2000" spc="-1" strike="noStrike">
                <a:latin typeface="Arial"/>
              </a:rPr>
              <a:t>correlated with PC1.</a:t>
            </a:r>
            <a:endParaRPr b="0" lang="en-CA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Let’s focus on standardized diastolic blood pressure </a:t>
            </a:r>
            <a:r>
              <a:rPr b="0" lang="en-US" sz="2000" spc="-1" strike="noStrike">
                <a:latin typeface="Arial"/>
              </a:rPr>
              <a:t>values and the scores from principal component 1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59F88DC-9D97-4E7F-9789-DEF51B0D5719}" type="slidenum">
              <a:rPr b="0" lang="en-US" sz="1200" spc="-1" strike="noStrike">
                <a:latin typeface="Times New Roman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Let’s </a:t>
            </a:r>
            <a:r>
              <a:rPr b="0" lang="en-US" sz="2000" spc="-1" strike="noStrike">
                <a:latin typeface="Arial"/>
              </a:rPr>
              <a:t>focus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stand</a:t>
            </a:r>
            <a:r>
              <a:rPr b="0" lang="en-US" sz="2000" spc="-1" strike="noStrike">
                <a:latin typeface="Arial"/>
              </a:rPr>
              <a:t>ardiz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diast</a:t>
            </a:r>
            <a:r>
              <a:rPr b="0" lang="en-US" sz="2000" spc="-1" strike="noStrike">
                <a:latin typeface="Arial"/>
              </a:rPr>
              <a:t>olic </a:t>
            </a:r>
            <a:r>
              <a:rPr b="0" lang="en-US" sz="2000" spc="-1" strike="noStrike">
                <a:latin typeface="Arial"/>
              </a:rPr>
              <a:t>blood </a:t>
            </a:r>
            <a:r>
              <a:rPr b="0" lang="en-US" sz="2000" spc="-1" strike="noStrike">
                <a:latin typeface="Arial"/>
              </a:rPr>
              <a:t>press</a:t>
            </a:r>
            <a:r>
              <a:rPr b="0" lang="en-US" sz="2000" spc="-1" strike="noStrike">
                <a:latin typeface="Arial"/>
              </a:rPr>
              <a:t>ure 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s 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from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1. If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plot </a:t>
            </a:r>
            <a:r>
              <a:rPr b="0" lang="en-US" sz="2000" spc="-1" strike="noStrike">
                <a:latin typeface="Arial"/>
              </a:rPr>
              <a:t>these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again</a:t>
            </a:r>
            <a:r>
              <a:rPr b="0" lang="en-US" sz="2000" spc="-1" strike="noStrike">
                <a:latin typeface="Arial"/>
              </a:rPr>
              <a:t>st </a:t>
            </a:r>
            <a:r>
              <a:rPr b="0" lang="en-US" sz="2000" spc="-1" strike="noStrike">
                <a:latin typeface="Arial"/>
              </a:rPr>
              <a:t>each </a:t>
            </a:r>
            <a:r>
              <a:rPr b="0" lang="en-US" sz="2000" spc="-1" strike="noStrike">
                <a:latin typeface="Arial"/>
              </a:rPr>
              <a:t>other, </a:t>
            </a:r>
            <a:r>
              <a:rPr b="0" lang="en-US" sz="2000" spc="-1" strike="noStrike">
                <a:latin typeface="Arial"/>
              </a:rPr>
              <a:t>it </a:t>
            </a:r>
            <a:r>
              <a:rPr b="0" lang="en-US" sz="2000" spc="-1" strike="noStrike">
                <a:latin typeface="Arial"/>
              </a:rPr>
              <a:t>seem</a:t>
            </a:r>
            <a:r>
              <a:rPr b="0" lang="en-US" sz="2000" spc="-1" strike="noStrike">
                <a:latin typeface="Arial"/>
              </a:rPr>
              <a:t>s to </a:t>
            </a:r>
            <a:r>
              <a:rPr b="0" lang="en-US" sz="2000" spc="-1" strike="noStrike">
                <a:latin typeface="Arial"/>
              </a:rPr>
              <a:t>be a </a:t>
            </a:r>
            <a:r>
              <a:rPr b="0" lang="en-US" sz="2000" spc="-1" strike="noStrike">
                <a:latin typeface="Arial"/>
              </a:rPr>
              <a:t>negat</a:t>
            </a:r>
            <a:r>
              <a:rPr b="0" lang="en-US" sz="2000" spc="-1" strike="noStrike">
                <a:latin typeface="Arial"/>
              </a:rPr>
              <a:t>ive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bles.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what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would </a:t>
            </a:r>
            <a:r>
              <a:rPr b="0" lang="en-US" sz="2000" spc="-1" strike="noStrike">
                <a:latin typeface="Arial"/>
              </a:rPr>
              <a:t>expe</a:t>
            </a:r>
            <a:r>
              <a:rPr b="0" lang="en-US" sz="2000" spc="-1" strike="noStrike">
                <a:latin typeface="Arial"/>
              </a:rPr>
              <a:t>ct </a:t>
            </a:r>
            <a:r>
              <a:rPr b="0" lang="en-US" sz="2000" spc="-1" strike="noStrike">
                <a:latin typeface="Arial"/>
              </a:rPr>
              <a:t>since </a:t>
            </a:r>
            <a:r>
              <a:rPr b="0" lang="en-US" sz="2000" spc="-1" strike="noStrike">
                <a:latin typeface="Arial"/>
              </a:rPr>
              <a:t>there </a:t>
            </a:r>
            <a:r>
              <a:rPr b="0" lang="en-US" sz="2000" spc="-1" strike="noStrike">
                <a:latin typeface="Arial"/>
              </a:rPr>
              <a:t>is a </a:t>
            </a:r>
            <a:r>
              <a:rPr b="0" lang="en-US" sz="2000" spc="-1" strike="noStrike">
                <a:latin typeface="Arial"/>
              </a:rPr>
              <a:t>negat</a:t>
            </a:r>
            <a:r>
              <a:rPr b="0" lang="en-US" sz="2000" spc="-1" strike="noStrike">
                <a:latin typeface="Arial"/>
              </a:rPr>
              <a:t>ive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asso</a:t>
            </a:r>
            <a:r>
              <a:rPr b="0" lang="en-US" sz="2000" spc="-1" strike="noStrike">
                <a:latin typeface="Arial"/>
              </a:rPr>
              <a:t>ciate</a:t>
            </a:r>
            <a:r>
              <a:rPr b="0" lang="en-US" sz="2000" spc="-1" strike="noStrike">
                <a:latin typeface="Arial"/>
              </a:rPr>
              <a:t>d with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diast</a:t>
            </a:r>
            <a:r>
              <a:rPr b="0" lang="en-US" sz="2000" spc="-1" strike="noStrike">
                <a:latin typeface="Arial"/>
              </a:rPr>
              <a:t>olic </a:t>
            </a:r>
            <a:r>
              <a:rPr b="0" lang="en-US" sz="2000" spc="-1" strike="noStrike">
                <a:latin typeface="Arial"/>
              </a:rPr>
              <a:t>blood </a:t>
            </a:r>
            <a:r>
              <a:rPr b="0" lang="en-US" sz="2000" spc="-1" strike="noStrike">
                <a:latin typeface="Arial"/>
              </a:rPr>
              <a:t>press</a:t>
            </a:r>
            <a:r>
              <a:rPr b="0" lang="en-US" sz="2000" spc="-1" strike="noStrike">
                <a:latin typeface="Arial"/>
              </a:rPr>
              <a:t>ure </a:t>
            </a:r>
            <a:r>
              <a:rPr b="0" lang="en-US" sz="2000" spc="-1" strike="noStrike">
                <a:latin typeface="Arial"/>
              </a:rPr>
              <a:t>when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calcul</a:t>
            </a:r>
            <a:r>
              <a:rPr b="0" lang="en-US" sz="2000" spc="-1" strike="noStrike">
                <a:latin typeface="Arial"/>
              </a:rPr>
              <a:t>ate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 for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1. If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inste</a:t>
            </a:r>
            <a:r>
              <a:rPr b="0" lang="en-US" sz="2000" spc="-1" strike="noStrike">
                <a:latin typeface="Arial"/>
              </a:rPr>
              <a:t>ad </a:t>
            </a:r>
            <a:r>
              <a:rPr b="0" lang="en-US" sz="2000" spc="-1" strike="noStrike">
                <a:latin typeface="Arial"/>
              </a:rPr>
              <a:t>would </a:t>
            </a:r>
            <a:r>
              <a:rPr b="0" lang="en-US" sz="2000" spc="-1" strike="noStrike">
                <a:latin typeface="Arial"/>
              </a:rPr>
              <a:t>plot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stand</a:t>
            </a:r>
            <a:r>
              <a:rPr b="0" lang="en-US" sz="2000" spc="-1" strike="noStrike">
                <a:latin typeface="Arial"/>
              </a:rPr>
              <a:t>ardiz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s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body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again</a:t>
            </a:r>
            <a:r>
              <a:rPr b="0" lang="en-US" sz="2000" spc="-1" strike="noStrike">
                <a:latin typeface="Arial"/>
              </a:rPr>
              <a:t>st the </a:t>
            </a:r>
            <a:r>
              <a:rPr b="0" lang="en-US" sz="2000" spc="-1" strike="noStrike">
                <a:latin typeface="Arial"/>
              </a:rPr>
              <a:t>score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1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212132-1FAF-439B-AF07-E3019387F5AF}" type="slidenum">
              <a:rPr b="0" lang="en-US" sz="1200" spc="-1" strike="noStrike">
                <a:latin typeface="Times New Roman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If we </a:t>
            </a:r>
            <a:r>
              <a:rPr b="0" lang="en-US" sz="2000" spc="-1" strike="noStrike">
                <a:latin typeface="Arial"/>
              </a:rPr>
              <a:t>inste</a:t>
            </a:r>
            <a:r>
              <a:rPr b="0" lang="en-US" sz="2000" spc="-1" strike="noStrike">
                <a:latin typeface="Arial"/>
              </a:rPr>
              <a:t>ad </a:t>
            </a:r>
            <a:r>
              <a:rPr b="0" lang="en-US" sz="2000" spc="-1" strike="noStrike">
                <a:latin typeface="Arial"/>
              </a:rPr>
              <a:t>would </a:t>
            </a:r>
            <a:r>
              <a:rPr b="0" lang="en-US" sz="2000" spc="-1" strike="noStrike">
                <a:latin typeface="Arial"/>
              </a:rPr>
              <a:t>plot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stand</a:t>
            </a:r>
            <a:r>
              <a:rPr b="0" lang="en-US" sz="2000" spc="-1" strike="noStrike">
                <a:latin typeface="Arial"/>
              </a:rPr>
              <a:t>ardiz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s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body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again</a:t>
            </a:r>
            <a:r>
              <a:rPr b="0" lang="en-US" sz="2000" spc="-1" strike="noStrike">
                <a:latin typeface="Arial"/>
              </a:rPr>
              <a:t>st the </a:t>
            </a:r>
            <a:r>
              <a:rPr b="0" lang="en-US" sz="2000" spc="-1" strike="noStrike">
                <a:latin typeface="Arial"/>
              </a:rPr>
              <a:t>score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1. </a:t>
            </a:r>
            <a:r>
              <a:rPr b="0" lang="en-US" sz="2000" spc="-1" strike="noStrike">
                <a:latin typeface="Arial"/>
              </a:rPr>
              <a:t>There </a:t>
            </a:r>
            <a:r>
              <a:rPr b="0" lang="en-US" sz="2000" spc="-1" strike="noStrike">
                <a:latin typeface="Arial"/>
              </a:rPr>
              <a:t>is a </a:t>
            </a:r>
            <a:r>
              <a:rPr b="0" lang="en-US" sz="2000" spc="-1" strike="noStrike">
                <a:latin typeface="Arial"/>
              </a:rPr>
              <a:t>positi</a:t>
            </a:r>
            <a:r>
              <a:rPr b="0" lang="en-US" sz="2000" spc="-1" strike="noStrike">
                <a:latin typeface="Arial"/>
              </a:rPr>
              <a:t>ve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since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coeffi</a:t>
            </a:r>
            <a:r>
              <a:rPr b="0" lang="en-US" sz="2000" spc="-1" strike="noStrike">
                <a:latin typeface="Arial"/>
              </a:rPr>
              <a:t>cient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body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 is </a:t>
            </a:r>
            <a:r>
              <a:rPr b="0" lang="en-US" sz="2000" spc="-1" strike="noStrike">
                <a:latin typeface="Arial"/>
              </a:rPr>
              <a:t>positi</a:t>
            </a:r>
            <a:r>
              <a:rPr b="0" lang="en-US" sz="2000" spc="-1" strike="noStrike">
                <a:latin typeface="Arial"/>
              </a:rPr>
              <a:t>ve. </a:t>
            </a:r>
            <a:r>
              <a:rPr b="0" lang="en-US" sz="2000" spc="-1" strike="noStrike">
                <a:latin typeface="Arial"/>
              </a:rPr>
              <a:t>Howe</a:t>
            </a:r>
            <a:r>
              <a:rPr b="0" lang="en-US" sz="2000" spc="-1" strike="noStrike">
                <a:latin typeface="Arial"/>
              </a:rPr>
              <a:t>ver, if </a:t>
            </a:r>
            <a:r>
              <a:rPr b="0" lang="en-US" sz="2000" spc="-1" strike="noStrike">
                <a:latin typeface="Arial"/>
              </a:rPr>
              <a:t>these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</a:t>
            </a:r>
            <a:r>
              <a:rPr b="0" lang="en-US" sz="2000" spc="-1" strike="noStrike">
                <a:latin typeface="Arial"/>
              </a:rPr>
              <a:t>corre</a:t>
            </a:r>
            <a:r>
              <a:rPr b="0" lang="en-US" sz="2000" spc="-1" strike="noStrike">
                <a:latin typeface="Arial"/>
              </a:rPr>
              <a:t>spon</a:t>
            </a:r>
            <a:r>
              <a:rPr b="0" lang="en-US" sz="2000" spc="-1" strike="noStrike">
                <a:latin typeface="Arial"/>
              </a:rPr>
              <a:t>ded </a:t>
            </a:r>
            <a:r>
              <a:rPr b="0" lang="en-US" sz="2000" spc="-1" strike="noStrike">
                <a:latin typeface="Arial"/>
              </a:rPr>
              <a:t>direct</a:t>
            </a:r>
            <a:r>
              <a:rPr b="0" lang="en-US" sz="2000" spc="-1" strike="noStrike">
                <a:latin typeface="Arial"/>
              </a:rPr>
              <a:t>ly to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Pears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coeffi</a:t>
            </a:r>
            <a:r>
              <a:rPr b="0" lang="en-US" sz="2000" spc="-1" strike="noStrike">
                <a:latin typeface="Arial"/>
              </a:rPr>
              <a:t>cient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stand</a:t>
            </a:r>
            <a:r>
              <a:rPr b="0" lang="en-US" sz="2000" spc="-1" strike="noStrike">
                <a:latin typeface="Arial"/>
              </a:rPr>
              <a:t>ardiz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. 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8C8731-6809-4CE6-89D0-558F0496F006}" type="slidenum">
              <a:rPr b="0" lang="en-US" sz="1200" spc="-1" strike="noStrike">
                <a:latin typeface="Times New Roman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We see </a:t>
            </a:r>
            <a:r>
              <a:rPr b="0" lang="en-US" sz="2000" spc="-1" strike="noStrike">
                <a:latin typeface="Arial"/>
              </a:rPr>
              <a:t>how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can </a:t>
            </a:r>
            <a:r>
              <a:rPr b="0" lang="en-US" sz="2000" spc="-1" strike="noStrike">
                <a:latin typeface="Arial"/>
              </a:rPr>
              <a:t>conv</a:t>
            </a:r>
            <a:r>
              <a:rPr b="0" lang="en-US" sz="2000" spc="-1" strike="noStrike">
                <a:latin typeface="Arial"/>
              </a:rPr>
              <a:t>ert </a:t>
            </a:r>
            <a:r>
              <a:rPr b="0" lang="en-US" sz="2000" spc="-1" strike="noStrike">
                <a:latin typeface="Arial"/>
              </a:rPr>
              <a:t>these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to </a:t>
            </a:r>
            <a:r>
              <a:rPr b="0" lang="en-US" sz="2000" spc="-1" strike="noStrike">
                <a:latin typeface="Arial"/>
              </a:rPr>
              <a:t>repre</a:t>
            </a:r>
            <a:r>
              <a:rPr b="0" lang="en-US" sz="2000" spc="-1" strike="noStrike">
                <a:latin typeface="Arial"/>
              </a:rPr>
              <a:t>sent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coeffi</a:t>
            </a:r>
            <a:r>
              <a:rPr b="0" lang="en-US" sz="2000" spc="-1" strike="noStrike">
                <a:latin typeface="Arial"/>
              </a:rPr>
              <a:t>cient</a:t>
            </a:r>
            <a:r>
              <a:rPr b="0" lang="en-US" sz="2000" spc="-1" strike="noStrike">
                <a:latin typeface="Arial"/>
              </a:rPr>
              <a:t>s. In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previ</a:t>
            </a:r>
            <a:r>
              <a:rPr b="0" lang="en-US" sz="2000" spc="-1" strike="noStrike">
                <a:latin typeface="Arial"/>
              </a:rPr>
              <a:t>ous </a:t>
            </a:r>
            <a:r>
              <a:rPr b="0" lang="en-US" sz="2000" spc="-1" strike="noStrike">
                <a:latin typeface="Arial"/>
              </a:rPr>
              <a:t>calcul</a:t>
            </a:r>
            <a:r>
              <a:rPr b="0" lang="en-US" sz="2000" spc="-1" strike="noStrike">
                <a:latin typeface="Arial"/>
              </a:rPr>
              <a:t>ation,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</a:t>
            </a:r>
            <a:r>
              <a:rPr b="0" lang="en-US" sz="2000" spc="-1" strike="noStrike">
                <a:latin typeface="Arial"/>
              </a:rPr>
              <a:t>have </a:t>
            </a:r>
            <a:r>
              <a:rPr b="0" lang="en-US" sz="2000" spc="-1" strike="noStrike">
                <a:latin typeface="Arial"/>
              </a:rPr>
              <a:t>been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uted </a:t>
            </a:r>
            <a:r>
              <a:rPr b="0" lang="en-US" sz="2000" spc="-1" strike="noStrike">
                <a:latin typeface="Arial"/>
              </a:rPr>
              <a:t>base</a:t>
            </a:r>
            <a:r>
              <a:rPr b="0" lang="en-US" sz="2000" spc="-1" strike="noStrike">
                <a:latin typeface="Arial"/>
              </a:rPr>
              <a:t>d on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const</a:t>
            </a:r>
            <a:r>
              <a:rPr b="0" lang="en-US" sz="2000" spc="-1" strike="noStrike">
                <a:latin typeface="Arial"/>
              </a:rPr>
              <a:t>raint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sum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squar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</a:t>
            </a:r>
            <a:r>
              <a:rPr b="0" lang="en-US" sz="2000" spc="-1" strike="noStrike">
                <a:latin typeface="Arial"/>
              </a:rPr>
              <a:t>shoul</a:t>
            </a:r>
            <a:r>
              <a:rPr b="0" lang="en-US" sz="2000" spc="-1" strike="noStrike">
                <a:latin typeface="Arial"/>
              </a:rPr>
              <a:t>d be </a:t>
            </a:r>
            <a:r>
              <a:rPr b="0" lang="en-US" sz="2000" spc="-1" strike="noStrike">
                <a:latin typeface="Arial"/>
              </a:rPr>
              <a:t>equal </a:t>
            </a:r>
            <a:r>
              <a:rPr b="0" lang="en-US" sz="2000" spc="-1" strike="noStrike">
                <a:latin typeface="Arial"/>
              </a:rPr>
              <a:t>to 1. </a:t>
            </a:r>
            <a:r>
              <a:rPr b="0" lang="en-US" sz="2000" spc="-1" strike="noStrike">
                <a:latin typeface="Arial"/>
              </a:rPr>
              <a:t>In our </a:t>
            </a:r>
            <a:r>
              <a:rPr b="0" lang="en-US" sz="2000" spc="-1" strike="noStrike">
                <a:latin typeface="Arial"/>
              </a:rPr>
              <a:t>exam</a:t>
            </a:r>
            <a:r>
              <a:rPr b="0" lang="en-US" sz="2000" spc="-1" strike="noStrike">
                <a:latin typeface="Arial"/>
              </a:rPr>
              <a:t>ple,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mean</a:t>
            </a:r>
            <a:r>
              <a:rPr b="0" lang="en-US" sz="2000" spc="-1" strike="noStrike">
                <a:latin typeface="Arial"/>
              </a:rPr>
              <a:t>s that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sum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four </a:t>
            </a:r>
            <a:r>
              <a:rPr b="0" lang="en-US" sz="2000" spc="-1" strike="noStrike">
                <a:latin typeface="Arial"/>
              </a:rPr>
              <a:t>squar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</a:t>
            </a:r>
            <a:r>
              <a:rPr b="0" lang="en-US" sz="2000" spc="-1" strike="noStrike">
                <a:latin typeface="Arial"/>
              </a:rPr>
              <a:t>shoul</a:t>
            </a:r>
            <a:r>
              <a:rPr b="0" lang="en-US" sz="2000" spc="-1" strike="noStrike">
                <a:latin typeface="Arial"/>
              </a:rPr>
              <a:t>d be </a:t>
            </a:r>
            <a:r>
              <a:rPr b="0" lang="en-US" sz="2000" spc="-1" strike="noStrike">
                <a:latin typeface="Arial"/>
              </a:rPr>
              <a:t>equal </a:t>
            </a:r>
            <a:r>
              <a:rPr b="0" lang="en-US" sz="2000" spc="-1" strike="noStrike">
                <a:latin typeface="Arial"/>
              </a:rPr>
              <a:t>to 1. </a:t>
            </a:r>
            <a:r>
              <a:rPr b="0" lang="en-US" sz="2000" spc="-1" strike="noStrike">
                <a:latin typeface="Arial"/>
              </a:rPr>
              <a:t>If we </a:t>
            </a:r>
            <a:r>
              <a:rPr b="0" lang="en-US" sz="2000" spc="-1" strike="noStrike">
                <a:latin typeface="Arial"/>
              </a:rPr>
              <a:t>sum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squar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, that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equal </a:t>
            </a:r>
            <a:r>
              <a:rPr b="0" lang="en-US" sz="2000" spc="-1" strike="noStrike">
                <a:latin typeface="Arial"/>
              </a:rPr>
              <a:t>to 1.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8208EDF-D148-48D5-8310-20EB501315CB}" type="slidenum">
              <a:rPr b="0" lang="en-US" sz="1200" spc="-1" strike="noStrike">
                <a:latin typeface="Times New Roman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Howev</a:t>
            </a:r>
            <a:r>
              <a:rPr b="0" lang="en-US" sz="2000" spc="-1" strike="noStrike">
                <a:latin typeface="Arial"/>
              </a:rPr>
              <a:t>er,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can </a:t>
            </a:r>
            <a:r>
              <a:rPr b="0" lang="en-US" sz="2000" spc="-1" strike="noStrike">
                <a:latin typeface="Arial"/>
              </a:rPr>
              <a:t>use </a:t>
            </a:r>
            <a:r>
              <a:rPr b="0" lang="en-US" sz="2000" spc="-1" strike="noStrike">
                <a:latin typeface="Arial"/>
              </a:rPr>
              <a:t>anoth</a:t>
            </a:r>
            <a:r>
              <a:rPr b="0" lang="en-US" sz="2000" spc="-1" strike="noStrike">
                <a:latin typeface="Arial"/>
              </a:rPr>
              <a:t>er </a:t>
            </a:r>
            <a:r>
              <a:rPr b="0" lang="en-US" sz="2000" spc="-1" strike="noStrike">
                <a:latin typeface="Arial"/>
              </a:rPr>
              <a:t>const</a:t>
            </a:r>
            <a:r>
              <a:rPr b="0" lang="en-US" sz="2000" spc="-1" strike="noStrike">
                <a:latin typeface="Arial"/>
              </a:rPr>
              <a:t>raint, </a:t>
            </a:r>
            <a:r>
              <a:rPr b="0" lang="en-US" sz="2000" spc="-1" strike="noStrike">
                <a:latin typeface="Arial"/>
              </a:rPr>
              <a:t>wher</a:t>
            </a:r>
            <a:r>
              <a:rPr b="0" lang="en-US" sz="2000" spc="-1" strike="noStrike">
                <a:latin typeface="Arial"/>
              </a:rPr>
              <a:t>e the </a:t>
            </a:r>
            <a:r>
              <a:rPr b="0" lang="en-US" sz="2000" spc="-1" strike="noStrike">
                <a:latin typeface="Arial"/>
              </a:rPr>
              <a:t>sum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squar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</a:t>
            </a:r>
            <a:r>
              <a:rPr b="0" lang="en-US" sz="2000" spc="-1" strike="noStrike">
                <a:latin typeface="Arial"/>
              </a:rPr>
              <a:t>shoul</a:t>
            </a:r>
            <a:r>
              <a:rPr b="0" lang="en-US" sz="2000" spc="-1" strike="noStrike">
                <a:latin typeface="Arial"/>
              </a:rPr>
              <a:t>d be </a:t>
            </a:r>
            <a:r>
              <a:rPr b="0" lang="en-US" sz="2000" spc="-1" strike="noStrike">
                <a:latin typeface="Arial"/>
              </a:rPr>
              <a:t>equal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(or </a:t>
            </a:r>
            <a:r>
              <a:rPr b="0" lang="en-US" sz="2000" spc="-1" strike="noStrike">
                <a:latin typeface="Arial"/>
              </a:rPr>
              <a:t>eigen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)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corre</a:t>
            </a:r>
            <a:r>
              <a:rPr b="0" lang="en-US" sz="2000" spc="-1" strike="noStrike">
                <a:latin typeface="Arial"/>
              </a:rPr>
              <a:t>spon</a:t>
            </a:r>
            <a:r>
              <a:rPr b="0" lang="en-US" sz="2000" spc="-1" strike="noStrike">
                <a:latin typeface="Arial"/>
              </a:rPr>
              <a:t>ding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. </a:t>
            </a:r>
            <a:endParaRPr b="0" lang="en-CA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exam</a:t>
            </a:r>
            <a:r>
              <a:rPr b="0" lang="en-US" sz="2000" spc="-1" strike="noStrike">
                <a:latin typeface="Arial"/>
              </a:rPr>
              <a:t>ple,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could </a:t>
            </a:r>
            <a:r>
              <a:rPr b="0" lang="en-US" sz="2000" spc="-1" strike="noStrike">
                <a:latin typeface="Arial"/>
              </a:rPr>
              <a:t>scale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for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1 so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sum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squar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is </a:t>
            </a:r>
            <a:r>
              <a:rPr b="0" lang="en-US" sz="2000" spc="-1" strike="noStrike">
                <a:latin typeface="Arial"/>
              </a:rPr>
              <a:t>equal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2.41.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resca</a:t>
            </a:r>
            <a:r>
              <a:rPr b="0" lang="en-US" sz="2000" spc="-1" strike="noStrike">
                <a:latin typeface="Arial"/>
              </a:rPr>
              <a:t>le 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ts,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corre</a:t>
            </a:r>
            <a:r>
              <a:rPr b="0" lang="en-US" sz="2000" spc="-1" strike="noStrike">
                <a:latin typeface="Arial"/>
              </a:rPr>
              <a:t>spon</a:t>
            </a:r>
            <a:r>
              <a:rPr b="0" lang="en-US" sz="2000" spc="-1" strike="noStrike">
                <a:latin typeface="Arial"/>
              </a:rPr>
              <a:t>d to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eigen</a:t>
            </a:r>
            <a:r>
              <a:rPr b="0" lang="en-US" sz="2000" spc="-1" strike="noStrike">
                <a:latin typeface="Arial"/>
              </a:rPr>
              <a:t>vecto</a:t>
            </a:r>
            <a:r>
              <a:rPr b="0" lang="en-US" sz="2000" spc="-1" strike="noStrike">
                <a:latin typeface="Arial"/>
              </a:rPr>
              <a:t>rs,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can </a:t>
            </a:r>
            <a:r>
              <a:rPr b="0" lang="en-US" sz="2000" spc="-1" strike="noStrike">
                <a:latin typeface="Arial"/>
              </a:rPr>
              <a:t>multi</a:t>
            </a:r>
            <a:r>
              <a:rPr b="0" lang="en-US" sz="2000" spc="-1" strike="noStrike">
                <a:latin typeface="Arial"/>
              </a:rPr>
              <a:t>ple </a:t>
            </a:r>
            <a:r>
              <a:rPr b="0" lang="en-US" sz="2000" spc="-1" strike="noStrike">
                <a:latin typeface="Arial"/>
              </a:rPr>
              <a:t>these </a:t>
            </a:r>
            <a:r>
              <a:rPr b="0" lang="en-US" sz="2000" spc="-1" strike="noStrike">
                <a:latin typeface="Arial"/>
              </a:rPr>
              <a:t>by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squar</a:t>
            </a:r>
            <a:r>
              <a:rPr b="0" lang="en-US" sz="2000" spc="-1" strike="noStrike">
                <a:latin typeface="Arial"/>
              </a:rPr>
              <a:t>e root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corre</a:t>
            </a:r>
            <a:r>
              <a:rPr b="0" lang="en-US" sz="2000" spc="-1" strike="noStrike">
                <a:latin typeface="Arial"/>
              </a:rPr>
              <a:t>spon</a:t>
            </a:r>
            <a:r>
              <a:rPr b="0" lang="en-US" sz="2000" spc="-1" strike="noStrike">
                <a:latin typeface="Arial"/>
              </a:rPr>
              <a:t>ding </a:t>
            </a:r>
            <a:r>
              <a:rPr b="0" lang="en-US" sz="2000" spc="-1" strike="noStrike">
                <a:latin typeface="Arial"/>
              </a:rPr>
              <a:t>eigen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Then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get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follow</a:t>
            </a:r>
            <a:r>
              <a:rPr b="0" lang="en-US" sz="2000" spc="-1" strike="noStrike">
                <a:latin typeface="Arial"/>
              </a:rPr>
              <a:t>ing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ts,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called </a:t>
            </a:r>
            <a:r>
              <a:rPr b="0" lang="en-US" sz="2000" spc="-1" strike="noStrike">
                <a:latin typeface="Arial"/>
              </a:rPr>
              <a:t>loadi</a:t>
            </a:r>
            <a:r>
              <a:rPr b="0" lang="en-US" sz="2000" spc="-1" strike="noStrike">
                <a:latin typeface="Arial"/>
              </a:rPr>
              <a:t>ngs.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exam</a:t>
            </a:r>
            <a:r>
              <a:rPr b="0" lang="en-US" sz="2000" spc="-1" strike="noStrike">
                <a:latin typeface="Arial"/>
              </a:rPr>
              <a:t>ple,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loadi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value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calcul</a:t>
            </a:r>
            <a:r>
              <a:rPr b="0" lang="en-US" sz="2000" spc="-1" strike="noStrike">
                <a:latin typeface="Arial"/>
              </a:rPr>
              <a:t>ated </a:t>
            </a:r>
            <a:r>
              <a:rPr b="0" lang="en-US" sz="2000" spc="-1" strike="noStrike">
                <a:latin typeface="Arial"/>
              </a:rPr>
              <a:t>by </a:t>
            </a:r>
            <a:r>
              <a:rPr b="0" lang="en-US" sz="2000" spc="-1" strike="noStrike">
                <a:latin typeface="Arial"/>
              </a:rPr>
              <a:t>multi</a:t>
            </a:r>
            <a:r>
              <a:rPr b="0" lang="en-US" sz="2000" spc="-1" strike="noStrike">
                <a:latin typeface="Arial"/>
              </a:rPr>
              <a:t>plying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value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 by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squar</a:t>
            </a:r>
            <a:r>
              <a:rPr b="0" lang="en-US" sz="2000" spc="-1" strike="noStrike">
                <a:latin typeface="Arial"/>
              </a:rPr>
              <a:t>e root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1. </a:t>
            </a:r>
            <a:r>
              <a:rPr b="0" lang="en-US" sz="2000" spc="-1" strike="noStrike">
                <a:latin typeface="Arial"/>
              </a:rPr>
              <a:t>Note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equal </a:t>
            </a:r>
            <a:r>
              <a:rPr b="0" lang="en-US" sz="2000" spc="-1" strike="noStrike">
                <a:latin typeface="Arial"/>
              </a:rPr>
              <a:t>to the </a:t>
            </a:r>
            <a:r>
              <a:rPr b="0" lang="en-US" sz="2000" spc="-1" strike="noStrike">
                <a:latin typeface="Arial"/>
              </a:rPr>
              <a:t>eigen</a:t>
            </a:r>
            <a:r>
              <a:rPr b="0" lang="en-US" sz="2000" spc="-1" strike="noStrike">
                <a:latin typeface="Arial"/>
              </a:rPr>
              <a:t>value </a:t>
            </a:r>
            <a:r>
              <a:rPr b="0" lang="en-US" sz="2000" spc="-1" strike="noStrike">
                <a:latin typeface="Arial"/>
              </a:rPr>
              <a:t>asso</a:t>
            </a:r>
            <a:r>
              <a:rPr b="0" lang="en-US" sz="2000" spc="-1" strike="noStrike">
                <a:latin typeface="Arial"/>
              </a:rPr>
              <a:t>ciate</a:t>
            </a:r>
            <a:r>
              <a:rPr b="0" lang="en-US" sz="2000" spc="-1" strike="noStrike">
                <a:latin typeface="Arial"/>
              </a:rPr>
              <a:t>d with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eigen</a:t>
            </a:r>
            <a:r>
              <a:rPr b="0" lang="en-US" sz="2000" spc="-1" strike="noStrike">
                <a:latin typeface="Arial"/>
              </a:rPr>
              <a:t>vecto</a:t>
            </a:r>
            <a:r>
              <a:rPr b="0" lang="en-US" sz="2000" spc="-1" strike="noStrike">
                <a:latin typeface="Arial"/>
              </a:rPr>
              <a:t>r. If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sum </a:t>
            </a:r>
            <a:r>
              <a:rPr b="0" lang="en-US" sz="2000" spc="-1" strike="noStrike">
                <a:latin typeface="Arial"/>
              </a:rPr>
              <a:t>these </a:t>
            </a:r>
            <a:r>
              <a:rPr b="0" lang="en-US" sz="2000" spc="-1" strike="noStrike">
                <a:latin typeface="Arial"/>
              </a:rPr>
              <a:t>squar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loadi</a:t>
            </a:r>
            <a:r>
              <a:rPr b="0" lang="en-US" sz="2000" spc="-1" strike="noStrike">
                <a:latin typeface="Arial"/>
              </a:rPr>
              <a:t>ngs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PC1,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will </a:t>
            </a:r>
            <a:r>
              <a:rPr b="0" lang="en-US" sz="2000" spc="-1" strike="noStrike">
                <a:latin typeface="Arial"/>
              </a:rPr>
              <a:t>get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 of </a:t>
            </a:r>
            <a:r>
              <a:rPr b="0" lang="en-US" sz="2000" spc="-1" strike="noStrike">
                <a:latin typeface="Arial"/>
              </a:rPr>
              <a:t>PC1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so </a:t>
            </a:r>
            <a:r>
              <a:rPr b="0" lang="en-US" sz="2000" spc="-1" strike="noStrike">
                <a:latin typeface="Arial"/>
              </a:rPr>
              <a:t>on. 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EB2AC3-6A20-40E8-95CE-FCAF96F40495}" type="slidenum">
              <a:rPr b="0" lang="en-US" sz="1200" spc="-1" strike="noStrike">
                <a:latin typeface="Times New Roman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These </a:t>
            </a:r>
            <a:r>
              <a:rPr b="0" lang="en-US" sz="2000" spc="-1" strike="noStrike">
                <a:latin typeface="Arial"/>
              </a:rPr>
              <a:t>loadi</a:t>
            </a:r>
            <a:r>
              <a:rPr b="0" lang="en-US" sz="2000" spc="-1" strike="noStrike">
                <a:latin typeface="Arial"/>
              </a:rPr>
              <a:t>ngs </a:t>
            </a:r>
            <a:r>
              <a:rPr b="0" lang="en-US" sz="2000" spc="-1" strike="noStrike">
                <a:latin typeface="Arial"/>
              </a:rPr>
              <a:t>corre</a:t>
            </a:r>
            <a:r>
              <a:rPr b="0" lang="en-US" sz="2000" spc="-1" strike="noStrike">
                <a:latin typeface="Arial"/>
              </a:rPr>
              <a:t>spon</a:t>
            </a:r>
            <a:r>
              <a:rPr b="0" lang="en-US" sz="2000" spc="-1" strike="noStrike">
                <a:latin typeface="Arial"/>
              </a:rPr>
              <a:t>d to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Pears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coeffi</a:t>
            </a:r>
            <a:r>
              <a:rPr b="0" lang="en-US" sz="2000" spc="-1" strike="noStrike">
                <a:latin typeface="Arial"/>
              </a:rPr>
              <a:t>cient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origin</a:t>
            </a:r>
            <a:r>
              <a:rPr b="0" lang="en-US" sz="2000" spc="-1" strike="noStrike">
                <a:latin typeface="Arial"/>
              </a:rPr>
              <a:t>al </a:t>
            </a:r>
            <a:r>
              <a:rPr b="0" lang="en-US" sz="2000" spc="-1" strike="noStrike">
                <a:latin typeface="Arial"/>
              </a:rPr>
              <a:t>data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when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PCA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base</a:t>
            </a:r>
            <a:r>
              <a:rPr b="0" lang="en-US" sz="2000" spc="-1" strike="noStrike">
                <a:latin typeface="Arial"/>
              </a:rPr>
              <a:t>d on </a:t>
            </a:r>
            <a:r>
              <a:rPr b="0" lang="en-US" sz="2000" spc="-1" strike="noStrike">
                <a:latin typeface="Arial"/>
              </a:rPr>
              <a:t>stand</a:t>
            </a:r>
            <a:r>
              <a:rPr b="0" lang="en-US" sz="2000" spc="-1" strike="noStrike">
                <a:latin typeface="Arial"/>
              </a:rPr>
              <a:t>ardiz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data.</a:t>
            </a:r>
            <a:endParaRPr b="0" lang="en-CA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exam</a:t>
            </a:r>
            <a:r>
              <a:rPr b="0" lang="en-US" sz="2000" spc="-1" strike="noStrike">
                <a:latin typeface="Arial"/>
              </a:rPr>
              <a:t>ple, if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creat</a:t>
            </a:r>
            <a:r>
              <a:rPr b="0" lang="en-US" sz="2000" spc="-1" strike="noStrike">
                <a:latin typeface="Arial"/>
              </a:rPr>
              <a:t>e a </a:t>
            </a:r>
            <a:r>
              <a:rPr b="0" lang="en-US" sz="2000" spc="-1" strike="noStrike">
                <a:latin typeface="Arial"/>
              </a:rPr>
              <a:t>scatt</a:t>
            </a:r>
            <a:r>
              <a:rPr b="0" lang="en-US" sz="2000" spc="-1" strike="noStrike">
                <a:latin typeface="Arial"/>
              </a:rPr>
              <a:t>er </a:t>
            </a:r>
            <a:r>
              <a:rPr b="0" lang="en-US" sz="2000" spc="-1" strike="noStrike">
                <a:latin typeface="Arial"/>
              </a:rPr>
              <a:t>plot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stand</a:t>
            </a:r>
            <a:r>
              <a:rPr b="0" lang="en-US" sz="2000" spc="-1" strike="noStrike">
                <a:latin typeface="Arial"/>
              </a:rPr>
              <a:t>ardiz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diast</a:t>
            </a:r>
            <a:r>
              <a:rPr b="0" lang="en-US" sz="2000" spc="-1" strike="noStrike">
                <a:latin typeface="Arial"/>
              </a:rPr>
              <a:t>olic </a:t>
            </a:r>
            <a:r>
              <a:rPr b="0" lang="en-US" sz="2000" spc="-1" strike="noStrike">
                <a:latin typeface="Arial"/>
              </a:rPr>
              <a:t>blood </a:t>
            </a:r>
            <a:r>
              <a:rPr b="0" lang="en-US" sz="2000" spc="-1" strike="noStrike">
                <a:latin typeface="Arial"/>
              </a:rPr>
              <a:t>press</a:t>
            </a:r>
            <a:r>
              <a:rPr b="0" lang="en-US" sz="2000" spc="-1" strike="noStrike">
                <a:latin typeface="Arial"/>
              </a:rPr>
              <a:t>ure 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s 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 of </a:t>
            </a:r>
            <a:r>
              <a:rPr b="0" lang="en-US" sz="2000" spc="-1" strike="noStrike">
                <a:latin typeface="Arial"/>
              </a:rPr>
              <a:t>PC1,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ute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Pears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coeffi</a:t>
            </a:r>
            <a:r>
              <a:rPr b="0" lang="en-US" sz="2000" spc="-1" strike="noStrike">
                <a:latin typeface="Arial"/>
              </a:rPr>
              <a:t>cient,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coeffi</a:t>
            </a:r>
            <a:r>
              <a:rPr b="0" lang="en-US" sz="2000" spc="-1" strike="noStrike">
                <a:latin typeface="Arial"/>
              </a:rPr>
              <a:t>cient </a:t>
            </a:r>
            <a:r>
              <a:rPr b="0" lang="en-US" sz="2000" spc="-1" strike="noStrike">
                <a:latin typeface="Arial"/>
              </a:rPr>
              <a:t>would </a:t>
            </a:r>
            <a:r>
              <a:rPr b="0" lang="en-US" sz="2000" spc="-1" strike="noStrike">
                <a:latin typeface="Arial"/>
              </a:rPr>
              <a:t>be </a:t>
            </a:r>
            <a:r>
              <a:rPr b="0" lang="en-US" sz="2000" spc="-1" strike="noStrike">
                <a:latin typeface="Arial"/>
              </a:rPr>
              <a:t>equal </a:t>
            </a:r>
            <a:r>
              <a:rPr b="0" lang="en-US" sz="2000" spc="-1" strike="noStrike">
                <a:latin typeface="Arial"/>
              </a:rPr>
              <a:t>to -</a:t>
            </a:r>
            <a:r>
              <a:rPr b="0" lang="en-US" sz="2000" spc="-1" strike="noStrike">
                <a:latin typeface="Arial"/>
              </a:rPr>
              <a:t>0.82.</a:t>
            </a:r>
            <a:endParaRPr b="0" lang="en-CA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Note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will </a:t>
            </a:r>
            <a:r>
              <a:rPr b="0" lang="en-US" sz="2000" spc="-1" strike="noStrike">
                <a:latin typeface="Arial"/>
              </a:rPr>
              <a:t>get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same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unsta</a:t>
            </a:r>
            <a:r>
              <a:rPr b="0" lang="en-US" sz="2000" spc="-1" strike="noStrike">
                <a:latin typeface="Arial"/>
              </a:rPr>
              <a:t>ndard</a:t>
            </a:r>
            <a:r>
              <a:rPr b="0" lang="en-US" sz="2000" spc="-1" strike="noStrike">
                <a:latin typeface="Arial"/>
              </a:rPr>
              <a:t>ized </a:t>
            </a:r>
            <a:r>
              <a:rPr b="0" lang="en-US" sz="2000" spc="-1" strike="noStrike">
                <a:latin typeface="Arial"/>
              </a:rPr>
              <a:t>data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PC1 </a:t>
            </a:r>
            <a:r>
              <a:rPr b="0" lang="en-US" sz="2000" spc="-1" strike="noStrike">
                <a:latin typeface="Arial"/>
              </a:rPr>
              <a:t>beca</a:t>
            </a:r>
            <a:r>
              <a:rPr b="0" lang="en-US" sz="2000" spc="-1" strike="noStrike">
                <a:latin typeface="Arial"/>
              </a:rPr>
              <a:t>use </a:t>
            </a:r>
            <a:r>
              <a:rPr b="0" lang="en-US" sz="2000" spc="-1" strike="noStrike">
                <a:latin typeface="Arial"/>
              </a:rPr>
              <a:t>stand</a:t>
            </a:r>
            <a:r>
              <a:rPr b="0" lang="en-US" sz="2000" spc="-1" strike="noStrike">
                <a:latin typeface="Arial"/>
              </a:rPr>
              <a:t>ardizi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does </a:t>
            </a:r>
            <a:r>
              <a:rPr b="0" lang="en-US" sz="2000" spc="-1" strike="noStrike">
                <a:latin typeface="Arial"/>
              </a:rPr>
              <a:t>not </a:t>
            </a:r>
            <a:r>
              <a:rPr b="0" lang="en-US" sz="2000" spc="-1" strike="noStrike">
                <a:latin typeface="Arial"/>
              </a:rPr>
              <a:t>affect </a:t>
            </a:r>
            <a:r>
              <a:rPr b="0" lang="en-US" sz="2000" spc="-1" strike="noStrike">
                <a:latin typeface="Arial"/>
              </a:rPr>
              <a:t>their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ation.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helps </a:t>
            </a:r>
            <a:r>
              <a:rPr b="0" lang="en-US" sz="2000" spc="-1" strike="noStrike">
                <a:latin typeface="Arial"/>
              </a:rPr>
              <a:t>us to </a:t>
            </a:r>
            <a:r>
              <a:rPr b="0" lang="en-US" sz="2000" spc="-1" strike="noStrike">
                <a:latin typeface="Arial"/>
              </a:rPr>
              <a:t>interp</a:t>
            </a:r>
            <a:r>
              <a:rPr b="0" lang="en-US" sz="2000" spc="-1" strike="noStrike">
                <a:latin typeface="Arial"/>
              </a:rPr>
              <a:t>ret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</a:t>
            </a:r>
            <a:r>
              <a:rPr b="0" lang="en-US" sz="2000" spc="-1" strike="noStrike">
                <a:latin typeface="Arial"/>
              </a:rPr>
              <a:t>beca</a:t>
            </a:r>
            <a:r>
              <a:rPr b="0" lang="en-US" sz="2000" spc="-1" strike="noStrike">
                <a:latin typeface="Arial"/>
              </a:rPr>
              <a:t>use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</a:t>
            </a:r>
            <a:r>
              <a:rPr b="0" lang="en-US" sz="2000" spc="-1" strike="noStrike">
                <a:latin typeface="Arial"/>
              </a:rPr>
              <a:t>repre</a:t>
            </a:r>
            <a:r>
              <a:rPr b="0" lang="en-US" sz="2000" spc="-1" strike="noStrike">
                <a:latin typeface="Arial"/>
              </a:rPr>
              <a:t>sent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origin</a:t>
            </a:r>
            <a:r>
              <a:rPr b="0" lang="en-US" sz="2000" spc="-1" strike="noStrike">
                <a:latin typeface="Arial"/>
              </a:rPr>
              <a:t>al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s.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D947D3-FF99-4AFB-AEB3-1334800ADF5A}" type="slidenum">
              <a:rPr b="0" lang="en-US" sz="1200" spc="-1" strike="noStrike">
                <a:latin typeface="Times New Roman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Varima</a:t>
            </a:r>
            <a:r>
              <a:rPr b="0" lang="en-US" sz="2000" spc="-1" strike="noStrike">
                <a:latin typeface="Arial"/>
              </a:rPr>
              <a:t>x </a:t>
            </a:r>
            <a:r>
              <a:rPr b="0" lang="en-US" sz="2000" spc="-1" strike="noStrike">
                <a:latin typeface="Arial"/>
              </a:rPr>
              <a:t>rotati</a:t>
            </a:r>
            <a:r>
              <a:rPr b="0" lang="en-US" sz="2000" spc="-1" strike="noStrike">
                <a:latin typeface="Arial"/>
              </a:rPr>
              <a:t>on is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meth</a:t>
            </a:r>
            <a:r>
              <a:rPr b="0" lang="en-US" sz="2000" spc="-1" strike="noStrike">
                <a:latin typeface="Arial"/>
              </a:rPr>
              <a:t>od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incre</a:t>
            </a:r>
            <a:r>
              <a:rPr b="0" lang="en-US" sz="2000" spc="-1" strike="noStrike">
                <a:latin typeface="Arial"/>
              </a:rPr>
              <a:t>ases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interp</a:t>
            </a:r>
            <a:r>
              <a:rPr b="0" lang="en-US" sz="2000" spc="-1" strike="noStrike">
                <a:latin typeface="Arial"/>
              </a:rPr>
              <a:t>retati</a:t>
            </a:r>
            <a:r>
              <a:rPr b="0" lang="en-US" sz="2000" spc="-1" strike="noStrike">
                <a:latin typeface="Arial"/>
              </a:rPr>
              <a:t>on of </a:t>
            </a:r>
            <a:r>
              <a:rPr b="0" lang="en-US" sz="2000" spc="-1" strike="noStrike">
                <a:latin typeface="Arial"/>
              </a:rPr>
              <a:t>our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or </a:t>
            </a:r>
            <a:r>
              <a:rPr b="0" lang="en-US" sz="2000" spc="-1" strike="noStrike">
                <a:latin typeface="Arial"/>
              </a:rPr>
              <a:t>loadi</a:t>
            </a:r>
            <a:r>
              <a:rPr b="0" lang="en-US" sz="2000" spc="-1" strike="noStrike">
                <a:latin typeface="Arial"/>
              </a:rPr>
              <a:t>ngs. </a:t>
            </a:r>
            <a:r>
              <a:rPr b="0" lang="en-US" sz="2000" spc="-1" strike="noStrike">
                <a:latin typeface="Arial"/>
              </a:rPr>
              <a:t>One </a:t>
            </a:r>
            <a:r>
              <a:rPr b="0" lang="en-US" sz="2000" spc="-1" strike="noStrike">
                <a:latin typeface="Arial"/>
              </a:rPr>
              <a:t>aim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PCA </a:t>
            </a:r>
            <a:r>
              <a:rPr b="0" lang="en-US" sz="2000" spc="-1" strike="noStrike">
                <a:latin typeface="Arial"/>
              </a:rPr>
              <a:t>is to </a:t>
            </a:r>
            <a:r>
              <a:rPr b="0" lang="en-US" sz="2000" spc="-1" strike="noStrike">
                <a:latin typeface="Arial"/>
              </a:rPr>
              <a:t>study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asso</a:t>
            </a:r>
            <a:r>
              <a:rPr b="0" lang="en-US" sz="2000" spc="-1" strike="noStrike">
                <a:latin typeface="Arial"/>
              </a:rPr>
              <a:t>ciate</a:t>
            </a:r>
            <a:r>
              <a:rPr b="0" lang="en-US" sz="2000" spc="-1" strike="noStrike">
                <a:latin typeface="Arial"/>
              </a:rPr>
              <a:t>d to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. If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study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absol</a:t>
            </a:r>
            <a:r>
              <a:rPr b="0" lang="en-US" sz="2000" spc="-1" strike="noStrike">
                <a:latin typeface="Arial"/>
              </a:rPr>
              <a:t>ute 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s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for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, we </a:t>
            </a:r>
            <a:r>
              <a:rPr b="0" lang="en-US" sz="2000" spc="-1" strike="noStrike">
                <a:latin typeface="Arial"/>
              </a:rPr>
              <a:t>see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all </a:t>
            </a:r>
            <a:r>
              <a:rPr b="0" lang="en-US" sz="2000" spc="-1" strike="noStrike">
                <a:latin typeface="Arial"/>
              </a:rPr>
              <a:t>absol</a:t>
            </a:r>
            <a:r>
              <a:rPr b="0" lang="en-US" sz="2000" spc="-1" strike="noStrike">
                <a:latin typeface="Arial"/>
              </a:rPr>
              <a:t>ute 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s are </a:t>
            </a:r>
            <a:r>
              <a:rPr b="0" lang="en-US" sz="2000" spc="-1" strike="noStrike">
                <a:latin typeface="Arial"/>
              </a:rPr>
              <a:t>aroun</a:t>
            </a:r>
            <a:r>
              <a:rPr b="0" lang="en-US" sz="2000" spc="-1" strike="noStrike">
                <a:latin typeface="Arial"/>
              </a:rPr>
              <a:t>d 0.5.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same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also </a:t>
            </a:r>
            <a:r>
              <a:rPr b="0" lang="en-US" sz="2000" spc="-1" strike="noStrike">
                <a:latin typeface="Arial"/>
              </a:rPr>
              <a:t>true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</a:t>
            </a:r>
            <a:r>
              <a:rPr b="0" lang="en-US" sz="2000" spc="-1" strike="noStrike">
                <a:latin typeface="Arial"/>
              </a:rPr>
              <a:t>asso</a:t>
            </a:r>
            <a:r>
              <a:rPr b="0" lang="en-US" sz="2000" spc="-1" strike="noStrike">
                <a:latin typeface="Arial"/>
              </a:rPr>
              <a:t>ciate</a:t>
            </a:r>
            <a:r>
              <a:rPr b="0" lang="en-US" sz="2000" spc="-1" strike="noStrike">
                <a:latin typeface="Arial"/>
              </a:rPr>
              <a:t>d with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seco</a:t>
            </a:r>
            <a:r>
              <a:rPr b="0" lang="en-US" sz="2000" spc="-1" strike="noStrike">
                <a:latin typeface="Arial"/>
              </a:rPr>
              <a:t>nd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. By </a:t>
            </a:r>
            <a:r>
              <a:rPr b="0" lang="en-US" sz="2000" spc="-1" strike="noStrike">
                <a:latin typeface="Arial"/>
              </a:rPr>
              <a:t>using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absol</a:t>
            </a:r>
            <a:r>
              <a:rPr b="0" lang="en-US" sz="2000" spc="-1" strike="noStrike">
                <a:latin typeface="Arial"/>
              </a:rPr>
              <a:t>ute 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s, it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impo</a:t>
            </a:r>
            <a:r>
              <a:rPr b="0" lang="en-US" sz="2000" spc="-1" strike="noStrike">
                <a:latin typeface="Arial"/>
              </a:rPr>
              <a:t>ssible </a:t>
            </a:r>
            <a:r>
              <a:rPr b="0" lang="en-US" sz="2000" spc="-1" strike="noStrike">
                <a:latin typeface="Arial"/>
              </a:rPr>
              <a:t>to tell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asso</a:t>
            </a:r>
            <a:r>
              <a:rPr b="0" lang="en-US" sz="2000" spc="-1" strike="noStrike">
                <a:latin typeface="Arial"/>
              </a:rPr>
              <a:t>ciate</a:t>
            </a:r>
            <a:r>
              <a:rPr b="0" lang="en-US" sz="2000" spc="-1" strike="noStrike">
                <a:latin typeface="Arial"/>
              </a:rPr>
              <a:t>d to </a:t>
            </a:r>
            <a:r>
              <a:rPr b="0" lang="en-US" sz="2000" spc="-1" strike="noStrike">
                <a:latin typeface="Arial"/>
              </a:rPr>
              <a:t>PC1 </a:t>
            </a:r>
            <a:r>
              <a:rPr b="0" lang="en-US" sz="2000" spc="-1" strike="noStrike">
                <a:latin typeface="Arial"/>
              </a:rPr>
              <a:t>or </a:t>
            </a:r>
            <a:r>
              <a:rPr b="0" lang="en-US" sz="2000" spc="-1" strike="noStrike">
                <a:latin typeface="Arial"/>
              </a:rPr>
              <a:t>PC2.</a:t>
            </a:r>
            <a:endParaRPr b="0" lang="en-CA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have </a:t>
            </a:r>
            <a:r>
              <a:rPr b="0" lang="en-US" sz="2000" spc="-1" strike="noStrike">
                <a:latin typeface="Arial"/>
              </a:rPr>
              <a:t>seen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PCA </a:t>
            </a:r>
            <a:r>
              <a:rPr b="0" lang="en-US" sz="2000" spc="-1" strike="noStrike">
                <a:latin typeface="Arial"/>
              </a:rPr>
              <a:t>comb</a:t>
            </a:r>
            <a:r>
              <a:rPr b="0" lang="en-US" sz="2000" spc="-1" strike="noStrike">
                <a:latin typeface="Arial"/>
              </a:rPr>
              <a:t>ines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in a </a:t>
            </a:r>
            <a:r>
              <a:rPr b="0" lang="en-US" sz="2000" spc="-1" strike="noStrike">
                <a:latin typeface="Arial"/>
              </a:rPr>
              <a:t>way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maxi</a:t>
            </a:r>
            <a:r>
              <a:rPr b="0" lang="en-US" sz="2000" spc="-1" strike="noStrike">
                <a:latin typeface="Arial"/>
              </a:rPr>
              <a:t>mizes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good </a:t>
            </a:r>
            <a:r>
              <a:rPr b="0" lang="en-US" sz="2000" spc="-1" strike="noStrike">
                <a:latin typeface="Arial"/>
              </a:rPr>
              <a:t>when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like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reduc</a:t>
            </a:r>
            <a:r>
              <a:rPr b="0" lang="en-US" sz="2000" spc="-1" strike="noStrike">
                <a:latin typeface="Arial"/>
              </a:rPr>
              <a:t>e the </a:t>
            </a:r>
            <a:r>
              <a:rPr b="0" lang="en-US" sz="2000" spc="-1" strike="noStrike">
                <a:latin typeface="Arial"/>
              </a:rPr>
              <a:t>dime</a:t>
            </a:r>
            <a:r>
              <a:rPr b="0" lang="en-US" sz="2000" spc="-1" strike="noStrike">
                <a:latin typeface="Arial"/>
              </a:rPr>
              <a:t>nsion</a:t>
            </a:r>
            <a:r>
              <a:rPr b="0" lang="en-US" sz="2000" spc="-1" strike="noStrike">
                <a:latin typeface="Arial"/>
              </a:rPr>
              <a:t>s, but </a:t>
            </a:r>
            <a:r>
              <a:rPr b="0" lang="en-US" sz="2000" spc="-1" strike="noStrike">
                <a:latin typeface="Arial"/>
              </a:rPr>
              <a:t>bad if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like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interp</a:t>
            </a:r>
            <a:r>
              <a:rPr b="0" lang="en-US" sz="2000" spc="-1" strike="noStrike">
                <a:latin typeface="Arial"/>
              </a:rPr>
              <a:t>ret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s. </a:t>
            </a:r>
            <a:r>
              <a:rPr b="0" lang="en-US" sz="2000" spc="-1" strike="noStrike">
                <a:latin typeface="Arial"/>
              </a:rPr>
              <a:t>Once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have </a:t>
            </a:r>
            <a:r>
              <a:rPr b="0" lang="en-US" sz="2000" spc="-1" strike="noStrike">
                <a:latin typeface="Arial"/>
              </a:rPr>
              <a:t>identi</a:t>
            </a:r>
            <a:r>
              <a:rPr b="0" lang="en-US" sz="2000" spc="-1" strike="noStrike">
                <a:latin typeface="Arial"/>
              </a:rPr>
              <a:t>fied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numb</a:t>
            </a:r>
            <a:r>
              <a:rPr b="0" lang="en-US" sz="2000" spc="-1" strike="noStrike">
                <a:latin typeface="Arial"/>
              </a:rPr>
              <a:t>er of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s to </a:t>
            </a:r>
            <a:r>
              <a:rPr b="0" lang="en-US" sz="2000" spc="-1" strike="noStrike">
                <a:latin typeface="Arial"/>
              </a:rPr>
              <a:t>extra</a:t>
            </a:r>
            <a:r>
              <a:rPr b="0" lang="en-US" sz="2000" spc="-1" strike="noStrike">
                <a:latin typeface="Arial"/>
              </a:rPr>
              <a:t>ct,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can </a:t>
            </a:r>
            <a:r>
              <a:rPr b="0" lang="en-US" sz="2000" spc="-1" strike="noStrike">
                <a:latin typeface="Arial"/>
              </a:rPr>
              <a:t>rotate </a:t>
            </a:r>
            <a:r>
              <a:rPr b="0" lang="en-US" sz="2000" spc="-1" strike="noStrike">
                <a:latin typeface="Arial"/>
              </a:rPr>
              <a:t>them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better </a:t>
            </a:r>
            <a:r>
              <a:rPr b="0" lang="en-US" sz="2000" spc="-1" strike="noStrike">
                <a:latin typeface="Arial"/>
              </a:rPr>
              <a:t>under</a:t>
            </a:r>
            <a:r>
              <a:rPr b="0" lang="en-US" sz="2000" spc="-1" strike="noStrike">
                <a:latin typeface="Arial"/>
              </a:rPr>
              <a:t>stand </a:t>
            </a:r>
            <a:r>
              <a:rPr b="0" lang="en-US" sz="2000" spc="-1" strike="noStrike">
                <a:latin typeface="Arial"/>
              </a:rPr>
              <a:t>what </a:t>
            </a:r>
            <a:r>
              <a:rPr b="0" lang="en-US" sz="2000" spc="-1" strike="noStrike">
                <a:latin typeface="Arial"/>
              </a:rPr>
              <a:t>they </a:t>
            </a:r>
            <a:r>
              <a:rPr b="0" lang="en-US" sz="2000" spc="-1" strike="noStrike">
                <a:latin typeface="Arial"/>
              </a:rPr>
              <a:t>prese</a:t>
            </a:r>
            <a:r>
              <a:rPr b="0" lang="en-US" sz="2000" spc="-1" strike="noStrike">
                <a:latin typeface="Arial"/>
              </a:rPr>
              <a:t>nt.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exam</a:t>
            </a:r>
            <a:r>
              <a:rPr b="0" lang="en-US" sz="2000" spc="-1" strike="noStrike">
                <a:latin typeface="Arial"/>
              </a:rPr>
              <a:t>ple,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use </a:t>
            </a:r>
            <a:r>
              <a:rPr b="0" lang="en-US" sz="2000" spc="-1" strike="noStrike">
                <a:latin typeface="Arial"/>
              </a:rPr>
              <a:t>Varim</a:t>
            </a:r>
            <a:r>
              <a:rPr b="0" lang="en-US" sz="2000" spc="-1" strike="noStrike">
                <a:latin typeface="Arial"/>
              </a:rPr>
              <a:t>ax </a:t>
            </a:r>
            <a:r>
              <a:rPr b="0" lang="en-US" sz="2000" spc="-1" strike="noStrike">
                <a:latin typeface="Arial"/>
              </a:rPr>
              <a:t>rotati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only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s. </a:t>
            </a:r>
            <a:r>
              <a:rPr b="0" lang="en-US" sz="2000" spc="-1" strike="noStrike">
                <a:latin typeface="Arial"/>
              </a:rPr>
              <a:t>One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mon </a:t>
            </a:r>
            <a:r>
              <a:rPr b="0" lang="en-US" sz="2000" spc="-1" strike="noStrike">
                <a:latin typeface="Arial"/>
              </a:rPr>
              <a:t>rotati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meth</a:t>
            </a:r>
            <a:r>
              <a:rPr b="0" lang="en-US" sz="2000" spc="-1" strike="noStrike">
                <a:latin typeface="Arial"/>
              </a:rPr>
              <a:t>od to </a:t>
            </a:r>
            <a:r>
              <a:rPr b="0" lang="en-US" sz="2000" spc="-1" strike="noStrike">
                <a:latin typeface="Arial"/>
              </a:rPr>
              <a:t>use </a:t>
            </a:r>
            <a:r>
              <a:rPr b="0" lang="en-US" sz="2000" spc="-1" strike="noStrike">
                <a:latin typeface="Arial"/>
              </a:rPr>
              <a:t>in </a:t>
            </a:r>
            <a:r>
              <a:rPr b="0" lang="en-US" sz="2000" spc="-1" strike="noStrike">
                <a:latin typeface="Arial"/>
              </a:rPr>
              <a:t>order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incre</a:t>
            </a:r>
            <a:r>
              <a:rPr b="0" lang="en-US" sz="2000" spc="-1" strike="noStrike">
                <a:latin typeface="Arial"/>
              </a:rPr>
              <a:t>ase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interp</a:t>
            </a:r>
            <a:r>
              <a:rPr b="0" lang="en-US" sz="2000" spc="-1" strike="noStrike">
                <a:latin typeface="Arial"/>
              </a:rPr>
              <a:t>retati</a:t>
            </a:r>
            <a:r>
              <a:rPr b="0" lang="en-US" sz="2000" spc="-1" strike="noStrike">
                <a:latin typeface="Arial"/>
              </a:rPr>
              <a:t>on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is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use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so-</a:t>
            </a:r>
            <a:r>
              <a:rPr b="0" lang="en-US" sz="2000" spc="-1" strike="noStrike">
                <a:latin typeface="Arial"/>
              </a:rPr>
              <a:t>called </a:t>
            </a:r>
            <a:r>
              <a:rPr b="0" lang="en-US" sz="2000" spc="-1" strike="noStrike">
                <a:latin typeface="Arial"/>
              </a:rPr>
              <a:t>Varim</a:t>
            </a:r>
            <a:r>
              <a:rPr b="0" lang="en-US" sz="2000" spc="-1" strike="noStrike">
                <a:latin typeface="Arial"/>
              </a:rPr>
              <a:t>ax </a:t>
            </a:r>
            <a:r>
              <a:rPr b="0" lang="en-US" sz="2000" spc="-1" strike="noStrike">
                <a:latin typeface="Arial"/>
              </a:rPr>
              <a:t>rotati</a:t>
            </a:r>
            <a:r>
              <a:rPr b="0" lang="en-US" sz="2000" spc="-1" strike="noStrike">
                <a:latin typeface="Arial"/>
              </a:rPr>
              <a:t>on.</a:t>
            </a:r>
            <a:endParaRPr b="0" lang="en-CA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CA" sz="20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698F786-E4CF-4E16-BF4F-3DA2EAFF6CCB}" type="slidenum">
              <a:rPr b="0" lang="en-US" sz="1200" spc="-1" strike="noStrike">
                <a:latin typeface="Times New Roman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Now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discu</a:t>
            </a:r>
            <a:r>
              <a:rPr b="0" lang="en-US" sz="2000" spc="-1" strike="noStrike">
                <a:latin typeface="Arial"/>
              </a:rPr>
              <a:t>ss </a:t>
            </a:r>
            <a:r>
              <a:rPr b="0" lang="en-US" sz="2000" spc="-1" strike="noStrike">
                <a:latin typeface="Arial"/>
              </a:rPr>
              <a:t>how it </a:t>
            </a:r>
            <a:r>
              <a:rPr b="0" lang="en-US" sz="2000" spc="-1" strike="noStrike">
                <a:latin typeface="Arial"/>
              </a:rPr>
              <a:t>works </a:t>
            </a:r>
            <a:r>
              <a:rPr b="0" lang="en-US" sz="2000" spc="-1" strike="noStrike">
                <a:latin typeface="Arial"/>
              </a:rPr>
              <a:t>with a </a:t>
            </a:r>
            <a:r>
              <a:rPr b="0" lang="en-US" sz="2000" spc="-1" strike="noStrike">
                <a:latin typeface="Arial"/>
              </a:rPr>
              <a:t>simpl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plot. </a:t>
            </a:r>
            <a:r>
              <a:rPr b="0" lang="en-US" sz="2000" spc="-1" strike="noStrike">
                <a:latin typeface="Arial"/>
              </a:rPr>
              <a:t>If we </a:t>
            </a:r>
            <a:r>
              <a:rPr b="0" lang="en-US" sz="2000" spc="-1" strike="noStrike">
                <a:latin typeface="Arial"/>
              </a:rPr>
              <a:t>plot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s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for </a:t>
            </a:r>
            <a:r>
              <a:rPr b="0" lang="en-US" sz="2000" spc="-1" strike="noStrike">
                <a:latin typeface="Arial"/>
              </a:rPr>
              <a:t>PC1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PC2,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get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plot. </a:t>
            </a:r>
            <a:r>
              <a:rPr b="0" lang="en-US" sz="2000" spc="-1" strike="noStrike">
                <a:latin typeface="Arial"/>
              </a:rPr>
              <a:t>Note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all </a:t>
            </a:r>
            <a:r>
              <a:rPr b="0" lang="en-US" sz="2000" spc="-1" strike="noStrike">
                <a:latin typeface="Arial"/>
              </a:rPr>
              <a:t>four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have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same </a:t>
            </a:r>
            <a:r>
              <a:rPr b="0" lang="en-US" sz="2000" spc="-1" strike="noStrike">
                <a:latin typeface="Arial"/>
              </a:rPr>
              <a:t>value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</a:t>
            </a:r>
            <a:r>
              <a:rPr b="0" lang="en-US" sz="2000" spc="-1" strike="noStrike">
                <a:latin typeface="Arial"/>
              </a:rPr>
              <a:t>asso</a:t>
            </a:r>
            <a:r>
              <a:rPr b="0" lang="en-US" sz="2000" spc="-1" strike="noStrike">
                <a:latin typeface="Arial"/>
              </a:rPr>
              <a:t>ciate</a:t>
            </a:r>
            <a:r>
              <a:rPr b="0" lang="en-US" sz="2000" spc="-1" strike="noStrike">
                <a:latin typeface="Arial"/>
              </a:rPr>
              <a:t>d with </a:t>
            </a:r>
            <a:r>
              <a:rPr b="0" lang="en-US" sz="2000" spc="-1" strike="noStrike">
                <a:latin typeface="Arial"/>
              </a:rPr>
              <a:t>PC2. </a:t>
            </a:r>
            <a:r>
              <a:rPr b="0" lang="en-US" sz="2000" spc="-1" strike="noStrike">
                <a:latin typeface="Arial"/>
              </a:rPr>
              <a:t>In </a:t>
            </a:r>
            <a:r>
              <a:rPr b="0" lang="en-US" sz="2000" spc="-1" strike="noStrike">
                <a:latin typeface="Arial"/>
              </a:rPr>
              <a:t>contr</a:t>
            </a:r>
            <a:r>
              <a:rPr b="0" lang="en-US" sz="2000" spc="-1" strike="noStrike">
                <a:latin typeface="Arial"/>
              </a:rPr>
              <a:t>ast,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diast</a:t>
            </a:r>
            <a:r>
              <a:rPr b="0" lang="en-US" sz="2000" spc="-1" strike="noStrike">
                <a:latin typeface="Arial"/>
              </a:rPr>
              <a:t>olic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systol</a:t>
            </a:r>
            <a:r>
              <a:rPr b="0" lang="en-US" sz="2000" spc="-1" strike="noStrike">
                <a:latin typeface="Arial"/>
              </a:rPr>
              <a:t>ic </a:t>
            </a:r>
            <a:r>
              <a:rPr b="0" lang="en-US" sz="2000" spc="-1" strike="noStrike">
                <a:latin typeface="Arial"/>
              </a:rPr>
              <a:t>blood </a:t>
            </a:r>
            <a:r>
              <a:rPr b="0" lang="en-US" sz="2000" spc="-1" strike="noStrike">
                <a:latin typeface="Arial"/>
              </a:rPr>
              <a:t>press</a:t>
            </a:r>
            <a:r>
              <a:rPr b="0" lang="en-US" sz="2000" spc="-1" strike="noStrike">
                <a:latin typeface="Arial"/>
              </a:rPr>
              <a:t>ure 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asso</a:t>
            </a:r>
            <a:r>
              <a:rPr b="0" lang="en-US" sz="2000" spc="-1" strike="noStrike">
                <a:latin typeface="Arial"/>
              </a:rPr>
              <a:t>ciate</a:t>
            </a:r>
            <a:r>
              <a:rPr b="0" lang="en-US" sz="2000" spc="-1" strike="noStrike">
                <a:latin typeface="Arial"/>
              </a:rPr>
              <a:t>d with </a:t>
            </a:r>
            <a:r>
              <a:rPr b="0" lang="en-US" sz="2000" spc="-1" strike="noStrike">
                <a:latin typeface="Arial"/>
              </a:rPr>
              <a:t>negat</a:t>
            </a:r>
            <a:r>
              <a:rPr b="0" lang="en-US" sz="2000" spc="-1" strike="noStrike">
                <a:latin typeface="Arial"/>
              </a:rPr>
              <a:t>ive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for </a:t>
            </a:r>
            <a:r>
              <a:rPr b="0" lang="en-US" sz="2000" spc="-1" strike="noStrike">
                <a:latin typeface="Arial"/>
              </a:rPr>
              <a:t>PC1 </a:t>
            </a:r>
            <a:r>
              <a:rPr b="0" lang="en-US" sz="2000" spc="-1" strike="noStrike">
                <a:latin typeface="Arial"/>
              </a:rPr>
              <a:t>wher</a:t>
            </a:r>
            <a:r>
              <a:rPr b="0" lang="en-US" sz="2000" spc="-1" strike="noStrike">
                <a:latin typeface="Arial"/>
              </a:rPr>
              <a:t>eas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 and </a:t>
            </a:r>
            <a:r>
              <a:rPr b="0" lang="en-US" sz="2000" spc="-1" strike="noStrike">
                <a:latin typeface="Arial"/>
              </a:rPr>
              <a:t>heigh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have </a:t>
            </a:r>
            <a:r>
              <a:rPr b="0" lang="en-US" sz="2000" spc="-1" strike="noStrike">
                <a:latin typeface="Arial"/>
              </a:rPr>
              <a:t>positi</a:t>
            </a:r>
            <a:r>
              <a:rPr b="0" lang="en-US" sz="2000" spc="-1" strike="noStrike">
                <a:latin typeface="Arial"/>
              </a:rPr>
              <a:t>ve 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s.</a:t>
            </a:r>
            <a:endParaRPr b="0" lang="en-CA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Varima</a:t>
            </a:r>
            <a:r>
              <a:rPr b="0" lang="en-US" sz="2000" spc="-1" strike="noStrike">
                <a:latin typeface="Arial"/>
              </a:rPr>
              <a:t>x </a:t>
            </a:r>
            <a:r>
              <a:rPr b="0" lang="en-US" sz="2000" spc="-1" strike="noStrike">
                <a:latin typeface="Arial"/>
              </a:rPr>
              <a:t>rotati</a:t>
            </a:r>
            <a:r>
              <a:rPr b="0" lang="en-US" sz="2000" spc="-1" strike="noStrike">
                <a:latin typeface="Arial"/>
              </a:rPr>
              <a:t>on is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meth</a:t>
            </a:r>
            <a:r>
              <a:rPr b="0" lang="en-US" sz="2000" spc="-1" strike="noStrike">
                <a:latin typeface="Arial"/>
              </a:rPr>
              <a:t>od to </a:t>
            </a:r>
            <a:r>
              <a:rPr b="0" lang="en-US" sz="2000" spc="-1" strike="noStrike">
                <a:latin typeface="Arial"/>
              </a:rPr>
              <a:t>help </a:t>
            </a:r>
            <a:r>
              <a:rPr b="0" lang="en-US" sz="2000" spc="-1" strike="noStrike">
                <a:latin typeface="Arial"/>
              </a:rPr>
              <a:t>us to </a:t>
            </a:r>
            <a:r>
              <a:rPr b="0" lang="en-US" sz="2000" spc="-1" strike="noStrike">
                <a:latin typeface="Arial"/>
              </a:rPr>
              <a:t>interp</a:t>
            </a:r>
            <a:r>
              <a:rPr b="0" lang="en-US" sz="2000" spc="-1" strike="noStrike">
                <a:latin typeface="Arial"/>
              </a:rPr>
              <a:t>ret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ts. </a:t>
            </a:r>
            <a:r>
              <a:rPr b="0" lang="en-US" sz="2000" spc="-1" strike="noStrike">
                <a:latin typeface="Arial"/>
              </a:rPr>
              <a:t>One </a:t>
            </a:r>
            <a:r>
              <a:rPr b="0" lang="en-US" sz="2000" spc="-1" strike="noStrike">
                <a:latin typeface="Arial"/>
              </a:rPr>
              <a:t>can </a:t>
            </a:r>
            <a:r>
              <a:rPr b="0" lang="en-US" sz="2000" spc="-1" strike="noStrike">
                <a:latin typeface="Arial"/>
              </a:rPr>
              <a:t>think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meth</a:t>
            </a:r>
            <a:r>
              <a:rPr b="0" lang="en-US" sz="2000" spc="-1" strike="noStrike">
                <a:latin typeface="Arial"/>
              </a:rPr>
              <a:t>od as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rotate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axes </a:t>
            </a:r>
            <a:r>
              <a:rPr b="0" lang="en-US" sz="2000" spc="-1" strike="noStrike">
                <a:latin typeface="Arial"/>
              </a:rPr>
              <a:t>so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absol</a:t>
            </a:r>
            <a:r>
              <a:rPr b="0" lang="en-US" sz="2000" spc="-1" strike="noStrike">
                <a:latin typeface="Arial"/>
              </a:rPr>
              <a:t>ute 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s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</a:t>
            </a:r>
            <a:r>
              <a:rPr b="0" lang="en-US" sz="2000" spc="-1" strike="noStrike">
                <a:latin typeface="Arial"/>
              </a:rPr>
              <a:t>either </a:t>
            </a:r>
            <a:r>
              <a:rPr b="0" lang="en-US" sz="2000" spc="-1" strike="noStrike">
                <a:latin typeface="Arial"/>
              </a:rPr>
              <a:t>beco</a:t>
            </a:r>
            <a:r>
              <a:rPr b="0" lang="en-US" sz="2000" spc="-1" strike="noStrike">
                <a:latin typeface="Arial"/>
              </a:rPr>
              <a:t>me </a:t>
            </a:r>
            <a:r>
              <a:rPr b="0" lang="en-US" sz="2000" spc="-1" strike="noStrike">
                <a:latin typeface="Arial"/>
              </a:rPr>
              <a:t>close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one </a:t>
            </a:r>
            <a:r>
              <a:rPr b="0" lang="en-US" sz="2000" spc="-1" strike="noStrike">
                <a:latin typeface="Arial"/>
              </a:rPr>
              <a:t>or </a:t>
            </a:r>
            <a:r>
              <a:rPr b="0" lang="en-US" sz="2000" spc="-1" strike="noStrike">
                <a:latin typeface="Arial"/>
              </a:rPr>
              <a:t>zero. </a:t>
            </a:r>
            <a:r>
              <a:rPr b="0" lang="en-US" sz="2000" spc="-1" strike="noStrike">
                <a:latin typeface="Arial"/>
              </a:rPr>
              <a:t>Let’s </a:t>
            </a:r>
            <a:r>
              <a:rPr b="0" lang="en-US" sz="2000" spc="-1" strike="noStrike">
                <a:latin typeface="Arial"/>
              </a:rPr>
              <a:t>say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would </a:t>
            </a:r>
            <a:r>
              <a:rPr b="0" lang="en-US" sz="2000" spc="-1" strike="noStrike">
                <a:latin typeface="Arial"/>
              </a:rPr>
              <a:t>rotate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axes </a:t>
            </a:r>
            <a:r>
              <a:rPr b="0" lang="en-US" sz="2000" spc="-1" strike="noStrike">
                <a:latin typeface="Arial"/>
              </a:rPr>
              <a:t>count</a:t>
            </a:r>
            <a:r>
              <a:rPr b="0" lang="en-US" sz="2000" spc="-1" strike="noStrike">
                <a:latin typeface="Arial"/>
              </a:rPr>
              <a:t>er </a:t>
            </a:r>
            <a:r>
              <a:rPr b="0" lang="en-US" sz="2000" spc="-1" strike="noStrike">
                <a:latin typeface="Arial"/>
              </a:rPr>
              <a:t>clock</a:t>
            </a:r>
            <a:r>
              <a:rPr b="0" lang="en-US" sz="2000" spc="-1" strike="noStrike">
                <a:latin typeface="Arial"/>
              </a:rPr>
              <a:t>wise </a:t>
            </a:r>
            <a:r>
              <a:rPr b="0" lang="en-US" sz="2000" spc="-1" strike="noStrike">
                <a:latin typeface="Arial"/>
              </a:rPr>
              <a:t>like </a:t>
            </a:r>
            <a:r>
              <a:rPr b="0" lang="en-US" sz="2000" spc="-1" strike="noStrike">
                <a:latin typeface="Arial"/>
              </a:rPr>
              <a:t>this. </a:t>
            </a:r>
            <a:r>
              <a:rPr b="0" lang="en-US" sz="2000" spc="-1" strike="noStrike">
                <a:latin typeface="Arial"/>
              </a:rPr>
              <a:t>In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new </a:t>
            </a:r>
            <a:r>
              <a:rPr b="0" lang="en-US" sz="2000" spc="-1" strike="noStrike">
                <a:latin typeface="Arial"/>
              </a:rPr>
              <a:t>coord</a:t>
            </a:r>
            <a:r>
              <a:rPr b="0" lang="en-US" sz="2000" spc="-1" strike="noStrike">
                <a:latin typeface="Arial"/>
              </a:rPr>
              <a:t>inate </a:t>
            </a:r>
            <a:r>
              <a:rPr b="0" lang="en-US" sz="2000" spc="-1" strike="noStrike">
                <a:latin typeface="Arial"/>
              </a:rPr>
              <a:t>syste</a:t>
            </a:r>
            <a:r>
              <a:rPr b="0" lang="en-US" sz="2000" spc="-1" strike="noStrike">
                <a:latin typeface="Arial"/>
              </a:rPr>
              <a:t>m,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s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will </a:t>
            </a:r>
            <a:r>
              <a:rPr b="0" lang="en-US" sz="2000" spc="-1" strike="noStrike">
                <a:latin typeface="Arial"/>
              </a:rPr>
              <a:t>chan</a:t>
            </a:r>
            <a:r>
              <a:rPr b="0" lang="en-US" sz="2000" spc="-1" strike="noStrike">
                <a:latin typeface="Arial"/>
              </a:rPr>
              <a:t>ge. </a:t>
            </a:r>
            <a:r>
              <a:rPr b="0" lang="en-US" sz="2000" spc="-1" strike="noStrike">
                <a:latin typeface="Arial"/>
              </a:rPr>
              <a:t>Now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call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“rotat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” </a:t>
            </a:r>
            <a:r>
              <a:rPr b="0" lang="en-US" sz="2000" spc="-1" strike="noStrike">
                <a:latin typeface="Arial"/>
              </a:rPr>
              <a:t>inste</a:t>
            </a:r>
            <a:r>
              <a:rPr b="0" lang="en-US" sz="2000" spc="-1" strike="noStrike">
                <a:latin typeface="Arial"/>
              </a:rPr>
              <a:t>ad of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s. For </a:t>
            </a:r>
            <a:r>
              <a:rPr b="0" lang="en-US" sz="2000" spc="-1" strike="noStrike">
                <a:latin typeface="Arial"/>
              </a:rPr>
              <a:t>exam</a:t>
            </a:r>
            <a:r>
              <a:rPr b="0" lang="en-US" sz="2000" spc="-1" strike="noStrike">
                <a:latin typeface="Arial"/>
              </a:rPr>
              <a:t>ple,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see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</a:t>
            </a:r>
            <a:r>
              <a:rPr b="0" lang="en-US" sz="2000" spc="-1" strike="noStrike">
                <a:latin typeface="Arial"/>
              </a:rPr>
              <a:t>asso</a:t>
            </a:r>
            <a:r>
              <a:rPr b="0" lang="en-US" sz="2000" spc="-1" strike="noStrike">
                <a:latin typeface="Arial"/>
              </a:rPr>
              <a:t>ciate</a:t>
            </a:r>
            <a:r>
              <a:rPr b="0" lang="en-US" sz="2000" spc="-1" strike="noStrike">
                <a:latin typeface="Arial"/>
              </a:rPr>
              <a:t>d with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diast</a:t>
            </a:r>
            <a:r>
              <a:rPr b="0" lang="en-US" sz="2000" spc="-1" strike="noStrike">
                <a:latin typeface="Arial"/>
              </a:rPr>
              <a:t>olic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systol</a:t>
            </a:r>
            <a:r>
              <a:rPr b="0" lang="en-US" sz="2000" spc="-1" strike="noStrike">
                <a:latin typeface="Arial"/>
              </a:rPr>
              <a:t>ic </a:t>
            </a:r>
            <a:r>
              <a:rPr b="0" lang="en-US" sz="2000" spc="-1" strike="noStrike">
                <a:latin typeface="Arial"/>
              </a:rPr>
              <a:t>blood </a:t>
            </a:r>
            <a:r>
              <a:rPr b="0" lang="en-US" sz="2000" spc="-1" strike="noStrike">
                <a:latin typeface="Arial"/>
              </a:rPr>
              <a:t>press</a:t>
            </a:r>
            <a:r>
              <a:rPr b="0" lang="en-US" sz="2000" spc="-1" strike="noStrike">
                <a:latin typeface="Arial"/>
              </a:rPr>
              <a:t>ure </a:t>
            </a:r>
            <a:r>
              <a:rPr b="0" lang="en-US" sz="2000" spc="-1" strike="noStrike">
                <a:latin typeface="Arial"/>
              </a:rPr>
              <a:t>are -</a:t>
            </a:r>
            <a:r>
              <a:rPr b="0" lang="en-US" sz="2000" spc="-1" strike="noStrike">
                <a:latin typeface="Arial"/>
              </a:rPr>
              <a:t>0.7 </a:t>
            </a:r>
            <a:r>
              <a:rPr b="0" lang="en-US" sz="2000" spc="-1" strike="noStrike">
                <a:latin typeface="Arial"/>
              </a:rPr>
              <a:t>wher</a:t>
            </a:r>
            <a:r>
              <a:rPr b="0" lang="en-US" sz="2000" spc="-1" strike="noStrike">
                <a:latin typeface="Arial"/>
              </a:rPr>
              <a:t>eas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for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body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 and </a:t>
            </a:r>
            <a:r>
              <a:rPr b="0" lang="en-US" sz="2000" spc="-1" strike="noStrike">
                <a:latin typeface="Arial"/>
              </a:rPr>
              <a:t>heigh</a:t>
            </a:r>
            <a:r>
              <a:rPr b="0" lang="en-US" sz="2000" spc="-1" strike="noStrike">
                <a:latin typeface="Arial"/>
              </a:rPr>
              <a:t>t are </a:t>
            </a:r>
            <a:r>
              <a:rPr b="0" lang="en-US" sz="2000" spc="-1" strike="noStrike">
                <a:latin typeface="Arial"/>
              </a:rPr>
              <a:t>close </a:t>
            </a:r>
            <a:r>
              <a:rPr b="0" lang="en-US" sz="2000" spc="-1" strike="noStrike">
                <a:latin typeface="Arial"/>
              </a:rPr>
              <a:t>to 0 </a:t>
            </a:r>
            <a:r>
              <a:rPr b="0" lang="en-US" sz="2000" spc="-1" strike="noStrike">
                <a:latin typeface="Arial"/>
              </a:rPr>
              <a:t>when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focus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. In </a:t>
            </a:r>
            <a:r>
              <a:rPr b="0" lang="en-US" sz="2000" spc="-1" strike="noStrike">
                <a:latin typeface="Arial"/>
              </a:rPr>
              <a:t>contr</a:t>
            </a:r>
            <a:r>
              <a:rPr b="0" lang="en-US" sz="2000" spc="-1" strike="noStrike">
                <a:latin typeface="Arial"/>
              </a:rPr>
              <a:t>ast,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body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 and </a:t>
            </a:r>
            <a:r>
              <a:rPr b="0" lang="en-US" sz="2000" spc="-1" strike="noStrike">
                <a:latin typeface="Arial"/>
              </a:rPr>
              <a:t>heigh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have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relati</a:t>
            </a:r>
            <a:r>
              <a:rPr b="0" lang="en-US" sz="2000" spc="-1" strike="noStrike">
                <a:latin typeface="Arial"/>
              </a:rPr>
              <a:t>vely </a:t>
            </a:r>
            <a:r>
              <a:rPr b="0" lang="en-US" sz="2000" spc="-1" strike="noStrike">
                <a:latin typeface="Arial"/>
              </a:rPr>
              <a:t>high </a:t>
            </a:r>
            <a:r>
              <a:rPr b="0" lang="en-US" sz="2000" spc="-1" strike="noStrike">
                <a:latin typeface="Arial"/>
              </a:rPr>
              <a:t>absol</a:t>
            </a:r>
            <a:r>
              <a:rPr b="0" lang="en-US" sz="2000" spc="-1" strike="noStrike">
                <a:latin typeface="Arial"/>
              </a:rPr>
              <a:t>ute </a:t>
            </a:r>
            <a:r>
              <a:rPr b="0" lang="en-US" sz="2000" spc="-1" strike="noStrike">
                <a:latin typeface="Arial"/>
              </a:rPr>
              <a:t>value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</a:t>
            </a:r>
            <a:r>
              <a:rPr b="0" lang="en-US" sz="2000" spc="-1" strike="noStrike">
                <a:latin typeface="Arial"/>
              </a:rPr>
              <a:t>asso</a:t>
            </a:r>
            <a:r>
              <a:rPr b="0" lang="en-US" sz="2000" spc="-1" strike="noStrike">
                <a:latin typeface="Arial"/>
              </a:rPr>
              <a:t>ciate</a:t>
            </a:r>
            <a:r>
              <a:rPr b="0" lang="en-US" sz="2000" spc="-1" strike="noStrike">
                <a:latin typeface="Arial"/>
              </a:rPr>
              <a:t>d with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rotate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2. </a:t>
            </a:r>
            <a:r>
              <a:rPr b="0" lang="en-US" sz="2000" spc="-1" strike="noStrike">
                <a:latin typeface="Arial"/>
              </a:rPr>
              <a:t>Varim</a:t>
            </a:r>
            <a:r>
              <a:rPr b="0" lang="en-US" sz="2000" spc="-1" strike="noStrike">
                <a:latin typeface="Arial"/>
              </a:rPr>
              <a:t>ax </a:t>
            </a:r>
            <a:r>
              <a:rPr b="0" lang="en-US" sz="2000" spc="-1" strike="noStrike">
                <a:latin typeface="Arial"/>
              </a:rPr>
              <a:t>rotati</a:t>
            </a:r>
            <a:r>
              <a:rPr b="0" lang="en-US" sz="2000" spc="-1" strike="noStrike">
                <a:latin typeface="Arial"/>
              </a:rPr>
              <a:t>on is </a:t>
            </a:r>
            <a:r>
              <a:rPr b="0" lang="en-US" sz="2000" spc="-1" strike="noStrike">
                <a:latin typeface="Arial"/>
              </a:rPr>
              <a:t>easy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identi</a:t>
            </a:r>
            <a:r>
              <a:rPr b="0" lang="en-US" sz="2000" spc="-1" strike="noStrike">
                <a:latin typeface="Arial"/>
              </a:rPr>
              <a:t>fy a </a:t>
            </a:r>
            <a:r>
              <a:rPr b="0" lang="en-US" sz="2000" spc="-1" strike="noStrike">
                <a:latin typeface="Arial"/>
              </a:rPr>
              <a:t>conn</a:t>
            </a:r>
            <a:r>
              <a:rPr b="0" lang="en-US" sz="2000" spc="-1" strike="noStrike">
                <a:latin typeface="Arial"/>
              </a:rPr>
              <a:t>ectio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rotate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s 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bles.</a:t>
            </a:r>
            <a:endParaRPr b="0" lang="en-CA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CA" sz="20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BF2C3C-309A-405E-BD0D-79F5D98CC6E5}" type="slidenum">
              <a:rPr b="0" lang="en-US" sz="1200" spc="-1" strike="noStrike">
                <a:latin typeface="Times New Roman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loadi</a:t>
            </a:r>
            <a:r>
              <a:rPr b="0" lang="en-US" sz="2000" spc="-1" strike="noStrike">
                <a:latin typeface="Arial"/>
              </a:rPr>
              <a:t>ngs </a:t>
            </a:r>
            <a:r>
              <a:rPr b="0" lang="en-US" sz="2000" spc="-1" strike="noStrike">
                <a:latin typeface="Arial"/>
              </a:rPr>
              <a:t>value</a:t>
            </a:r>
            <a:r>
              <a:rPr b="0" lang="en-US" sz="2000" spc="-1" strike="noStrike">
                <a:latin typeface="Arial"/>
              </a:rPr>
              <a:t>s in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table </a:t>
            </a:r>
            <a:r>
              <a:rPr b="0" lang="en-US" sz="2000" spc="-1" strike="noStrike">
                <a:latin typeface="Arial"/>
              </a:rPr>
              <a:t>then </a:t>
            </a:r>
            <a:r>
              <a:rPr b="0" lang="en-US" sz="2000" spc="-1" strike="noStrike">
                <a:latin typeface="Arial"/>
              </a:rPr>
              <a:t>corre</a:t>
            </a:r>
            <a:r>
              <a:rPr b="0" lang="en-US" sz="2000" spc="-1" strike="noStrike">
                <a:latin typeface="Arial"/>
              </a:rPr>
              <a:t>spon</a:t>
            </a:r>
            <a:r>
              <a:rPr b="0" lang="en-US" sz="2000" spc="-1" strike="noStrike">
                <a:latin typeface="Arial"/>
              </a:rPr>
              <a:t>d to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Pears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coeffi</a:t>
            </a:r>
            <a:r>
              <a:rPr b="0" lang="en-US" sz="2000" spc="-1" strike="noStrike">
                <a:latin typeface="Arial"/>
              </a:rPr>
              <a:t>cient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given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bles. </a:t>
            </a:r>
            <a:r>
              <a:rPr b="0" lang="en-US" sz="2000" spc="-1" strike="noStrike">
                <a:latin typeface="Arial"/>
              </a:rPr>
              <a:t>After </a:t>
            </a:r>
            <a:r>
              <a:rPr b="0" lang="en-US" sz="2000" spc="-1" strike="noStrike">
                <a:latin typeface="Arial"/>
              </a:rPr>
              <a:t>varim</a:t>
            </a:r>
            <a:r>
              <a:rPr b="0" lang="en-US" sz="2000" spc="-1" strike="noStrike">
                <a:latin typeface="Arial"/>
              </a:rPr>
              <a:t>ax </a:t>
            </a:r>
            <a:r>
              <a:rPr b="0" lang="en-US" sz="2000" spc="-1" strike="noStrike">
                <a:latin typeface="Arial"/>
              </a:rPr>
              <a:t>rotati</a:t>
            </a:r>
            <a:r>
              <a:rPr b="0" lang="en-US" sz="2000" spc="-1" strike="noStrike">
                <a:latin typeface="Arial"/>
              </a:rPr>
              <a:t>on,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have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follow</a:t>
            </a:r>
            <a:r>
              <a:rPr b="0" lang="en-US" sz="2000" spc="-1" strike="noStrike">
                <a:latin typeface="Arial"/>
              </a:rPr>
              <a:t>ing </a:t>
            </a:r>
            <a:r>
              <a:rPr b="0" lang="en-US" sz="2000" spc="-1" strike="noStrike">
                <a:latin typeface="Arial"/>
              </a:rPr>
              <a:t>loadi</a:t>
            </a:r>
            <a:r>
              <a:rPr b="0" lang="en-US" sz="2000" spc="-1" strike="noStrike">
                <a:latin typeface="Arial"/>
              </a:rPr>
              <a:t>ngs,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repre</a:t>
            </a:r>
            <a:r>
              <a:rPr b="0" lang="en-US" sz="2000" spc="-1" strike="noStrike">
                <a:latin typeface="Arial"/>
              </a:rPr>
              <a:t>sent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Varim</a:t>
            </a:r>
            <a:r>
              <a:rPr b="0" lang="en-US" sz="2000" spc="-1" strike="noStrike">
                <a:latin typeface="Arial"/>
              </a:rPr>
              <a:t>ax </a:t>
            </a:r>
            <a:r>
              <a:rPr b="0" lang="en-US" sz="2000" spc="-1" strike="noStrike">
                <a:latin typeface="Arial"/>
              </a:rPr>
              <a:t>rotate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s.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2477E4D-E551-4C7D-9CA1-41A084CC0E1C}" type="slidenum">
              <a:rPr b="0" lang="en-US" sz="1200" spc="-1" strike="noStrike">
                <a:latin typeface="Times New Roman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these </a:t>
            </a:r>
            <a:r>
              <a:rPr b="0" lang="en-US" sz="2000" spc="-1" strike="noStrike">
                <a:latin typeface="Arial"/>
              </a:rPr>
              <a:t>Varim</a:t>
            </a:r>
            <a:r>
              <a:rPr b="0" lang="en-US" sz="2000" spc="-1" strike="noStrike">
                <a:latin typeface="Arial"/>
              </a:rPr>
              <a:t>ax </a:t>
            </a:r>
            <a:r>
              <a:rPr b="0" lang="en-US" sz="2000" spc="-1" strike="noStrike">
                <a:latin typeface="Arial"/>
              </a:rPr>
              <a:t>rotate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 is 1 </a:t>
            </a:r>
            <a:r>
              <a:rPr b="0" lang="en-US" sz="2000" spc="-1" strike="noStrike">
                <a:latin typeface="Arial"/>
              </a:rPr>
              <a:t>beca</a:t>
            </a:r>
            <a:r>
              <a:rPr b="0" lang="en-US" sz="2000" spc="-1" strike="noStrike">
                <a:latin typeface="Arial"/>
              </a:rPr>
              <a:t>use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have </a:t>
            </a:r>
            <a:r>
              <a:rPr b="0" lang="en-US" sz="2000" spc="-1" strike="noStrike">
                <a:latin typeface="Arial"/>
              </a:rPr>
              <a:t>been </a:t>
            </a:r>
            <a:r>
              <a:rPr b="0" lang="en-US" sz="2000" spc="-1" strike="noStrike">
                <a:latin typeface="Arial"/>
              </a:rPr>
              <a:t>stand</a:t>
            </a:r>
            <a:r>
              <a:rPr b="0" lang="en-US" sz="2000" spc="-1" strike="noStrike">
                <a:latin typeface="Arial"/>
              </a:rPr>
              <a:t>ardiz</a:t>
            </a:r>
            <a:r>
              <a:rPr b="0" lang="en-US" sz="2000" spc="-1" strike="noStrike">
                <a:latin typeface="Arial"/>
              </a:rPr>
              <a:t>ed. 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6A1E7B-895F-481F-8D79-876F64D7CDAE}" type="slidenum">
              <a:rPr b="0" lang="en-US" sz="1200" spc="-1" strike="noStrike">
                <a:latin typeface="Times New Roman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Howev</a:t>
            </a:r>
            <a:r>
              <a:rPr b="0" lang="en-US" sz="2000" spc="-1" strike="noStrike">
                <a:latin typeface="Arial"/>
              </a:rPr>
              <a:t>er, by </a:t>
            </a:r>
            <a:r>
              <a:rPr b="0" lang="en-US" sz="2000" spc="-1" strike="noStrike">
                <a:latin typeface="Arial"/>
              </a:rPr>
              <a:t>using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softw</a:t>
            </a:r>
            <a:r>
              <a:rPr b="0" lang="en-US" sz="2000" spc="-1" strike="noStrike">
                <a:latin typeface="Arial"/>
              </a:rPr>
              <a:t>are, it </a:t>
            </a:r>
            <a:r>
              <a:rPr b="0" lang="en-US" sz="2000" spc="-1" strike="noStrike">
                <a:latin typeface="Arial"/>
              </a:rPr>
              <a:t>can </a:t>
            </a:r>
            <a:r>
              <a:rPr b="0" lang="en-US" sz="2000" spc="-1" strike="noStrike">
                <a:latin typeface="Arial"/>
              </a:rPr>
              <a:t>provi</a:t>
            </a:r>
            <a:r>
              <a:rPr b="0" lang="en-US" sz="2000" spc="-1" strike="noStrike">
                <a:latin typeface="Arial"/>
              </a:rPr>
              <a:t>de us </a:t>
            </a:r>
            <a:r>
              <a:rPr b="0" lang="en-US" sz="2000" spc="-1" strike="noStrike">
                <a:latin typeface="Arial"/>
              </a:rPr>
              <a:t>with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rotate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unsta</a:t>
            </a:r>
            <a:r>
              <a:rPr b="0" lang="en-US" sz="2000" spc="-1" strike="noStrike">
                <a:latin typeface="Arial"/>
              </a:rPr>
              <a:t>ndard</a:t>
            </a:r>
            <a:r>
              <a:rPr b="0" lang="en-US" sz="2000" spc="-1" strike="noStrike">
                <a:latin typeface="Arial"/>
              </a:rPr>
              <a:t>ized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s.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nces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rotate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s are </a:t>
            </a:r>
            <a:r>
              <a:rPr b="0" lang="en-US" sz="2000" spc="-1" strike="noStrike">
                <a:latin typeface="Arial"/>
              </a:rPr>
              <a:t>quite </a:t>
            </a:r>
            <a:r>
              <a:rPr b="0" lang="en-US" sz="2000" spc="-1" strike="noStrike">
                <a:latin typeface="Arial"/>
              </a:rPr>
              <a:t>simila</a:t>
            </a:r>
            <a:r>
              <a:rPr b="0" lang="en-US" sz="2000" spc="-1" strike="noStrike">
                <a:latin typeface="Arial"/>
              </a:rPr>
              <a:t>r. As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have </a:t>
            </a:r>
            <a:r>
              <a:rPr b="0" lang="en-US" sz="2000" spc="-1" strike="noStrike">
                <a:latin typeface="Arial"/>
              </a:rPr>
              <a:t>seen </a:t>
            </a:r>
            <a:r>
              <a:rPr b="0" lang="en-US" sz="2000" spc="-1" strike="noStrike">
                <a:latin typeface="Arial"/>
              </a:rPr>
              <a:t>befor</a:t>
            </a:r>
            <a:r>
              <a:rPr b="0" lang="en-US" sz="2000" spc="-1" strike="noStrike">
                <a:latin typeface="Arial"/>
              </a:rPr>
              <a:t>e, if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multi</a:t>
            </a:r>
            <a:r>
              <a:rPr b="0" lang="en-US" sz="2000" spc="-1" strike="noStrike">
                <a:latin typeface="Arial"/>
              </a:rPr>
              <a:t>ply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squar</a:t>
            </a:r>
            <a:r>
              <a:rPr b="0" lang="en-US" sz="2000" spc="-1" strike="noStrike">
                <a:latin typeface="Arial"/>
              </a:rPr>
              <a:t>e root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nce,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is the </a:t>
            </a:r>
            <a:r>
              <a:rPr b="0" lang="en-US" sz="2000" spc="-1" strike="noStrike">
                <a:latin typeface="Arial"/>
              </a:rPr>
              <a:t>stand</a:t>
            </a:r>
            <a:r>
              <a:rPr b="0" lang="en-US" sz="2000" spc="-1" strike="noStrike">
                <a:latin typeface="Arial"/>
              </a:rPr>
              <a:t>ard </a:t>
            </a:r>
            <a:r>
              <a:rPr b="0" lang="en-US" sz="2000" spc="-1" strike="noStrike">
                <a:latin typeface="Arial"/>
              </a:rPr>
              <a:t>devia</a:t>
            </a:r>
            <a:r>
              <a:rPr b="0" lang="en-US" sz="2000" spc="-1" strike="noStrike">
                <a:latin typeface="Arial"/>
              </a:rPr>
              <a:t>tion, </a:t>
            </a:r>
            <a:r>
              <a:rPr b="0" lang="en-US" sz="2000" spc="-1" strike="noStrike">
                <a:latin typeface="Arial"/>
              </a:rPr>
              <a:t>by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corre</a:t>
            </a:r>
            <a:r>
              <a:rPr b="0" lang="en-US" sz="2000" spc="-1" strike="noStrike">
                <a:latin typeface="Arial"/>
              </a:rPr>
              <a:t>spon</a:t>
            </a:r>
            <a:r>
              <a:rPr b="0" lang="en-US" sz="2000" spc="-1" strike="noStrike">
                <a:latin typeface="Arial"/>
              </a:rPr>
              <a:t>ding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s, we </a:t>
            </a:r>
            <a:r>
              <a:rPr b="0" lang="en-US" sz="2000" spc="-1" strike="noStrike">
                <a:latin typeface="Arial"/>
              </a:rPr>
              <a:t>will </a:t>
            </a:r>
            <a:r>
              <a:rPr b="0" lang="en-US" sz="2000" spc="-1" strike="noStrike">
                <a:latin typeface="Arial"/>
              </a:rPr>
              <a:t>get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unsta</a:t>
            </a:r>
            <a:r>
              <a:rPr b="0" lang="en-US" sz="2000" spc="-1" strike="noStrike">
                <a:latin typeface="Arial"/>
              </a:rPr>
              <a:t>ndard</a:t>
            </a:r>
            <a:r>
              <a:rPr b="0" lang="en-US" sz="2000" spc="-1" strike="noStrike">
                <a:latin typeface="Arial"/>
              </a:rPr>
              <a:t>ized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s.</a:t>
            </a:r>
            <a:endParaRPr b="0" lang="en-CA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If we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rotate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 with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s, we </a:t>
            </a:r>
            <a:r>
              <a:rPr b="0" lang="en-US" sz="2000" spc="-1" strike="noStrike">
                <a:latin typeface="Arial"/>
              </a:rPr>
              <a:t>see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has </a:t>
            </a:r>
            <a:r>
              <a:rPr b="0" lang="en-US" sz="2000" spc="-1" strike="noStrike">
                <a:latin typeface="Arial"/>
              </a:rPr>
              <a:t>much </a:t>
            </a:r>
            <a:r>
              <a:rPr b="0" lang="en-US" sz="2000" spc="-1" strike="noStrike">
                <a:latin typeface="Arial"/>
              </a:rPr>
              <a:t>more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ared </a:t>
            </a:r>
            <a:r>
              <a:rPr b="0" lang="en-US" sz="2000" spc="-1" strike="noStrike">
                <a:latin typeface="Arial"/>
              </a:rPr>
              <a:t>to the </a:t>
            </a:r>
            <a:r>
              <a:rPr b="0" lang="en-US" sz="2000" spc="-1" strike="noStrike">
                <a:latin typeface="Arial"/>
              </a:rPr>
              <a:t>seco</a:t>
            </a:r>
            <a:r>
              <a:rPr b="0" lang="en-US" sz="2000" spc="-1" strike="noStrike">
                <a:latin typeface="Arial"/>
              </a:rPr>
              <a:t>nd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. In </a:t>
            </a:r>
            <a:r>
              <a:rPr b="0" lang="en-US" sz="2000" spc="-1" strike="noStrike">
                <a:latin typeface="Arial"/>
              </a:rPr>
              <a:t>contr</a:t>
            </a:r>
            <a:r>
              <a:rPr b="0" lang="en-US" sz="2000" spc="-1" strike="noStrike">
                <a:latin typeface="Arial"/>
              </a:rPr>
              <a:t>ast,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rotate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s are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same </a:t>
            </a:r>
            <a:r>
              <a:rPr b="0" lang="en-US" sz="2000" spc="-1" strike="noStrike">
                <a:latin typeface="Arial"/>
              </a:rPr>
              <a:t>beca</a:t>
            </a:r>
            <a:r>
              <a:rPr b="0" lang="en-US" sz="2000" spc="-1" strike="noStrike">
                <a:latin typeface="Arial"/>
              </a:rPr>
              <a:t>use </a:t>
            </a:r>
            <a:r>
              <a:rPr b="0" lang="en-US" sz="2000" spc="-1" strike="noStrike">
                <a:latin typeface="Arial"/>
              </a:rPr>
              <a:t>Varim</a:t>
            </a:r>
            <a:r>
              <a:rPr b="0" lang="en-US" sz="2000" spc="-1" strike="noStrike">
                <a:latin typeface="Arial"/>
              </a:rPr>
              <a:t>ax </a:t>
            </a:r>
            <a:r>
              <a:rPr b="0" lang="en-US" sz="2000" spc="-1" strike="noStrike">
                <a:latin typeface="Arial"/>
              </a:rPr>
              <a:t>rotati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does </a:t>
            </a:r>
            <a:r>
              <a:rPr b="0" lang="en-US" sz="2000" spc="-1" strike="noStrike">
                <a:latin typeface="Arial"/>
              </a:rPr>
              <a:t>not </a:t>
            </a:r>
            <a:r>
              <a:rPr b="0" lang="en-US" sz="2000" spc="-1" strike="noStrike">
                <a:latin typeface="Arial"/>
              </a:rPr>
              <a:t>rotate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maxi</a:t>
            </a:r>
            <a:r>
              <a:rPr b="0" lang="en-US" sz="2000" spc="-1" strike="noStrike">
                <a:latin typeface="Arial"/>
              </a:rPr>
              <a:t>mize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. It </a:t>
            </a:r>
            <a:r>
              <a:rPr b="0" lang="en-US" sz="2000" spc="-1" strike="noStrike">
                <a:latin typeface="Arial"/>
              </a:rPr>
              <a:t>rotate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data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incre</a:t>
            </a:r>
            <a:r>
              <a:rPr b="0" lang="en-US" sz="2000" spc="-1" strike="noStrike">
                <a:latin typeface="Arial"/>
              </a:rPr>
              <a:t>ase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interp</a:t>
            </a:r>
            <a:r>
              <a:rPr b="0" lang="en-US" sz="2000" spc="-1" strike="noStrike">
                <a:latin typeface="Arial"/>
              </a:rPr>
              <a:t>retati</a:t>
            </a:r>
            <a:r>
              <a:rPr b="0" lang="en-US" sz="2000" spc="-1" strike="noStrike">
                <a:latin typeface="Arial"/>
              </a:rPr>
              <a:t>on. </a:t>
            </a:r>
            <a:r>
              <a:rPr b="0" lang="en-US" sz="2000" spc="-1" strike="noStrike">
                <a:latin typeface="Arial"/>
              </a:rPr>
              <a:t>Altho</a:t>
            </a:r>
            <a:r>
              <a:rPr b="0" lang="en-US" sz="2000" spc="-1" strike="noStrike">
                <a:latin typeface="Arial"/>
              </a:rPr>
              <a:t>ugh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have </a:t>
            </a:r>
            <a:r>
              <a:rPr b="0" lang="en-US" sz="2000" spc="-1" strike="noStrike">
                <a:latin typeface="Arial"/>
              </a:rPr>
              <a:t>differ</a:t>
            </a:r>
            <a:r>
              <a:rPr b="0" lang="en-US" sz="2000" spc="-1" strike="noStrike">
                <a:latin typeface="Arial"/>
              </a:rPr>
              <a:t>ent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after </a:t>
            </a:r>
            <a:r>
              <a:rPr b="0" lang="en-US" sz="2000" spc="-1" strike="noStrike">
                <a:latin typeface="Arial"/>
              </a:rPr>
              <a:t>Varim</a:t>
            </a:r>
            <a:r>
              <a:rPr b="0" lang="en-US" sz="2000" spc="-1" strike="noStrike">
                <a:latin typeface="Arial"/>
              </a:rPr>
              <a:t>ax </a:t>
            </a:r>
            <a:r>
              <a:rPr b="0" lang="en-US" sz="2000" spc="-1" strike="noStrike">
                <a:latin typeface="Arial"/>
              </a:rPr>
              <a:t>rotati</a:t>
            </a:r>
            <a:r>
              <a:rPr b="0" lang="en-US" sz="2000" spc="-1" strike="noStrike">
                <a:latin typeface="Arial"/>
              </a:rPr>
              <a:t>on,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total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nce </a:t>
            </a:r>
            <a:r>
              <a:rPr b="0" lang="en-US" sz="2000" spc="-1" strike="noStrike">
                <a:latin typeface="Arial"/>
              </a:rPr>
              <a:t>hasn’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chan</a:t>
            </a:r>
            <a:r>
              <a:rPr b="0" lang="en-US" sz="2000" spc="-1" strike="noStrike">
                <a:latin typeface="Arial"/>
              </a:rPr>
              <a:t>ged.</a:t>
            </a:r>
            <a:r>
              <a:rPr b="0" lang="en-US" sz="2000" spc="-1" strike="noStrike">
                <a:latin typeface="Arial"/>
              </a:rPr>
              <a:t>	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5D1FF5-A958-4F80-B18E-3995AA8C3D4E}" type="slidenum">
              <a:rPr b="0" lang="en-US" sz="1200" spc="-1" strike="noStrike">
                <a:latin typeface="Times New Roman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loadi</a:t>
            </a:r>
            <a:r>
              <a:rPr b="0" lang="en-US" sz="2000" spc="-1" strike="noStrike">
                <a:latin typeface="Arial"/>
              </a:rPr>
              <a:t>ngs </a:t>
            </a:r>
            <a:r>
              <a:rPr b="0" lang="en-US" sz="2000" spc="-1" strike="noStrike">
                <a:latin typeface="Arial"/>
              </a:rPr>
              <a:t>after </a:t>
            </a:r>
            <a:r>
              <a:rPr b="0" lang="en-US" sz="2000" spc="-1" strike="noStrike">
                <a:latin typeface="Arial"/>
              </a:rPr>
              <a:t>Varim</a:t>
            </a:r>
            <a:r>
              <a:rPr b="0" lang="en-US" sz="2000" spc="-1" strike="noStrike">
                <a:latin typeface="Arial"/>
              </a:rPr>
              <a:t>ax </a:t>
            </a:r>
            <a:r>
              <a:rPr b="0" lang="en-US" sz="2000" spc="-1" strike="noStrike">
                <a:latin typeface="Arial"/>
              </a:rPr>
              <a:t>rotati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corre</a:t>
            </a:r>
            <a:r>
              <a:rPr b="0" lang="en-US" sz="2000" spc="-1" strike="noStrike">
                <a:latin typeface="Arial"/>
              </a:rPr>
              <a:t>spon</a:t>
            </a:r>
            <a:r>
              <a:rPr b="0" lang="en-US" sz="2000" spc="-1" strike="noStrike">
                <a:latin typeface="Arial"/>
              </a:rPr>
              <a:t>d to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rotate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 and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bles.</a:t>
            </a:r>
            <a:r>
              <a:rPr b="0" lang="en-US" sz="2000" spc="-1" strike="noStrike">
                <a:latin typeface="Arial"/>
              </a:rPr>
              <a:t>	</a:t>
            </a:r>
            <a:endParaRPr b="0" lang="en-CA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exam</a:t>
            </a:r>
            <a:r>
              <a:rPr b="0" lang="en-US" sz="2000" spc="-1" strike="noStrike">
                <a:latin typeface="Arial"/>
              </a:rPr>
              <a:t>ple,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Pears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coeffi</a:t>
            </a:r>
            <a:r>
              <a:rPr b="0" lang="en-US" sz="2000" spc="-1" strike="noStrike">
                <a:latin typeface="Arial"/>
              </a:rPr>
              <a:t>cient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rotate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diast</a:t>
            </a:r>
            <a:r>
              <a:rPr b="0" lang="en-US" sz="2000" spc="-1" strike="noStrike">
                <a:latin typeface="Arial"/>
              </a:rPr>
              <a:t>olic </a:t>
            </a:r>
            <a:r>
              <a:rPr b="0" lang="en-US" sz="2000" spc="-1" strike="noStrike">
                <a:latin typeface="Arial"/>
              </a:rPr>
              <a:t>blood </a:t>
            </a:r>
            <a:r>
              <a:rPr b="0" lang="en-US" sz="2000" spc="-1" strike="noStrike">
                <a:latin typeface="Arial"/>
              </a:rPr>
              <a:t>press</a:t>
            </a:r>
            <a:r>
              <a:rPr b="0" lang="en-US" sz="2000" spc="-1" strike="noStrike">
                <a:latin typeface="Arial"/>
              </a:rPr>
              <a:t>ure is </a:t>
            </a:r>
            <a:r>
              <a:rPr b="0" lang="en-US" sz="2000" spc="-1" strike="noStrike">
                <a:latin typeface="Arial"/>
              </a:rPr>
              <a:t>-0.97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betw</a:t>
            </a:r>
            <a:r>
              <a:rPr b="0" lang="en-US" sz="2000" spc="-1" strike="noStrike">
                <a:latin typeface="Arial"/>
              </a:rPr>
              <a:t>een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rotate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2 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body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 is </a:t>
            </a:r>
            <a:r>
              <a:rPr b="0" lang="en-US" sz="2000" spc="-1" strike="noStrike">
                <a:latin typeface="Arial"/>
              </a:rPr>
              <a:t>also -</a:t>
            </a:r>
            <a:r>
              <a:rPr b="0" lang="en-US" sz="2000" spc="-1" strike="noStrike">
                <a:latin typeface="Arial"/>
              </a:rPr>
              <a:t>0.97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75F7FD9-20DB-4367-B37E-D65F620A394D}" type="slidenum">
              <a:rPr b="0" lang="en-US" sz="1200" spc="-1" strike="noStrike">
                <a:latin typeface="Times New Roman"/>
              </a:rPr>
              <a:t>1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51E855-2CD2-4E2E-A7C1-6F5D5BA03F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8ABE32-E665-43E2-A38D-FDD51BA8A7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21EDCE-7375-4989-92D4-C5C4BBEBCA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43A9E9-69B4-4F65-BEAC-17DCA5CEB1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BC54C6-C7D4-4704-B5B9-8E32FB5123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A5C439-7AB7-46F6-93FA-F1C28E8247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2087EA-9673-4A5A-B107-80BA3F7D0D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939F40-EAE5-443C-ABA9-3B3B0D9A3D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ABAE84-0FF4-415D-87F1-E148F2CE2B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4C9BBD-0003-407F-B6C8-FD2D131290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672187-693D-417C-A117-3D56D1962D4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38DCC3-DA60-4C58-A937-8E553E9925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FE04AB-7D0D-4157-BFBF-5DB829E806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EE2AA0-7931-4DF7-B9FF-8AB8170A48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1921D1-AE83-4927-A26B-3F33EB4B95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CC7608-5ABC-45DC-896F-FC862F9F77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E5AB38-FC22-4EA5-B57B-9599B88AD5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20B6F8-17C0-4D48-B5F6-8DBCAD64D8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97AF42-D962-4BED-9D2F-52B2D868C7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5289A0-171A-4BA2-8958-59A4C0BA6E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CB62EE-6C7F-4B80-A316-86DF95781B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41C066-1C48-47C4-B2B8-184C945060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D39F8D-D94D-4F3A-880F-000D5520B1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7D37F5-8C37-4AC0-810F-A20E4DE5913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ck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to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ed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it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M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as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ter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titl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e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st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yl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CA" sz="1400" spc="-1" strike="noStrike"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A4B95F7-D084-4FB8-98D8-56950591F0A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k to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Ma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ster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styl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CA" sz="1400" spc="-1" strike="noStrike"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6F0494-6B19-4F16-8AF8-F160F6CA2AB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177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000000"/>
                </a:solidFill>
                <a:latin typeface="Calibri Light"/>
              </a:rPr>
              <a:t>PCA – </a:t>
            </a:r>
            <a:r>
              <a:rPr b="1" lang="en-US" sz="6000" spc="-1" strike="noStrike">
                <a:solidFill>
                  <a:srgbClr val="000000"/>
                </a:solidFill>
                <a:latin typeface="Calibri Light"/>
              </a:rPr>
              <a:t>Interp</a:t>
            </a:r>
            <a:r>
              <a:rPr b="1" lang="en-US" sz="6000" spc="-1" strike="noStrike">
                <a:solidFill>
                  <a:srgbClr val="000000"/>
                </a:solidFill>
                <a:latin typeface="Calibri Light"/>
              </a:rPr>
              <a:t>retati</a:t>
            </a:r>
            <a:r>
              <a:rPr b="1" lang="en-US" sz="6000" spc="-1" strike="noStrike">
                <a:solidFill>
                  <a:srgbClr val="000000"/>
                </a:solidFill>
                <a:latin typeface="Calibri Light"/>
              </a:rPr>
              <a:t>on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523880" y="2921400"/>
            <a:ext cx="9143640" cy="233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Different types of constrains</a:t>
            </a:r>
            <a:endParaRPr b="0" lang="en-CA" sz="3600" spc="-1" strike="noStrike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Varimax rotation</a:t>
            </a:r>
            <a:endParaRPr b="0" lang="en-CA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Interpret the weights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660240" y="4547520"/>
            <a:ext cx="10870920" cy="21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PC1 = </a:t>
            </a:r>
            <a:r>
              <a:rPr b="0" lang="en-US" sz="3200" spc="-1" strike="noStrike">
                <a:solidFill>
                  <a:srgbClr val="ff0000"/>
                </a:solidFill>
                <a:latin typeface="Calibri"/>
              </a:rPr>
              <a:t>-0.53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*DBP + </a:t>
            </a:r>
            <a:r>
              <a:rPr b="0" lang="en-US" sz="3200" spc="-1" strike="noStrike">
                <a:solidFill>
                  <a:srgbClr val="ff0000"/>
                </a:solidFill>
                <a:latin typeface="Calibri"/>
              </a:rPr>
              <a:t>(-0.5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)*SBP + </a:t>
            </a:r>
            <a:r>
              <a:rPr b="0" lang="en-US" sz="3200" spc="-1" strike="noStrike">
                <a:solidFill>
                  <a:srgbClr val="ff0000"/>
                </a:solidFill>
                <a:latin typeface="Calibri"/>
              </a:rPr>
              <a:t>0.48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*Weight + </a:t>
            </a:r>
            <a:r>
              <a:rPr b="0" lang="en-US" sz="3200" spc="-1" strike="noStrike">
                <a:solidFill>
                  <a:srgbClr val="ff0000"/>
                </a:solidFill>
                <a:latin typeface="Calibri"/>
              </a:rPr>
              <a:t>0.49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*Height</a:t>
            </a:r>
            <a:endParaRPr b="0" lang="en-CA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838080" y="365040"/>
            <a:ext cx="10070640" cy="31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endParaRPr b="0" lang="en-CA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CA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Component matrix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CA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93" name="Table 17"/>
          <p:cNvGraphicFramePr/>
          <p:nvPr/>
        </p:nvGraphicFramePr>
        <p:xfrm>
          <a:off x="3035160" y="2476440"/>
          <a:ext cx="5574960" cy="2425320"/>
        </p:xfrm>
        <a:graphic>
          <a:graphicData uri="http://schemas.openxmlformats.org/drawingml/2006/table">
            <a:tbl>
              <a:tblPr/>
              <a:tblGrid>
                <a:gridCol w="1487880"/>
                <a:gridCol w="2035080"/>
                <a:gridCol w="2052000"/>
              </a:tblGrid>
              <a:tr h="484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84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84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84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85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In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te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rp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re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th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w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g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ht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838080" y="4966560"/>
            <a:ext cx="10070640" cy="21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PC1 = </a:t>
            </a:r>
            <a:r>
              <a:rPr b="0" lang="en-US" sz="3200" spc="-1" strike="noStrike">
                <a:solidFill>
                  <a:srgbClr val="ff0000"/>
                </a:solidFill>
                <a:latin typeface="Calibri"/>
              </a:rPr>
              <a:t>-0.53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*DBP + (-0.5)*SBP + 0.48*Weight + 0.49*Height</a:t>
            </a:r>
            <a:endParaRPr b="0" lang="en-CA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96" name="Content Placeholder 5"/>
          <p:cNvGraphicFramePr/>
          <p:nvPr/>
        </p:nvGraphicFramePr>
        <p:xfrm>
          <a:off x="514440" y="1862280"/>
          <a:ext cx="3479400" cy="3561480"/>
        </p:xfrm>
        <a:graphic>
          <a:graphicData uri="http://schemas.openxmlformats.org/drawingml/2006/table">
            <a:tbl>
              <a:tblPr/>
              <a:tblGrid>
                <a:gridCol w="869760"/>
                <a:gridCol w="869760"/>
                <a:gridCol w="869760"/>
                <a:gridCol w="870120"/>
              </a:tblGrid>
              <a:tr h="465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65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(kg)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(cm)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386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0.93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-0.43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386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0.58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0.19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-2.05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-1.98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-0.43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1.39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-1.46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0.81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707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-0.31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97" name="TextBox 10"/>
          <p:cNvSpPr/>
          <p:nvPr/>
        </p:nvSpPr>
        <p:spPr>
          <a:xfrm>
            <a:off x="685800" y="1104840"/>
            <a:ext cx="6845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Data matrix (standardized data)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98" name="Table 11"/>
          <p:cNvGraphicFramePr/>
          <p:nvPr/>
        </p:nvGraphicFramePr>
        <p:xfrm>
          <a:off x="8458200" y="1835640"/>
          <a:ext cx="3047760" cy="3561480"/>
        </p:xfrm>
        <a:graphic>
          <a:graphicData uri="http://schemas.openxmlformats.org/drawingml/2006/table">
            <a:tbl>
              <a:tblPr/>
              <a:tblGrid>
                <a:gridCol w="725040"/>
                <a:gridCol w="774000"/>
                <a:gridCol w="774000"/>
                <a:gridCol w="774720"/>
              </a:tblGrid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-0.62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355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1.73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812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0.26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-1.05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2.35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-0.59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-2.47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0.41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-1.58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1.58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99" name="TextBox 12"/>
          <p:cNvSpPr/>
          <p:nvPr/>
        </p:nvSpPr>
        <p:spPr>
          <a:xfrm>
            <a:off x="8458200" y="1189080"/>
            <a:ext cx="3047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Score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pic>
        <p:nvPicPr>
          <p:cNvPr id="100" name="Picture 3" descr="Chart, scatter chart&#10;&#10;Description automatically generated"/>
          <p:cNvPicPr/>
          <p:nvPr/>
        </p:nvPicPr>
        <p:blipFill>
          <a:blip r:embed="rId1"/>
          <a:stretch/>
        </p:blipFill>
        <p:spPr>
          <a:xfrm>
            <a:off x="4457880" y="2158920"/>
            <a:ext cx="3720600" cy="253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In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te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rp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re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th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w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g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ht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838080" y="4966560"/>
            <a:ext cx="10070640" cy="21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PC1 = -0.53*DBP + (-0.5)*SBP + </a:t>
            </a:r>
            <a:r>
              <a:rPr b="0" lang="en-US" sz="3200" spc="-1" strike="noStrike">
                <a:solidFill>
                  <a:srgbClr val="ff0000"/>
                </a:solidFill>
                <a:latin typeface="Calibri"/>
              </a:rPr>
              <a:t>0.48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*Weight + 0.49*Height</a:t>
            </a:r>
            <a:endParaRPr b="0" lang="en-CA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103" name="Content Placeholder 5"/>
          <p:cNvGraphicFramePr/>
          <p:nvPr/>
        </p:nvGraphicFramePr>
        <p:xfrm>
          <a:off x="495360" y="1891440"/>
          <a:ext cx="3606480" cy="3505680"/>
        </p:xfrm>
        <a:graphic>
          <a:graphicData uri="http://schemas.openxmlformats.org/drawingml/2006/table">
            <a:tbl>
              <a:tblPr/>
              <a:tblGrid>
                <a:gridCol w="911520"/>
                <a:gridCol w="898200"/>
                <a:gridCol w="898200"/>
                <a:gridCol w="898560"/>
              </a:tblGrid>
              <a:tr h="458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58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(kg)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(cm)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347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0.93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46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-0.43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347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0.58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46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0.19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46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-2.05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-1.98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46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-0.43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46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1.39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-1.46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46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46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0.81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67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-0.31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04" name="TextBox 10"/>
          <p:cNvSpPr/>
          <p:nvPr/>
        </p:nvSpPr>
        <p:spPr>
          <a:xfrm>
            <a:off x="685800" y="1104840"/>
            <a:ext cx="6845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Data matrix (standardized data)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105" name="Table 11"/>
          <p:cNvGraphicFramePr/>
          <p:nvPr/>
        </p:nvGraphicFramePr>
        <p:xfrm>
          <a:off x="8458200" y="1835640"/>
          <a:ext cx="3047760" cy="3561480"/>
        </p:xfrm>
        <a:graphic>
          <a:graphicData uri="http://schemas.openxmlformats.org/drawingml/2006/table">
            <a:tbl>
              <a:tblPr/>
              <a:tblGrid>
                <a:gridCol w="725040"/>
                <a:gridCol w="774000"/>
                <a:gridCol w="774000"/>
                <a:gridCol w="774720"/>
              </a:tblGrid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-0.62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355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1.73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812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0.26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-1.05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2.35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-0.59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-2.47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0.41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-1.58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1.58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06" name="TextBox 12"/>
          <p:cNvSpPr/>
          <p:nvPr/>
        </p:nvSpPr>
        <p:spPr>
          <a:xfrm>
            <a:off x="8458200" y="1189080"/>
            <a:ext cx="3047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Score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pic>
        <p:nvPicPr>
          <p:cNvPr id="107" name="Picture 4" descr="Chart, scatter chart&#10;&#10;Description automatically generated"/>
          <p:cNvPicPr/>
          <p:nvPr/>
        </p:nvPicPr>
        <p:blipFill>
          <a:blip r:embed="rId1"/>
          <a:stretch/>
        </p:blipFill>
        <p:spPr>
          <a:xfrm>
            <a:off x="4451400" y="2165400"/>
            <a:ext cx="3898440" cy="252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In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te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rp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re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th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w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g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ht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TextBox 7"/>
          <p:cNvSpPr/>
          <p:nvPr/>
        </p:nvSpPr>
        <p:spPr>
          <a:xfrm>
            <a:off x="838080" y="4966560"/>
            <a:ext cx="100706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sp>
        <p:nvSpPr>
          <p:cNvPr id="110" name="TextBox 12"/>
          <p:cNvSpPr/>
          <p:nvPr/>
        </p:nvSpPr>
        <p:spPr>
          <a:xfrm>
            <a:off x="8458200" y="1189080"/>
            <a:ext cx="3047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sp>
        <p:nvSpPr>
          <p:cNvPr id="111" name="TextBox 8"/>
          <p:cNvSpPr/>
          <p:nvPr/>
        </p:nvSpPr>
        <p:spPr>
          <a:xfrm>
            <a:off x="1060200" y="1539360"/>
            <a:ext cx="34743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Component Matrix</a:t>
            </a:r>
            <a:endParaRPr b="0" lang="en-CA" sz="2800" spc="-1" strike="noStrike">
              <a:latin typeface="Arial"/>
            </a:endParaRPr>
          </a:p>
        </p:txBody>
      </p:sp>
      <p:pic>
        <p:nvPicPr>
          <p:cNvPr id="112" name="Picture 15" descr="Chart&#10;&#10;Description automatically generated"/>
          <p:cNvPicPr/>
          <p:nvPr/>
        </p:nvPicPr>
        <p:blipFill>
          <a:blip r:embed="rId1"/>
          <a:stretch/>
        </p:blipFill>
        <p:spPr>
          <a:xfrm>
            <a:off x="6095880" y="2579760"/>
            <a:ext cx="4140000" cy="58320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17" descr="A picture containing text, clock&#10;&#10;Description automatically generated"/>
          <p:cNvPicPr/>
          <p:nvPr/>
        </p:nvPicPr>
        <p:blipFill>
          <a:blip r:embed="rId2"/>
          <a:stretch/>
        </p:blipFill>
        <p:spPr>
          <a:xfrm>
            <a:off x="6095880" y="3795120"/>
            <a:ext cx="4140000" cy="77436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19" descr=""/>
          <p:cNvPicPr/>
          <p:nvPr/>
        </p:nvPicPr>
        <p:blipFill>
          <a:blip r:embed="rId3"/>
          <a:stretch/>
        </p:blipFill>
        <p:spPr>
          <a:xfrm>
            <a:off x="6095880" y="5198400"/>
            <a:ext cx="6082920" cy="7362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15" name="Table 20"/>
          <p:cNvGraphicFramePr/>
          <p:nvPr/>
        </p:nvGraphicFramePr>
        <p:xfrm>
          <a:off x="838080" y="2529720"/>
          <a:ext cx="4140000" cy="3305160"/>
        </p:xfrm>
        <a:graphic>
          <a:graphicData uri="http://schemas.openxmlformats.org/drawingml/2006/table">
            <a:tbl>
              <a:tblPr/>
              <a:tblGrid>
                <a:gridCol w="1104840"/>
                <a:gridCol w="1511280"/>
                <a:gridCol w="1523880"/>
              </a:tblGrid>
              <a:tr h="6609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6609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6609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6609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6613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In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te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rp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re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th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w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g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ht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TextBox 12"/>
          <p:cNvSpPr/>
          <p:nvPr/>
        </p:nvSpPr>
        <p:spPr>
          <a:xfrm>
            <a:off x="8458200" y="1189080"/>
            <a:ext cx="3047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838080" y="1316520"/>
            <a:ext cx="27428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Component Matrix</a:t>
            </a:r>
            <a:endParaRPr b="0" lang="en-CA" sz="2000" spc="-1" strike="noStrike">
              <a:latin typeface="Arial"/>
            </a:endParaRPr>
          </a:p>
        </p:txBody>
      </p:sp>
      <p:graphicFrame>
        <p:nvGraphicFramePr>
          <p:cNvPr id="119" name="Table 2"/>
          <p:cNvGraphicFramePr/>
          <p:nvPr/>
        </p:nvGraphicFramePr>
        <p:xfrm>
          <a:off x="7302600" y="1891440"/>
          <a:ext cx="3606480" cy="2570760"/>
        </p:xfrm>
        <a:graphic>
          <a:graphicData uri="http://schemas.openxmlformats.org/drawingml/2006/table">
            <a:tbl>
              <a:tblPr/>
              <a:tblGrid>
                <a:gridCol w="858240"/>
                <a:gridCol w="915840"/>
                <a:gridCol w="915840"/>
                <a:gridCol w="916560"/>
              </a:tblGrid>
              <a:tr h="2311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311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455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48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264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-1.05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311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2.35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311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311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-2.47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311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311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-1.58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325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0" name="Table 3"/>
          <p:cNvGraphicFramePr/>
          <p:nvPr/>
        </p:nvGraphicFramePr>
        <p:xfrm>
          <a:off x="6451560" y="4462560"/>
          <a:ext cx="4457160" cy="503640"/>
        </p:xfrm>
        <a:graphic>
          <a:graphicData uri="http://schemas.openxmlformats.org/drawingml/2006/table">
            <a:tbl>
              <a:tblPr/>
              <a:tblGrid>
                <a:gridCol w="863280"/>
                <a:gridCol w="838080"/>
                <a:gridCol w="914400"/>
                <a:gridCol w="939600"/>
                <a:gridCol w="901800"/>
              </a:tblGrid>
              <a:tr h="503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2.41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pic>
        <p:nvPicPr>
          <p:cNvPr id="121" name="Picture 11" descr="Diagram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4053960" y="2541960"/>
            <a:ext cx="2986560" cy="558360"/>
          </a:xfrm>
          <a:prstGeom prst="rect">
            <a:avLst/>
          </a:prstGeom>
          <a:ln w="0">
            <a:noFill/>
          </a:ln>
        </p:spPr>
      </p:pic>
      <p:pic>
        <p:nvPicPr>
          <p:cNvPr id="122" name="Picture 14" descr="Shape&#10;&#10;Description automatically generated"/>
          <p:cNvPicPr/>
          <p:nvPr/>
        </p:nvPicPr>
        <p:blipFill>
          <a:blip r:embed="rId2"/>
          <a:stretch/>
        </p:blipFill>
        <p:spPr>
          <a:xfrm>
            <a:off x="469800" y="4083480"/>
            <a:ext cx="4888800" cy="6220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23" name="Table 16"/>
          <p:cNvGraphicFramePr/>
          <p:nvPr/>
        </p:nvGraphicFramePr>
        <p:xfrm>
          <a:off x="685800" y="4966560"/>
          <a:ext cx="2895120" cy="1281600"/>
        </p:xfrm>
        <a:graphic>
          <a:graphicData uri="http://schemas.openxmlformats.org/drawingml/2006/table">
            <a:tbl>
              <a:tblPr/>
              <a:tblGrid>
                <a:gridCol w="914040"/>
                <a:gridCol w="927000"/>
                <a:gridCol w="1054080"/>
              </a:tblGrid>
              <a:tr h="2563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632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632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pic>
        <p:nvPicPr>
          <p:cNvPr id="124" name="Picture 20" descr="A picture containing text&#10;&#10;Description automatically generated"/>
          <p:cNvPicPr/>
          <p:nvPr/>
        </p:nvPicPr>
        <p:blipFill>
          <a:blip r:embed="rId3"/>
          <a:stretch/>
        </p:blipFill>
        <p:spPr>
          <a:xfrm>
            <a:off x="6451560" y="5470560"/>
            <a:ext cx="4000320" cy="507600"/>
          </a:xfrm>
          <a:prstGeom prst="rect">
            <a:avLst/>
          </a:prstGeom>
          <a:ln w="0">
            <a:noFill/>
          </a:ln>
        </p:spPr>
      </p:pic>
      <p:sp>
        <p:nvSpPr>
          <p:cNvPr id="125" name="TextBox 23"/>
          <p:cNvSpPr/>
          <p:nvPr/>
        </p:nvSpPr>
        <p:spPr>
          <a:xfrm>
            <a:off x="8547120" y="1316520"/>
            <a:ext cx="1149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Score</a:t>
            </a: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126" name="Table 25"/>
          <p:cNvGraphicFramePr/>
          <p:nvPr/>
        </p:nvGraphicFramePr>
        <p:xfrm>
          <a:off x="685800" y="1891440"/>
          <a:ext cx="2895120" cy="1616760"/>
        </p:xfrm>
        <a:graphic>
          <a:graphicData uri="http://schemas.openxmlformats.org/drawingml/2006/table">
            <a:tbl>
              <a:tblPr/>
              <a:tblGrid>
                <a:gridCol w="939600"/>
                <a:gridCol w="889920"/>
                <a:gridCol w="1065600"/>
              </a:tblGrid>
              <a:tr h="2952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3452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520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520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In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te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rp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re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th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w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g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ht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28" name="Content Placeholder 5"/>
          <p:cNvGraphicFramePr/>
          <p:nvPr/>
        </p:nvGraphicFramePr>
        <p:xfrm>
          <a:off x="533520" y="1904400"/>
          <a:ext cx="3479400" cy="3561480"/>
        </p:xfrm>
        <a:graphic>
          <a:graphicData uri="http://schemas.openxmlformats.org/drawingml/2006/table">
            <a:tbl>
              <a:tblPr/>
              <a:tblGrid>
                <a:gridCol w="869760"/>
                <a:gridCol w="869760"/>
                <a:gridCol w="869760"/>
                <a:gridCol w="870120"/>
              </a:tblGrid>
              <a:tr h="465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65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(kg)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(cm)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386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0.93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-0.43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386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0.58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0.19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-2.05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-1.98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-0.43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1.39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-1.46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0.81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707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-0.31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29" name="TextBox 10"/>
          <p:cNvSpPr/>
          <p:nvPr/>
        </p:nvSpPr>
        <p:spPr>
          <a:xfrm>
            <a:off x="685800" y="1104840"/>
            <a:ext cx="6845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Data matrix (standardized data)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130" name="Table 11"/>
          <p:cNvGraphicFramePr/>
          <p:nvPr/>
        </p:nvGraphicFramePr>
        <p:xfrm>
          <a:off x="8458200" y="1835640"/>
          <a:ext cx="3047760" cy="3561480"/>
        </p:xfrm>
        <a:graphic>
          <a:graphicData uri="http://schemas.openxmlformats.org/drawingml/2006/table">
            <a:tbl>
              <a:tblPr/>
              <a:tblGrid>
                <a:gridCol w="725040"/>
                <a:gridCol w="774000"/>
                <a:gridCol w="774000"/>
                <a:gridCol w="774720"/>
              </a:tblGrid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-0.62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355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1.73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812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0.26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-1.05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2.35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-0.59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-2.47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0.41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-1.58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6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1.58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31" name="TextBox 12"/>
          <p:cNvSpPr/>
          <p:nvPr/>
        </p:nvSpPr>
        <p:spPr>
          <a:xfrm>
            <a:off x="8458200" y="1189080"/>
            <a:ext cx="3047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Score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pic>
        <p:nvPicPr>
          <p:cNvPr id="132" name="Picture 3" descr="Chart, scatter chart&#10;&#10;Description automatically generated"/>
          <p:cNvPicPr/>
          <p:nvPr/>
        </p:nvPicPr>
        <p:blipFill>
          <a:blip r:embed="rId1"/>
          <a:stretch/>
        </p:blipFill>
        <p:spPr>
          <a:xfrm>
            <a:off x="4457880" y="2158920"/>
            <a:ext cx="3720600" cy="25398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33" name="Table 8"/>
          <p:cNvGraphicFramePr/>
          <p:nvPr/>
        </p:nvGraphicFramePr>
        <p:xfrm>
          <a:off x="4572000" y="4991040"/>
          <a:ext cx="3327120" cy="1501560"/>
        </p:xfrm>
        <a:graphic>
          <a:graphicData uri="http://schemas.openxmlformats.org/drawingml/2006/table">
            <a:tbl>
              <a:tblPr/>
              <a:tblGrid>
                <a:gridCol w="887760"/>
                <a:gridCol w="1214280"/>
                <a:gridCol w="1225080"/>
              </a:tblGrid>
              <a:tr h="3002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024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024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V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ar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m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x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685800" y="1104840"/>
            <a:ext cx="36572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Component Matrix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136" name="Table 11"/>
          <p:cNvGraphicFramePr/>
          <p:nvPr/>
        </p:nvGraphicFramePr>
        <p:xfrm>
          <a:off x="7531200" y="2112480"/>
          <a:ext cx="3974760" cy="3225240"/>
        </p:xfrm>
        <a:graphic>
          <a:graphicData uri="http://schemas.openxmlformats.org/drawingml/2006/table">
            <a:tbl>
              <a:tblPr/>
              <a:tblGrid>
                <a:gridCol w="945720"/>
                <a:gridCol w="1009440"/>
                <a:gridCol w="1009440"/>
                <a:gridCol w="1010160"/>
              </a:tblGrid>
              <a:tr h="2908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PC3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PC4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08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-0.62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-1.14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-0.14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92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1.73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-1.32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-0.16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0.14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510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0.26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-1.35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0.65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30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-1.05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0.06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08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2.35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1.68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-0.28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08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-0.59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1.43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08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-2.47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-0.06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-0.17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08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0.41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1.51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0.32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-0.24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08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-1.58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0.19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0.03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08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1.58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-1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-0.13</a:t>
                      </a:r>
                      <a:endParaRPr b="0" lang="en-CA" sz="16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2"/>
          <p:cNvSpPr/>
          <p:nvPr/>
        </p:nvSpPr>
        <p:spPr>
          <a:xfrm>
            <a:off x="8458200" y="1041120"/>
            <a:ext cx="3047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Score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138" name="Table 5"/>
          <p:cNvGraphicFramePr/>
          <p:nvPr/>
        </p:nvGraphicFramePr>
        <p:xfrm>
          <a:off x="6311880" y="5355000"/>
          <a:ext cx="5194080" cy="1194480"/>
        </p:xfrm>
        <a:graphic>
          <a:graphicData uri="http://schemas.openxmlformats.org/drawingml/2006/table">
            <a:tbl>
              <a:tblPr/>
              <a:tblGrid>
                <a:gridCol w="1231560"/>
                <a:gridCol w="927000"/>
                <a:gridCol w="1028520"/>
                <a:gridCol w="990360"/>
                <a:gridCol w="1016640"/>
              </a:tblGrid>
              <a:tr h="37908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2.41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908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% var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60.20%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36.20%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2.50%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1.10%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3632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Cum %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60.20%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96.40%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98.90%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2"/>
          <p:cNvGraphicFramePr/>
          <p:nvPr/>
        </p:nvGraphicFramePr>
        <p:xfrm>
          <a:off x="838080" y="2112480"/>
          <a:ext cx="3414600" cy="2014560"/>
        </p:xfrm>
        <a:graphic>
          <a:graphicData uri="http://schemas.openxmlformats.org/drawingml/2006/table">
            <a:tbl>
              <a:tblPr/>
              <a:tblGrid>
                <a:gridCol w="911160"/>
                <a:gridCol w="1246320"/>
                <a:gridCol w="1257120"/>
              </a:tblGrid>
              <a:tr h="4028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359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359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0284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0284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V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ar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m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x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685800" y="1104840"/>
            <a:ext cx="6845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Component Matrix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pic>
        <p:nvPicPr>
          <p:cNvPr id="142" name="Picture 6" descr="Chart, scatter chart&#10;&#10;Description automatically generated"/>
          <p:cNvPicPr/>
          <p:nvPr/>
        </p:nvPicPr>
        <p:blipFill>
          <a:blip r:embed="rId1"/>
          <a:stretch/>
        </p:blipFill>
        <p:spPr>
          <a:xfrm>
            <a:off x="4307760" y="1537200"/>
            <a:ext cx="3193560" cy="226260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14" descr="Chart, diagram&#10;&#10;Description automatically generated"/>
          <p:cNvPicPr/>
          <p:nvPr/>
        </p:nvPicPr>
        <p:blipFill>
          <a:blip r:embed="rId2"/>
          <a:stretch/>
        </p:blipFill>
        <p:spPr>
          <a:xfrm>
            <a:off x="8304480" y="1537200"/>
            <a:ext cx="3302640" cy="2267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44" name="Table 15"/>
          <p:cNvGraphicFramePr/>
          <p:nvPr/>
        </p:nvGraphicFramePr>
        <p:xfrm>
          <a:off x="571680" y="4639680"/>
          <a:ext cx="2933640" cy="1510560"/>
        </p:xfrm>
        <a:graphic>
          <a:graphicData uri="http://schemas.openxmlformats.org/drawingml/2006/table">
            <a:tbl>
              <a:tblPr/>
              <a:tblGrid>
                <a:gridCol w="782640"/>
                <a:gridCol w="1070640"/>
                <a:gridCol w="1080360"/>
              </a:tblGrid>
              <a:tr h="3765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20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200">
                <a:tc>
                  <a:txBody>
                    <a:bodyPr lIns="9360" rIns="9360" tIns="936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" name="Table 16"/>
          <p:cNvGraphicFramePr/>
          <p:nvPr/>
        </p:nvGraphicFramePr>
        <p:xfrm>
          <a:off x="571680" y="2028240"/>
          <a:ext cx="2933640" cy="1562400"/>
        </p:xfrm>
        <a:graphic>
          <a:graphicData uri="http://schemas.openxmlformats.org/drawingml/2006/table">
            <a:tbl>
              <a:tblPr/>
              <a:tblGrid>
                <a:gridCol w="782640"/>
                <a:gridCol w="1070640"/>
                <a:gridCol w="1080360"/>
              </a:tblGrid>
              <a:tr h="312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248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248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46" name="TextBox 17"/>
          <p:cNvSpPr/>
          <p:nvPr/>
        </p:nvSpPr>
        <p:spPr>
          <a:xfrm>
            <a:off x="571680" y="4051440"/>
            <a:ext cx="2775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After varimax rotation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sp>
        <p:nvSpPr>
          <p:cNvPr id="147" name="TextBox 19"/>
          <p:cNvSpPr/>
          <p:nvPr/>
        </p:nvSpPr>
        <p:spPr>
          <a:xfrm>
            <a:off x="4307760" y="4639680"/>
            <a:ext cx="45054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Cutoff value = 0.65</a:t>
            </a:r>
            <a:endParaRPr b="0" lang="en-CA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Diastolic and Systolic load on component 1</a:t>
            </a:r>
            <a:endParaRPr b="0" lang="en-CA" sz="18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Weight and Height load on component 2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V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ar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m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x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685800" y="1104840"/>
            <a:ext cx="6845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Eigenvectors/ weights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150" name="Table 15"/>
          <p:cNvGraphicFramePr/>
          <p:nvPr/>
        </p:nvGraphicFramePr>
        <p:xfrm>
          <a:off x="571680" y="4639680"/>
          <a:ext cx="2933640" cy="1510560"/>
        </p:xfrm>
        <a:graphic>
          <a:graphicData uri="http://schemas.openxmlformats.org/drawingml/2006/table">
            <a:tbl>
              <a:tblPr/>
              <a:tblGrid>
                <a:gridCol w="782640"/>
                <a:gridCol w="1070640"/>
                <a:gridCol w="1080360"/>
              </a:tblGrid>
              <a:tr h="3765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20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820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" name="Table 16"/>
          <p:cNvGraphicFramePr/>
          <p:nvPr/>
        </p:nvGraphicFramePr>
        <p:xfrm>
          <a:off x="571680" y="2028240"/>
          <a:ext cx="2933640" cy="1562400"/>
        </p:xfrm>
        <a:graphic>
          <a:graphicData uri="http://schemas.openxmlformats.org/drawingml/2006/table">
            <a:tbl>
              <a:tblPr/>
              <a:tblGrid>
                <a:gridCol w="782640"/>
                <a:gridCol w="1070640"/>
                <a:gridCol w="1080360"/>
              </a:tblGrid>
              <a:tr h="312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248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248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52" name="TextBox 17"/>
          <p:cNvSpPr/>
          <p:nvPr/>
        </p:nvSpPr>
        <p:spPr>
          <a:xfrm>
            <a:off x="571680" y="4051440"/>
            <a:ext cx="27756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After varimax rotation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153" name="Table 2"/>
          <p:cNvGraphicFramePr/>
          <p:nvPr/>
        </p:nvGraphicFramePr>
        <p:xfrm>
          <a:off x="7835760" y="2028240"/>
          <a:ext cx="3225600" cy="1562400"/>
        </p:xfrm>
        <a:graphic>
          <a:graphicData uri="http://schemas.openxmlformats.org/drawingml/2006/table">
            <a:tbl>
              <a:tblPr/>
              <a:tblGrid>
                <a:gridCol w="990360"/>
                <a:gridCol w="1168200"/>
                <a:gridCol w="1067040"/>
              </a:tblGrid>
              <a:tr h="2653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8304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8304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532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0.75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-0.63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568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54" name="TextBox 3"/>
          <p:cNvSpPr/>
          <p:nvPr/>
        </p:nvSpPr>
        <p:spPr>
          <a:xfrm>
            <a:off x="8128080" y="1193760"/>
            <a:ext cx="2323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Loadings</a:t>
            </a:r>
            <a:endParaRPr b="0" lang="en-CA" sz="1800" spc="-1" strike="noStrike">
              <a:latin typeface="Arial"/>
            </a:endParaRPr>
          </a:p>
        </p:txBody>
      </p:sp>
      <p:pic>
        <p:nvPicPr>
          <p:cNvPr id="155" name="Picture 5" descr=""/>
          <p:cNvPicPr/>
          <p:nvPr/>
        </p:nvPicPr>
        <p:blipFill>
          <a:blip r:embed="rId1"/>
          <a:stretch/>
        </p:blipFill>
        <p:spPr>
          <a:xfrm>
            <a:off x="4000680" y="2440080"/>
            <a:ext cx="3441240" cy="4294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56" name="Table 7"/>
          <p:cNvGraphicFramePr/>
          <p:nvPr/>
        </p:nvGraphicFramePr>
        <p:xfrm>
          <a:off x="7835760" y="4639680"/>
          <a:ext cx="3225600" cy="1492200"/>
        </p:xfrm>
        <a:graphic>
          <a:graphicData uri="http://schemas.openxmlformats.org/drawingml/2006/table">
            <a:tbl>
              <a:tblPr/>
              <a:tblGrid>
                <a:gridCol w="860760"/>
                <a:gridCol w="1177200"/>
                <a:gridCol w="1187640"/>
              </a:tblGrid>
              <a:tr h="3384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747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-0.98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829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0.09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829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0.12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-0.97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57" name="TextBox 8"/>
          <p:cNvSpPr/>
          <p:nvPr/>
        </p:nvSpPr>
        <p:spPr>
          <a:xfrm>
            <a:off x="8186040" y="4051440"/>
            <a:ext cx="322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After varimax rotation</a:t>
            </a:r>
            <a:endParaRPr b="0" lang="en-CA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V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ar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m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x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TextBox 10"/>
          <p:cNvSpPr/>
          <p:nvPr/>
        </p:nvSpPr>
        <p:spPr>
          <a:xfrm>
            <a:off x="685800" y="1104840"/>
            <a:ext cx="30222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Standardized Scores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160" name="Table 6"/>
          <p:cNvGraphicFramePr/>
          <p:nvPr/>
        </p:nvGraphicFramePr>
        <p:xfrm>
          <a:off x="685800" y="2146320"/>
          <a:ext cx="3155040" cy="3682800"/>
        </p:xfrm>
        <a:graphic>
          <a:graphicData uri="http://schemas.openxmlformats.org/drawingml/2006/table">
            <a:tbl>
              <a:tblPr/>
              <a:tblGrid>
                <a:gridCol w="1571040"/>
                <a:gridCol w="1584000"/>
              </a:tblGrid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1.39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-1.59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-1.02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1.02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888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61" name="TextBox 9"/>
          <p:cNvSpPr/>
          <p:nvPr/>
        </p:nvSpPr>
        <p:spPr>
          <a:xfrm>
            <a:off x="3977640" y="3474720"/>
            <a:ext cx="54828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X</a:t>
            </a:r>
            <a:endParaRPr b="0" lang="en-CA" sz="2400" spc="-1" strike="noStrike">
              <a:latin typeface="Arial"/>
            </a:endParaRPr>
          </a:p>
        </p:txBody>
      </p:sp>
      <p:graphicFrame>
        <p:nvGraphicFramePr>
          <p:cNvPr id="162" name="Table 11"/>
          <p:cNvGraphicFramePr/>
          <p:nvPr/>
        </p:nvGraphicFramePr>
        <p:xfrm>
          <a:off x="4983480" y="3084840"/>
          <a:ext cx="2407680" cy="1156680"/>
        </p:xfrm>
        <a:graphic>
          <a:graphicData uri="http://schemas.openxmlformats.org/drawingml/2006/table">
            <a:tbl>
              <a:tblPr/>
              <a:tblGrid>
                <a:gridCol w="1213920"/>
                <a:gridCol w="1193760"/>
              </a:tblGrid>
              <a:tr h="5781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5785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63" name="TextBox 13"/>
          <p:cNvSpPr/>
          <p:nvPr/>
        </p:nvSpPr>
        <p:spPr>
          <a:xfrm>
            <a:off x="5242680" y="2666880"/>
            <a:ext cx="2003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Rotation matrix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164" name="TextBox 14"/>
          <p:cNvSpPr/>
          <p:nvPr/>
        </p:nvSpPr>
        <p:spPr>
          <a:xfrm>
            <a:off x="7594560" y="1242360"/>
            <a:ext cx="3543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Rotated Standardized Scores</a:t>
            </a: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165" name="Table 18"/>
          <p:cNvGraphicFramePr/>
          <p:nvPr/>
        </p:nvGraphicFramePr>
        <p:xfrm>
          <a:off x="8209440" y="2146320"/>
          <a:ext cx="2648880" cy="3682800"/>
        </p:xfrm>
        <a:graphic>
          <a:graphicData uri="http://schemas.openxmlformats.org/drawingml/2006/table">
            <a:tbl>
              <a:tblPr/>
              <a:tblGrid>
                <a:gridCol w="1319040"/>
                <a:gridCol w="1329840"/>
              </a:tblGrid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-1.56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2.06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1.08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1.07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67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0.14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888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66" name="TextBox 19"/>
          <p:cNvSpPr/>
          <p:nvPr/>
        </p:nvSpPr>
        <p:spPr>
          <a:xfrm>
            <a:off x="7594560" y="3429000"/>
            <a:ext cx="477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=</a:t>
            </a:r>
            <a:endParaRPr b="0" lang="en-CA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V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ar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m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x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" name="TextBox 14"/>
          <p:cNvSpPr/>
          <p:nvPr/>
        </p:nvSpPr>
        <p:spPr>
          <a:xfrm>
            <a:off x="6858000" y="1193760"/>
            <a:ext cx="3720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CA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Rotated Standardized Scores</a:t>
            </a: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169" name="Table 18"/>
          <p:cNvGraphicFramePr/>
          <p:nvPr/>
        </p:nvGraphicFramePr>
        <p:xfrm>
          <a:off x="1181160" y="2082960"/>
          <a:ext cx="3911400" cy="4076280"/>
        </p:xfrm>
        <a:graphic>
          <a:graphicData uri="http://schemas.openxmlformats.org/drawingml/2006/table">
            <a:tbl>
              <a:tblPr/>
              <a:tblGrid>
                <a:gridCol w="1947600"/>
                <a:gridCol w="1963800"/>
              </a:tblGrid>
              <a:tr h="339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39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39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-1.56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39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39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39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2.06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39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39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1.08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39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1.07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39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39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0.14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420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" name="Table 20"/>
          <p:cNvGraphicFramePr/>
          <p:nvPr/>
        </p:nvGraphicFramePr>
        <p:xfrm>
          <a:off x="6311880" y="2082960"/>
          <a:ext cx="3568320" cy="1066320"/>
        </p:xfrm>
        <a:graphic>
          <a:graphicData uri="http://schemas.openxmlformats.org/drawingml/2006/table">
            <a:tbl>
              <a:tblPr/>
              <a:tblGrid>
                <a:gridCol w="695880"/>
                <a:gridCol w="970560"/>
                <a:gridCol w="941400"/>
                <a:gridCol w="960480"/>
              </a:tblGrid>
              <a:tr h="5385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SUM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5281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1.94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1.92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3.86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1" name="Table 2"/>
          <p:cNvGraphicFramePr/>
          <p:nvPr/>
        </p:nvGraphicFramePr>
        <p:xfrm>
          <a:off x="6311880" y="3581280"/>
          <a:ext cx="3568320" cy="1066320"/>
        </p:xfrm>
        <a:graphic>
          <a:graphicData uri="http://schemas.openxmlformats.org/drawingml/2006/table">
            <a:tbl>
              <a:tblPr/>
              <a:tblGrid>
                <a:gridCol w="695880"/>
                <a:gridCol w="970560"/>
                <a:gridCol w="941400"/>
                <a:gridCol w="960480"/>
              </a:tblGrid>
              <a:tr h="5331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SUM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5331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2.41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3.86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72" name="TextBox 3"/>
          <p:cNvSpPr/>
          <p:nvPr/>
        </p:nvSpPr>
        <p:spPr>
          <a:xfrm>
            <a:off x="1765440" y="1498680"/>
            <a:ext cx="3568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Rotated Standardized Scores</a:t>
            </a:r>
            <a:endParaRPr b="0" lang="en-CA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828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V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ar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m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x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TextBox 14"/>
          <p:cNvSpPr/>
          <p:nvPr/>
        </p:nvSpPr>
        <p:spPr>
          <a:xfrm>
            <a:off x="7594560" y="1242360"/>
            <a:ext cx="3022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175" name="Table 18"/>
          <p:cNvGraphicFramePr/>
          <p:nvPr/>
        </p:nvGraphicFramePr>
        <p:xfrm>
          <a:off x="723960" y="2172600"/>
          <a:ext cx="3339720" cy="3884760"/>
        </p:xfrm>
        <a:graphic>
          <a:graphicData uri="http://schemas.openxmlformats.org/drawingml/2006/table">
            <a:tbl>
              <a:tblPr/>
              <a:tblGrid>
                <a:gridCol w="1625400"/>
                <a:gridCol w="1714320"/>
              </a:tblGrid>
              <a:tr h="323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RC1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3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-0.95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3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0.02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-1.56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3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-0.67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3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-0.45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3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2.06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3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0.56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3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-1.17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1.08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3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1.07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3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-0.61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364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0.14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47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var = 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76" name="TextBox 3"/>
          <p:cNvSpPr/>
          <p:nvPr/>
        </p:nvSpPr>
        <p:spPr>
          <a:xfrm>
            <a:off x="1130400" y="1498680"/>
            <a:ext cx="422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Rotated Standardized Scores</a:t>
            </a:r>
            <a:endParaRPr b="0" lang="en-CA" sz="1800" spc="-1" strike="noStrike">
              <a:latin typeface="Arial"/>
            </a:endParaRPr>
          </a:p>
        </p:txBody>
      </p:sp>
      <p:graphicFrame>
        <p:nvGraphicFramePr>
          <p:cNvPr id="177" name="Content Placeholder 5"/>
          <p:cNvGraphicFramePr/>
          <p:nvPr/>
        </p:nvGraphicFramePr>
        <p:xfrm>
          <a:off x="4673520" y="2172600"/>
          <a:ext cx="4000320" cy="3884760"/>
        </p:xfrm>
        <a:graphic>
          <a:graphicData uri="http://schemas.openxmlformats.org/drawingml/2006/table">
            <a:tbl>
              <a:tblPr/>
              <a:tblGrid>
                <a:gridCol w="1223280"/>
                <a:gridCol w="1009800"/>
                <a:gridCol w="970920"/>
                <a:gridCol w="796320"/>
              </a:tblGrid>
              <a:tr h="5076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Diastolic BP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5076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(mm Hg)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(kg)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(cm)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02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0.93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34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-0.43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02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0.58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34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0.19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34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-2.05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-1.98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34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-0.43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34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1.39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-1.46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34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34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0.81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52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-0.31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-0.33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1.44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" name="Table 4"/>
          <p:cNvGraphicFramePr/>
          <p:nvPr/>
        </p:nvGraphicFramePr>
        <p:xfrm>
          <a:off x="9169560" y="2172600"/>
          <a:ext cx="2539800" cy="1764000"/>
        </p:xfrm>
        <a:graphic>
          <a:graphicData uri="http://schemas.openxmlformats.org/drawingml/2006/table">
            <a:tbl>
              <a:tblPr/>
              <a:tblGrid>
                <a:gridCol w="968040"/>
                <a:gridCol w="701640"/>
                <a:gridCol w="870120"/>
              </a:tblGrid>
              <a:tr h="3204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RC2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539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-0.97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5396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-0.98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784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0.09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ff0000"/>
                          </a:solidFill>
                          <a:latin typeface="Calibri"/>
                        </a:rPr>
                        <a:t>-0.97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67840">
                <a:tc>
                  <a:txBody>
                    <a:bodyPr lIns="9360" rIns="9360" tIns="936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0.12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-0.97</a:t>
                      </a:r>
                      <a:endParaRPr b="0" lang="en-CA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Re</a:t>
            </a: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fe</a:t>
            </a: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re</a:t>
            </a: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nc</a:t>
            </a: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https://www.youtube.com/watch?v=BiuwDI_BbWw&amp;t=4s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000000"/>
                </a:solidFill>
                <a:latin typeface="Calibri"/>
              </a:rPr>
              <a:t>Thank you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3937</TotalTime>
  <Application>LibreOffice/7.3.7.2$Linux_X86_64 LibreOffice_project/30$Build-2</Application>
  <AppVersion>15.0000</AppVersion>
  <Words>2774</Words>
  <Paragraphs>864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2021-12-14T18:21:05Z</dcterms:created>
  <dc:creator>JESSICA Pham</dc:creator>
  <dc:description/>
  <dc:language>en-CA</dc:language>
  <cp:lastModifiedBy/>
  <dcterms:modified xsi:type="dcterms:W3CDTF">2023-05-14T13:08:51Z</dcterms:modified>
  <cp:revision>138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