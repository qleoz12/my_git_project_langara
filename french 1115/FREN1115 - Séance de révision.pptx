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68" r:id="rId6"/>
    <p:sldId id="270" r:id="rId7"/>
    <p:sldId id="271" r:id="rId8"/>
    <p:sldId id="260" r:id="rId9"/>
    <p:sldId id="272" r:id="rId10"/>
    <p:sldId id="261" r:id="rId11"/>
    <p:sldId id="273" r:id="rId12"/>
    <p:sldId id="262" r:id="rId13"/>
    <p:sldId id="274" r:id="rId14"/>
    <p:sldId id="263" r:id="rId15"/>
    <p:sldId id="275" r:id="rId16"/>
    <p:sldId id="264" r:id="rId17"/>
    <p:sldId id="276" r:id="rId18"/>
    <p:sldId id="265" r:id="rId19"/>
    <p:sldId id="277" r:id="rId20"/>
    <p:sldId id="266" r:id="rId21"/>
    <p:sldId id="278" r:id="rId22"/>
    <p:sldId id="287" r:id="rId23"/>
    <p:sldId id="288" r:id="rId24"/>
    <p:sldId id="289" r:id="rId25"/>
    <p:sldId id="293" r:id="rId26"/>
    <p:sldId id="291" r:id="rId27"/>
    <p:sldId id="290" r:id="rId28"/>
    <p:sldId id="292" r:id="rId29"/>
    <p:sldId id="294" r:id="rId30"/>
    <p:sldId id="295" r:id="rId31"/>
    <p:sldId id="280" r:id="rId32"/>
    <p:sldId id="281" r:id="rId33"/>
    <p:sldId id="279" r:id="rId34"/>
    <p:sldId id="282" r:id="rId35"/>
    <p:sldId id="283" r:id="rId36"/>
    <p:sldId id="285" r:id="rId37"/>
    <p:sldId id="284" r:id="rId38"/>
    <p:sldId id="286" r:id="rId39"/>
    <p:sldId id="296" r:id="rId40"/>
    <p:sldId id="297" r:id="rId41"/>
    <p:sldId id="298" r:id="rId42"/>
    <p:sldId id="299" r:id="rId43"/>
    <p:sldId id="300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 autoAdjust="0"/>
    <p:restoredTop sz="94660"/>
  </p:normalViewPr>
  <p:slideViewPr>
    <p:cSldViewPr>
      <p:cViewPr varScale="1">
        <p:scale>
          <a:sx n="66" d="100"/>
          <a:sy n="66" d="100"/>
        </p:scale>
        <p:origin x="-4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>
            <a:noAutofit/>
          </a:bodyPr>
          <a:lstStyle>
            <a:lvl1pPr algn="r">
              <a:defRPr sz="42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0575" y="6557963"/>
            <a:ext cx="2003425" cy="22701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A06AAC-5767-4926-A3AF-F4F23D468C68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7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63"/>
            <a:ext cx="2927350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 altLang="en-US"/>
          </a:p>
        </p:txBody>
      </p:sp>
      <p:sp>
        <p:nvSpPr>
          <p:cNvPr id="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350" y="6556375"/>
            <a:ext cx="588963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B407297-683C-4963-A63A-B6A481F120C8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94E75-96EE-4D7F-9C35-9D3569111F0E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4775D-0EF6-4B89-8727-985A6CB57489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anchor="t"/>
          <a:lstStyle>
            <a:lvl1pPr algn="r">
              <a:buNone/>
              <a:defRPr sz="42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400" y="6556375"/>
            <a:ext cx="2001838" cy="227013"/>
          </a:xfrm>
        </p:spPr>
        <p:txBody>
          <a:bodyPr/>
          <a:lstStyle>
            <a:lvl1pPr>
              <a:defRPr/>
            </a:lvl1pPr>
          </a:lstStyle>
          <a:p>
            <a:fld id="{AB12863E-AC03-4F59-B1E9-1E0DDEF22F0D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4175" y="6554788"/>
            <a:ext cx="587375" cy="228600"/>
          </a:xfrm>
        </p:spPr>
        <p:txBody>
          <a:bodyPr/>
          <a:lstStyle>
            <a:lvl1pPr>
              <a:defRPr/>
            </a:lvl1pPr>
          </a:lstStyle>
          <a:p>
            <a:fld id="{CEE8E9FB-D2F4-423D-AF5D-627653FAED3B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454D64-5BE4-4630-92EE-0A5947F5196B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15F9D-E56D-4677-8090-C159D461EB1A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DFEFBA-8F0B-4C0C-963B-27FE26A63C0A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D406E-30A3-4EED-9417-7545B365C746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54B248-304A-47A7-9393-6C9A4370D53F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74DC59-F7E0-4088-9C76-E75030D0FDA2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651595-A651-4419-B204-C1B9F63EE472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4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85792-A41C-402C-9517-E103AEC3D8AF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lIns="45720" tIns="0" rIns="0" bIns="0" spcCol="0" rtlCol="0" fromWordArt="0" forceAA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43010C-DDF1-40B9-A969-ADD26BC721CF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30E31-9A31-4702-9625-1B17D89270F9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21240000">
            <a:off x="598488" y="1004888"/>
            <a:ext cx="4319587" cy="431165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rot="21420000">
            <a:off x="596900" y="998538"/>
            <a:ext cx="4319588" cy="4313237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lIns="82296" tIns="0" rIns="0" bIns="0" spcCol="0" rtlCol="0" fromWordArt="0" forceAA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D7DCA8-E662-4CAD-8BB8-C822CA7C0B7D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F6FB1-618D-4EF2-9CFF-E7139C76EDB7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58E8E8-F159-4D6C-886F-C952CE3EF039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9A0724-4BE8-473E-8674-ACD73B7EB299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3388" y="6557963"/>
            <a:ext cx="2001837" cy="227012"/>
          </a:xfrm>
        </p:spPr>
        <p:txBody>
          <a:bodyPr/>
          <a:lstStyle>
            <a:lvl1pPr>
              <a:defRPr/>
            </a:lvl1pPr>
          </a:lstStyle>
          <a:p>
            <a:fld id="{9AAA7727-0313-4092-8CD1-B9D1DE5A705F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375"/>
            <a:ext cx="3657600" cy="228600"/>
          </a:xfrm>
        </p:spPr>
        <p:txBody>
          <a:bodyPr/>
          <a:lstStyle>
            <a:lvl1pPr>
              <a:defRPr/>
            </a:lvl1pPr>
          </a:lstStyle>
          <a:p>
            <a:endParaRPr lang="en-CA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750" y="6553200"/>
            <a:ext cx="587375" cy="228600"/>
          </a:xfrm>
        </p:spPr>
        <p:txBody>
          <a:bodyPr/>
          <a:lstStyle>
            <a:lvl1pPr>
              <a:defRPr/>
            </a:lvl1pPr>
          </a:lstStyle>
          <a:p>
            <a:fld id="{B86B6648-2A15-4764-8014-0E9B5D7C7D18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0" name="Text Placeholder 30"/>
          <p:cNvSpPr>
            <a:spLocks noGrp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6563" y="6557963"/>
            <a:ext cx="2001837" cy="227012"/>
          </a:xfrm>
          <a:prstGeom prst="rect">
            <a:avLst/>
          </a:prstGeom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A2FD4061-DABF-4818-9D43-3F908F2D4CF9}" type="datetimeFigureOut">
              <a:rPr lang="en-CA" altLang="en-US"/>
              <a:pPr/>
              <a:t>08/12/2015</a:t>
            </a:fld>
            <a:endParaRPr lang="en-CA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63"/>
            <a:ext cx="3657600" cy="228600"/>
          </a:xfrm>
          <a:prstGeom prst="rect">
            <a:avLst/>
          </a:prstGeom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endParaRPr lang="en-CA" alt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575" y="6556375"/>
            <a:ext cx="588963" cy="22860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DC6B814-1ED1-4014-B3B2-DB6D1191F022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74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5" r:id="rId9"/>
    <p:sldLayoutId id="2147483772" r:id="rId10"/>
    <p:sldLayoutId id="21474837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 kern="1200" cap="all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9pPr>
      <a:extLst/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itchFamily="18" charset="2"/>
        <a:buChar char="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20700" indent="-228600" algn="l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"/>
        <a:defRPr sz="2300" kern="1200">
          <a:solidFill>
            <a:srgbClr val="6C6C6C"/>
          </a:solidFill>
          <a:latin typeface="+mn-lt"/>
          <a:ea typeface="+mn-ea"/>
          <a:cs typeface="+mn-cs"/>
        </a:defRPr>
      </a:lvl2pPr>
      <a:lvl3pPr marL="7588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"/>
        <a:defRPr sz="2000" kern="1200">
          <a:solidFill>
            <a:srgbClr val="6C6C6C"/>
          </a:solidFill>
          <a:latin typeface="+mn-lt"/>
          <a:ea typeface="+mn-ea"/>
          <a:cs typeface="+mn-cs"/>
        </a:defRPr>
      </a:lvl4pPr>
      <a:lvl5pPr marL="12795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Top 10 des </a:t>
            </a:r>
            <a:r>
              <a:rPr lang="en-US" dirty="0" err="1" smtClean="0"/>
              <a:t>pièges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Sections A+D + General review</a:t>
            </a:r>
            <a:endParaRPr lang="en-CA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3354388" y="3540125"/>
            <a:ext cx="5114925" cy="1101725"/>
          </a:xfrm>
        </p:spPr>
        <p:txBody>
          <a:bodyPr/>
          <a:lstStyle/>
          <a:p>
            <a:pPr eaLnBrk="1" hangingPunct="1"/>
            <a:r>
              <a:rPr lang="en-US" altLang="en-US" smtClean="0"/>
              <a:t>Fren 1115</a:t>
            </a: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10. Les </a:t>
            </a:r>
            <a:r>
              <a:rPr lang="en-US" dirty="0" err="1" smtClean="0"/>
              <a:t>verbes</a:t>
            </a:r>
            <a:r>
              <a:rPr lang="en-US" dirty="0" smtClean="0"/>
              <a:t> en -</a:t>
            </a:r>
            <a:r>
              <a:rPr lang="en-US" dirty="0" err="1" smtClean="0"/>
              <a:t>er</a:t>
            </a:r>
            <a:endParaRPr lang="en-CA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Je _____ une chemise blanche.</a:t>
            </a:r>
          </a:p>
          <a:p>
            <a:pPr eaLnBrk="1" hangingPunct="1"/>
            <a:r>
              <a:rPr lang="en-US" altLang="en-US" smtClean="0"/>
              <a:t>Tu ________________ à un ami.</a:t>
            </a:r>
          </a:p>
          <a:p>
            <a:pPr eaLnBrk="1" hangingPunct="1"/>
            <a:r>
              <a:rPr lang="en-US" altLang="en-US" smtClean="0"/>
              <a:t>Il pleut, il fait froid et il _____.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On _____ dans le magasin.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Nous n’_______________ pas le rap.</a:t>
            </a:r>
          </a:p>
          <a:p>
            <a:pPr eaLnBrk="1" hangingPunct="1"/>
            <a:r>
              <a:rPr lang="en-US" altLang="en-US" smtClean="0"/>
              <a:t>Vous ______ trois heures à la bibliothèque.</a:t>
            </a:r>
          </a:p>
          <a:p>
            <a:pPr eaLnBrk="1" hangingPunct="1"/>
            <a:r>
              <a:rPr lang="en-US" altLang="en-US" smtClean="0"/>
              <a:t>Elles ______  aux échecs.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10. Les </a:t>
            </a:r>
            <a:r>
              <a:rPr lang="en-US" dirty="0" err="1" smtClean="0"/>
              <a:t>verbes</a:t>
            </a:r>
            <a:r>
              <a:rPr lang="en-US" dirty="0" smtClean="0"/>
              <a:t> en -</a:t>
            </a:r>
            <a:r>
              <a:rPr lang="en-US" dirty="0" err="1" smtClean="0"/>
              <a:t>er</a:t>
            </a:r>
            <a:endParaRPr lang="en-CA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Je </a:t>
            </a:r>
            <a:r>
              <a:rPr lang="en-US" altLang="en-US" b="1" smtClean="0">
                <a:solidFill>
                  <a:srgbClr val="00B0F0"/>
                </a:solidFill>
              </a:rPr>
              <a:t>porte</a:t>
            </a:r>
            <a:r>
              <a:rPr lang="en-US" altLang="en-US" smtClean="0"/>
              <a:t> une chemise blanche.</a:t>
            </a:r>
          </a:p>
          <a:p>
            <a:pPr eaLnBrk="1" hangingPunct="1"/>
            <a:r>
              <a:rPr lang="en-US" altLang="en-US" smtClean="0"/>
              <a:t>Tu </a:t>
            </a:r>
            <a:r>
              <a:rPr lang="en-US" altLang="en-US" b="1" smtClean="0">
                <a:solidFill>
                  <a:srgbClr val="00B0F0"/>
                </a:solidFill>
              </a:rPr>
              <a:t>parles/téléphones</a:t>
            </a:r>
            <a:r>
              <a:rPr lang="en-US" altLang="en-US" smtClean="0"/>
              <a:t> à un ami.</a:t>
            </a:r>
          </a:p>
          <a:p>
            <a:pPr eaLnBrk="1" hangingPunct="1"/>
            <a:r>
              <a:rPr lang="en-US" altLang="en-US" smtClean="0"/>
              <a:t>Il pleut, il fait froid et il </a:t>
            </a:r>
            <a:r>
              <a:rPr lang="en-US" altLang="en-US" b="1" smtClean="0">
                <a:solidFill>
                  <a:srgbClr val="00B0F0"/>
                </a:solidFill>
              </a:rPr>
              <a:t>neige</a:t>
            </a:r>
            <a:r>
              <a:rPr lang="en-US" altLang="en-US" smtClean="0"/>
              <a:t>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On </a:t>
            </a:r>
            <a:r>
              <a:rPr lang="en-US" altLang="en-US" b="1" smtClean="0">
                <a:solidFill>
                  <a:srgbClr val="00B0F0"/>
                </a:solidFill>
              </a:rPr>
              <a:t>entre</a:t>
            </a:r>
            <a:r>
              <a:rPr lang="en-US" altLang="en-US" b="1" smtClean="0"/>
              <a:t> </a:t>
            </a:r>
            <a:r>
              <a:rPr lang="en-US" altLang="en-US" smtClean="0"/>
              <a:t>dans le magasin.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Nous n’</a:t>
            </a:r>
            <a:r>
              <a:rPr lang="en-US" altLang="en-US" b="1" smtClean="0">
                <a:solidFill>
                  <a:srgbClr val="00B0F0"/>
                </a:solidFill>
              </a:rPr>
              <a:t>écoutons/aimons</a:t>
            </a:r>
            <a:r>
              <a:rPr lang="en-US" altLang="en-US" b="1" smtClean="0"/>
              <a:t> </a:t>
            </a:r>
            <a:r>
              <a:rPr lang="en-US" altLang="en-US" smtClean="0"/>
              <a:t>pas le rap.</a:t>
            </a:r>
          </a:p>
          <a:p>
            <a:pPr eaLnBrk="1" hangingPunct="1"/>
            <a:r>
              <a:rPr lang="en-US" altLang="en-US" smtClean="0"/>
              <a:t>Vous </a:t>
            </a:r>
            <a:r>
              <a:rPr lang="en-US" altLang="en-US" b="1" smtClean="0">
                <a:solidFill>
                  <a:srgbClr val="00B0F0"/>
                </a:solidFill>
              </a:rPr>
              <a:t>passez</a:t>
            </a:r>
            <a:r>
              <a:rPr lang="en-US" altLang="en-US" smtClean="0"/>
              <a:t> trois heures à la bibliothèque.</a:t>
            </a:r>
          </a:p>
          <a:p>
            <a:pPr eaLnBrk="1" hangingPunct="1"/>
            <a:r>
              <a:rPr lang="en-US" altLang="en-US" smtClean="0"/>
              <a:t>Elles </a:t>
            </a:r>
            <a:r>
              <a:rPr lang="en-US" altLang="en-US" b="1" smtClean="0">
                <a:solidFill>
                  <a:srgbClr val="00B0F0"/>
                </a:solidFill>
              </a:rPr>
              <a:t>jouent</a:t>
            </a:r>
            <a:r>
              <a:rPr lang="en-US" altLang="en-US" smtClean="0"/>
              <a:t> aux échecs.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9. La construction infinitive</a:t>
            </a:r>
            <a:endParaRPr lang="en-CA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Est-ce que tu veux _________ ? </a:t>
            </a:r>
            <a:r>
              <a:rPr lang="en-US" altLang="en-US" smtClean="0">
                <a:solidFill>
                  <a:srgbClr val="00B050"/>
                </a:solidFill>
              </a:rPr>
              <a:t>(to go out)</a:t>
            </a:r>
          </a:p>
          <a:p>
            <a:pPr eaLnBrk="1" hangingPunct="1"/>
            <a:r>
              <a:rPr lang="en-US" altLang="en-US" smtClean="0"/>
              <a:t>Est-ce que tu peux _____ ? </a:t>
            </a:r>
            <a:r>
              <a:rPr lang="en-US" altLang="en-US" smtClean="0">
                <a:solidFill>
                  <a:srgbClr val="00B050"/>
                </a:solidFill>
              </a:rPr>
              <a:t>(to do the dishes)</a:t>
            </a:r>
          </a:p>
          <a:p>
            <a:pPr eaLnBrk="1" hangingPunct="1"/>
            <a:r>
              <a:rPr lang="en-US" altLang="en-US" smtClean="0"/>
              <a:t>Qu’est-ce que tu aimes _________ ? </a:t>
            </a:r>
            <a:r>
              <a:rPr lang="en-US" altLang="en-US" smtClean="0">
                <a:solidFill>
                  <a:srgbClr val="00B050"/>
                </a:solidFill>
              </a:rPr>
              <a:t>(to eat)</a:t>
            </a:r>
          </a:p>
          <a:p>
            <a:pPr eaLnBrk="1" hangingPunct="1"/>
            <a:r>
              <a:rPr lang="en-US" altLang="en-US" smtClean="0"/>
              <a:t>Quand est-ce que tu dois _______ ? </a:t>
            </a:r>
            <a:r>
              <a:rPr lang="en-US" altLang="en-US" smtClean="0">
                <a:solidFill>
                  <a:srgbClr val="00B050"/>
                </a:solidFill>
              </a:rPr>
              <a:t>(to work)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solidFill>
                  <a:srgbClr val="00B0F0"/>
                </a:solidFill>
              </a:rPr>
              <a:t>ALLER</a:t>
            </a:r>
            <a:r>
              <a:rPr lang="en-US" altLang="en-US" smtClean="0"/>
              <a:t> + </a:t>
            </a:r>
            <a:r>
              <a:rPr lang="en-US" altLang="en-US" smtClean="0">
                <a:solidFill>
                  <a:srgbClr val="00B050"/>
                </a:solidFill>
              </a:rPr>
              <a:t>Infinitif</a:t>
            </a:r>
            <a:r>
              <a:rPr lang="en-US" altLang="en-US" smtClean="0"/>
              <a:t> </a:t>
            </a:r>
            <a:r>
              <a:rPr lang="en-US" altLang="en-US" smtClean="0">
                <a:sym typeface="Wingdings" pitchFamily="2" charset="2"/>
              </a:rPr>
              <a:t>= futur proche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sym typeface="Wingdings" pitchFamily="2" charset="2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sym typeface="Wingdings" pitchFamily="2" charset="2"/>
              </a:rPr>
              <a:t>Qu’est-ce que tu </a:t>
            </a:r>
            <a:r>
              <a:rPr lang="en-US" altLang="en-US" smtClean="0"/>
              <a:t>__ </a:t>
            </a:r>
            <a:r>
              <a:rPr lang="en-US" altLang="en-US" smtClean="0">
                <a:solidFill>
                  <a:srgbClr val="00B050"/>
                </a:solidFill>
              </a:rPr>
              <a:t>faire</a:t>
            </a:r>
            <a:r>
              <a:rPr lang="en-US" altLang="en-US" smtClean="0"/>
              <a:t>?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9. La construction infinitive</a:t>
            </a:r>
            <a:endParaRPr lang="en-CA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Est-ce que tu veux </a:t>
            </a:r>
            <a:r>
              <a:rPr lang="en-US" altLang="en-US" b="1" smtClean="0">
                <a:solidFill>
                  <a:srgbClr val="00B050"/>
                </a:solidFill>
              </a:rPr>
              <a:t>sortir</a:t>
            </a:r>
            <a:r>
              <a:rPr lang="en-US" altLang="en-US" smtClean="0"/>
              <a:t> ?</a:t>
            </a:r>
          </a:p>
          <a:p>
            <a:pPr eaLnBrk="1" hangingPunct="1"/>
            <a:r>
              <a:rPr lang="en-US" altLang="en-US" smtClean="0"/>
              <a:t>Est-ce que tu peux </a:t>
            </a:r>
            <a:r>
              <a:rPr lang="en-US" altLang="en-US" b="1" smtClean="0">
                <a:solidFill>
                  <a:srgbClr val="00B050"/>
                </a:solidFill>
              </a:rPr>
              <a:t>faire la vaisselle</a:t>
            </a:r>
            <a:r>
              <a:rPr lang="en-US" altLang="en-US" smtClean="0">
                <a:solidFill>
                  <a:srgbClr val="00B050"/>
                </a:solidFill>
              </a:rPr>
              <a:t> </a:t>
            </a:r>
            <a:r>
              <a:rPr lang="en-US" altLang="en-US" smtClean="0"/>
              <a:t>?</a:t>
            </a:r>
          </a:p>
          <a:p>
            <a:pPr eaLnBrk="1" hangingPunct="1"/>
            <a:r>
              <a:rPr lang="en-US" altLang="en-US" smtClean="0"/>
              <a:t>Qu’est-ce que tu aimes </a:t>
            </a:r>
            <a:r>
              <a:rPr lang="en-US" altLang="en-US" b="1" smtClean="0">
                <a:solidFill>
                  <a:srgbClr val="00B050"/>
                </a:solidFill>
              </a:rPr>
              <a:t>manger</a:t>
            </a:r>
            <a:r>
              <a:rPr lang="en-US" altLang="en-US" smtClean="0"/>
              <a:t> ?</a:t>
            </a:r>
          </a:p>
          <a:p>
            <a:pPr eaLnBrk="1" hangingPunct="1"/>
            <a:r>
              <a:rPr lang="en-US" altLang="en-US" smtClean="0"/>
              <a:t>Quand est-ce que tu dois</a:t>
            </a:r>
            <a:r>
              <a:rPr lang="en-US" altLang="en-US" smtClean="0">
                <a:solidFill>
                  <a:srgbClr val="00B050"/>
                </a:solidFill>
              </a:rPr>
              <a:t> </a:t>
            </a:r>
            <a:r>
              <a:rPr lang="en-US" altLang="en-US" b="1" smtClean="0">
                <a:solidFill>
                  <a:srgbClr val="00B050"/>
                </a:solidFill>
              </a:rPr>
              <a:t>travailler</a:t>
            </a:r>
            <a:r>
              <a:rPr lang="en-US" altLang="en-US" smtClean="0"/>
              <a:t>?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solidFill>
                  <a:srgbClr val="00B0F0"/>
                </a:solidFill>
              </a:rPr>
              <a:t>ALLER</a:t>
            </a:r>
            <a:r>
              <a:rPr lang="en-US" altLang="en-US" smtClean="0"/>
              <a:t> + </a:t>
            </a:r>
            <a:r>
              <a:rPr lang="en-US" altLang="en-US" smtClean="0">
                <a:solidFill>
                  <a:srgbClr val="00B050"/>
                </a:solidFill>
              </a:rPr>
              <a:t>Infinitif</a:t>
            </a:r>
            <a:r>
              <a:rPr lang="en-US" altLang="en-US" smtClean="0"/>
              <a:t> =</a:t>
            </a:r>
            <a:r>
              <a:rPr lang="en-US" altLang="en-US" smtClean="0">
                <a:sym typeface="Wingdings" pitchFamily="2" charset="2"/>
              </a:rPr>
              <a:t> futur proche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sym typeface="Wingdings" pitchFamily="2" charset="2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sym typeface="Wingdings" pitchFamily="2" charset="2"/>
              </a:rPr>
              <a:t>Qu’est-ce que tu </a:t>
            </a:r>
            <a:r>
              <a:rPr lang="en-US" altLang="en-US" b="1" smtClean="0">
                <a:solidFill>
                  <a:srgbClr val="00B0F0"/>
                </a:solidFill>
              </a:rPr>
              <a:t>vas</a:t>
            </a:r>
            <a:r>
              <a:rPr lang="en-US" altLang="en-US" smtClean="0"/>
              <a:t> </a:t>
            </a:r>
            <a:r>
              <a:rPr lang="en-US" altLang="en-US" smtClean="0">
                <a:solidFill>
                  <a:srgbClr val="00B050"/>
                </a:solidFill>
              </a:rPr>
              <a:t>faire</a:t>
            </a:r>
            <a:r>
              <a:rPr lang="en-US" altLang="en-US" smtClean="0"/>
              <a:t>?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8. Les </a:t>
            </a:r>
            <a:r>
              <a:rPr lang="en-US" dirty="0" err="1" smtClean="0"/>
              <a:t>adjectifs</a:t>
            </a:r>
            <a:r>
              <a:rPr lang="en-US" dirty="0" smtClean="0"/>
              <a:t> </a:t>
            </a:r>
            <a:endParaRPr lang="en-CA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/>
              <a:t>Quels adjectifs sont </a:t>
            </a:r>
            <a:r>
              <a:rPr lang="en-US" altLang="en-US" smtClean="0">
                <a:solidFill>
                  <a:srgbClr val="00B050"/>
                </a:solidFill>
              </a:rPr>
              <a:t>variables </a:t>
            </a:r>
            <a:r>
              <a:rPr lang="en-US" altLang="en-US" smtClean="0"/>
              <a:t>(changent) </a:t>
            </a:r>
          </a:p>
          <a:p>
            <a:pPr marL="0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/>
              <a:t>Quels adjectifs sont </a:t>
            </a:r>
            <a:r>
              <a:rPr lang="en-US" altLang="en-US" smtClean="0">
                <a:solidFill>
                  <a:srgbClr val="FF0000"/>
                </a:solidFill>
              </a:rPr>
              <a:t>invariables</a:t>
            </a:r>
            <a:r>
              <a:rPr lang="en-US" altLang="en-US" smtClean="0"/>
              <a:t>? (ne changent pas)?</a:t>
            </a:r>
          </a:p>
          <a:p>
            <a:pPr marL="0" indent="0" eaLnBrk="1" hangingPunct="1">
              <a:lnSpc>
                <a:spcPct val="90000"/>
              </a:lnSpc>
            </a:pPr>
            <a:endParaRPr lang="en-US" altLang="en-US" smtClean="0"/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00B0F0"/>
                </a:solidFill>
              </a:rPr>
              <a:t>bleu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/>
              <a:t>sympa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FFC000"/>
                </a:solidFill>
              </a:rPr>
              <a:t>orange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/>
              <a:t>cher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/>
              <a:t>bon marché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984204"/>
                </a:solidFill>
              </a:rPr>
              <a:t>marron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en-US" smtClean="0"/>
              <a:t>blanc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8. Les </a:t>
            </a:r>
            <a:r>
              <a:rPr lang="en-US" dirty="0" err="1" smtClean="0"/>
              <a:t>adjectifs</a:t>
            </a:r>
            <a:r>
              <a:rPr lang="en-US" dirty="0" smtClean="0"/>
              <a:t>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Quels</a:t>
            </a:r>
            <a:r>
              <a:rPr lang="en-US" dirty="0" smtClean="0"/>
              <a:t> </a:t>
            </a:r>
            <a:r>
              <a:rPr lang="en-US" dirty="0" err="1" smtClean="0"/>
              <a:t>adjectifs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variables</a:t>
            </a:r>
            <a:r>
              <a:rPr lang="en-US" dirty="0" smtClean="0"/>
              <a:t> (</a:t>
            </a:r>
            <a:r>
              <a:rPr lang="en-US" dirty="0" err="1" smtClean="0"/>
              <a:t>changent</a:t>
            </a:r>
            <a:r>
              <a:rPr lang="en-US" dirty="0" smtClean="0"/>
              <a:t>) </a:t>
            </a: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Quels</a:t>
            </a:r>
            <a:r>
              <a:rPr lang="en-US" dirty="0" smtClean="0"/>
              <a:t> </a:t>
            </a:r>
            <a:r>
              <a:rPr lang="en-US" dirty="0" err="1" smtClean="0"/>
              <a:t>adjectifs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invariables</a:t>
            </a:r>
            <a:r>
              <a:rPr lang="en-US" dirty="0" smtClean="0"/>
              <a:t>? (ne </a:t>
            </a:r>
            <a:r>
              <a:rPr lang="en-US" dirty="0" err="1" smtClean="0"/>
              <a:t>changent</a:t>
            </a:r>
            <a:r>
              <a:rPr lang="en-US" dirty="0" smtClean="0"/>
              <a:t> pas)?</a:t>
            </a: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M			F/Pl.</a:t>
            </a: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>
                <a:solidFill>
                  <a:srgbClr val="00B0F0"/>
                </a:solidFill>
              </a:rPr>
              <a:t>bleu</a:t>
            </a:r>
            <a:r>
              <a:rPr lang="en-US" dirty="0" smtClean="0"/>
              <a:t>			</a:t>
            </a:r>
            <a:r>
              <a:rPr lang="en-US" dirty="0" smtClean="0">
                <a:solidFill>
                  <a:srgbClr val="00B0F0"/>
                </a:solidFill>
              </a:rPr>
              <a:t>-&gt; bleu(e)(s)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 smtClean="0">
                <a:solidFill>
                  <a:srgbClr val="FF0000"/>
                </a:solidFill>
              </a:rPr>
              <a:t>ympa</a:t>
            </a: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invariable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>
                <a:solidFill>
                  <a:srgbClr val="FF0000"/>
                </a:solidFill>
              </a:rPr>
              <a:t>orange			invariable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err="1"/>
              <a:t>c</a:t>
            </a:r>
            <a:r>
              <a:rPr lang="en-US" dirty="0" err="1" smtClean="0"/>
              <a:t>her</a:t>
            </a:r>
            <a:r>
              <a:rPr lang="en-US" dirty="0" smtClean="0"/>
              <a:t>			-&gt; </a:t>
            </a:r>
            <a:r>
              <a:rPr lang="en-US" dirty="0" err="1" smtClean="0"/>
              <a:t>chère</a:t>
            </a:r>
            <a:r>
              <a:rPr lang="en-US" dirty="0" smtClean="0"/>
              <a:t>(s)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>
                <a:solidFill>
                  <a:srgbClr val="FF0000"/>
                </a:solidFill>
              </a:rPr>
              <a:t>bon </a:t>
            </a:r>
            <a:r>
              <a:rPr lang="en-US" dirty="0" err="1" smtClean="0">
                <a:solidFill>
                  <a:srgbClr val="FF0000"/>
                </a:solidFill>
              </a:rPr>
              <a:t>marché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invariable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marron</a:t>
            </a:r>
            <a:r>
              <a:rPr lang="en-US" dirty="0" smtClean="0">
                <a:solidFill>
                  <a:srgbClr val="FF0000"/>
                </a:solidFill>
              </a:rPr>
              <a:t>			invariable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err="1"/>
              <a:t>b</a:t>
            </a:r>
            <a:r>
              <a:rPr lang="en-US" dirty="0" err="1" smtClean="0"/>
              <a:t>lanc</a:t>
            </a:r>
            <a:r>
              <a:rPr lang="en-US" dirty="0" smtClean="0"/>
              <a:t>			-&gt; blanche(s)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7. Les </a:t>
            </a:r>
            <a:r>
              <a:rPr lang="en-US" dirty="0" err="1" smtClean="0"/>
              <a:t>pronoms</a:t>
            </a:r>
            <a:r>
              <a:rPr lang="en-US" dirty="0" smtClean="0"/>
              <a:t> </a:t>
            </a:r>
            <a:r>
              <a:rPr lang="en-US" dirty="0" err="1" smtClean="0"/>
              <a:t>accentués</a:t>
            </a:r>
            <a:endParaRPr lang="en-CA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__, il parle français.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___ ___, tu parles français.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C’est Lise? 	Non, ce n’est pas ____.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Qui aime le chocolat?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/>
              <a:t>_____!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/>
              <a:t>_____ et _____.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Voici Marc et Paul. Nous travaillons pour  ___.</a:t>
            </a:r>
          </a:p>
          <a:p>
            <a:pPr marL="292100" lvl="1" indent="0" eaLnBrk="1" hangingPunct="1">
              <a:lnSpc>
                <a:spcPct val="90000"/>
              </a:lnSpc>
            </a:pPr>
            <a:endParaRPr lang="en-US" altLang="en-US" smtClean="0"/>
          </a:p>
          <a:p>
            <a:pPr marL="292100" lvl="1" indent="0" eaLnBrk="1" hangingPunct="1">
              <a:lnSpc>
                <a:spcPct val="90000"/>
              </a:lnSpc>
            </a:pP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7. Les </a:t>
            </a:r>
            <a:r>
              <a:rPr lang="en-US" dirty="0" err="1" smtClean="0"/>
              <a:t>pronoms</a:t>
            </a:r>
            <a:r>
              <a:rPr lang="en-US" dirty="0" smtClean="0"/>
              <a:t> </a:t>
            </a:r>
            <a:r>
              <a:rPr lang="en-US" dirty="0" err="1" smtClean="0"/>
              <a:t>accentués</a:t>
            </a:r>
            <a:endParaRPr lang="en-CA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FFC000"/>
                </a:solidFill>
              </a:rPr>
              <a:t>Lui</a:t>
            </a:r>
            <a:r>
              <a:rPr lang="en-US" altLang="en-US" smtClean="0"/>
              <a:t>, il parle français.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FFC000"/>
                </a:solidFill>
              </a:rPr>
              <a:t>Toi</a:t>
            </a:r>
            <a:r>
              <a:rPr lang="en-US" altLang="en-US" smtClean="0"/>
              <a:t> </a:t>
            </a:r>
            <a:r>
              <a:rPr lang="en-US" altLang="en-US" smtClean="0">
                <a:solidFill>
                  <a:srgbClr val="00B050"/>
                </a:solidFill>
              </a:rPr>
              <a:t>aussi</a:t>
            </a:r>
            <a:r>
              <a:rPr lang="en-US" altLang="en-US" smtClean="0"/>
              <a:t>, tu parles français.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C’est Lise? 	Non, ce n’est pas </a:t>
            </a:r>
            <a:r>
              <a:rPr lang="en-US" altLang="en-US" smtClean="0">
                <a:solidFill>
                  <a:srgbClr val="FFC000"/>
                </a:solidFill>
              </a:rPr>
              <a:t>elle</a:t>
            </a:r>
            <a:r>
              <a:rPr lang="en-US" altLang="en-US" smtClean="0"/>
              <a:t>.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Qui aime le chocolat?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>
                <a:solidFill>
                  <a:srgbClr val="FFC000"/>
                </a:solidFill>
              </a:rPr>
              <a:t>Moi</a:t>
            </a:r>
            <a:r>
              <a:rPr lang="en-US" altLang="en-US" smtClean="0"/>
              <a:t>!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mtClean="0">
                <a:solidFill>
                  <a:srgbClr val="FFC000"/>
                </a:solidFill>
              </a:rPr>
              <a:t>Nous</a:t>
            </a:r>
            <a:r>
              <a:rPr lang="en-US" altLang="en-US" smtClean="0"/>
              <a:t> et </a:t>
            </a:r>
            <a:r>
              <a:rPr lang="en-US" altLang="en-US" smtClean="0">
                <a:solidFill>
                  <a:srgbClr val="FFC000"/>
                </a:solidFill>
              </a:rPr>
              <a:t>vous</a:t>
            </a:r>
            <a:r>
              <a:rPr lang="en-US" altLang="en-US" smtClean="0"/>
              <a:t>.</a:t>
            </a:r>
          </a:p>
          <a:p>
            <a:pPr marL="292100" lvl="1" indent="0"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Voici Marc et Paul. Nous travaillons pour  </a:t>
            </a:r>
            <a:r>
              <a:rPr lang="en-US" altLang="en-US" smtClean="0">
                <a:solidFill>
                  <a:srgbClr val="FFC000"/>
                </a:solidFill>
              </a:rPr>
              <a:t>eux</a:t>
            </a:r>
            <a:r>
              <a:rPr lang="en-US" altLang="en-US" smtClean="0"/>
              <a:t>.</a:t>
            </a:r>
          </a:p>
          <a:p>
            <a:pPr marL="292100" lvl="1" indent="0" eaLnBrk="1" hangingPunct="1">
              <a:lnSpc>
                <a:spcPct val="90000"/>
              </a:lnSpc>
            </a:pPr>
            <a:endParaRPr lang="en-US" altLang="en-US" smtClean="0"/>
          </a:p>
          <a:p>
            <a:pPr marL="292100" lvl="1" indent="0" eaLnBrk="1" hangingPunct="1">
              <a:lnSpc>
                <a:spcPct val="90000"/>
              </a:lnSpc>
            </a:pP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6. </a:t>
            </a:r>
            <a:r>
              <a:rPr lang="en-US" dirty="0" err="1" smtClean="0"/>
              <a:t>L’élision</a:t>
            </a:r>
            <a:endParaRPr lang="en-CA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J</a:t>
            </a:r>
            <a:r>
              <a:rPr lang="en-CA" altLang="en-US" smtClean="0"/>
              <a:t>e -&gt; </a:t>
            </a:r>
            <a:r>
              <a:rPr lang="en-CA" altLang="en-US" smtClean="0">
                <a:solidFill>
                  <a:srgbClr val="C00000"/>
                </a:solidFill>
              </a:rPr>
              <a:t>j’</a:t>
            </a:r>
          </a:p>
          <a:p>
            <a:pPr eaLnBrk="1" hangingPunct="1"/>
            <a:r>
              <a:rPr lang="en-US" altLang="en-US" smtClean="0"/>
              <a:t>Ne -&gt; </a:t>
            </a:r>
            <a:r>
              <a:rPr lang="en-US" altLang="en-US" smtClean="0">
                <a:solidFill>
                  <a:srgbClr val="C00000"/>
                </a:solidFill>
              </a:rPr>
              <a:t>n’</a:t>
            </a:r>
          </a:p>
          <a:p>
            <a:pPr eaLnBrk="1" hangingPunct="1"/>
            <a:r>
              <a:rPr lang="en-US" altLang="en-US" smtClean="0"/>
              <a:t>Le, la -&gt; </a:t>
            </a:r>
            <a:r>
              <a:rPr lang="en-US" altLang="en-US" smtClean="0">
                <a:solidFill>
                  <a:srgbClr val="C00000"/>
                </a:solidFill>
              </a:rPr>
              <a:t>l’</a:t>
            </a:r>
          </a:p>
          <a:p>
            <a:pPr eaLnBrk="1" hangingPunct="1"/>
            <a:r>
              <a:rPr lang="en-US" altLang="en-US" smtClean="0"/>
              <a:t>(Pas) de -&gt; (pas) </a:t>
            </a:r>
            <a:r>
              <a:rPr lang="en-US" altLang="en-US" smtClean="0">
                <a:solidFill>
                  <a:srgbClr val="C00000"/>
                </a:solidFill>
              </a:rPr>
              <a:t>d’</a:t>
            </a:r>
          </a:p>
          <a:p>
            <a:pPr eaLnBrk="1" hangingPunct="1"/>
            <a:r>
              <a:rPr lang="en-US" altLang="en-US" smtClean="0"/>
              <a:t>Que -&gt; </a:t>
            </a:r>
            <a:r>
              <a:rPr lang="en-US" altLang="en-US" smtClean="0">
                <a:solidFill>
                  <a:srgbClr val="C00000"/>
                </a:solidFill>
              </a:rPr>
              <a:t>qu’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Trouvez 5 exemples d’élision.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6. </a:t>
            </a:r>
            <a:r>
              <a:rPr lang="en-US" dirty="0" err="1" smtClean="0"/>
              <a:t>L’élision</a:t>
            </a:r>
            <a:endParaRPr lang="en-CA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J</a:t>
            </a:r>
            <a:r>
              <a:rPr lang="en-CA" altLang="en-US" smtClean="0"/>
              <a:t>e -&gt; </a:t>
            </a:r>
            <a:r>
              <a:rPr lang="en-CA" altLang="en-US" smtClean="0">
                <a:solidFill>
                  <a:srgbClr val="C00000"/>
                </a:solidFill>
              </a:rPr>
              <a:t>j’</a:t>
            </a:r>
            <a:r>
              <a:rPr lang="en-CA" altLang="en-US" smtClean="0"/>
              <a:t>aime</a:t>
            </a:r>
          </a:p>
          <a:p>
            <a:pPr eaLnBrk="1" hangingPunct="1"/>
            <a:r>
              <a:rPr lang="en-US" altLang="en-US" smtClean="0"/>
              <a:t>Ne -&gt; je </a:t>
            </a:r>
            <a:r>
              <a:rPr lang="en-US" altLang="en-US" smtClean="0">
                <a:solidFill>
                  <a:srgbClr val="C00000"/>
                </a:solidFill>
              </a:rPr>
              <a:t>n’</a:t>
            </a:r>
            <a:r>
              <a:rPr lang="en-US" altLang="en-US" smtClean="0"/>
              <a:t>ai pas de</a:t>
            </a:r>
          </a:p>
          <a:p>
            <a:pPr eaLnBrk="1" hangingPunct="1"/>
            <a:r>
              <a:rPr lang="en-US" altLang="en-US" smtClean="0"/>
              <a:t>Le, la -&gt; </a:t>
            </a:r>
            <a:r>
              <a:rPr lang="en-US" altLang="en-US" smtClean="0">
                <a:solidFill>
                  <a:srgbClr val="C00000"/>
                </a:solidFill>
              </a:rPr>
              <a:t>l’</a:t>
            </a:r>
            <a:r>
              <a:rPr lang="en-US" altLang="en-US" smtClean="0"/>
              <a:t>hôtel</a:t>
            </a:r>
          </a:p>
          <a:p>
            <a:pPr eaLnBrk="1" hangingPunct="1"/>
            <a:r>
              <a:rPr lang="en-US" altLang="en-US" smtClean="0"/>
              <a:t>(Pas) de -&gt; pas </a:t>
            </a:r>
            <a:r>
              <a:rPr lang="en-US" altLang="en-US" smtClean="0">
                <a:solidFill>
                  <a:srgbClr val="C00000"/>
                </a:solidFill>
              </a:rPr>
              <a:t>d’</a:t>
            </a:r>
            <a:r>
              <a:rPr lang="en-US" altLang="en-US" smtClean="0"/>
              <a:t>appareil photo</a:t>
            </a:r>
          </a:p>
          <a:p>
            <a:pPr eaLnBrk="1" hangingPunct="1"/>
            <a:r>
              <a:rPr lang="en-US" altLang="en-US" smtClean="0"/>
              <a:t>Que -&gt; </a:t>
            </a:r>
            <a:r>
              <a:rPr lang="en-US" altLang="en-US" smtClean="0">
                <a:solidFill>
                  <a:srgbClr val="C00000"/>
                </a:solidFill>
              </a:rPr>
              <a:t>qu’</a:t>
            </a:r>
            <a:r>
              <a:rPr lang="en-US" altLang="en-US" smtClean="0"/>
              <a:t>est-ce que c’est?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N’oubliez pas l’élision devant les voyelles.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5. Les </a:t>
            </a:r>
            <a:r>
              <a:rPr lang="en-US" dirty="0" err="1" smtClean="0"/>
              <a:t>possessifs</a:t>
            </a:r>
            <a:endParaRPr lang="en-CA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Express ownership in three different ways: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/>
            <a:r>
              <a:rPr lang="en-US" altLang="en-US" smtClean="0"/>
              <a:t>It’s Mary’s car.</a:t>
            </a:r>
          </a:p>
          <a:p>
            <a:pPr marL="0" indent="0" eaLnBrk="1" hangingPunct="1"/>
            <a:endParaRPr lang="en-US" altLang="en-US" smtClean="0"/>
          </a:p>
          <a:p>
            <a:pPr marL="0" indent="0" eaLnBrk="1" hangingPunct="1"/>
            <a:r>
              <a:rPr lang="en-US" altLang="en-US" smtClean="0"/>
              <a:t>It’s her car.</a:t>
            </a:r>
          </a:p>
          <a:p>
            <a:pPr marL="0" indent="0" eaLnBrk="1" hangingPunct="1"/>
            <a:endParaRPr lang="en-US" altLang="en-US" smtClean="0"/>
          </a:p>
          <a:p>
            <a:pPr marL="0" indent="0" eaLnBrk="1" hangingPunct="1"/>
            <a:r>
              <a:rPr lang="en-US" altLang="en-US" smtClean="0"/>
              <a:t>The car belongs to Mary.</a:t>
            </a: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5. Les </a:t>
            </a:r>
            <a:r>
              <a:rPr lang="en-US" dirty="0" err="1" smtClean="0"/>
              <a:t>possessifs</a:t>
            </a:r>
            <a:endParaRPr lang="en-CA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Express ownership in three different ways: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/>
            <a:r>
              <a:rPr lang="en-US" altLang="en-US" smtClean="0"/>
              <a:t>It’s Mary’s car			</a:t>
            </a:r>
          </a:p>
          <a:p>
            <a:pPr lvl="1" eaLnBrk="1" hangingPunct="1"/>
            <a:r>
              <a:rPr lang="en-US" altLang="en-US" smtClean="0"/>
              <a:t>C’est la voiture de Mary.</a:t>
            </a:r>
          </a:p>
          <a:p>
            <a:pPr marL="0" indent="0" eaLnBrk="1" hangingPunct="1"/>
            <a:r>
              <a:rPr lang="en-US" altLang="en-US" smtClean="0"/>
              <a:t>It’s her car.			</a:t>
            </a:r>
          </a:p>
          <a:p>
            <a:pPr lvl="1" eaLnBrk="1" hangingPunct="1"/>
            <a:r>
              <a:rPr lang="en-US" altLang="en-US" smtClean="0"/>
              <a:t>C’ est sa voiture.</a:t>
            </a:r>
          </a:p>
          <a:p>
            <a:pPr marL="0" indent="0" eaLnBrk="1" hangingPunct="1"/>
            <a:r>
              <a:rPr lang="en-US" altLang="en-US" smtClean="0"/>
              <a:t>The car belongs to Mary </a:t>
            </a:r>
          </a:p>
          <a:p>
            <a:pPr lvl="1" eaLnBrk="1" hangingPunct="1"/>
            <a:r>
              <a:rPr lang="en-US" altLang="en-US" smtClean="0"/>
              <a:t>La voiture est à Mary.</a:t>
            </a: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4. Les contractions</a:t>
            </a:r>
            <a:endParaRPr lang="en-CA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Je joue __ piano</a:t>
            </a:r>
            <a:r>
              <a:rPr lang="en-CA" altLang="en-US" smtClean="0"/>
              <a:t>.</a:t>
            </a:r>
          </a:p>
          <a:p>
            <a:pPr eaLnBrk="1" hangingPunct="1"/>
            <a:r>
              <a:rPr lang="en-US" altLang="en-US" smtClean="0"/>
              <a:t>Elle joue ___ jeux sur ordinateur.</a:t>
            </a:r>
          </a:p>
          <a:p>
            <a:pPr eaLnBrk="1" hangingPunct="1"/>
            <a:r>
              <a:rPr lang="en-US" altLang="en-US" smtClean="0"/>
              <a:t>Ils parlent __ prof ___ examens.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4. Les contractions</a:t>
            </a:r>
            <a:endParaRPr lang="en-CA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Je joue </a:t>
            </a:r>
            <a:r>
              <a:rPr lang="en-US" altLang="en-US" smtClean="0">
                <a:solidFill>
                  <a:srgbClr val="C00000"/>
                </a:solidFill>
              </a:rPr>
              <a:t>du</a:t>
            </a:r>
            <a:r>
              <a:rPr lang="en-US" altLang="en-US" smtClean="0"/>
              <a:t> piano</a:t>
            </a:r>
            <a:r>
              <a:rPr lang="en-CA" altLang="en-US" smtClean="0"/>
              <a:t>.</a:t>
            </a:r>
          </a:p>
          <a:p>
            <a:pPr eaLnBrk="1" hangingPunct="1"/>
            <a:r>
              <a:rPr lang="en-US" altLang="en-US" smtClean="0"/>
              <a:t>Elle joue </a:t>
            </a:r>
            <a:r>
              <a:rPr lang="en-US" altLang="en-US" smtClean="0">
                <a:solidFill>
                  <a:srgbClr val="C00000"/>
                </a:solidFill>
              </a:rPr>
              <a:t>aux</a:t>
            </a:r>
            <a:r>
              <a:rPr lang="en-US" altLang="en-US" smtClean="0"/>
              <a:t> jeux sur ordinateur.</a:t>
            </a:r>
          </a:p>
          <a:p>
            <a:pPr eaLnBrk="1" hangingPunct="1"/>
            <a:r>
              <a:rPr lang="en-US" altLang="en-US" smtClean="0"/>
              <a:t>Ils parlent </a:t>
            </a:r>
            <a:r>
              <a:rPr lang="en-US" altLang="en-US" smtClean="0">
                <a:solidFill>
                  <a:srgbClr val="C00000"/>
                </a:solidFill>
              </a:rPr>
              <a:t>au</a:t>
            </a:r>
            <a:r>
              <a:rPr lang="en-US" altLang="en-US" smtClean="0"/>
              <a:t> prof </a:t>
            </a:r>
            <a:r>
              <a:rPr lang="en-US" altLang="en-US" smtClean="0">
                <a:solidFill>
                  <a:srgbClr val="C00000"/>
                </a:solidFill>
              </a:rPr>
              <a:t>des</a:t>
            </a:r>
            <a:r>
              <a:rPr lang="en-US" altLang="en-US" smtClean="0"/>
              <a:t> examens.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3. Le genre et le </a:t>
            </a:r>
            <a:r>
              <a:rPr lang="en-US" dirty="0" err="1" smtClean="0"/>
              <a:t>nombre</a:t>
            </a:r>
            <a:endParaRPr lang="en-CA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(Which) amis?			</a:t>
            </a:r>
          </a:p>
          <a:p>
            <a:pPr eaLnBrk="1" hangingPunct="1"/>
            <a:r>
              <a:rPr lang="en-US" altLang="en-US" smtClean="0"/>
              <a:t>(These) amis.	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/>
              <a:t>		</a:t>
            </a:r>
          </a:p>
          <a:p>
            <a:pPr eaLnBrk="1" hangingPunct="1"/>
            <a:r>
              <a:rPr lang="en-US" altLang="en-US" smtClean="0"/>
              <a:t>This tie is white 		-&gt;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A new dress 		-&gt;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Their old shoes		-&gt;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3. Le genre et le </a:t>
            </a:r>
            <a:r>
              <a:rPr lang="en-US" dirty="0" err="1" smtClean="0"/>
              <a:t>nombre</a:t>
            </a:r>
            <a:endParaRPr lang="en-CA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(Which) amis?		</a:t>
            </a:r>
            <a:r>
              <a:rPr lang="en-US" altLang="en-US" smtClean="0">
                <a:solidFill>
                  <a:srgbClr val="0070C0"/>
                </a:solidFill>
              </a:rPr>
              <a:t>Quels amis?</a:t>
            </a:r>
          </a:p>
          <a:p>
            <a:pPr eaLnBrk="1" hangingPunct="1"/>
            <a:r>
              <a:rPr lang="en-US" altLang="en-US" smtClean="0"/>
              <a:t>(These) amis.		</a:t>
            </a:r>
            <a:r>
              <a:rPr lang="en-US" altLang="en-US" u="sng" smtClean="0">
                <a:solidFill>
                  <a:srgbClr val="0070C0"/>
                </a:solidFill>
              </a:rPr>
              <a:t>Ces</a:t>
            </a:r>
            <a:r>
              <a:rPr lang="en-US" altLang="en-US" smtClean="0">
                <a:solidFill>
                  <a:srgbClr val="0070C0"/>
                </a:solidFill>
              </a:rPr>
              <a:t> amis.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This tie is white 		-&gt; </a:t>
            </a:r>
            <a:r>
              <a:rPr lang="en-US" altLang="en-US" smtClean="0">
                <a:solidFill>
                  <a:srgbClr val="0070C0"/>
                </a:solidFill>
              </a:rPr>
              <a:t>Cette cravate est </a:t>
            </a:r>
            <a:r>
              <a:rPr lang="en-US" altLang="en-US" smtClean="0"/>
              <a:t>						</a:t>
            </a:r>
            <a:r>
              <a:rPr lang="en-US" altLang="en-US" smtClean="0">
                <a:solidFill>
                  <a:srgbClr val="0070C0"/>
                </a:solidFill>
              </a:rPr>
              <a:t>blanche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A new dress 		-&gt; </a:t>
            </a:r>
            <a:r>
              <a:rPr lang="en-US" altLang="en-US" smtClean="0">
                <a:solidFill>
                  <a:srgbClr val="0070C0"/>
                </a:solidFill>
              </a:rPr>
              <a:t>une nouvelle robe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Their old shoes		-&gt; </a:t>
            </a:r>
            <a:r>
              <a:rPr lang="en-US" altLang="en-US" smtClean="0">
                <a:solidFill>
                  <a:srgbClr val="0070C0"/>
                </a:solidFill>
              </a:rPr>
              <a:t>leurs vieilles </a:t>
            </a:r>
            <a:r>
              <a:rPr lang="en-US" altLang="en-US" smtClean="0"/>
              <a:t>						</a:t>
            </a:r>
            <a:r>
              <a:rPr lang="en-US" altLang="en-US" smtClean="0">
                <a:solidFill>
                  <a:srgbClr val="0070C0"/>
                </a:solidFill>
              </a:rPr>
              <a:t>chaussures</a:t>
            </a:r>
            <a:endParaRPr lang="en-CA" altLang="en-US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b="0" dirty="0" smtClean="0"/>
              <a:t>2. La </a:t>
            </a:r>
            <a:r>
              <a:rPr lang="en-US" sz="3300" b="0" dirty="0" err="1" smtClean="0"/>
              <a:t>négation</a:t>
            </a:r>
            <a:r>
              <a:rPr lang="en-US" sz="3300" b="0" dirty="0" smtClean="0"/>
              <a:t>, la contradiction</a:t>
            </a:r>
            <a:endParaRPr lang="en-CA" sz="3300" b="0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He doesn’t study.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 he does!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You never listen.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 I do!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We don’t do anything on Friday nights.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Yes, we always do something!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b="0" dirty="0" smtClean="0"/>
              <a:t>2. La </a:t>
            </a:r>
            <a:r>
              <a:rPr lang="en-US" sz="3300" b="0" dirty="0" err="1" smtClean="0"/>
              <a:t>négation</a:t>
            </a:r>
            <a:r>
              <a:rPr lang="en-US" sz="3300" b="0" dirty="0" smtClean="0"/>
              <a:t>, la contradiction</a:t>
            </a:r>
            <a:endParaRPr lang="en-CA" sz="3300" b="0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He doesn’t study.		</a:t>
            </a:r>
            <a:r>
              <a:rPr lang="en-US" altLang="en-US" smtClean="0">
                <a:solidFill>
                  <a:srgbClr val="0070C0"/>
                </a:solidFill>
              </a:rPr>
              <a:t>Il n’étudie pas.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 he does!			</a:t>
            </a:r>
            <a:r>
              <a:rPr lang="en-US" altLang="en-US" smtClean="0">
                <a:solidFill>
                  <a:srgbClr val="0070C0"/>
                </a:solidFill>
              </a:rPr>
              <a:t>Mais si, il étudie.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You never listen.		</a:t>
            </a:r>
            <a:r>
              <a:rPr lang="en-US" altLang="en-US" smtClean="0">
                <a:solidFill>
                  <a:srgbClr val="0070C0"/>
                </a:solidFill>
              </a:rPr>
              <a:t>Tu n’écoutes jamais.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Yes, I always do!		</a:t>
            </a:r>
            <a:r>
              <a:rPr lang="en-US" altLang="en-US" smtClean="0">
                <a:solidFill>
                  <a:srgbClr val="0070C0"/>
                </a:solidFill>
              </a:rPr>
              <a:t>Si, j’écoute toujours!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We don’t do anything on Friday nights.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>
                <a:solidFill>
                  <a:srgbClr val="0070C0"/>
                </a:solidFill>
              </a:rPr>
              <a:t>On ne fait rien le vendredi soir.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/>
              <a:t>Yes, we always do something!</a:t>
            </a: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mtClean="0">
                <a:solidFill>
                  <a:srgbClr val="0070C0"/>
                </a:solidFill>
              </a:rPr>
              <a:t>Si, on fait toujours quelque chose!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0" indent="0"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1. </a:t>
            </a:r>
            <a:r>
              <a:rPr lang="en-US" dirty="0" err="1" smtClean="0"/>
              <a:t>l’orthographe</a:t>
            </a:r>
            <a:endParaRPr lang="en-CA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 prefer rap. Rap is my favourite music.</a:t>
            </a:r>
          </a:p>
          <a:p>
            <a:pPr marL="292100" lvl="1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292100" lvl="1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292100" lvl="1" indent="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He likes my (female) friend.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itchFamily="18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My apartment is comfortable.</a:t>
            </a:r>
          </a:p>
          <a:p>
            <a:pPr eaLnBrk="1" hangingPunct="1">
              <a:buFont typeface="Wingdings 2" pitchFamily="18" charset="2"/>
              <a:buNone/>
            </a:pP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1. </a:t>
            </a:r>
            <a:r>
              <a:rPr lang="en-US" dirty="0" err="1" smtClean="0"/>
              <a:t>l’orthographe</a:t>
            </a:r>
            <a:endParaRPr lang="en-CA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 prefer rap. Rap is my favourite music.</a:t>
            </a:r>
          </a:p>
          <a:p>
            <a:pPr lvl="1" eaLnBrk="1" hangingPunct="1"/>
            <a:r>
              <a:rPr lang="en-US" altLang="en-US" smtClean="0"/>
              <a:t>Je </a:t>
            </a:r>
            <a:r>
              <a:rPr lang="en-US" altLang="en-US" smtClean="0">
                <a:solidFill>
                  <a:srgbClr val="0070C0"/>
                </a:solidFill>
              </a:rPr>
              <a:t>préfère</a:t>
            </a:r>
            <a:r>
              <a:rPr lang="en-US" altLang="en-US" smtClean="0"/>
              <a:t> le rap. </a:t>
            </a:r>
          </a:p>
          <a:p>
            <a:pPr lvl="1" eaLnBrk="1" hangingPunct="1"/>
            <a:r>
              <a:rPr lang="en-US" altLang="en-US" smtClean="0"/>
              <a:t>Le rap, c’est ma musique</a:t>
            </a:r>
            <a:r>
              <a:rPr lang="en-US" altLang="en-US" smtClean="0">
                <a:solidFill>
                  <a:srgbClr val="0070C0"/>
                </a:solidFill>
              </a:rPr>
              <a:t> préférée</a:t>
            </a:r>
            <a:r>
              <a:rPr lang="en-US" altLang="en-US" smtClean="0"/>
              <a:t>.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He likes my (female) friend.</a:t>
            </a:r>
          </a:p>
          <a:p>
            <a:pPr lvl="1" eaLnBrk="1" hangingPunct="1"/>
            <a:r>
              <a:rPr lang="en-US" altLang="en-US" smtClean="0"/>
              <a:t>Il </a:t>
            </a:r>
            <a:r>
              <a:rPr lang="en-US" altLang="en-US" smtClean="0">
                <a:solidFill>
                  <a:srgbClr val="0070C0"/>
                </a:solidFill>
              </a:rPr>
              <a:t>aime</a:t>
            </a:r>
            <a:r>
              <a:rPr lang="en-US" altLang="en-US" smtClean="0"/>
              <a:t> mon </a:t>
            </a:r>
            <a:r>
              <a:rPr lang="en-US" altLang="en-US" smtClean="0">
                <a:solidFill>
                  <a:srgbClr val="0070C0"/>
                </a:solidFill>
              </a:rPr>
              <a:t>amie</a:t>
            </a:r>
            <a:r>
              <a:rPr lang="en-US" altLang="en-US" smtClean="0"/>
              <a:t>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My apartment is comfortable.</a:t>
            </a:r>
          </a:p>
          <a:p>
            <a:pPr lvl="1" eaLnBrk="1" hangingPunct="1"/>
            <a:r>
              <a:rPr lang="en-US" altLang="en-US" smtClean="0"/>
              <a:t>Mon </a:t>
            </a:r>
            <a:r>
              <a:rPr lang="en-US" altLang="en-US" smtClean="0">
                <a:solidFill>
                  <a:srgbClr val="0070C0"/>
                </a:solidFill>
              </a:rPr>
              <a:t>appartement</a:t>
            </a:r>
            <a:r>
              <a:rPr lang="en-US" altLang="en-US" smtClean="0"/>
              <a:t> est </a:t>
            </a:r>
            <a:r>
              <a:rPr lang="en-US" altLang="en-US" smtClean="0">
                <a:solidFill>
                  <a:srgbClr val="0070C0"/>
                </a:solidFill>
              </a:rPr>
              <a:t>confortable</a:t>
            </a:r>
            <a:r>
              <a:rPr lang="en-US" altLang="en-US" smtClean="0"/>
              <a:t>.</a:t>
            </a: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CA" sz="2000" dirty="0"/>
              <a:t>B. Language Skill assessed in this part of the exam: </a:t>
            </a:r>
            <a:br>
              <a:rPr lang="en-CA" sz="2000" dirty="0"/>
            </a:br>
            <a:r>
              <a:rPr lang="en-CA" sz="2000" dirty="0"/>
              <a:t>Can you </a:t>
            </a:r>
            <a:r>
              <a:rPr lang="en-CA" sz="2000" dirty="0">
                <a:solidFill>
                  <a:srgbClr val="00B0F0"/>
                </a:solidFill>
              </a:rPr>
              <a:t>formulate basic questions </a:t>
            </a:r>
            <a:r>
              <a:rPr lang="en-CA" sz="2000" dirty="0"/>
              <a:t>in French, using </a:t>
            </a:r>
            <a:r>
              <a:rPr lang="en-CA" sz="2000" dirty="0">
                <a:solidFill>
                  <a:srgbClr val="92D050"/>
                </a:solidFill>
              </a:rPr>
              <a:t>correct grammar and spelling</a:t>
            </a:r>
            <a:r>
              <a:rPr lang="en-CA" sz="2000" dirty="0"/>
              <a:t>?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CA" altLang="en-US" sz="2000" b="1" i="1" smtClean="0"/>
              <a:t>Context: You have just finished writing your French final exam. You have become friends with one of your classmates and would like to get to know him/her better. </a:t>
            </a:r>
          </a:p>
          <a:p>
            <a:pPr>
              <a:lnSpc>
                <a:spcPct val="200000"/>
              </a:lnSpc>
            </a:pPr>
            <a:r>
              <a:rPr lang="en-CA" altLang="en-US" sz="2000" b="1" i="1" smtClean="0">
                <a:solidFill>
                  <a:srgbClr val="874396"/>
                </a:solidFill>
              </a:rPr>
              <a:t>Ask him/her the following questions and also tell him/her about yourself. </a:t>
            </a:r>
          </a:p>
          <a:p>
            <a:r>
              <a:rPr lang="en-CA" altLang="en-US" sz="2800" b="1" smtClean="0">
                <a:solidFill>
                  <a:srgbClr val="FF0000"/>
                </a:solidFill>
              </a:rPr>
              <a:t>When asking questions, use the « inverted form » </a:t>
            </a:r>
            <a:r>
              <a:rPr lang="en-CA" altLang="en-US" sz="2800" b="1" u="sng" smtClean="0">
                <a:solidFill>
                  <a:srgbClr val="FF0000"/>
                </a:solidFill>
              </a:rPr>
              <a:t>only</a:t>
            </a:r>
            <a:r>
              <a:rPr lang="en-CA" altLang="en-US" sz="2800" b="1" smtClean="0">
                <a:solidFill>
                  <a:srgbClr val="FF0000"/>
                </a:solidFill>
              </a:rPr>
              <a:t> where indicated.</a:t>
            </a:r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1. Tell him/her that you like his/her jacket and watch </a:t>
            </a:r>
            <a:r>
              <a:rPr lang="en-US" sz="2800" u="sng" dirty="0" smtClean="0"/>
              <a:t>a lot</a:t>
            </a:r>
            <a:r>
              <a:rPr lang="en-US" sz="2800" dirty="0" smtClean="0"/>
              <a:t>.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mtClean="0"/>
              <a:t>J’aime </a:t>
            </a:r>
            <a:r>
              <a:rPr lang="fr-CA" altLang="en-US" b="1" smtClean="0">
                <a:solidFill>
                  <a:srgbClr val="92D050"/>
                </a:solidFill>
              </a:rPr>
              <a:t>beaucoup</a:t>
            </a:r>
            <a:r>
              <a:rPr lang="fr-CA" altLang="en-US" smtClean="0"/>
              <a:t> </a:t>
            </a:r>
            <a:r>
              <a:rPr lang="fr-CA" altLang="en-US" b="1" smtClean="0">
                <a:solidFill>
                  <a:srgbClr val="00B0F0"/>
                </a:solidFill>
              </a:rPr>
              <a:t>ton</a:t>
            </a:r>
            <a:r>
              <a:rPr lang="fr-CA" altLang="en-US" smtClean="0"/>
              <a:t> blouson et </a:t>
            </a:r>
            <a:r>
              <a:rPr lang="fr-CA" altLang="en-US" b="1" smtClean="0">
                <a:solidFill>
                  <a:srgbClr val="FF0000"/>
                </a:solidFill>
              </a:rPr>
              <a:t>ta</a:t>
            </a:r>
            <a:r>
              <a:rPr lang="fr-CA" altLang="en-US" smtClean="0"/>
              <a:t> montre.</a:t>
            </a:r>
          </a:p>
          <a:p>
            <a:endParaRPr lang="en-CA" altLang="en-US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810000"/>
            <a:ext cx="2743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3962400"/>
            <a:ext cx="22479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2. Ask him/her what he/she thinks about the French exam.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mtClean="0"/>
              <a:t>Qu’est-ce que tu pens</a:t>
            </a:r>
            <a:r>
              <a:rPr lang="fr-CA" altLang="en-US" b="1" smtClean="0">
                <a:solidFill>
                  <a:srgbClr val="FF0000"/>
                </a:solidFill>
              </a:rPr>
              <a:t>es</a:t>
            </a:r>
            <a:r>
              <a:rPr lang="fr-CA" altLang="en-US" smtClean="0"/>
              <a:t> </a:t>
            </a:r>
            <a:r>
              <a:rPr lang="fr-CA" altLang="en-US" b="1" smtClean="0">
                <a:solidFill>
                  <a:srgbClr val="00B050"/>
                </a:solidFill>
              </a:rPr>
              <a:t>de</a:t>
            </a:r>
            <a:r>
              <a:rPr lang="fr-CA" altLang="en-US" smtClean="0"/>
              <a:t> l’examen de </a:t>
            </a:r>
            <a:r>
              <a:rPr lang="fr-CA" altLang="en-US" b="1" smtClean="0">
                <a:solidFill>
                  <a:srgbClr val="FF0000"/>
                </a:solidFill>
              </a:rPr>
              <a:t>f</a:t>
            </a:r>
            <a:r>
              <a:rPr lang="fr-CA" altLang="en-US" smtClean="0"/>
              <a:t>ran</a:t>
            </a:r>
            <a:r>
              <a:rPr lang="fr-CA" altLang="en-US" b="1" smtClean="0">
                <a:solidFill>
                  <a:srgbClr val="FF0000"/>
                </a:solidFill>
              </a:rPr>
              <a:t>ç</a:t>
            </a:r>
            <a:r>
              <a:rPr lang="fr-CA" altLang="en-US" smtClean="0"/>
              <a:t>ais?</a:t>
            </a:r>
            <a:endParaRPr lang="en-CA" altLang="en-US" smtClean="0"/>
          </a:p>
          <a:p>
            <a:endParaRPr lang="en-CA" altLang="en-US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2609850"/>
            <a:ext cx="364172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2800" dirty="0" smtClean="0"/>
              <a:t>3. Ask him/her if he/she lives close to Langara. (inverted form)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fr-CA" altLang="en-US" b="1" smtClean="0"/>
              <a:t>Habit</a:t>
            </a:r>
            <a:r>
              <a:rPr lang="fr-CA" altLang="en-US" b="1" smtClean="0">
                <a:solidFill>
                  <a:srgbClr val="00B0F0"/>
                </a:solidFill>
              </a:rPr>
              <a:t>es</a:t>
            </a:r>
            <a:r>
              <a:rPr lang="fr-CA" altLang="en-US" b="1" smtClean="0"/>
              <a:t>-tu</a:t>
            </a:r>
            <a:r>
              <a:rPr lang="fr-CA" altLang="en-US" smtClean="0"/>
              <a:t> </a:t>
            </a:r>
            <a:r>
              <a:rPr lang="fr-CA" altLang="en-US" b="1" smtClean="0">
                <a:solidFill>
                  <a:srgbClr val="00B050"/>
                </a:solidFill>
              </a:rPr>
              <a:t>près</a:t>
            </a:r>
            <a:r>
              <a:rPr lang="fr-CA" altLang="en-US" smtClean="0"/>
              <a:t> </a:t>
            </a:r>
            <a:r>
              <a:rPr lang="fr-CA" altLang="en-US" b="1" smtClean="0">
                <a:solidFill>
                  <a:srgbClr val="FF0000"/>
                </a:solidFill>
              </a:rPr>
              <a:t>de</a:t>
            </a:r>
            <a:r>
              <a:rPr lang="fr-CA" altLang="en-US" smtClean="0"/>
              <a:t> Langara?</a:t>
            </a:r>
          </a:p>
          <a:p>
            <a:pPr>
              <a:lnSpc>
                <a:spcPct val="200000"/>
              </a:lnSpc>
            </a:pPr>
            <a:r>
              <a:rPr lang="fr-CA" altLang="en-US" b="1" smtClean="0"/>
              <a:t>Habit</a:t>
            </a:r>
            <a:r>
              <a:rPr lang="fr-CA" altLang="en-US" b="1" smtClean="0">
                <a:solidFill>
                  <a:srgbClr val="00B0F0"/>
                </a:solidFill>
              </a:rPr>
              <a:t>es</a:t>
            </a:r>
            <a:r>
              <a:rPr lang="fr-CA" altLang="en-US" b="1" smtClean="0"/>
              <a:t>-tu</a:t>
            </a:r>
            <a:r>
              <a:rPr lang="fr-CA" altLang="en-US" smtClean="0"/>
              <a:t> près </a:t>
            </a:r>
            <a:r>
              <a:rPr lang="fr-CA" altLang="en-US" b="1" smtClean="0">
                <a:solidFill>
                  <a:srgbClr val="FF0000"/>
                </a:solidFill>
              </a:rPr>
              <a:t>du</a:t>
            </a:r>
            <a:r>
              <a:rPr lang="fr-CA" altLang="en-US" smtClean="0"/>
              <a:t> collège Langara?</a:t>
            </a:r>
          </a:p>
          <a:p>
            <a:pPr>
              <a:lnSpc>
                <a:spcPct val="200000"/>
              </a:lnSpc>
              <a:buFont typeface="Wingdings 2" pitchFamily="18" charset="2"/>
              <a:buNone/>
            </a:pPr>
            <a:r>
              <a:rPr lang="fr-CA" altLang="en-US" smtClean="0"/>
              <a:t>(Habites-tu près </a:t>
            </a:r>
            <a:r>
              <a:rPr lang="fr-CA" altLang="en-US" b="1" smtClean="0">
                <a:solidFill>
                  <a:srgbClr val="FF0000"/>
                </a:solidFill>
              </a:rPr>
              <a:t>de l’</a:t>
            </a:r>
            <a:r>
              <a:rPr lang="fr-CA" altLang="en-US" smtClean="0"/>
              <a:t>université Langara?)</a:t>
            </a:r>
            <a:endParaRPr lang="en-CA" altLang="en-US" smtClean="0"/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4. Tell him/her that you live far away.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mtClean="0"/>
              <a:t>J’habite </a:t>
            </a:r>
            <a:r>
              <a:rPr lang="fr-CA" altLang="en-US" b="1" smtClean="0"/>
              <a:t>loin</a:t>
            </a:r>
            <a:r>
              <a:rPr lang="fr-CA" altLang="en-US" smtClean="0"/>
              <a:t>.</a:t>
            </a:r>
          </a:p>
          <a:p>
            <a:endParaRPr lang="fr-CA" altLang="en-US" smtClean="0"/>
          </a:p>
          <a:p>
            <a:endParaRPr lang="fr-CA" altLang="en-US" smtClean="0"/>
          </a:p>
          <a:p>
            <a:endParaRPr lang="fr-CA" altLang="en-US" smtClean="0"/>
          </a:p>
          <a:p>
            <a:r>
              <a:rPr lang="fr-CA" altLang="en-US" smtClean="0"/>
              <a:t>« loin </a:t>
            </a:r>
            <a:r>
              <a:rPr lang="fr-CA" altLang="en-US" b="1" smtClean="0">
                <a:solidFill>
                  <a:srgbClr val="FF0000"/>
                </a:solidFill>
              </a:rPr>
              <a:t>de</a:t>
            </a:r>
            <a:r>
              <a:rPr lang="fr-CA" altLang="en-US" smtClean="0"/>
              <a:t> » is used when you have a reference point: </a:t>
            </a:r>
          </a:p>
          <a:p>
            <a:pPr>
              <a:buFont typeface="Wingdings 2" pitchFamily="18" charset="2"/>
              <a:buNone/>
            </a:pPr>
            <a:r>
              <a:rPr lang="fr-CA" altLang="en-US" b="1" smtClean="0"/>
              <a:t>	J’habite </a:t>
            </a:r>
            <a:r>
              <a:rPr lang="fr-CA" altLang="en-US" b="1" smtClean="0">
                <a:solidFill>
                  <a:srgbClr val="FF0000"/>
                </a:solidFill>
              </a:rPr>
              <a:t>loin du </a:t>
            </a:r>
            <a:r>
              <a:rPr lang="fr-CA" altLang="en-US" b="1" smtClean="0"/>
              <a:t>parc. </a:t>
            </a:r>
            <a:r>
              <a:rPr lang="fr-CA" altLang="en-US" smtClean="0"/>
              <a:t>(</a:t>
            </a:r>
            <a:r>
              <a:rPr lang="fr-CA" altLang="en-US" i="1" smtClean="0"/>
              <a:t>far from the park)</a:t>
            </a:r>
            <a:endParaRPr lang="en-CA" altLang="en-US" smtClean="0"/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2800" dirty="0" smtClean="0"/>
              <a:t>5. Ask him/her what he/she is going to do after the exams.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mtClean="0"/>
              <a:t>Qu’est-ce que </a:t>
            </a:r>
            <a:r>
              <a:rPr lang="fr-CA" altLang="en-US" b="1" smtClean="0">
                <a:solidFill>
                  <a:srgbClr val="00B0F0"/>
                </a:solidFill>
              </a:rPr>
              <a:t>tu vas faire </a:t>
            </a:r>
            <a:r>
              <a:rPr lang="fr-CA" altLang="en-US" smtClean="0"/>
              <a:t>après les examens?</a:t>
            </a:r>
          </a:p>
          <a:p>
            <a:endParaRPr lang="fr-CA" altLang="en-US" smtClean="0"/>
          </a:p>
          <a:p>
            <a:pPr>
              <a:buFont typeface="Wingdings 2" pitchFamily="18" charset="2"/>
              <a:buNone/>
            </a:pPr>
            <a:r>
              <a:rPr lang="fr-CA" altLang="en-US" smtClean="0"/>
              <a:t>When you need to translate « going to… », make sure to use the near future tense:</a:t>
            </a:r>
          </a:p>
          <a:p>
            <a:pPr marL="1828800" lvl="4" indent="0">
              <a:buFont typeface="Wingdings" pitchFamily="2" charset="2"/>
              <a:buNone/>
            </a:pPr>
            <a:r>
              <a:rPr lang="fr-CA" altLang="en-US" sz="2800" b="1" smtClean="0">
                <a:solidFill>
                  <a:srgbClr val="00B0F0"/>
                </a:solidFill>
              </a:rPr>
              <a:t>Aller + infinitive verb</a:t>
            </a:r>
            <a:endParaRPr lang="en-CA" altLang="en-US" sz="2800" b="1" smtClean="0">
              <a:solidFill>
                <a:srgbClr val="00B0F0"/>
              </a:solidFill>
            </a:endParaRPr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CA" dirty="0" smtClean="0"/>
              <a:t>6. Ask him</a:t>
            </a:r>
            <a:r>
              <a:rPr lang="en-US" dirty="0" smtClean="0"/>
              <a:t>/her if he/she is thirsty. (inverted form)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z="4000" smtClean="0">
                <a:solidFill>
                  <a:srgbClr val="C00000"/>
                </a:solidFill>
              </a:rPr>
              <a:t>As</a:t>
            </a:r>
            <a:r>
              <a:rPr lang="fr-CA" altLang="en-US" sz="4000" b="1" smtClean="0">
                <a:solidFill>
                  <a:srgbClr val="00B0F0"/>
                </a:solidFill>
              </a:rPr>
              <a:t>-</a:t>
            </a:r>
            <a:r>
              <a:rPr lang="fr-CA" altLang="en-US" sz="4000" smtClean="0">
                <a:solidFill>
                  <a:srgbClr val="C00000"/>
                </a:solidFill>
              </a:rPr>
              <a:t>tu</a:t>
            </a:r>
            <a:r>
              <a:rPr lang="fr-CA" altLang="en-US" sz="4000" smtClean="0"/>
              <a:t> soif?</a:t>
            </a:r>
          </a:p>
          <a:p>
            <a:endParaRPr lang="fr-CA" altLang="en-US" smtClean="0"/>
          </a:p>
          <a:p>
            <a:pPr>
              <a:buFont typeface="Wingdings 2" pitchFamily="18" charset="2"/>
              <a:buNone/>
            </a:pPr>
            <a:r>
              <a:rPr lang="fr-CA" altLang="en-US" smtClean="0"/>
              <a:t>(without inversion: Est-ce que tu as soif?)</a:t>
            </a:r>
            <a:endParaRPr lang="en-CA" altLang="en-US" smtClean="0"/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7. Ask him/her if he/she feels like going coffee shop.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smtClean="0"/>
              <a:t>Est-ce que </a:t>
            </a:r>
            <a:r>
              <a:rPr lang="fr-CA" altLang="en-US" b="1" smtClean="0">
                <a:solidFill>
                  <a:srgbClr val="C00000"/>
                </a:solidFill>
              </a:rPr>
              <a:t>tu as envie</a:t>
            </a:r>
            <a:r>
              <a:rPr lang="fr-CA" altLang="en-US" smtClean="0"/>
              <a:t> </a:t>
            </a:r>
            <a:r>
              <a:rPr lang="fr-CA" altLang="en-US" b="1" smtClean="0">
                <a:solidFill>
                  <a:srgbClr val="00B0F0"/>
                </a:solidFill>
              </a:rPr>
              <a:t>d’</a:t>
            </a:r>
            <a:r>
              <a:rPr lang="fr-CA" altLang="en-US" smtClean="0"/>
              <a:t>aller au café?</a:t>
            </a:r>
          </a:p>
          <a:p>
            <a:endParaRPr lang="fr-CA" altLang="en-US" smtClean="0"/>
          </a:p>
          <a:p>
            <a:pPr>
              <a:lnSpc>
                <a:spcPct val="200000"/>
              </a:lnSpc>
            </a:pPr>
            <a:r>
              <a:rPr lang="fr-CA" altLang="en-US" smtClean="0"/>
              <a:t>Remember « to feel like doing something » </a:t>
            </a:r>
          </a:p>
          <a:p>
            <a:pPr>
              <a:lnSpc>
                <a:spcPct val="200000"/>
              </a:lnSpc>
              <a:buFont typeface="Wingdings 2" pitchFamily="18" charset="2"/>
              <a:buNone/>
            </a:pPr>
            <a:r>
              <a:rPr lang="fr-CA" altLang="en-US" smtClean="0"/>
              <a:t>	= </a:t>
            </a:r>
            <a:r>
              <a:rPr lang="fr-CA" altLang="en-US" b="1" smtClean="0">
                <a:solidFill>
                  <a:srgbClr val="C00000"/>
                </a:solidFill>
              </a:rPr>
              <a:t>avoir envie </a:t>
            </a:r>
            <a:r>
              <a:rPr lang="fr-CA" altLang="en-US" b="1" smtClean="0">
                <a:solidFill>
                  <a:srgbClr val="00B0F0"/>
                </a:solidFill>
              </a:rPr>
              <a:t>de + infinitive  verb</a:t>
            </a:r>
            <a:endParaRPr lang="en-CA" altLang="en-US" b="1" smtClean="0">
              <a:solidFill>
                <a:srgbClr val="00B0F0"/>
              </a:solidFill>
            </a:endParaRPr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2800" dirty="0" smtClean="0"/>
              <a:t>8. Say to him/her, “Let’s go </a:t>
            </a:r>
            <a:r>
              <a:rPr lang="en-US" sz="2800" i="1" dirty="0" smtClean="0"/>
              <a:t>to Tim Hortons</a:t>
            </a:r>
            <a:r>
              <a:rPr lang="en-US" sz="2800" dirty="0" smtClean="0"/>
              <a:t> (</a:t>
            </a:r>
            <a:r>
              <a:rPr lang="en-US" sz="2800" i="1" dirty="0" smtClean="0"/>
              <a:t>chez Tim Hortons</a:t>
            </a:r>
            <a:r>
              <a:rPr lang="en-US" sz="2800" dirty="0" smtClean="0"/>
              <a:t>) now!”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altLang="en-US" b="1" smtClean="0">
                <a:solidFill>
                  <a:srgbClr val="C00000"/>
                </a:solidFill>
              </a:rPr>
              <a:t>Allons</a:t>
            </a:r>
            <a:r>
              <a:rPr lang="fr-CA" altLang="en-US" smtClean="0"/>
              <a:t> chez Tim Hortons </a:t>
            </a:r>
            <a:r>
              <a:rPr lang="fr-CA" altLang="en-US" b="1" smtClean="0">
                <a:solidFill>
                  <a:srgbClr val="00B0F0"/>
                </a:solidFill>
              </a:rPr>
              <a:t>maintenant</a:t>
            </a:r>
            <a:r>
              <a:rPr lang="fr-CA" altLang="en-US" smtClean="0"/>
              <a:t>!</a:t>
            </a:r>
          </a:p>
          <a:p>
            <a:endParaRPr lang="fr-CA" altLang="en-US" smtClean="0"/>
          </a:p>
          <a:p>
            <a:r>
              <a:rPr lang="fr-CA" altLang="en-US" smtClean="0"/>
              <a:t>Remember that « Let’s go… ! » is a command. Conjugate your verb in the imperative, using the « nous » form. </a:t>
            </a:r>
            <a:endParaRPr lang="en-CA" altLang="en-US" smtClean="0"/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059363"/>
          </a:xfrm>
        </p:spPr>
        <p:txBody>
          <a:bodyPr/>
          <a:lstStyle/>
          <a:p>
            <a:pPr marL="609600" indent="-609600" eaLnBrk="1" hangingPunct="1">
              <a:buFontTx/>
              <a:buAutoNum type="arabicParenBoth"/>
            </a:pPr>
            <a:endParaRPr lang="en-US" altLang="en-US" smtClean="0"/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Tu regardes ____ télé le vendredi soir.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Je n’ai pas ____ frère mais j’ai ___ soeur.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Vous jouez  ____ guitare ou ____ piano?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Je pense ____ cours de français.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Que penses-tu ____ cet étudiant?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Je n’aime pas ____ musique ‘pop’ mais j’adore  ______ sport et ______ promenades.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Elles jouent ______ basket le lundi.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On va _____ piscine avec nos amis.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620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C – Les articles et les </a:t>
            </a:r>
            <a:r>
              <a:rPr lang="en-US" dirty="0" err="1" smtClean="0"/>
              <a:t>prépositions</a:t>
            </a:r>
            <a:endParaRPr lang="en-CA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667000" y="1600200"/>
            <a:ext cx="37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la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627313" y="2003425"/>
            <a:ext cx="4524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de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445125" y="2009775"/>
            <a:ext cx="5905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une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627313" y="2514600"/>
            <a:ext cx="7127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de la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45088" y="2514600"/>
            <a:ext cx="4556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du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182813" y="2884488"/>
            <a:ext cx="444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au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952750" y="3440113"/>
            <a:ext cx="452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de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81325" y="3810000"/>
            <a:ext cx="374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rgbClr val="FF0000"/>
                </a:solidFill>
              </a:rPr>
              <a:t>la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14400" y="4208463"/>
            <a:ext cx="3794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rgbClr val="FF0000"/>
                </a:solidFill>
              </a:rPr>
              <a:t>le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421063" y="4179888"/>
            <a:ext cx="4714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>
                <a:solidFill>
                  <a:srgbClr val="FF0000"/>
                </a:solidFill>
              </a:rPr>
              <a:t>les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819400" y="4724400"/>
            <a:ext cx="4429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>
                <a:solidFill>
                  <a:srgbClr val="FF0000"/>
                </a:solidFill>
              </a:rPr>
              <a:t>au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749425" y="5181600"/>
            <a:ext cx="565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à la</a:t>
            </a:r>
            <a:endParaRPr lang="en-CA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1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9688"/>
            <a:ext cx="8610600" cy="7889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 smtClean="0"/>
              <a:t>C – Les articles et les </a:t>
            </a:r>
            <a:r>
              <a:rPr lang="en-US" altLang="en-US" dirty="0" err="1" smtClean="0"/>
              <a:t>prépositions</a:t>
            </a:r>
            <a:r>
              <a:rPr lang="en-US" altLang="en-US" dirty="0"/>
              <a:t> </a:t>
            </a:r>
            <a:r>
              <a:rPr lang="en-US" altLang="en-US" dirty="0" smtClean="0"/>
              <a:t>2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059363"/>
          </a:xfrm>
        </p:spPr>
        <p:txBody>
          <a:bodyPr/>
          <a:lstStyle/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Il n’y a pas _______ ordinateur ici.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Est-ce que tu as ______ amis français?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Philippe n’est pas _______ copain.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J’ai ______ voiture de sport japonaise.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_____ activité physique est importante                   pour la santé (health).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Nous faisons _______ courses le dimanche.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Elles ont besoin d’______ lampe.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/>
              <a:t>Est-ce que tu veux ____ salade ou  ___ sandwich?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867025" y="990600"/>
            <a:ext cx="403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d’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429000" y="1600200"/>
            <a:ext cx="5524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des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886200" y="2057400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un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00200" y="2438400"/>
            <a:ext cx="5905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une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2895600"/>
            <a:ext cx="385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L’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28950" y="3733800"/>
            <a:ext cx="484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les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90925" y="4724400"/>
            <a:ext cx="590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une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686175" y="4267200"/>
            <a:ext cx="5889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une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43600" y="4724400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un</a:t>
            </a:r>
            <a:endParaRPr lang="en-CA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7239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D. Translation</a:t>
            </a:r>
            <a:endParaRPr lang="en-CA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239000" cy="4846638"/>
          </a:xfrm>
        </p:spPr>
        <p:txBody>
          <a:bodyPr/>
          <a:lstStyle/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Tu parles __________ (too much).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Cet étudiant est __________ (conscientious).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Voici __________       (his sister’s house).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À qui __________ (belongs to) l’appareil photo?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(Which) __________ cravate est-ce que tu v</a:t>
            </a:r>
            <a:r>
              <a:rPr lang="en-US" altLang="en-US" u="sng" smtClean="0"/>
              <a:t>as</a:t>
            </a:r>
            <a:r>
              <a:rPr lang="en-US" altLang="en-US" smtClean="0"/>
              <a:t> acheter pour ton père?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(This) __________ hôtel est (smaller than) __________ cet autre hotel.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Je (not/to think about) __________ l’examen.</a:t>
            </a:r>
            <a:endParaRPr lang="en-CA" altLang="en-US" smtClean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836863" y="1219200"/>
            <a:ext cx="6397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trop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581400" y="1752600"/>
            <a:ext cx="171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consciencieux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828800" y="2667000"/>
            <a:ext cx="2495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la maison de sa soeur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540000" y="3071813"/>
            <a:ext cx="5080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est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695575" y="3886200"/>
            <a:ext cx="885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Quelle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74925" y="4724400"/>
            <a:ext cx="5508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Cet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066800" y="5181600"/>
            <a:ext cx="1682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plus petit que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572000" y="5638800"/>
            <a:ext cx="177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ne pense pas à</a:t>
            </a:r>
            <a:endParaRPr lang="en-CA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E. </a:t>
            </a:r>
            <a:r>
              <a:rPr lang="en-US" dirty="0" err="1" smtClean="0"/>
              <a:t>Répondez</a:t>
            </a:r>
            <a:r>
              <a:rPr lang="en-US" dirty="0" smtClean="0"/>
              <a:t> aux questions</a:t>
            </a:r>
            <a:endParaRPr lang="en-CA" dirty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Comment est-ce que tu vas à l’université?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Pourquoi faites-vous des économies?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En général, comment sont tes parents? (give 2 characteristics)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Quel est votre type de musique préféré?</a:t>
            </a:r>
          </a:p>
          <a:p>
            <a:pPr marL="514350" indent="-514350" eaLnBrk="1" hangingPunct="1">
              <a:buFont typeface="Wingdings 2" pitchFamily="18" charset="2"/>
              <a:buAutoNum type="arabicPeriod"/>
            </a:pPr>
            <a:r>
              <a:rPr lang="en-US" altLang="en-US" smtClean="0"/>
              <a:t>Le médecin parle à un patient. Using commands, say what the doctor would tell his/her patients. </a:t>
            </a:r>
          </a:p>
          <a:p>
            <a:pPr marL="514350" indent="-514350" eaLnBrk="1" hangingPunct="1">
              <a:buFont typeface="Wingdings 2" pitchFamily="18" charset="2"/>
              <a:buNone/>
            </a:pPr>
            <a:r>
              <a:rPr lang="en-US" altLang="en-US" i="1" smtClean="0"/>
              <a:t>	(grossir, maigrir, faire du sport)</a:t>
            </a:r>
          </a:p>
          <a:p>
            <a:pPr marL="514350" indent="-514350" eaLnBrk="1" hangingPunct="1">
              <a:buFont typeface="Wingdings 2" pitchFamily="18" charset="2"/>
              <a:buNone/>
            </a:pPr>
            <a:endParaRPr lang="en-US" altLang="en-US" smtClean="0"/>
          </a:p>
          <a:p>
            <a:pPr marL="514350" indent="-514350" eaLnBrk="1" hangingPunct="1">
              <a:buFont typeface="Wingdings 2" pitchFamily="18" charset="2"/>
              <a:buNone/>
            </a:pP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F. </a:t>
            </a:r>
            <a:r>
              <a:rPr lang="en-US" dirty="0" err="1" smtClean="0"/>
              <a:t>Verbes</a:t>
            </a:r>
            <a:r>
              <a:rPr lang="en-US" dirty="0"/>
              <a:t> </a:t>
            </a:r>
            <a:r>
              <a:rPr lang="en-US" dirty="0" smtClean="0"/>
              <a:t>à </a:t>
            </a:r>
            <a:r>
              <a:rPr lang="en-US" dirty="0" err="1" smtClean="0"/>
              <a:t>l’indicatif</a:t>
            </a:r>
            <a:r>
              <a:rPr lang="en-US" dirty="0" smtClean="0"/>
              <a:t> </a:t>
            </a:r>
            <a:r>
              <a:rPr lang="en-US" dirty="0" err="1" smtClean="0"/>
              <a:t>présent</a:t>
            </a:r>
            <a:endParaRPr lang="en-CA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381000" y="1609725"/>
            <a:ext cx="7315200" cy="4029075"/>
          </a:xfrm>
        </p:spPr>
        <p:txBody>
          <a:bodyPr/>
          <a:lstStyle/>
          <a:p>
            <a:pPr marL="609600" indent="-609600" eaLnBrk="1" hangingPunct="1">
              <a:buFontTx/>
              <a:buAutoNum type="arabicParenBoth"/>
            </a:pPr>
            <a:r>
              <a:rPr lang="en-US" altLang="en-US" smtClean="0">
                <a:latin typeface="Trebuchet MS (Body)"/>
              </a:rPr>
              <a:t>(to study) Ma cousine ________ l’espagnol.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>
                <a:latin typeface="Trebuchet MS (Body)"/>
              </a:rPr>
              <a:t>(to be)	 ________-vous journaliste?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>
                <a:latin typeface="Trebuchet MS (Body)"/>
              </a:rPr>
              <a:t>(to go)  Vous ________ au restaurant.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mtClean="0">
                <a:latin typeface="Trebuchet MS (Body)"/>
              </a:rPr>
              <a:t>(to call oneself) Comment t’ ________-tu?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smtClean="0">
                <a:latin typeface="Trebuchet MS (Body)"/>
              </a:rPr>
              <a:t>(to do) Nous ________ le ménage le dimanche!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smtClean="0">
                <a:latin typeface="Trebuchet MS (Body)"/>
              </a:rPr>
              <a:t>(to travel) Tes parents ________ souvent, n’est-ce pas? </a:t>
            </a:r>
            <a:endParaRPr lang="fr-CA" altLang="en-US" sz="2800" smtClean="0">
              <a:latin typeface="Trebuchet MS (Body)"/>
            </a:endParaRPr>
          </a:p>
          <a:p>
            <a:pPr marL="609600" indent="-609600" eaLnBrk="1" hangingPunct="1">
              <a:buFont typeface="Wingdings 2" pitchFamily="18" charset="2"/>
              <a:buNone/>
            </a:pPr>
            <a:endParaRPr lang="fr-CA" altLang="en-US" sz="2800" i="1" smtClean="0">
              <a:latin typeface="Trebuchet MS (Body)"/>
            </a:endParaRPr>
          </a:p>
          <a:p>
            <a:pPr marL="609600" indent="-609600" eaLnBrk="1" hangingPunct="1">
              <a:buFont typeface="Wingdings 2" pitchFamily="18" charset="2"/>
              <a:buNone/>
            </a:pPr>
            <a:r>
              <a:rPr lang="en-US" altLang="en-US" smtClean="0">
                <a:latin typeface="Trebuchet MS (Body)"/>
              </a:rPr>
              <a:t> </a:t>
            </a:r>
          </a:p>
        </p:txBody>
      </p:sp>
      <p:sp>
        <p:nvSpPr>
          <p:cNvPr id="40964" name="TextBox 3"/>
          <p:cNvSpPr txBox="1">
            <a:spLocks noChangeArrowheads="1"/>
          </p:cNvSpPr>
          <p:nvPr/>
        </p:nvSpPr>
        <p:spPr bwMode="auto">
          <a:xfrm>
            <a:off x="2627313" y="2133600"/>
            <a:ext cx="6397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Êtes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0965" name="TextBox 4"/>
          <p:cNvSpPr txBox="1">
            <a:spLocks noChangeArrowheads="1"/>
          </p:cNvSpPr>
          <p:nvPr/>
        </p:nvSpPr>
        <p:spPr bwMode="auto">
          <a:xfrm>
            <a:off x="3414713" y="2590800"/>
            <a:ext cx="6969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allez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5334000" y="3048000"/>
            <a:ext cx="10779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appelles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0967" name="TextBox 6"/>
          <p:cNvSpPr txBox="1">
            <a:spLocks noChangeArrowheads="1"/>
          </p:cNvSpPr>
          <p:nvPr/>
        </p:nvSpPr>
        <p:spPr bwMode="auto">
          <a:xfrm>
            <a:off x="3414713" y="3589338"/>
            <a:ext cx="927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faisons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0968" name="TextBox 7"/>
          <p:cNvSpPr txBox="1">
            <a:spLocks noChangeArrowheads="1"/>
          </p:cNvSpPr>
          <p:nvPr/>
        </p:nvSpPr>
        <p:spPr bwMode="auto">
          <a:xfrm>
            <a:off x="4775200" y="4419600"/>
            <a:ext cx="11588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voyagent</a:t>
            </a:r>
            <a:endParaRPr lang="en-CA" altLang="en-US" b="1">
              <a:solidFill>
                <a:srgbClr val="FF0000"/>
              </a:solidFill>
            </a:endParaRPr>
          </a:p>
        </p:txBody>
      </p:sp>
      <p:sp>
        <p:nvSpPr>
          <p:cNvPr id="40969" name="TextBox 9"/>
          <p:cNvSpPr txBox="1">
            <a:spLocks noChangeArrowheads="1"/>
          </p:cNvSpPr>
          <p:nvPr/>
        </p:nvSpPr>
        <p:spPr bwMode="auto">
          <a:xfrm>
            <a:off x="4625975" y="1447800"/>
            <a:ext cx="10445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CA" altLang="en-US" b="1">
                <a:solidFill>
                  <a:srgbClr val="FF0000"/>
                </a:solidFill>
              </a:rPr>
              <a:t>étudie</a:t>
            </a:r>
            <a:endParaRPr lang="en-CA" altLang="en-US" b="1">
              <a:solidFill>
                <a:srgbClr val="FF0000"/>
              </a:solidFill>
            </a:endParaRPr>
          </a:p>
          <a:p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239000" cy="4730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F. </a:t>
            </a:r>
            <a:r>
              <a:rPr lang="en-US" dirty="0" err="1" smtClean="0"/>
              <a:t>Verbes</a:t>
            </a:r>
            <a:r>
              <a:rPr lang="en-US" dirty="0"/>
              <a:t> </a:t>
            </a:r>
            <a:r>
              <a:rPr lang="en-US" dirty="0" smtClean="0"/>
              <a:t>à </a:t>
            </a:r>
            <a:r>
              <a:rPr lang="en-US" dirty="0" err="1" smtClean="0"/>
              <a:t>l’indicatif</a:t>
            </a:r>
            <a:r>
              <a:rPr lang="en-US" dirty="0" smtClean="0"/>
              <a:t> </a:t>
            </a:r>
            <a:r>
              <a:rPr lang="en-US" dirty="0" err="1" smtClean="0"/>
              <a:t>présent</a:t>
            </a:r>
            <a:endParaRPr lang="en-CA" dirty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7620000" cy="5943600"/>
          </a:xfrm>
        </p:spPr>
        <p:txBody>
          <a:bodyPr/>
          <a:lstStyle/>
          <a:p>
            <a:pPr marL="609600" indent="-609600" eaLnBrk="1" hangingPunct="1">
              <a:buFontTx/>
              <a:buAutoNum type="arabicParenBoth"/>
            </a:pPr>
            <a:r>
              <a:rPr lang="en-US" altLang="en-US" dirty="0" smtClean="0">
                <a:latin typeface="Trebuchet MS (Body)"/>
              </a:rPr>
              <a:t>(to have) </a:t>
            </a:r>
            <a:r>
              <a:rPr lang="en-US" altLang="en-US" sz="2000" dirty="0" smtClean="0">
                <a:latin typeface="Trebuchet MS (Body)"/>
              </a:rPr>
              <a:t>Tania et </a:t>
            </a:r>
            <a:r>
              <a:rPr lang="en-US" altLang="en-US" sz="2000" dirty="0" err="1" smtClean="0">
                <a:latin typeface="Trebuchet MS (Body)"/>
              </a:rPr>
              <a:t>Chloé</a:t>
            </a:r>
            <a:r>
              <a:rPr lang="en-US" altLang="en-US" sz="2000" dirty="0" smtClean="0">
                <a:latin typeface="Trebuchet MS (Body)"/>
              </a:rPr>
              <a:t> ___</a:t>
            </a:r>
            <a:r>
              <a:rPr lang="en-US" altLang="en-US" dirty="0" smtClean="0">
                <a:latin typeface="Trebuchet MS (Body)"/>
              </a:rPr>
              <a:t>_ beaucoup </a:t>
            </a:r>
            <a:r>
              <a:rPr lang="en-US" altLang="en-US" dirty="0" err="1" smtClean="0">
                <a:latin typeface="Trebuchet MS (Body)"/>
              </a:rPr>
              <a:t>d’amis</a:t>
            </a:r>
            <a:r>
              <a:rPr lang="en-US" altLang="en-US" dirty="0" smtClean="0">
                <a:latin typeface="Trebuchet MS (Body)"/>
              </a:rPr>
              <a:t>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dirty="0" smtClean="0">
                <a:latin typeface="Trebuchet MS (Body)"/>
              </a:rPr>
              <a:t>(to </a:t>
            </a:r>
            <a:r>
              <a:rPr lang="en-US" altLang="en-US" dirty="0" smtClean="0">
                <a:solidFill>
                  <a:srgbClr val="FF0000"/>
                </a:solidFill>
                <a:latin typeface="Trebuchet MS (Body)"/>
              </a:rPr>
              <a:t>never</a:t>
            </a:r>
            <a:r>
              <a:rPr lang="en-US" altLang="en-US" dirty="0" smtClean="0">
                <a:latin typeface="Trebuchet MS (Body)"/>
              </a:rPr>
              <a:t> be) Nous </a:t>
            </a:r>
            <a:r>
              <a:rPr lang="en-US" altLang="en-US" dirty="0" smtClean="0">
                <a:latin typeface="Trebuchet MS (Body)"/>
              </a:rPr>
              <a:t>______</a:t>
            </a:r>
            <a:r>
              <a:rPr lang="en-US" altLang="en-US" dirty="0" smtClean="0">
                <a:latin typeface="Trebuchet MS (Body)"/>
              </a:rPr>
              <a:t>__    </a:t>
            </a:r>
            <a:r>
              <a:rPr lang="en-US" altLang="en-US" dirty="0" smtClean="0">
                <a:latin typeface="Trebuchet MS (Body)"/>
              </a:rPr>
              <a:t>en </a:t>
            </a:r>
            <a:r>
              <a:rPr lang="en-US" altLang="en-US" dirty="0" smtClean="0">
                <a:latin typeface="Trebuchet MS (Body)"/>
              </a:rPr>
              <a:t>retard. 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dirty="0" smtClean="0">
                <a:latin typeface="Trebuchet MS (Body)"/>
              </a:rPr>
              <a:t>(to wear) </a:t>
            </a:r>
            <a:r>
              <a:rPr lang="en-US" altLang="en-US" dirty="0" err="1" smtClean="0">
                <a:latin typeface="Trebuchet MS (Body)"/>
              </a:rPr>
              <a:t>Elles</a:t>
            </a:r>
            <a:r>
              <a:rPr lang="en-US" altLang="en-US" dirty="0" smtClean="0">
                <a:latin typeface="Trebuchet MS (Body)"/>
              </a:rPr>
              <a:t> ______ </a:t>
            </a:r>
            <a:r>
              <a:rPr lang="en-US" altLang="en-US" dirty="0" err="1" smtClean="0">
                <a:latin typeface="Trebuchet MS (Body)"/>
              </a:rPr>
              <a:t>toujours</a:t>
            </a:r>
            <a:r>
              <a:rPr lang="en-US" altLang="en-US" dirty="0" smtClean="0">
                <a:latin typeface="Trebuchet MS (Body)"/>
              </a:rPr>
              <a:t> des </a:t>
            </a:r>
            <a:r>
              <a:rPr lang="en-US" altLang="en-US" dirty="0" err="1" smtClean="0">
                <a:latin typeface="Trebuchet MS (Body)"/>
              </a:rPr>
              <a:t>jupes</a:t>
            </a:r>
            <a:r>
              <a:rPr lang="en-US" altLang="en-US" dirty="0" smtClean="0">
                <a:latin typeface="Trebuchet MS (Body)"/>
              </a:rPr>
              <a:t> rouges.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dirty="0" smtClean="0">
                <a:latin typeface="Trebuchet MS (Body)"/>
              </a:rPr>
              <a:t>(to have) </a:t>
            </a:r>
            <a:r>
              <a:rPr lang="en-US" altLang="en-US" sz="2800" dirty="0" err="1" smtClean="0">
                <a:latin typeface="Trebuchet MS (Body)"/>
              </a:rPr>
              <a:t>Quel</a:t>
            </a:r>
            <a:r>
              <a:rPr lang="en-US" altLang="en-US" sz="2800" dirty="0" smtClean="0">
                <a:latin typeface="Trebuchet MS (Body)"/>
              </a:rPr>
              <a:t> </a:t>
            </a:r>
            <a:r>
              <a:rPr lang="en-US" altLang="en-US" sz="2800" dirty="0" err="1" smtClean="0">
                <a:latin typeface="Trebuchet MS (Body)"/>
              </a:rPr>
              <a:t>âge</a:t>
            </a:r>
            <a:r>
              <a:rPr lang="en-US" altLang="en-US" sz="2800" dirty="0" smtClean="0">
                <a:latin typeface="Trebuchet MS (Body)"/>
              </a:rPr>
              <a:t> ______-</a:t>
            </a:r>
            <a:r>
              <a:rPr lang="en-US" altLang="en-US" sz="2800" dirty="0" err="1" smtClean="0">
                <a:latin typeface="Trebuchet MS (Body)"/>
              </a:rPr>
              <a:t>il</a:t>
            </a:r>
            <a:r>
              <a:rPr lang="en-US" altLang="en-US" sz="2800" dirty="0" smtClean="0">
                <a:latin typeface="Trebuchet MS (Body)"/>
              </a:rPr>
              <a:t>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dirty="0" smtClean="0">
                <a:latin typeface="Trebuchet MS (Body)"/>
              </a:rPr>
              <a:t>(to</a:t>
            </a:r>
            <a:r>
              <a:rPr lang="en-US" altLang="en-US" sz="2800" dirty="0" smtClean="0">
                <a:solidFill>
                  <a:srgbClr val="FF0000"/>
                </a:solidFill>
                <a:latin typeface="Trebuchet MS (Body)"/>
              </a:rPr>
              <a:t> not </a:t>
            </a:r>
            <a:r>
              <a:rPr lang="en-US" altLang="en-US" sz="2800" dirty="0" smtClean="0">
                <a:latin typeface="Trebuchet MS (Body)"/>
              </a:rPr>
              <a:t>go) On ______ en France </a:t>
            </a:r>
            <a:r>
              <a:rPr lang="en-US" altLang="en-US" sz="2800" dirty="0" err="1" smtClean="0">
                <a:latin typeface="Trebuchet MS (Body)"/>
              </a:rPr>
              <a:t>cet</a:t>
            </a:r>
            <a:r>
              <a:rPr lang="en-US" altLang="en-US" sz="2800" dirty="0" smtClean="0">
                <a:latin typeface="Trebuchet MS (Body)"/>
              </a:rPr>
              <a:t> </a:t>
            </a:r>
            <a:r>
              <a:rPr lang="en-US" altLang="en-US" sz="2800" dirty="0" err="1" smtClean="0">
                <a:latin typeface="Trebuchet MS (Body)"/>
              </a:rPr>
              <a:t>été</a:t>
            </a:r>
            <a:r>
              <a:rPr lang="en-US" altLang="en-US" sz="2800" dirty="0" smtClean="0">
                <a:latin typeface="Trebuchet MS (Body)"/>
              </a:rPr>
              <a:t>.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dirty="0" smtClean="0">
                <a:latin typeface="Trebuchet MS (Body)"/>
              </a:rPr>
              <a:t>(to live) </a:t>
            </a:r>
            <a:r>
              <a:rPr lang="en-US" altLang="en-US" sz="2800" dirty="0" err="1" smtClean="0">
                <a:latin typeface="Trebuchet MS (Body)"/>
              </a:rPr>
              <a:t>Où</a:t>
            </a:r>
            <a:r>
              <a:rPr lang="en-US" altLang="en-US" sz="2800" dirty="0" smtClean="0">
                <a:latin typeface="Trebuchet MS (Body)"/>
              </a:rPr>
              <a:t> ______ </a:t>
            </a:r>
            <a:r>
              <a:rPr lang="en-US" altLang="en-US" sz="2800" dirty="0" err="1" smtClean="0">
                <a:latin typeface="Trebuchet MS (Body)"/>
              </a:rPr>
              <a:t>tes</a:t>
            </a:r>
            <a:r>
              <a:rPr lang="en-US" altLang="en-US" sz="2800" dirty="0" smtClean="0">
                <a:latin typeface="Trebuchet MS (Body)"/>
              </a:rPr>
              <a:t> </a:t>
            </a:r>
            <a:r>
              <a:rPr lang="en-US" altLang="en-US" sz="2800" dirty="0" err="1" smtClean="0">
                <a:latin typeface="Trebuchet MS (Body)"/>
              </a:rPr>
              <a:t>neveux</a:t>
            </a:r>
            <a:r>
              <a:rPr lang="en-US" altLang="en-US" sz="2800" dirty="0" smtClean="0">
                <a:latin typeface="Trebuchet MS (Body)"/>
              </a:rPr>
              <a:t>?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dirty="0" smtClean="0">
                <a:latin typeface="Trebuchet MS (Body)"/>
              </a:rPr>
              <a:t>(to swim) Nous ______!</a:t>
            </a:r>
          </a:p>
          <a:p>
            <a:pPr marL="609600" indent="-609600" eaLnBrk="1" hangingPunct="1">
              <a:buFontTx/>
              <a:buAutoNum type="arabicParenBoth"/>
            </a:pPr>
            <a:r>
              <a:rPr lang="en-US" altLang="en-US" sz="2800" dirty="0" smtClean="0">
                <a:latin typeface="Trebuchet MS (Body)"/>
              </a:rPr>
              <a:t>(to make/to do) </a:t>
            </a:r>
            <a:r>
              <a:rPr lang="en-US" altLang="en-US" sz="2800" dirty="0" err="1" smtClean="0">
                <a:latin typeface="Trebuchet MS (Body)"/>
              </a:rPr>
              <a:t>Tes</a:t>
            </a:r>
            <a:r>
              <a:rPr lang="en-US" altLang="en-US" sz="2800" dirty="0" smtClean="0">
                <a:latin typeface="Trebuchet MS (Body)"/>
              </a:rPr>
              <a:t> parents ______ la cuisine.</a:t>
            </a:r>
            <a:endParaRPr lang="fr-CA" altLang="en-US" sz="2800" dirty="0" smtClean="0">
              <a:latin typeface="Trebuchet MS (Body)"/>
            </a:endParaRPr>
          </a:p>
          <a:p>
            <a:pPr marL="609600" indent="-609600" eaLnBrk="1" hangingPunct="1">
              <a:buFont typeface="Wingdings 2" pitchFamily="18" charset="2"/>
              <a:buNone/>
            </a:pPr>
            <a:endParaRPr lang="fr-CA" altLang="en-US" sz="2800" i="1" dirty="0" smtClean="0">
              <a:latin typeface="Trebuchet MS (Body)"/>
            </a:endParaRPr>
          </a:p>
          <a:p>
            <a:pPr marL="609600" indent="-609600" eaLnBrk="1" hangingPunct="1">
              <a:buFont typeface="Wingdings 2" pitchFamily="18" charset="2"/>
              <a:buNone/>
            </a:pPr>
            <a:r>
              <a:rPr lang="en-US" altLang="en-US" dirty="0" smtClean="0">
                <a:latin typeface="Trebuchet MS (Body)"/>
              </a:rPr>
              <a:t> </a:t>
            </a:r>
          </a:p>
          <a:p>
            <a:pPr marL="609600" indent="-609600" eaLnBrk="1" hangingPunct="1">
              <a:buFont typeface="Wingdings 2" pitchFamily="18" charset="2"/>
              <a:buNone/>
            </a:pPr>
            <a:endParaRPr lang="en-CA" altLang="en-US" dirty="0" smtClean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648200" y="990600"/>
            <a:ext cx="5429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ont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38600" y="1905000"/>
            <a:ext cx="21499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 smtClean="0">
                <a:solidFill>
                  <a:srgbClr val="FF0000"/>
                </a:solidFill>
              </a:rPr>
              <a:t>ne </a:t>
            </a:r>
            <a:r>
              <a:rPr lang="fr-CA" altLang="en-US" b="1" dirty="0">
                <a:solidFill>
                  <a:srgbClr val="FF0000"/>
                </a:solidFill>
              </a:rPr>
              <a:t>sommes </a:t>
            </a:r>
            <a:r>
              <a:rPr lang="fr-CA" altLang="en-US" b="1" dirty="0" smtClean="0">
                <a:solidFill>
                  <a:srgbClr val="FF0000"/>
                </a:solidFill>
              </a:rPr>
              <a:t>jamais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33800" y="2362200"/>
            <a:ext cx="10017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portent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24400" y="3276600"/>
            <a:ext cx="482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a-t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733800" y="3733800"/>
            <a:ext cx="1195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ne va pas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81400" y="4648200"/>
            <a:ext cx="6413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sont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733800" y="5181600"/>
            <a:ext cx="10588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nageons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5638800"/>
            <a:ext cx="628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font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F. </a:t>
            </a:r>
            <a:r>
              <a:rPr lang="en-US" dirty="0" err="1" smtClean="0"/>
              <a:t>Verbes</a:t>
            </a:r>
            <a:r>
              <a:rPr lang="en-US" dirty="0" smtClean="0"/>
              <a:t> à </a:t>
            </a:r>
            <a:r>
              <a:rPr lang="en-US" dirty="0" err="1" smtClean="0"/>
              <a:t>l’impératif</a:t>
            </a:r>
            <a:endParaRPr lang="en-CA" dirty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</a:t>
            </a:r>
            <a:r>
              <a:rPr lang="fr-CA" altLang="en-US" sz="2000" dirty="0" err="1" smtClean="0"/>
              <a:t>buy</a:t>
            </a:r>
            <a:r>
              <a:rPr lang="fr-CA" altLang="en-US" sz="2000" dirty="0" smtClean="0"/>
              <a:t>)	(tu) __________________ un café!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have)	(nous) _________________ de la patience!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</a:t>
            </a:r>
            <a:r>
              <a:rPr lang="fr-CA" altLang="en-US" sz="2000" dirty="0" err="1" smtClean="0"/>
              <a:t>be</a:t>
            </a:r>
            <a:r>
              <a:rPr lang="fr-CA" altLang="en-US" sz="2000" dirty="0" smtClean="0"/>
              <a:t>)	(vous) ________________ courageux!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en-CA" altLang="en-US" sz="2000" dirty="0" smtClean="0"/>
              <a:t>(to speak)	(</a:t>
            </a:r>
            <a:r>
              <a:rPr lang="en-CA" altLang="en-US" sz="2000" dirty="0" err="1" smtClean="0"/>
              <a:t>vous</a:t>
            </a:r>
            <a:r>
              <a:rPr lang="en-CA" altLang="en-US" sz="2000" dirty="0" smtClean="0"/>
              <a:t>) _________________ </a:t>
            </a:r>
            <a:r>
              <a:rPr lang="en-CA" altLang="en-US" sz="2000" dirty="0" err="1" smtClean="0"/>
              <a:t>français</a:t>
            </a:r>
            <a:r>
              <a:rPr lang="en-CA" altLang="en-US" sz="2000" dirty="0" smtClean="0"/>
              <a:t>!</a:t>
            </a:r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finish) 	(tu) _________________ ton repas!</a:t>
            </a:r>
            <a:endParaRPr lang="en-CA" altLang="en-US" sz="2000" dirty="0" smtClean="0"/>
          </a:p>
          <a:p>
            <a:pPr marL="457200" indent="-457200" eaLnBrk="1" hangingPunct="1">
              <a:buFont typeface="Trebuchet MS" pitchFamily="34" charset="0"/>
              <a:buAutoNum type="arabicPeriod"/>
            </a:pPr>
            <a:endParaRPr lang="en-CA" altLang="en-US" sz="2000" dirty="0" smtClean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505200" y="1676400"/>
            <a:ext cx="942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altLang="en-US" b="1" dirty="0">
                <a:solidFill>
                  <a:srgbClr val="FF0000"/>
                </a:solidFill>
              </a:rPr>
              <a:t>Ach</a:t>
            </a:r>
            <a:r>
              <a:rPr lang="fr-CA" altLang="en-US" b="1" dirty="0" err="1">
                <a:solidFill>
                  <a:srgbClr val="FF0000"/>
                </a:solidFill>
              </a:rPr>
              <a:t>ète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505200" y="2209800"/>
            <a:ext cx="815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Ayons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505200" y="2743200"/>
            <a:ext cx="811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Soyez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505200" y="3276600"/>
            <a:ext cx="8556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Parlez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581400" y="3810000"/>
            <a:ext cx="693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b="1" dirty="0">
                <a:solidFill>
                  <a:srgbClr val="FF0000"/>
                </a:solidFill>
              </a:rPr>
              <a:t>Finis</a:t>
            </a:r>
            <a:endParaRPr lang="en-CA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F. </a:t>
            </a:r>
            <a:r>
              <a:rPr lang="en-US" dirty="0" err="1" smtClean="0"/>
              <a:t>Verbes</a:t>
            </a:r>
            <a:r>
              <a:rPr lang="en-US" dirty="0" smtClean="0"/>
              <a:t> à </a:t>
            </a:r>
            <a:r>
              <a:rPr lang="en-US" dirty="0" err="1" smtClean="0"/>
              <a:t>l’impératif</a:t>
            </a:r>
            <a:r>
              <a:rPr lang="en-US" dirty="0" smtClean="0"/>
              <a:t> (2)</a:t>
            </a:r>
            <a:endParaRPr lang="en-CA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en-CA" altLang="en-US" sz="2000" dirty="0" smtClean="0"/>
              <a:t>(to not lose) 	(</a:t>
            </a:r>
            <a:r>
              <a:rPr lang="en-CA" altLang="en-US" sz="2000" dirty="0" err="1" smtClean="0"/>
              <a:t>tu</a:t>
            </a:r>
            <a:r>
              <a:rPr lang="en-CA" altLang="en-US" sz="2000" dirty="0" smtClean="0"/>
              <a:t>) ______________ </a:t>
            </a:r>
            <a:r>
              <a:rPr lang="en-CA" altLang="en-US" sz="2000" dirty="0" err="1" smtClean="0"/>
              <a:t>ta</a:t>
            </a:r>
            <a:r>
              <a:rPr lang="en-CA" altLang="en-US" sz="2000" dirty="0" smtClean="0"/>
              <a:t> </a:t>
            </a:r>
            <a:r>
              <a:rPr lang="en-CA" altLang="en-US" sz="2000" dirty="0" err="1" smtClean="0"/>
              <a:t>montre</a:t>
            </a:r>
            <a:r>
              <a:rPr lang="en-CA" altLang="en-US" sz="2000" dirty="0" smtClean="0"/>
              <a:t>!</a:t>
            </a:r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go) 		(nous) ____________ au cinéma!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en-CA" altLang="en-US" sz="2000" dirty="0" smtClean="0"/>
              <a:t>(to lose)		(nous)____________ du </a:t>
            </a:r>
            <a:r>
              <a:rPr lang="en-CA" altLang="en-US" sz="2000" dirty="0" err="1" smtClean="0"/>
              <a:t>poids</a:t>
            </a:r>
            <a:r>
              <a:rPr lang="en-CA" altLang="en-US" sz="2000" dirty="0" smtClean="0"/>
              <a:t> !							</a:t>
            </a:r>
            <a:r>
              <a:rPr lang="en-CA" altLang="en-US" sz="1400" dirty="0" smtClean="0"/>
              <a:t>(some weight)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fr-CA" altLang="en-US" sz="2000" dirty="0" smtClean="0"/>
              <a:t>(to wear)		(vous) _______________ 				des vêtements élégants!</a:t>
            </a:r>
            <a:endParaRPr lang="en-CA" altLang="en-US" sz="2000" dirty="0" smtClean="0"/>
          </a:p>
          <a:p>
            <a:pPr marL="457200" indent="-457200" eaLnBrk="1" hangingPunct="1">
              <a:lnSpc>
                <a:spcPct val="150000"/>
              </a:lnSpc>
              <a:buFont typeface="Trebuchet MS" pitchFamily="34" charset="0"/>
              <a:buAutoNum type="arabicPeriod"/>
            </a:pPr>
            <a:r>
              <a:rPr lang="en-CA" altLang="en-US" sz="2000" dirty="0" smtClean="0"/>
              <a:t>(to pay)		(</a:t>
            </a:r>
            <a:r>
              <a:rPr lang="en-CA" altLang="en-US" sz="2000" dirty="0" err="1" smtClean="0"/>
              <a:t>tu</a:t>
            </a:r>
            <a:r>
              <a:rPr lang="en-CA" altLang="en-US" sz="2000" dirty="0" smtClean="0"/>
              <a:t>) _____________ le </a:t>
            </a:r>
            <a:r>
              <a:rPr lang="en-CA" altLang="en-US" sz="2000" dirty="0" err="1" smtClean="0"/>
              <a:t>loyer</a:t>
            </a:r>
            <a:r>
              <a:rPr lang="en-CA" altLang="en-US" sz="2000" dirty="0" smtClean="0"/>
              <a:t>!</a:t>
            </a:r>
          </a:p>
          <a:p>
            <a:pPr marL="457200" indent="-457200" eaLnBrk="1" hangingPunct="1"/>
            <a:endParaRPr lang="en-CA" altLang="en-US" sz="2000" dirty="0" smtClean="0"/>
          </a:p>
          <a:p>
            <a:pPr marL="457200" indent="-457200" eaLnBrk="1" hangingPunct="1">
              <a:buFont typeface="Trebuchet MS" pitchFamily="34" charset="0"/>
              <a:buAutoNum type="arabicPeriod"/>
            </a:pPr>
            <a:endParaRPr lang="en-CA" altLang="en-US" sz="2000" dirty="0" smtClean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962400" y="1600200"/>
            <a:ext cx="15049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/>
              <a:t>Ne perds pas</a:t>
            </a:r>
            <a:endParaRPr lang="en-CA" alt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419600" y="2209800"/>
            <a:ext cx="7985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/>
              <a:t>Allons</a:t>
            </a:r>
            <a:endParaRPr lang="en-CA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411663" y="2743200"/>
            <a:ext cx="990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/>
              <a:t>Perdons</a:t>
            </a:r>
            <a:endParaRPr lang="en-CA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495800" y="3657600"/>
            <a:ext cx="841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 dirty="0"/>
              <a:t>Portez</a:t>
            </a:r>
            <a:endParaRPr lang="en-CA" altLang="en-US" dirty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202113" y="4724400"/>
            <a:ext cx="6175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altLang="en-US"/>
              <a:t>Paie</a:t>
            </a:r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err="1" smtClean="0"/>
              <a:t>Sample</a:t>
            </a:r>
            <a:r>
              <a:rPr lang="fr-CA" dirty="0" smtClean="0"/>
              <a:t> </a:t>
            </a:r>
            <a:r>
              <a:rPr lang="fr-CA" dirty="0" err="1" smtClean="0"/>
              <a:t>letter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5257800"/>
          </a:xfrm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fr-CA" altLang="en-US" smtClean="0">
                <a:latin typeface="Harlow Solid Italic" pitchFamily="82" charset="0"/>
              </a:rPr>
              <a:t>Chère Alice (Bonjour Alice),</a:t>
            </a:r>
          </a:p>
          <a:p>
            <a:pPr marL="0" indent="0">
              <a:lnSpc>
                <a:spcPct val="200000"/>
              </a:lnSpc>
            </a:pPr>
            <a:r>
              <a:rPr lang="fr-CA" altLang="en-US" smtClean="0"/>
              <a:t>J’habite à Vancouver et je suis étudiant(e).</a:t>
            </a:r>
          </a:p>
          <a:p>
            <a:pPr marL="0" indent="0">
              <a:lnSpc>
                <a:spcPct val="200000"/>
              </a:lnSpc>
            </a:pPr>
            <a:r>
              <a:rPr lang="fr-CA" altLang="en-US" smtClean="0"/>
              <a:t>J’ai vingt ans.</a:t>
            </a:r>
          </a:p>
          <a:p>
            <a:pPr marL="0" indent="0">
              <a:lnSpc>
                <a:spcPct val="200000"/>
              </a:lnSpc>
            </a:pPr>
            <a:r>
              <a:rPr lang="fr-CA" altLang="en-US" smtClean="0"/>
              <a:t>J’aime beaucoup mes études.</a:t>
            </a:r>
          </a:p>
          <a:p>
            <a:pPr marL="0" indent="0">
              <a:lnSpc>
                <a:spcPct val="200000"/>
              </a:lnSpc>
            </a:pPr>
            <a:r>
              <a:rPr lang="fr-CA" altLang="en-US" smtClean="0"/>
              <a:t>J’étudie la biologie, les maths et le français.</a:t>
            </a:r>
          </a:p>
          <a:p>
            <a:pPr marL="0" indent="0">
              <a:lnSpc>
                <a:spcPct val="200000"/>
              </a:lnSpc>
            </a:pPr>
            <a:r>
              <a:rPr lang="fr-CA" altLang="en-US" smtClean="0"/>
              <a:t>J’adore les chiens mais je n’aime pas les chats.</a:t>
            </a:r>
          </a:p>
          <a:p>
            <a:pPr marL="0" indent="0">
              <a:buFont typeface="Wingdings 2" pitchFamily="18" charset="2"/>
              <a:buNone/>
            </a:pP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fr-CA" dirty="0" smtClean="0"/>
              <a:t>Continuation… « talk about </a:t>
            </a:r>
            <a:r>
              <a:rPr lang="fr-CA" dirty="0" err="1" smtClean="0"/>
              <a:t>someone</a:t>
            </a:r>
            <a:r>
              <a:rPr lang="fr-CA" dirty="0" smtClean="0"/>
              <a:t> </a:t>
            </a:r>
            <a:r>
              <a:rPr lang="fr-CA" dirty="0" err="1" smtClean="0"/>
              <a:t>you</a:t>
            </a:r>
            <a:r>
              <a:rPr lang="fr-CA" dirty="0" smtClean="0"/>
              <a:t> know »… for </a:t>
            </a:r>
            <a:r>
              <a:rPr lang="fr-CA" dirty="0" err="1" smtClean="0"/>
              <a:t>example</a:t>
            </a:r>
            <a:r>
              <a:rPr lang="fr-CA" dirty="0" smtClean="0"/>
              <a:t>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CA" altLang="en-US" smtClean="0"/>
              <a:t>J’ai un professeur. </a:t>
            </a:r>
          </a:p>
          <a:p>
            <a:pPr>
              <a:lnSpc>
                <a:spcPct val="150000"/>
              </a:lnSpc>
            </a:pPr>
            <a:r>
              <a:rPr lang="fr-CA" altLang="en-US" smtClean="0"/>
              <a:t>Il s’appelle ***.</a:t>
            </a:r>
          </a:p>
          <a:p>
            <a:pPr>
              <a:lnSpc>
                <a:spcPct val="150000"/>
              </a:lnSpc>
            </a:pPr>
            <a:r>
              <a:rPr lang="fr-CA" altLang="en-US" smtClean="0"/>
              <a:t>Il est très gentil mais son cours est difficile.</a:t>
            </a:r>
          </a:p>
          <a:p>
            <a:pPr>
              <a:lnSpc>
                <a:spcPct val="150000"/>
              </a:lnSpc>
            </a:pPr>
            <a:r>
              <a:rPr lang="fr-CA" altLang="en-US" smtClean="0"/>
              <a:t>Il enseigne la biologie à Langara où j’étudie.</a:t>
            </a:r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/>
          <a:lstStyle/>
          <a:p>
            <a:pPr>
              <a:defRPr/>
            </a:pPr>
            <a:r>
              <a:rPr lang="fr-CA" dirty="0" smtClean="0"/>
              <a:t>Continuation…   </a:t>
            </a:r>
            <a:br>
              <a:rPr lang="fr-CA" dirty="0" smtClean="0"/>
            </a:br>
            <a:r>
              <a:rPr lang="fr-CA" dirty="0" smtClean="0"/>
              <a:t>« </a:t>
            </a:r>
            <a:r>
              <a:rPr lang="fr-CA" dirty="0" err="1" smtClean="0"/>
              <a:t>Ask</a:t>
            </a:r>
            <a:r>
              <a:rPr lang="fr-CA" dirty="0" smtClean="0"/>
              <a:t> 2 questions», for </a:t>
            </a:r>
            <a:r>
              <a:rPr lang="fr-CA" dirty="0" err="1" smtClean="0"/>
              <a:t>example</a:t>
            </a:r>
            <a:r>
              <a:rPr lang="fr-CA" dirty="0" smtClean="0"/>
              <a:t>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8"/>
            <a:ext cx="8229600" cy="4525962"/>
          </a:xfrm>
        </p:spPr>
        <p:txBody>
          <a:bodyPr/>
          <a:lstStyle/>
          <a:p>
            <a:r>
              <a:rPr lang="fr-CA" altLang="en-US" b="1" smtClean="0">
                <a:solidFill>
                  <a:srgbClr val="00B0F0"/>
                </a:solidFill>
              </a:rPr>
              <a:t>Pourquoi</a:t>
            </a:r>
            <a:r>
              <a:rPr lang="fr-CA" altLang="en-US" b="1" smtClean="0"/>
              <a:t> </a:t>
            </a:r>
            <a:r>
              <a:rPr lang="fr-CA" altLang="en-US" smtClean="0"/>
              <a:t>est-ce que tu étudies l’anglais?</a:t>
            </a:r>
          </a:p>
          <a:p>
            <a:pPr>
              <a:buFont typeface="Wingdings 2" pitchFamily="18" charset="2"/>
              <a:buNone/>
            </a:pPr>
            <a:endParaRPr lang="fr-CA" altLang="en-US" smtClean="0"/>
          </a:p>
          <a:p>
            <a:r>
              <a:rPr lang="fr-CA" altLang="en-US" b="1" smtClean="0">
                <a:solidFill>
                  <a:srgbClr val="00B050"/>
                </a:solidFill>
              </a:rPr>
              <a:t>Qu’est-ce que </a:t>
            </a:r>
            <a:r>
              <a:rPr lang="fr-CA" altLang="en-US" smtClean="0"/>
              <a:t>tu penses des chiens?</a:t>
            </a:r>
          </a:p>
          <a:p>
            <a:endParaRPr lang="fr-CA" altLang="en-US" smtClean="0"/>
          </a:p>
          <a:p>
            <a:r>
              <a:rPr lang="fr-CA" altLang="en-US" b="1" smtClean="0">
                <a:solidFill>
                  <a:srgbClr val="C00000"/>
                </a:solidFill>
              </a:rPr>
              <a:t>Quand est-ce que </a:t>
            </a:r>
            <a:r>
              <a:rPr lang="fr-CA" altLang="en-US" smtClean="0"/>
              <a:t>tu vas visiter Vancouver?</a:t>
            </a:r>
          </a:p>
          <a:p>
            <a:endParaRPr lang="en-CA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fr-CA" dirty="0" smtClean="0"/>
              <a:t>Continuation… « Say </a:t>
            </a:r>
            <a:r>
              <a:rPr lang="fr-CA" dirty="0" err="1" smtClean="0"/>
              <a:t>good-bye</a:t>
            </a:r>
            <a:r>
              <a:rPr lang="fr-CA" dirty="0" smtClean="0"/>
              <a:t> » 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0638"/>
            <a:ext cx="8229600" cy="4525962"/>
          </a:xfrm>
        </p:spPr>
        <p:txBody>
          <a:bodyPr/>
          <a:lstStyle/>
          <a:p>
            <a:r>
              <a:rPr lang="fr-CA" altLang="en-US" sz="4800" dirty="0" smtClean="0"/>
              <a:t>Au revoir.</a:t>
            </a:r>
            <a:endParaRPr lang="en-CA" altLang="en-US" sz="48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048000"/>
            <a:ext cx="3810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Sign your e-mail by translating: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CA" dirty="0" smtClean="0"/>
              <a:t>«</a:t>
            </a:r>
            <a:r>
              <a:rPr lang="en-CA" dirty="0"/>
              <a:t> your cousin » + your name.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0638"/>
            <a:ext cx="8229600" cy="4525962"/>
          </a:xfrm>
        </p:spPr>
        <p:txBody>
          <a:bodyPr/>
          <a:lstStyle/>
          <a:p>
            <a:r>
              <a:rPr lang="fr-CA" altLang="en-US" sz="4000" smtClean="0"/>
              <a:t>Ton cousin </a:t>
            </a:r>
            <a:r>
              <a:rPr lang="fr-CA" altLang="en-US" sz="4000" smtClean="0">
                <a:latin typeface="Harlow Solid Italic" pitchFamily="82" charset="0"/>
              </a:rPr>
              <a:t>Jean</a:t>
            </a:r>
          </a:p>
          <a:p>
            <a:endParaRPr lang="fr-CA" altLang="en-US" smtClean="0">
              <a:latin typeface="Harlow Solid Italic" pitchFamily="82" charset="0"/>
            </a:endParaRPr>
          </a:p>
          <a:p>
            <a:r>
              <a:rPr lang="fr-CA" altLang="en-US" sz="4000" smtClean="0"/>
              <a:t>Ta cousine </a:t>
            </a:r>
            <a:r>
              <a:rPr lang="fr-CA" altLang="en-US" sz="4000" smtClean="0">
                <a:latin typeface="Harlow Solid Italic" pitchFamily="82" charset="0"/>
              </a:rPr>
              <a:t>Marie</a:t>
            </a:r>
            <a:endParaRPr lang="en-CA" altLang="en-US" sz="4000" smtClean="0">
              <a:latin typeface="Harlow Solid Italic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pulent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279</TotalTime>
  <Words>1472</Words>
  <Application>Microsoft Office PowerPoint</Application>
  <PresentationFormat>On-screen Show (4:3)</PresentationFormat>
  <Paragraphs>366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Trebuchet MS</vt:lpstr>
      <vt:lpstr>Arial</vt:lpstr>
      <vt:lpstr>Wingdings 2</vt:lpstr>
      <vt:lpstr>Wingdings</vt:lpstr>
      <vt:lpstr>Calibri</vt:lpstr>
      <vt:lpstr>Trebuchet MS (Body)</vt:lpstr>
      <vt:lpstr>Harlow Solid Italic</vt:lpstr>
      <vt:lpstr>Opulent</vt:lpstr>
      <vt:lpstr>Top 10 des pièges Sections A+D + General review</vt:lpstr>
      <vt:lpstr>10. Les verbes en -er</vt:lpstr>
      <vt:lpstr>10. Les verbes en -er</vt:lpstr>
      <vt:lpstr>9. La construction infinitive</vt:lpstr>
      <vt:lpstr>9. La construction infinitive</vt:lpstr>
      <vt:lpstr>8. Les adjectifs </vt:lpstr>
      <vt:lpstr>8. Les adjectifs </vt:lpstr>
      <vt:lpstr>7. Les pronoms accentués</vt:lpstr>
      <vt:lpstr>7. Les pronoms accentués</vt:lpstr>
      <vt:lpstr>6. L’élision</vt:lpstr>
      <vt:lpstr>6. L’élision</vt:lpstr>
      <vt:lpstr>5. Les possessifs</vt:lpstr>
      <vt:lpstr>5. Les possessifs</vt:lpstr>
      <vt:lpstr>4. Les contractions</vt:lpstr>
      <vt:lpstr>4. Les contractions</vt:lpstr>
      <vt:lpstr>3. Le genre et le nombre</vt:lpstr>
      <vt:lpstr>3. Le genre et le nombre</vt:lpstr>
      <vt:lpstr>2. La négation, la contradiction</vt:lpstr>
      <vt:lpstr>2. La négation, la contradiction</vt:lpstr>
      <vt:lpstr>1. l’orthographe</vt:lpstr>
      <vt:lpstr>1. l’orthographe</vt:lpstr>
      <vt:lpstr>B. Language Skill assessed in this part of the exam:  Can you formulate basic questions in French, using correct grammar and spelling?</vt:lpstr>
      <vt:lpstr>1. Tell him/her that you like his/her jacket and watch a lot.</vt:lpstr>
      <vt:lpstr>2. Ask him/her what he/she thinks about the French exam.</vt:lpstr>
      <vt:lpstr>3. Ask him/her if he/she lives close to Langara. (inverted form)</vt:lpstr>
      <vt:lpstr>4. Tell him/her that you live far away.</vt:lpstr>
      <vt:lpstr>5. Ask him/her what he/she is going to do after the exams.</vt:lpstr>
      <vt:lpstr>6. Ask him/her if he/she is thirsty. (inverted form)</vt:lpstr>
      <vt:lpstr>7. Ask him/her if he/she feels like going coffee shop.</vt:lpstr>
      <vt:lpstr>8. Say to him/her, “Let’s go to Tim Hortons (chez Tim Hortons) now!”</vt:lpstr>
      <vt:lpstr>C – Les articles et les prépositions</vt:lpstr>
      <vt:lpstr>C – Les articles et les prépositions 2</vt:lpstr>
      <vt:lpstr>D. Translation</vt:lpstr>
      <vt:lpstr>E. Répondez aux questions</vt:lpstr>
      <vt:lpstr>F. Verbes à l’indicatif présent</vt:lpstr>
      <vt:lpstr>F. Verbes à l’indicatif présent</vt:lpstr>
      <vt:lpstr>F. Verbes à l’impératif</vt:lpstr>
      <vt:lpstr>F. Verbes à l’impératif (2)</vt:lpstr>
      <vt:lpstr>Sample letter</vt:lpstr>
      <vt:lpstr>Continuation… « talk about someone you know »… for example…</vt:lpstr>
      <vt:lpstr>Continuation…    « Ask 2 questions», for example…</vt:lpstr>
      <vt:lpstr>Continuation… « Say good-bye » </vt:lpstr>
      <vt:lpstr>Sign your e-mail by translating:  « your cousin » + your name. </vt:lpstr>
    </vt:vector>
  </TitlesOfParts>
  <Company>Langara College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10 des pièges</dc:title>
  <dc:creator>Langara College</dc:creator>
  <cp:lastModifiedBy>Langara College</cp:lastModifiedBy>
  <cp:revision>20</cp:revision>
  <dcterms:created xsi:type="dcterms:W3CDTF">2015-12-07T20:10:33Z</dcterms:created>
  <dcterms:modified xsi:type="dcterms:W3CDTF">2015-12-08T21:36:25Z</dcterms:modified>
</cp:coreProperties>
</file>