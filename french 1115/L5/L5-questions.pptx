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5"/>
  </p:notesMasterIdLst>
  <p:sldIdLst>
    <p:sldId id="299" r:id="rId2"/>
    <p:sldId id="298" r:id="rId3"/>
    <p:sldId id="29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4667605-6841-4B15-BD91-B0A04905C630}">
          <p14:sldIdLst>
            <p14:sldId id="299"/>
            <p14:sldId id="298"/>
            <p14:sldId id="29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44" autoAdjust="0"/>
    <p:restoredTop sz="86432" autoAdjust="0"/>
  </p:normalViewPr>
  <p:slideViewPr>
    <p:cSldViewPr>
      <p:cViewPr>
        <p:scale>
          <a:sx n="121" d="100"/>
          <a:sy n="121" d="100"/>
        </p:scale>
        <p:origin x="-58" y="13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30" y="5208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C552A2ED-06EA-4E9C-B497-ABD5D2559B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5157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AACEF45-653C-4E6C-AAD6-10405CF3AF0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E94D475-F83A-4523-8261-4EC88D104DB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3E4A430-B1D4-40B2-896E-02CE9466D5B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D6D69132-5CBB-47E0-827D-AA0BAE65F86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>
              <a:defRPr/>
            </a:pPr>
            <a:fld id="{E6DA1A7E-B946-499A-BF99-AAB799879F2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FB10E16-D2DF-4083-BD0B-C2B954A705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2AD1370-11B3-4522-8027-AD7E81B88D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5EA3FF2-0708-4647-A436-5C1B46553EC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C47B4CB2-A6F7-4872-841F-9858FD5038A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pPr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9D9E77-6F60-4BC4-84D8-407C4A6D82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pPr>
              <a:defRPr/>
            </a:pPr>
            <a:fld id="{3CF3B365-AAE1-408C-8921-5325A0019FA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CEF21A4-DFC1-4C23-891A-1D7A0C14E4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Les 3 types de </a:t>
            </a:r>
            <a:r>
              <a:rPr lang="en-US" sz="3200" dirty="0"/>
              <a:t>q</a:t>
            </a:r>
            <a:r>
              <a:rPr lang="en-US" sz="3200" dirty="0" smtClean="0"/>
              <a:t>uestions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609600" y="1371600"/>
            <a:ext cx="8305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endParaRPr lang="fr-FR" b="1" i="1" dirty="0" smtClean="0">
              <a:solidFill>
                <a:schemeClr val="accent6"/>
              </a:solidFill>
              <a:latin typeface="Arial Narrow" pitchFamily="34" charset="0"/>
            </a:endParaRPr>
          </a:p>
          <a:p>
            <a:pPr eaLnBrk="1" hangingPunct="1"/>
            <a:r>
              <a:rPr lang="fr-FR" b="1" i="1" dirty="0" smtClean="0">
                <a:solidFill>
                  <a:schemeClr val="accent6"/>
                </a:solidFill>
                <a:latin typeface="Arial Narrow" pitchFamily="34" charset="0"/>
              </a:rPr>
              <a:t>Informal</a:t>
            </a:r>
            <a:endParaRPr lang="en-US" b="1" i="1" dirty="0" smtClean="0">
              <a:solidFill>
                <a:schemeClr val="accent6"/>
              </a:solidFill>
              <a:latin typeface="Arial Narrow" pitchFamily="34" charset="0"/>
            </a:endParaRPr>
          </a:p>
          <a:p>
            <a:pPr eaLnBrk="1" hangingPunct="1"/>
            <a:r>
              <a:rPr lang="fr-FR" b="1" u="sng" dirty="0" err="1" smtClean="0">
                <a:latin typeface="Arial Narrow" pitchFamily="34" charset="0"/>
              </a:rPr>
              <a:t>Tone</a:t>
            </a:r>
            <a:r>
              <a:rPr lang="fr-FR" b="1" u="sng" dirty="0" smtClean="0">
                <a:latin typeface="Arial Narrow" pitchFamily="34" charset="0"/>
              </a:rPr>
              <a:t> </a:t>
            </a:r>
            <a:r>
              <a:rPr lang="fr-FR" b="1" u="sng" dirty="0" err="1" smtClean="0">
                <a:latin typeface="Arial Narrow" pitchFamily="34" charset="0"/>
              </a:rPr>
              <a:t>rise</a:t>
            </a:r>
            <a:r>
              <a:rPr lang="fr-FR" b="1" u="sng" dirty="0" smtClean="0">
                <a:latin typeface="Arial Narrow" pitchFamily="34" charset="0"/>
              </a:rPr>
              <a:t> question</a:t>
            </a:r>
            <a:endParaRPr lang="fr-FR" b="1" u="sng" dirty="0">
              <a:latin typeface="Arial Narrow" pitchFamily="34" charset="0"/>
            </a:endParaRPr>
          </a:p>
          <a:p>
            <a:pPr marL="609600" indent="-609600" eaLnBrk="1" hangingPunct="1">
              <a:buNone/>
            </a:pPr>
            <a:r>
              <a:rPr lang="fr-FR" dirty="0">
                <a:latin typeface="Arial Narrow" pitchFamily="34" charset="0"/>
              </a:rPr>
              <a:t>  </a:t>
            </a:r>
            <a:endParaRPr lang="fr-FR" dirty="0" smtClean="0">
              <a:latin typeface="Arial Narrow" pitchFamily="34" charset="0"/>
            </a:endParaRPr>
          </a:p>
          <a:p>
            <a:pPr marL="609600" indent="-609600" eaLnBrk="1" hangingPunct="1">
              <a:buNone/>
            </a:pPr>
            <a:r>
              <a:rPr lang="fr-FR" dirty="0" smtClean="0">
                <a:latin typeface="Arial Narrow" pitchFamily="34" charset="0"/>
              </a:rPr>
              <a:t> </a:t>
            </a:r>
            <a:r>
              <a:rPr lang="en-US" dirty="0">
                <a:latin typeface="Arial Narrow" pitchFamily="34" charset="0"/>
              </a:rPr>
              <a:t>	</a:t>
            </a:r>
            <a:r>
              <a:rPr lang="en-US" dirty="0" err="1" smtClean="0">
                <a:latin typeface="Arial Narrow" pitchFamily="34" charset="0"/>
              </a:rPr>
              <a:t>Tu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dirty="0" err="1" smtClean="0">
                <a:latin typeface="Arial Narrow" pitchFamily="34" charset="0"/>
              </a:rPr>
              <a:t>parles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dirty="0" err="1" smtClean="0">
                <a:latin typeface="Arial Narrow" pitchFamily="34" charset="0"/>
              </a:rPr>
              <a:t>fran</a:t>
            </a:r>
            <a:r>
              <a:rPr lang="fr-FR" dirty="0" err="1" smtClean="0">
                <a:latin typeface="Arial Narrow" pitchFamily="34" charset="0"/>
              </a:rPr>
              <a:t>çais</a:t>
            </a:r>
            <a:r>
              <a:rPr lang="en-US" dirty="0" smtClean="0">
                <a:latin typeface="Arial Narrow" pitchFamily="34" charset="0"/>
              </a:rPr>
              <a:t>?</a:t>
            </a:r>
            <a:endParaRPr lang="en-US" dirty="0">
              <a:latin typeface="Arial Narrow" pitchFamily="34" charset="0"/>
            </a:endParaRPr>
          </a:p>
          <a:p>
            <a:endParaRPr lang="fr-FR" b="1" i="1" dirty="0" smtClean="0">
              <a:solidFill>
                <a:schemeClr val="accent6"/>
              </a:solidFill>
              <a:latin typeface="Arial Narrow" pitchFamily="34" charset="0"/>
            </a:endParaRPr>
          </a:p>
          <a:p>
            <a:r>
              <a:rPr lang="fr-FR" b="1" i="1" dirty="0" err="1" smtClean="0">
                <a:solidFill>
                  <a:schemeClr val="accent6"/>
                </a:solidFill>
                <a:latin typeface="Arial Narrow" pitchFamily="34" charset="0"/>
              </a:rPr>
              <a:t>Neutral</a:t>
            </a:r>
            <a:endParaRPr lang="en-US" b="1" i="1" dirty="0">
              <a:solidFill>
                <a:schemeClr val="accent6"/>
              </a:solidFill>
              <a:latin typeface="Arial Narrow" pitchFamily="34" charset="0"/>
            </a:endParaRPr>
          </a:p>
          <a:p>
            <a:pPr eaLnBrk="1" hangingPunct="1"/>
            <a:r>
              <a:rPr lang="en-US" b="1" u="sng" dirty="0" err="1" smtClean="0">
                <a:latin typeface="Arial Narrow" pitchFamily="34" charset="0"/>
              </a:rPr>
              <a:t>Est-ce</a:t>
            </a:r>
            <a:r>
              <a:rPr lang="en-US" b="1" u="sng" dirty="0" smtClean="0">
                <a:latin typeface="Arial Narrow" pitchFamily="34" charset="0"/>
              </a:rPr>
              <a:t> </a:t>
            </a:r>
            <a:r>
              <a:rPr lang="en-US" b="1" u="sng" dirty="0" err="1">
                <a:latin typeface="Arial Narrow" pitchFamily="34" charset="0"/>
              </a:rPr>
              <a:t>que</a:t>
            </a:r>
            <a:r>
              <a:rPr lang="en-US" dirty="0">
                <a:latin typeface="Arial Narrow" pitchFamily="34" charset="0"/>
              </a:rPr>
              <a:t> questions: </a:t>
            </a:r>
          </a:p>
          <a:p>
            <a:pPr marL="609600" indent="-609600" eaLnBrk="1" hangingPunct="1">
              <a:buFontTx/>
              <a:buNone/>
            </a:pPr>
            <a:r>
              <a:rPr lang="fr-FR" dirty="0">
                <a:latin typeface="Arial Narrow" pitchFamily="34" charset="0"/>
              </a:rPr>
              <a:t>       </a:t>
            </a:r>
            <a:r>
              <a:rPr lang="fr-FR" dirty="0" smtClean="0">
                <a:latin typeface="Arial Narrow" pitchFamily="34" charset="0"/>
              </a:rPr>
              <a:t>    </a:t>
            </a:r>
          </a:p>
          <a:p>
            <a:pPr marL="609600" indent="-609600" eaLnBrk="1" hangingPunct="1">
              <a:buFontTx/>
              <a:buNone/>
            </a:pPr>
            <a:r>
              <a:rPr lang="fr-FR" dirty="0">
                <a:latin typeface="Arial Narrow" pitchFamily="34" charset="0"/>
              </a:rPr>
              <a:t>	</a:t>
            </a:r>
            <a:r>
              <a:rPr lang="fr-FR" dirty="0" smtClean="0">
                <a:latin typeface="Arial Narrow" pitchFamily="34" charset="0"/>
              </a:rPr>
              <a:t> </a:t>
            </a:r>
            <a:r>
              <a:rPr lang="fr-FR" b="1" dirty="0" smtClean="0">
                <a:latin typeface="Arial Narrow" pitchFamily="34" charset="0"/>
              </a:rPr>
              <a:t>Est-ce </a:t>
            </a:r>
            <a:r>
              <a:rPr lang="fr-FR" b="1" dirty="0">
                <a:latin typeface="Arial Narrow" pitchFamily="34" charset="0"/>
              </a:rPr>
              <a:t>que </a:t>
            </a:r>
            <a:r>
              <a:rPr lang="fr-FR" dirty="0">
                <a:latin typeface="Arial Narrow" pitchFamily="34" charset="0"/>
              </a:rPr>
              <a:t>+ </a:t>
            </a:r>
            <a:r>
              <a:rPr lang="fr-FR" b="1" dirty="0" err="1">
                <a:latin typeface="Arial Narrow" pitchFamily="34" charset="0"/>
              </a:rPr>
              <a:t>Subject</a:t>
            </a:r>
            <a:r>
              <a:rPr lang="fr-FR" dirty="0">
                <a:latin typeface="Arial Narrow" pitchFamily="34" charset="0"/>
              </a:rPr>
              <a:t> (tu, vous) + </a:t>
            </a:r>
            <a:r>
              <a:rPr lang="fr-FR" b="1" dirty="0" err="1">
                <a:latin typeface="Arial Narrow" pitchFamily="34" charset="0"/>
              </a:rPr>
              <a:t>Verb</a:t>
            </a:r>
            <a:r>
              <a:rPr lang="fr-FR" dirty="0">
                <a:latin typeface="Arial Narrow" pitchFamily="34" charset="0"/>
              </a:rPr>
              <a:t> +  </a:t>
            </a:r>
            <a:r>
              <a:rPr lang="fr-FR" b="1" dirty="0">
                <a:latin typeface="Arial Narrow" pitchFamily="34" charset="0"/>
              </a:rPr>
              <a:t>Object</a:t>
            </a:r>
          </a:p>
          <a:p>
            <a:pPr marL="609600" indent="-609600" eaLnBrk="1" hangingPunct="1">
              <a:buFontTx/>
              <a:buNone/>
            </a:pPr>
            <a:r>
              <a:rPr lang="en-US" dirty="0">
                <a:latin typeface="Arial Narrow" pitchFamily="34" charset="0"/>
              </a:rPr>
              <a:t>         </a:t>
            </a:r>
            <a:r>
              <a:rPr lang="en-US" dirty="0" smtClean="0">
                <a:latin typeface="Arial Narrow" pitchFamily="34" charset="0"/>
              </a:rPr>
              <a:t>    </a:t>
            </a:r>
            <a:r>
              <a:rPr lang="en-US" dirty="0" err="1" smtClean="0">
                <a:latin typeface="Arial Narrow" pitchFamily="34" charset="0"/>
              </a:rPr>
              <a:t>Est-ce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dirty="0" err="1">
                <a:latin typeface="Arial Narrow" pitchFamily="34" charset="0"/>
              </a:rPr>
              <a:t>que</a:t>
            </a:r>
            <a:r>
              <a:rPr lang="en-US" dirty="0">
                <a:latin typeface="Arial Narrow" pitchFamily="34" charset="0"/>
              </a:rPr>
              <a:t>          </a:t>
            </a:r>
            <a:r>
              <a:rPr lang="en-US" dirty="0" err="1">
                <a:latin typeface="Arial Narrow" pitchFamily="34" charset="0"/>
              </a:rPr>
              <a:t>tu</a:t>
            </a:r>
            <a:r>
              <a:rPr lang="en-US" dirty="0">
                <a:latin typeface="Arial Narrow" pitchFamily="34" charset="0"/>
              </a:rPr>
              <a:t>                    </a:t>
            </a:r>
            <a:r>
              <a:rPr lang="en-US" dirty="0" smtClean="0">
                <a:latin typeface="Arial Narrow" pitchFamily="34" charset="0"/>
              </a:rPr>
              <a:t>    </a:t>
            </a:r>
            <a:r>
              <a:rPr lang="en-US" dirty="0" err="1" smtClean="0">
                <a:latin typeface="Arial Narrow" pitchFamily="34" charset="0"/>
              </a:rPr>
              <a:t>parles</a:t>
            </a:r>
            <a:r>
              <a:rPr lang="en-US" dirty="0" smtClean="0">
                <a:latin typeface="Arial Narrow" pitchFamily="34" charset="0"/>
              </a:rPr>
              <a:t>    </a:t>
            </a:r>
            <a:r>
              <a:rPr lang="en-US" dirty="0" err="1" smtClean="0">
                <a:latin typeface="Arial Narrow" pitchFamily="34" charset="0"/>
              </a:rPr>
              <a:t>français</a:t>
            </a:r>
            <a:r>
              <a:rPr lang="en-US" dirty="0" smtClean="0">
                <a:latin typeface="Arial Narrow" pitchFamily="34" charset="0"/>
              </a:rPr>
              <a:t>?</a:t>
            </a:r>
            <a:endParaRPr lang="en-US" dirty="0">
              <a:latin typeface="Arial Narrow" pitchFamily="34" charset="0"/>
            </a:endParaRPr>
          </a:p>
          <a:p>
            <a:pPr marL="609600" indent="-609600" eaLnBrk="1" hangingPunct="1">
              <a:buFontTx/>
              <a:buNone/>
            </a:pPr>
            <a:r>
              <a:rPr lang="en-US" dirty="0">
                <a:latin typeface="Arial Narrow" pitchFamily="34" charset="0"/>
              </a:rPr>
              <a:t> </a:t>
            </a:r>
            <a:r>
              <a:rPr lang="fr-FR" dirty="0">
                <a:latin typeface="Arial Narrow" pitchFamily="34" charset="0"/>
              </a:rPr>
              <a:t> </a:t>
            </a:r>
            <a:endParaRPr lang="fr-FR" dirty="0" smtClean="0">
              <a:latin typeface="Arial Narrow" pitchFamily="34" charset="0"/>
            </a:endParaRPr>
          </a:p>
          <a:p>
            <a:pPr marL="609600" indent="-609600"/>
            <a:r>
              <a:rPr lang="fr-FR" b="1" i="1" dirty="0" err="1" smtClean="0">
                <a:solidFill>
                  <a:schemeClr val="accent6"/>
                </a:solidFill>
                <a:latin typeface="Arial Narrow" pitchFamily="34" charset="0"/>
              </a:rPr>
              <a:t>Formal</a:t>
            </a:r>
            <a:endParaRPr lang="en-US" b="1" i="1" dirty="0">
              <a:solidFill>
                <a:schemeClr val="accent6"/>
              </a:solidFill>
              <a:latin typeface="Arial Narrow" pitchFamily="34" charset="0"/>
            </a:endParaRPr>
          </a:p>
          <a:p>
            <a:pPr marL="609600" indent="-609600"/>
            <a:r>
              <a:rPr lang="en-US" b="1" u="sng" dirty="0" smtClean="0">
                <a:latin typeface="Arial Narrow" pitchFamily="34" charset="0"/>
              </a:rPr>
              <a:t>Inversion</a:t>
            </a:r>
            <a:r>
              <a:rPr lang="en-US" b="1" dirty="0" smtClean="0">
                <a:latin typeface="Arial Narrow" pitchFamily="34" charset="0"/>
              </a:rPr>
              <a:t> </a:t>
            </a:r>
            <a:r>
              <a:rPr lang="en-US" dirty="0" smtClean="0">
                <a:latin typeface="Arial Narrow" pitchFamily="34" charset="0"/>
              </a:rPr>
              <a:t>questions</a:t>
            </a:r>
            <a:r>
              <a:rPr lang="en-US" dirty="0">
                <a:latin typeface="Arial Narrow" pitchFamily="34" charset="0"/>
              </a:rPr>
              <a:t>: </a:t>
            </a:r>
            <a:endParaRPr lang="en-US" dirty="0" smtClean="0">
              <a:latin typeface="Arial Narrow" pitchFamily="34" charset="0"/>
            </a:endParaRPr>
          </a:p>
          <a:p>
            <a:pPr marL="609600" indent="-609600"/>
            <a:endParaRPr lang="fr-FR" dirty="0">
              <a:latin typeface="Arial Narrow" pitchFamily="34" charset="0"/>
            </a:endParaRPr>
          </a:p>
          <a:p>
            <a:pPr marL="609600" indent="-609600"/>
            <a:r>
              <a:rPr lang="fr-FR" dirty="0" smtClean="0">
                <a:latin typeface="Arial Narrow" pitchFamily="34" charset="0"/>
              </a:rPr>
              <a:t>                </a:t>
            </a:r>
            <a:r>
              <a:rPr lang="fr-FR" b="1" dirty="0" smtClean="0">
                <a:solidFill>
                  <a:srgbClr val="00B0F0"/>
                </a:solidFill>
                <a:latin typeface="Arial Narrow" pitchFamily="34" charset="0"/>
              </a:rPr>
              <a:t>Parles</a:t>
            </a:r>
            <a:r>
              <a:rPr lang="fr-FR" dirty="0" smtClean="0">
                <a:latin typeface="Arial Narrow" pitchFamily="34" charset="0"/>
              </a:rPr>
              <a:t>-</a:t>
            </a:r>
            <a:r>
              <a:rPr lang="fr-FR" b="1" dirty="0" smtClean="0">
                <a:solidFill>
                  <a:schemeClr val="bg2">
                    <a:lumMod val="50000"/>
                  </a:schemeClr>
                </a:solidFill>
                <a:latin typeface="Arial Narrow" pitchFamily="34" charset="0"/>
              </a:rPr>
              <a:t>tu</a:t>
            </a:r>
            <a:r>
              <a:rPr lang="fr-FR" dirty="0" smtClean="0">
                <a:latin typeface="Arial Narrow" pitchFamily="34" charset="0"/>
              </a:rPr>
              <a:t> français?</a:t>
            </a:r>
            <a:endParaRPr lang="en-US" dirty="0">
              <a:latin typeface="Arial Narrow" pitchFamily="34" charset="0"/>
            </a:endParaRPr>
          </a:p>
          <a:p>
            <a:pPr marL="609600" indent="-609600" eaLnBrk="1" hangingPunct="1">
              <a:buFontTx/>
              <a:buNone/>
            </a:pPr>
            <a:endParaRPr lang="fr-FR" dirty="0" smtClean="0">
              <a:latin typeface="Arial Narrow" pitchFamily="34" charset="0"/>
            </a:endParaRPr>
          </a:p>
          <a:p>
            <a:pPr marL="609600" indent="-609600" eaLnBrk="1" hangingPunct="1">
              <a:buFontTx/>
              <a:buNone/>
            </a:pPr>
            <a:r>
              <a:rPr lang="fr-FR" dirty="0" smtClean="0">
                <a:latin typeface="Arial Narrow" pitchFamily="34" charset="0"/>
              </a:rPr>
              <a:t>(Do)          </a:t>
            </a:r>
            <a:r>
              <a:rPr lang="fr-FR" b="1" dirty="0" err="1" smtClean="0">
                <a:solidFill>
                  <a:schemeClr val="bg2">
                    <a:lumMod val="50000"/>
                  </a:schemeClr>
                </a:solidFill>
                <a:latin typeface="Arial Narrow" pitchFamily="34" charset="0"/>
              </a:rPr>
              <a:t>you</a:t>
            </a:r>
            <a:r>
              <a:rPr lang="fr-FR" b="1" dirty="0" smtClean="0">
                <a:solidFill>
                  <a:srgbClr val="FFC000"/>
                </a:solidFill>
                <a:latin typeface="Arial Narrow" pitchFamily="34" charset="0"/>
              </a:rPr>
              <a:t>  </a:t>
            </a:r>
            <a:r>
              <a:rPr lang="fr-FR" b="1" dirty="0" err="1" smtClean="0">
                <a:solidFill>
                  <a:srgbClr val="00B0F0"/>
                </a:solidFill>
                <a:latin typeface="Arial Narrow" pitchFamily="34" charset="0"/>
              </a:rPr>
              <a:t>speak</a:t>
            </a:r>
            <a:r>
              <a:rPr lang="fr-FR" b="1" dirty="0" smtClean="0">
                <a:solidFill>
                  <a:srgbClr val="00B0F0"/>
                </a:solidFill>
                <a:latin typeface="Arial Narrow" pitchFamily="34" charset="0"/>
              </a:rPr>
              <a:t> </a:t>
            </a:r>
            <a:r>
              <a:rPr lang="fr-FR" dirty="0" smtClean="0">
                <a:latin typeface="Arial Narrow" pitchFamily="34" charset="0"/>
              </a:rPr>
              <a:t>French?</a:t>
            </a:r>
            <a:endParaRPr lang="fr-FR" dirty="0">
              <a:latin typeface="Arial Narrow" pitchFamily="34" charset="0"/>
            </a:endParaRPr>
          </a:p>
        </p:txBody>
      </p:sp>
      <p:sp>
        <p:nvSpPr>
          <p:cNvPr id="5" name="Curved Up Arrow 4"/>
          <p:cNvSpPr/>
          <p:nvPr/>
        </p:nvSpPr>
        <p:spPr>
          <a:xfrm rot="19899093">
            <a:off x="2372278" y="2322586"/>
            <a:ext cx="518872" cy="17349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urved Down Arrow 5"/>
          <p:cNvSpPr/>
          <p:nvPr/>
        </p:nvSpPr>
        <p:spPr>
          <a:xfrm>
            <a:off x="1905000" y="5410200"/>
            <a:ext cx="304800" cy="152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Curved Down Arrow 6"/>
          <p:cNvSpPr/>
          <p:nvPr/>
        </p:nvSpPr>
        <p:spPr>
          <a:xfrm rot="10800000">
            <a:off x="1905000" y="5791200"/>
            <a:ext cx="304800" cy="152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63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52400"/>
            <a:ext cx="82296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>
                <a:latin typeface="Arial Narrow" pitchFamily="34" charset="0"/>
              </a:rPr>
              <a:t/>
            </a:r>
            <a:br>
              <a:rPr lang="en-US" dirty="0" smtClean="0">
                <a:latin typeface="Arial Narrow" pitchFamily="34" charset="0"/>
              </a:rPr>
            </a:br>
            <a:r>
              <a:rPr lang="en-US" dirty="0" smtClean="0">
                <a:latin typeface="Arial Narrow" pitchFamily="34" charset="0"/>
              </a:rPr>
              <a:t>Questions</a:t>
            </a:r>
            <a:br>
              <a:rPr lang="en-US" dirty="0" smtClean="0">
                <a:latin typeface="Arial Narrow" pitchFamily="34" charset="0"/>
              </a:rPr>
            </a:br>
            <a:r>
              <a:rPr lang="en-US" dirty="0" smtClean="0">
                <a:latin typeface="Arial Narrow" pitchFamily="34" charset="0"/>
              </a:rPr>
              <a:t>                                                    </a:t>
            </a:r>
            <a:endParaRPr lang="en-US" sz="2800" dirty="0" smtClean="0">
              <a:latin typeface="Arial Narrow" pitchFamily="34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990600"/>
            <a:ext cx="8991600" cy="5638800"/>
          </a:xfrm>
        </p:spPr>
        <p:txBody>
          <a:bodyPr>
            <a:normAutofit/>
          </a:bodyPr>
          <a:lstStyle/>
          <a:p>
            <a:pPr marL="609600" indent="-609600" eaLnBrk="1" hangingPunct="1">
              <a:buFontTx/>
              <a:buAutoNum type="arabicPeriod"/>
            </a:pPr>
            <a:r>
              <a:rPr lang="en-US" dirty="0" smtClean="0">
                <a:latin typeface="Arial Narrow" pitchFamily="34" charset="0"/>
              </a:rPr>
              <a:t>The </a:t>
            </a:r>
            <a:r>
              <a:rPr lang="en-US" b="1" u="sng" dirty="0" smtClean="0">
                <a:latin typeface="Arial Narrow" pitchFamily="34" charset="0"/>
              </a:rPr>
              <a:t>most common </a:t>
            </a:r>
            <a:r>
              <a:rPr lang="en-US" dirty="0" smtClean="0">
                <a:latin typeface="Arial Narrow" pitchFamily="34" charset="0"/>
              </a:rPr>
              <a:t>way to ask a question is: </a:t>
            </a:r>
          </a:p>
          <a:p>
            <a:pPr marL="609600" indent="-609600" eaLnBrk="1" hangingPunct="1">
              <a:buFontTx/>
              <a:buNone/>
            </a:pPr>
            <a:r>
              <a:rPr lang="fr-FR" dirty="0" smtClean="0">
                <a:latin typeface="Arial Narrow" pitchFamily="34" charset="0"/>
              </a:rPr>
              <a:t>       </a:t>
            </a:r>
            <a:r>
              <a:rPr lang="fr-FR" b="1" dirty="0" smtClean="0">
                <a:latin typeface="Arial Narrow" pitchFamily="34" charset="0"/>
              </a:rPr>
              <a:t>Est-ce que </a:t>
            </a:r>
            <a:r>
              <a:rPr lang="fr-FR" dirty="0" smtClean="0">
                <a:latin typeface="Arial Narrow" pitchFamily="34" charset="0"/>
              </a:rPr>
              <a:t>+ </a:t>
            </a:r>
            <a:r>
              <a:rPr lang="fr-FR" b="1" dirty="0" err="1" smtClean="0">
                <a:latin typeface="Arial Narrow" pitchFamily="34" charset="0"/>
              </a:rPr>
              <a:t>Subject</a:t>
            </a:r>
            <a:r>
              <a:rPr lang="fr-FR" dirty="0" smtClean="0">
                <a:latin typeface="Arial Narrow" pitchFamily="34" charset="0"/>
              </a:rPr>
              <a:t> (tu, vous) + </a:t>
            </a:r>
            <a:r>
              <a:rPr lang="fr-FR" b="1" dirty="0" err="1" smtClean="0">
                <a:latin typeface="Arial Narrow" pitchFamily="34" charset="0"/>
              </a:rPr>
              <a:t>Verb</a:t>
            </a:r>
            <a:r>
              <a:rPr lang="fr-FR" dirty="0" smtClean="0">
                <a:latin typeface="Arial Narrow" pitchFamily="34" charset="0"/>
              </a:rPr>
              <a:t> +  </a:t>
            </a:r>
            <a:r>
              <a:rPr lang="fr-FR" b="1" dirty="0" smtClean="0">
                <a:latin typeface="Arial Narrow" pitchFamily="34" charset="0"/>
              </a:rPr>
              <a:t>Object</a:t>
            </a:r>
          </a:p>
          <a:p>
            <a:pPr marL="609600" indent="-609600" eaLnBrk="1" hangingPunct="1">
              <a:buFontTx/>
              <a:buNone/>
            </a:pPr>
            <a:r>
              <a:rPr lang="en-US" dirty="0" smtClean="0">
                <a:latin typeface="Arial Narrow" pitchFamily="34" charset="0"/>
              </a:rPr>
              <a:t>         </a:t>
            </a:r>
            <a:r>
              <a:rPr lang="en-US" dirty="0" err="1" smtClean="0">
                <a:latin typeface="Arial Narrow" pitchFamily="34" charset="0"/>
              </a:rPr>
              <a:t>Est-ce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dirty="0" err="1" smtClean="0">
                <a:latin typeface="Arial Narrow" pitchFamily="34" charset="0"/>
              </a:rPr>
              <a:t>que</a:t>
            </a:r>
            <a:r>
              <a:rPr lang="en-US" dirty="0" smtClean="0">
                <a:latin typeface="Arial Narrow" pitchFamily="34" charset="0"/>
              </a:rPr>
              <a:t>          </a:t>
            </a:r>
            <a:r>
              <a:rPr lang="en-US" dirty="0" err="1" smtClean="0">
                <a:latin typeface="Arial Narrow" pitchFamily="34" charset="0"/>
              </a:rPr>
              <a:t>tu</a:t>
            </a:r>
            <a:r>
              <a:rPr lang="en-US" dirty="0" smtClean="0">
                <a:latin typeface="Arial Narrow" pitchFamily="34" charset="0"/>
              </a:rPr>
              <a:t>                    </a:t>
            </a:r>
            <a:r>
              <a:rPr lang="en-US" dirty="0" err="1" smtClean="0">
                <a:latin typeface="Arial Narrow" pitchFamily="34" charset="0"/>
              </a:rPr>
              <a:t>étudies</a:t>
            </a:r>
            <a:r>
              <a:rPr lang="en-US" dirty="0" smtClean="0">
                <a:latin typeface="Arial Narrow" pitchFamily="34" charset="0"/>
              </a:rPr>
              <a:t>    le </a:t>
            </a:r>
            <a:r>
              <a:rPr lang="en-US" dirty="0" err="1" smtClean="0">
                <a:latin typeface="Arial Narrow" pitchFamily="34" charset="0"/>
              </a:rPr>
              <a:t>français</a:t>
            </a:r>
            <a:r>
              <a:rPr lang="en-US" dirty="0" smtClean="0">
                <a:latin typeface="Arial Narrow" pitchFamily="34" charset="0"/>
              </a:rPr>
              <a:t>?</a:t>
            </a:r>
          </a:p>
          <a:p>
            <a:pPr marL="609600" indent="-609600" eaLnBrk="1" hangingPunct="1">
              <a:buFontTx/>
              <a:buNone/>
            </a:pPr>
            <a:endParaRPr lang="fr-FR" dirty="0" smtClean="0">
              <a:latin typeface="Arial Narrow" pitchFamily="34" charset="0"/>
            </a:endParaRPr>
          </a:p>
          <a:p>
            <a:pPr marL="609600" indent="-609600" eaLnBrk="1" hangingPunct="1">
              <a:buFontTx/>
              <a:buAutoNum type="arabicPeriod" startAt="2"/>
            </a:pPr>
            <a:r>
              <a:rPr lang="fr-FR" dirty="0" err="1" smtClean="0">
                <a:latin typeface="Arial Narrow" pitchFamily="34" charset="0"/>
              </a:rPr>
              <a:t>However</a:t>
            </a:r>
            <a:r>
              <a:rPr lang="fr-FR" dirty="0" smtClean="0">
                <a:latin typeface="Arial Narrow" pitchFamily="34" charset="0"/>
              </a:rPr>
              <a:t>, to </a:t>
            </a:r>
            <a:r>
              <a:rPr lang="fr-FR" dirty="0" err="1" smtClean="0">
                <a:latin typeface="Arial Narrow" pitchFamily="34" charset="0"/>
              </a:rPr>
              <a:t>ask</a:t>
            </a:r>
            <a:r>
              <a:rPr lang="fr-FR" dirty="0" smtClean="0">
                <a:latin typeface="Arial Narrow" pitchFamily="34" charset="0"/>
              </a:rPr>
              <a:t> more </a:t>
            </a:r>
            <a:r>
              <a:rPr lang="fr-FR" dirty="0" err="1" smtClean="0">
                <a:latin typeface="Arial Narrow" pitchFamily="34" charset="0"/>
              </a:rPr>
              <a:t>specific</a:t>
            </a:r>
            <a:r>
              <a:rPr lang="fr-FR" dirty="0" smtClean="0">
                <a:latin typeface="Arial Narrow" pitchFamily="34" charset="0"/>
              </a:rPr>
              <a:t> questions, </a:t>
            </a:r>
            <a:r>
              <a:rPr lang="fr-FR" dirty="0" err="1" smtClean="0">
                <a:latin typeface="Arial Narrow" pitchFamily="34" charset="0"/>
              </a:rPr>
              <a:t>you</a:t>
            </a:r>
            <a:r>
              <a:rPr lang="fr-FR" dirty="0" smtClean="0">
                <a:latin typeface="Arial Narrow" pitchFamily="34" charset="0"/>
              </a:rPr>
              <a:t> </a:t>
            </a:r>
            <a:r>
              <a:rPr lang="fr-FR" dirty="0" err="1" smtClean="0">
                <a:latin typeface="Arial Narrow" pitchFamily="34" charset="0"/>
              </a:rPr>
              <a:t>will</a:t>
            </a:r>
            <a:r>
              <a:rPr lang="fr-FR" dirty="0" smtClean="0">
                <a:latin typeface="Arial Narrow" pitchFamily="34" charset="0"/>
              </a:rPr>
              <a:t> </a:t>
            </a:r>
            <a:r>
              <a:rPr lang="fr-FR" dirty="0" err="1" smtClean="0">
                <a:latin typeface="Arial Narrow" pitchFamily="34" charset="0"/>
              </a:rPr>
              <a:t>need</a:t>
            </a:r>
            <a:r>
              <a:rPr lang="fr-FR" dirty="0" smtClean="0">
                <a:latin typeface="Arial Narrow" pitchFamily="34" charset="0"/>
              </a:rPr>
              <a:t> an </a:t>
            </a:r>
            <a:r>
              <a:rPr lang="fr-FR" b="1" u="sng" dirty="0" smtClean="0">
                <a:latin typeface="Arial Narrow" pitchFamily="34" charset="0"/>
              </a:rPr>
              <a:t>extra question </a:t>
            </a:r>
            <a:r>
              <a:rPr lang="fr-FR" b="1" u="sng" dirty="0" err="1" smtClean="0">
                <a:latin typeface="Arial Narrow" pitchFamily="34" charset="0"/>
              </a:rPr>
              <a:t>word</a:t>
            </a:r>
            <a:endParaRPr lang="fr-FR" b="1" u="sng" dirty="0" smtClean="0">
              <a:latin typeface="Arial Narrow" pitchFamily="34" charset="0"/>
            </a:endParaRPr>
          </a:p>
          <a:p>
            <a:pPr marL="609600" indent="-609600" eaLnBrk="1" hangingPunct="1">
              <a:buNone/>
            </a:pPr>
            <a:r>
              <a:rPr lang="fr-FR" dirty="0" smtClean="0">
                <a:latin typeface="Arial Narrow" pitchFamily="34" charset="0"/>
              </a:rPr>
              <a:t>   </a:t>
            </a:r>
            <a:r>
              <a:rPr lang="en-US" dirty="0" smtClean="0">
                <a:latin typeface="Arial Narrow" pitchFamily="34" charset="0"/>
              </a:rPr>
              <a:t>	ex.    </a:t>
            </a:r>
            <a:r>
              <a:rPr lang="en-US" b="1" u="sng" dirty="0" err="1" smtClean="0">
                <a:latin typeface="Arial Narrow" pitchFamily="34" charset="0"/>
              </a:rPr>
              <a:t>Où</a:t>
            </a:r>
            <a:r>
              <a:rPr lang="en-US" dirty="0" smtClean="0">
                <a:latin typeface="Arial Narrow" pitchFamily="34" charset="0"/>
              </a:rPr>
              <a:t>  </a:t>
            </a:r>
            <a:r>
              <a:rPr lang="en-US" i="1" dirty="0" err="1" smtClean="0">
                <a:solidFill>
                  <a:srgbClr val="FF0000"/>
                </a:solidFill>
                <a:latin typeface="Arial Narrow" pitchFamily="34" charset="0"/>
              </a:rPr>
              <a:t>est-ce</a:t>
            </a:r>
            <a:r>
              <a:rPr lang="en-US" i="1" dirty="0" smtClean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  <a:latin typeface="Arial Narrow" pitchFamily="34" charset="0"/>
              </a:rPr>
              <a:t>que</a:t>
            </a:r>
            <a:r>
              <a:rPr lang="en-US" i="1" dirty="0" smtClean="0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tu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 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étudies</a:t>
            </a:r>
            <a:r>
              <a:rPr lang="en-US" dirty="0" smtClean="0">
                <a:latin typeface="Arial Narrow" pitchFamily="34" charset="0"/>
              </a:rPr>
              <a:t>?</a:t>
            </a:r>
          </a:p>
          <a:p>
            <a:pPr marL="609600" indent="-609600" eaLnBrk="1" hangingPunct="1">
              <a:buFontTx/>
              <a:buNone/>
            </a:pPr>
            <a:r>
              <a:rPr lang="en-US" dirty="0" smtClean="0">
                <a:latin typeface="Arial Narrow" pitchFamily="34" charset="0"/>
              </a:rPr>
              <a:t>                </a:t>
            </a:r>
            <a:r>
              <a:rPr lang="en-US" dirty="0" err="1" smtClean="0">
                <a:latin typeface="Arial Narrow" pitchFamily="34" charset="0"/>
              </a:rPr>
              <a:t>J’étudie</a:t>
            </a:r>
            <a:r>
              <a:rPr lang="en-US" dirty="0" smtClean="0">
                <a:latin typeface="Arial Narrow" pitchFamily="34" charset="0"/>
              </a:rPr>
              <a:t> à UBC.</a:t>
            </a:r>
          </a:p>
          <a:p>
            <a:pPr marL="609600" indent="-609600" eaLnBrk="1" hangingPunct="1">
              <a:buFontTx/>
              <a:buNone/>
            </a:pPr>
            <a:r>
              <a:rPr lang="en-US" dirty="0" smtClean="0">
                <a:latin typeface="Arial Narrow" pitchFamily="34" charset="0"/>
              </a:rPr>
              <a:t>                </a:t>
            </a:r>
            <a:r>
              <a:rPr lang="en-US" b="1" u="sng" dirty="0" smtClean="0">
                <a:latin typeface="Arial Narrow" pitchFamily="34" charset="0"/>
              </a:rPr>
              <a:t>Where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i="1" dirty="0" smtClean="0">
                <a:solidFill>
                  <a:srgbClr val="FF0000"/>
                </a:solidFill>
                <a:latin typeface="Arial Narrow" pitchFamily="34" charset="0"/>
              </a:rPr>
              <a:t>do</a:t>
            </a:r>
            <a:r>
              <a:rPr lang="en-US" dirty="0" smtClean="0">
                <a:latin typeface="Arial Narrow" pitchFamily="34" charset="0"/>
              </a:rPr>
              <a:t>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you study</a:t>
            </a:r>
            <a:r>
              <a:rPr lang="en-US" dirty="0" smtClean="0">
                <a:latin typeface="Arial Narrow" pitchFamily="34" charset="0"/>
              </a:rPr>
              <a:t>?</a:t>
            </a:r>
          </a:p>
          <a:p>
            <a:pPr marL="609600" indent="-609600" eaLnBrk="1" hangingPunct="1">
              <a:buFontTx/>
              <a:buNone/>
            </a:pPr>
            <a:r>
              <a:rPr lang="en-US" dirty="0" smtClean="0">
                <a:latin typeface="Arial Narrow" pitchFamily="34" charset="0"/>
              </a:rPr>
              <a:t> </a:t>
            </a:r>
            <a:r>
              <a:rPr lang="fr-FR" dirty="0" smtClean="0">
                <a:latin typeface="Arial Narrow" pitchFamily="34" charset="0"/>
              </a:rPr>
              <a:t> </a:t>
            </a:r>
          </a:p>
          <a:p>
            <a:pPr marL="609600" indent="-609600" eaLnBrk="1" hangingPunct="1">
              <a:buFontTx/>
              <a:buNone/>
            </a:pPr>
            <a:endParaRPr lang="fr-FR" sz="1800" dirty="0">
              <a:latin typeface="Arial Narrow" pitchFamily="34" charset="0"/>
            </a:endParaRPr>
          </a:p>
          <a:p>
            <a:pPr marL="609600" indent="-609600" eaLnBrk="1" hangingPunct="1">
              <a:buFontTx/>
              <a:buNone/>
            </a:pPr>
            <a:endParaRPr lang="en-US" sz="1800" dirty="0" smtClean="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7315200" y="6369050"/>
            <a:ext cx="1676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600" dirty="0"/>
              <a:t>P. 6</a:t>
            </a:r>
            <a:r>
              <a:rPr lang="en-US" sz="1600" dirty="0" smtClean="0"/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9"/>
          <p:cNvSpPr>
            <a:spLocks noGrp="1" noChangeArrowheads="1"/>
          </p:cNvSpPr>
          <p:nvPr>
            <p:ph type="title"/>
          </p:nvPr>
        </p:nvSpPr>
        <p:spPr>
          <a:xfrm>
            <a:off x="76200" y="-1491435"/>
            <a:ext cx="8915400" cy="12311063"/>
          </a:xfrm>
          <a:noFill/>
        </p:spPr>
        <p:txBody>
          <a:bodyPr wrap="square">
            <a:spAutoFit/>
          </a:bodyPr>
          <a:lstStyle/>
          <a:p>
            <a:pPr algn="l"/>
            <a:r>
              <a:rPr lang="fr-FR" sz="3600" b="1" u="sng" dirty="0" smtClean="0">
                <a:latin typeface="Arial Narrow" pitchFamily="34" charset="0"/>
              </a:rPr>
              <a:t/>
            </a:r>
            <a:br>
              <a:rPr lang="fr-FR" sz="3600" b="1" u="sng" dirty="0" smtClean="0">
                <a:latin typeface="Arial Narrow" pitchFamily="34" charset="0"/>
              </a:rPr>
            </a:br>
            <a:r>
              <a:rPr lang="fr-FR" sz="3600" b="1" u="sng" dirty="0" smtClean="0">
                <a:latin typeface="Arial Narrow" pitchFamily="34" charset="0"/>
              </a:rPr>
              <a:t/>
            </a:r>
            <a:br>
              <a:rPr lang="fr-FR" sz="3600" b="1" u="sng" dirty="0" smtClean="0">
                <a:latin typeface="Arial Narrow" pitchFamily="34" charset="0"/>
              </a:rPr>
            </a:br>
            <a:r>
              <a:rPr lang="fr-FR" sz="3600" b="1" u="sng" dirty="0">
                <a:latin typeface="Arial Narrow" pitchFamily="34" charset="0"/>
              </a:rPr>
              <a:t/>
            </a:r>
            <a:br>
              <a:rPr lang="fr-FR" sz="3600" b="1" u="sng" dirty="0">
                <a:latin typeface="Arial Narrow" pitchFamily="34" charset="0"/>
              </a:rPr>
            </a:br>
            <a:r>
              <a:rPr lang="fr-FR" sz="3600" b="1" u="sng" dirty="0" err="1" smtClean="0">
                <a:latin typeface="Arial Narrow" pitchFamily="34" charset="0"/>
              </a:rPr>
              <a:t>What</a:t>
            </a:r>
            <a:r>
              <a:rPr lang="fr-FR" sz="3600" b="1" u="sng" dirty="0" smtClean="0">
                <a:latin typeface="Arial Narrow" pitchFamily="34" charset="0"/>
              </a:rPr>
              <a:t> </a:t>
            </a:r>
            <a:r>
              <a:rPr lang="fr-FR" sz="3600" b="1" u="sng" dirty="0" err="1" smtClean="0">
                <a:latin typeface="Arial Narrow" pitchFamily="34" charset="0"/>
              </a:rPr>
              <a:t>is</a:t>
            </a:r>
            <a:r>
              <a:rPr lang="fr-FR" sz="3600" b="1" u="sng" dirty="0" smtClean="0">
                <a:latin typeface="Arial Narrow" pitchFamily="34" charset="0"/>
              </a:rPr>
              <a:t> </a:t>
            </a:r>
            <a:r>
              <a:rPr lang="fr-FR" sz="3600" b="1" u="sng" dirty="0" err="1" smtClean="0">
                <a:latin typeface="Arial Narrow" pitchFamily="34" charset="0"/>
              </a:rPr>
              <a:t>it</a:t>
            </a:r>
            <a:r>
              <a:rPr lang="fr-FR" sz="3600" b="1" u="sng" dirty="0" smtClean="0">
                <a:latin typeface="Arial Narrow" pitchFamily="34" charset="0"/>
              </a:rPr>
              <a:t>/</a:t>
            </a:r>
            <a:r>
              <a:rPr lang="fr-FR" sz="3600" b="1" u="sng" dirty="0" err="1" smtClean="0">
                <a:latin typeface="Arial Narrow" pitchFamily="34" charset="0"/>
              </a:rPr>
              <a:t>this,that</a:t>
            </a:r>
            <a:r>
              <a:rPr lang="fr-FR" sz="3600" b="1" u="sng" dirty="0" smtClean="0">
                <a:latin typeface="Arial Narrow" pitchFamily="34" charset="0"/>
              </a:rPr>
              <a:t>?</a:t>
            </a: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>
                <a:latin typeface="Arial Narrow" pitchFamily="34" charset="0"/>
              </a:rPr>
              <a:t/>
            </a:r>
            <a:br>
              <a:rPr lang="fr-FR" sz="2400" dirty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err="1" smtClean="0">
                <a:latin typeface="Arial Narrow" pitchFamily="34" charset="0"/>
              </a:rPr>
              <a:t>What</a:t>
            </a:r>
            <a:r>
              <a:rPr lang="fr-FR" sz="2400" dirty="0" smtClean="0">
                <a:latin typeface="Arial Narrow" pitchFamily="34" charset="0"/>
              </a:rPr>
              <a:t> = que </a:t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i="1" dirty="0" smtClean="0">
                <a:latin typeface="Arial Narrow" pitchFamily="34" charset="0"/>
              </a:rPr>
              <a:t>It/</a:t>
            </a:r>
            <a:r>
              <a:rPr lang="fr-FR" sz="2400" i="1" dirty="0" err="1" smtClean="0">
                <a:latin typeface="Arial Narrow" pitchFamily="34" charset="0"/>
              </a:rPr>
              <a:t>this</a:t>
            </a:r>
            <a:r>
              <a:rPr lang="fr-FR" sz="2400" i="1" dirty="0" smtClean="0">
                <a:latin typeface="Arial Narrow" pitchFamily="34" charset="0"/>
              </a:rPr>
              <a:t>/</a:t>
            </a:r>
            <a:r>
              <a:rPr lang="fr-FR" sz="2400" i="1" dirty="0" err="1" smtClean="0">
                <a:latin typeface="Arial Narrow" pitchFamily="34" charset="0"/>
              </a:rPr>
              <a:t>that</a:t>
            </a:r>
            <a:r>
              <a:rPr lang="fr-FR" sz="2400" dirty="0" smtClean="0">
                <a:latin typeface="Arial Narrow" pitchFamily="34" charset="0"/>
              </a:rPr>
              <a:t> </a:t>
            </a:r>
            <a:r>
              <a:rPr lang="fr-FR" sz="2400" b="1" dirty="0" err="1" smtClean="0">
                <a:latin typeface="Arial Narrow" pitchFamily="34" charset="0"/>
              </a:rPr>
              <a:t>is</a:t>
            </a:r>
            <a:r>
              <a:rPr lang="fr-FR" sz="2400" b="1" dirty="0" smtClean="0">
                <a:latin typeface="Arial Narrow" pitchFamily="34" charset="0"/>
              </a:rPr>
              <a:t> </a:t>
            </a:r>
            <a:r>
              <a:rPr lang="fr-FR" sz="2400" dirty="0" smtClean="0">
                <a:latin typeface="Arial Narrow" pitchFamily="34" charset="0"/>
              </a:rPr>
              <a:t>= c’est</a:t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>
                <a:latin typeface="Arial Narrow" pitchFamily="34" charset="0"/>
              </a:rPr>
              <a:t/>
            </a:r>
            <a:br>
              <a:rPr lang="fr-FR" sz="2400" dirty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Que</a:t>
            </a:r>
            <a:r>
              <a:rPr lang="fr-FR" dirty="0" smtClean="0">
                <a:latin typeface="Arial Narrow" pitchFamily="34" charset="0"/>
              </a:rPr>
              <a:t>   +  est-ce que +  </a:t>
            </a:r>
            <a: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c’est?</a:t>
            </a:r>
            <a:r>
              <a:rPr lang="fr-FR" dirty="0" smtClean="0">
                <a:latin typeface="Arial Narrow" pitchFamily="34" charset="0"/>
              </a:rPr>
              <a:t/>
            </a:r>
            <a:br>
              <a:rPr lang="fr-FR" dirty="0" smtClean="0">
                <a:latin typeface="Arial Narrow" pitchFamily="34" charset="0"/>
              </a:rPr>
            </a:br>
            <a:r>
              <a:rPr lang="fr-FR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What</a:t>
            </a:r>
            <a:r>
              <a:rPr lang="fr-FR" b="1" dirty="0" smtClean="0">
                <a:solidFill>
                  <a:srgbClr val="FFC000"/>
                </a:solidFill>
                <a:latin typeface="Arial Narrow" pitchFamily="34" charset="0"/>
              </a:rPr>
              <a:t> </a:t>
            </a:r>
            <a:r>
              <a:rPr lang="fr-FR" dirty="0" smtClean="0">
                <a:latin typeface="Arial Narrow" pitchFamily="34" charset="0"/>
              </a:rPr>
              <a:t>+        </a:t>
            </a:r>
            <a:r>
              <a:rPr lang="fr-FR" strike="sngStrike" dirty="0" smtClean="0">
                <a:latin typeface="Arial Narrow" pitchFamily="34" charset="0"/>
              </a:rPr>
              <a:t>do</a:t>
            </a:r>
            <a:r>
              <a:rPr lang="fr-FR" dirty="0" smtClean="0">
                <a:latin typeface="Arial Narrow" pitchFamily="34" charset="0"/>
              </a:rPr>
              <a:t>        +  </a:t>
            </a:r>
            <a:r>
              <a:rPr lang="fr-FR" b="1" strike="sngStrike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it</a:t>
            </a:r>
            <a:r>
              <a:rPr lang="fr-FR" b="1" strike="sngStrike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 </a:t>
            </a:r>
            <a:r>
              <a:rPr lang="fr-FR" b="1" strike="sngStrike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is</a:t>
            </a:r>
            <a:r>
              <a:rPr lang="fr-FR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 </a:t>
            </a:r>
            <a: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/ </a:t>
            </a:r>
            <a:r>
              <a:rPr lang="fr-FR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is</a:t>
            </a:r>
            <a: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 </a:t>
            </a:r>
            <a:r>
              <a:rPr lang="fr-FR" b="1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it</a:t>
            </a:r>
            <a: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?</a:t>
            </a:r>
            <a:br>
              <a:rPr lang="fr-FR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</a:br>
            <a:r>
              <a:rPr lang="fr-FR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/>
            </a:r>
            <a:br>
              <a:rPr lang="fr-FR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</a:br>
            <a:r>
              <a:rPr lang="fr-FR" b="1" dirty="0" smtClean="0">
                <a:solidFill>
                  <a:srgbClr val="C00000"/>
                </a:solidFill>
                <a:latin typeface="Arial Narrow" pitchFamily="34" charset="0"/>
              </a:rPr>
              <a:t>C’est un __+__</a:t>
            </a:r>
            <a:r>
              <a:rPr lang="fr-FR" b="1" dirty="0" err="1" smtClean="0">
                <a:solidFill>
                  <a:srgbClr val="C00000"/>
                </a:solidFill>
                <a:latin typeface="Arial Narrow" pitchFamily="34" charset="0"/>
              </a:rPr>
              <a:t>object</a:t>
            </a:r>
            <a:r>
              <a:rPr lang="fr-FR" b="1" dirty="0" smtClean="0">
                <a:solidFill>
                  <a:srgbClr val="C00000"/>
                </a:solidFill>
                <a:latin typeface="Arial Narrow" pitchFamily="34" charset="0"/>
              </a:rPr>
              <a:t>_________.</a:t>
            </a:r>
            <a:r>
              <a:rPr lang="fr-FR" sz="2400" dirty="0">
                <a:latin typeface="Arial Narrow" pitchFamily="34" charset="0"/>
              </a:rPr>
              <a:t/>
            </a:r>
            <a:br>
              <a:rPr lang="fr-FR" sz="2400" dirty="0">
                <a:latin typeface="Arial Narrow" pitchFamily="34" charset="0"/>
              </a:rPr>
            </a:br>
            <a: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/>
            </a:r>
            <a:br>
              <a:rPr lang="fr-FR" sz="2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>	</a:t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>
                <a:latin typeface="Arial Narrow" pitchFamily="34" charset="0"/>
              </a:rPr>
              <a:t>	</a:t>
            </a:r>
            <a:r>
              <a:rPr lang="fr-FR" sz="2400" dirty="0" smtClean="0">
                <a:latin typeface="Arial Narrow" pitchFamily="34" charset="0"/>
              </a:rPr>
              <a:t>				</a:t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r>
              <a:rPr lang="fr-FR" sz="2400" dirty="0" smtClean="0">
                <a:latin typeface="Arial Narrow" pitchFamily="34" charset="0"/>
              </a:rPr>
              <a:t/>
            </a:r>
            <a:br>
              <a:rPr lang="fr-FR" sz="2400" dirty="0" smtClean="0">
                <a:latin typeface="Arial Narrow" pitchFamily="34" charset="0"/>
              </a:rPr>
            </a:br>
            <a:endParaRPr lang="en-US" sz="18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1095</TotalTime>
  <Words>62</Words>
  <Application>Microsoft Office PowerPoint</Application>
  <PresentationFormat>On-screen Show (4:3)</PresentationFormat>
  <Paragraphs>31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Median</vt:lpstr>
      <vt:lpstr>Les 3 types de questions</vt:lpstr>
      <vt:lpstr> Questions                                                     </vt:lpstr>
      <vt:lpstr>   What is it/this,that?     What = que   It/this/that is = c’est   Que   +  est-ce que +  c’est? What +        do        +  it is / is it?  C’est un __+__object_________.           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verbe être (présent)</dc:title>
  <dc:creator>.</dc:creator>
  <cp:lastModifiedBy>Linda</cp:lastModifiedBy>
  <cp:revision>81</cp:revision>
  <dcterms:created xsi:type="dcterms:W3CDTF">2010-09-15T05:58:33Z</dcterms:created>
  <dcterms:modified xsi:type="dcterms:W3CDTF">2012-10-17T01:44:11Z</dcterms:modified>
</cp:coreProperties>
</file>