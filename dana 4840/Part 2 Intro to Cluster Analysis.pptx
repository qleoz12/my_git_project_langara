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4" r:id="rId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20:31:26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21389,'610'0'0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20:31:31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23778,'688'0'0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20:31:35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20:31:42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20:31:42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20:31:43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20:32:18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20:32:18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20:32:19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20:32:19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C4ADD-9090-60BA-96B8-A412B21A1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7D1C1-1BBF-7255-DB1F-8D04B7135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C33FD-6560-2D20-0AB0-244EC85EB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81B98-2BD6-7FED-6607-5F67AD2B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4245-EA64-A824-D791-9F6A34018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56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4987-D91E-E747-8448-3E1B72FF6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ACEB8-BDD9-12BA-72A1-5917E3DC5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CB00E-B236-D878-971A-37D47F34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E0E9A-2B55-84A1-CDA7-F1D75DF2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27AB3-3E68-862F-4001-FC1E6900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4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96E0-6F0E-5CD0-FF3A-6C37D0D7F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81E52-9962-6990-E97C-516B7DF55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F9010-91FC-387E-387F-5077AD0C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405D0-3C8E-1306-BE60-699AAAAC5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46FB9-1DE1-825A-B56C-A4EA5DE3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66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73E5C-DE36-2129-1514-A60596513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EC802-D4A2-0032-A948-31A659643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10F45-B9BA-EA3B-0196-552F1B59C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9696E-138F-639F-C285-5F68A1FB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A251A-CAAE-D370-ED67-871A7465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21D36-EBAF-9CA2-DEBD-946760582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96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A5244-C79C-533F-8BD7-CB6F82318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EDE2C-F0A6-CC70-1F74-C33A749AD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0F0C3-466E-668E-73A7-24D8F8EEF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009EC-6F60-3C4F-7FFC-EE93AEDC21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C73FB-7797-7546-C094-635F2C8EB9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CF3982-6118-A403-A19B-F53E36938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E18FF4-6CFF-4AE4-E151-C25669E20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7255D-C774-BE19-9A13-F4E7B07B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42D4E-A1CF-CFEA-5C35-5AA99598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B2B73-0330-5398-C5A8-CBB3B4EC4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FC741-0256-B4A3-A44E-192468BB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E38FF-E5E0-457A-7F63-6787C8C8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57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E75D81-570F-BA0A-EA7C-CE2C8CD9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AAB19-8090-2B0E-D2F2-ECC1F6976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3087A-A5EE-98FE-8FA0-9A8C956B0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6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3B78-8A4F-6AEA-0B23-56D8079D6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E3792-260D-5479-4226-C56BF1232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C5376-C0F1-D663-EDBC-2C9426616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D6F26-1DD9-91CF-D09F-4F39B52C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94565-85A8-4DCF-27A0-AD2DBEAA7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52FD0-CAF7-83F1-FC80-A5A45EA1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0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20A1-2D90-B2D4-275C-6FD596548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84FFA-4960-92EC-EA1D-016233B4F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91601-DAC6-F9C7-D732-726BCD93D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C4BD6-090C-7F0E-D575-CAFBD73D6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CC1EC-DB79-DACF-F2ED-14D7ADE4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D661C-80F4-A05E-D8AC-16FC6602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87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F5811-68C2-1B4E-6E30-F9ED6A9F8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8B0A0-CE66-E863-F980-0BECBC8B7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BBB67-48FC-904B-147F-B13920D5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8FDFF-40C2-FC1D-B242-DAF421B1E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0EA6E-7907-E3BB-F684-416873475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58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532EFA-9EDE-628F-B6E0-C4B5B0B7F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5BCDB-CC0C-FF0C-BB8F-901E905BC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6F464-963F-7B6E-9A5B-546B8AAB9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7FD8B-CDB7-9541-4F79-5267577FC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B8165-8273-1128-ADF4-DB1359C1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8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E9FE3-2E4B-3B20-C561-ABC469F7B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BFD7F-ADCF-D6C5-4A36-0EBD26BD6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586C4-2146-D9A5-588F-0EC77FA11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95DA4-6D81-44BE-B2E1-2D492887A84C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C9FA4-9AC4-630D-E2CA-136D8C042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8D66E-E538-7769-6E8D-53FF2A5B2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21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9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8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customXml" Target="../ink/ink7.xml"/><Relationship Id="rId5" Type="http://schemas.openxmlformats.org/officeDocument/2006/relationships/image" Target="../media/image2.png"/><Relationship Id="rId10" Type="http://schemas.openxmlformats.org/officeDocument/2006/relationships/customXml" Target="../ink/ink6.xml"/><Relationship Id="rId4" Type="http://schemas.openxmlformats.org/officeDocument/2006/relationships/customXml" Target="../ink/ink2.xml"/><Relationship Id="rId9" Type="http://schemas.openxmlformats.org/officeDocument/2006/relationships/customXml" Target="../ink/ink5.xml"/><Relationship Id="rId14" Type="http://schemas.openxmlformats.org/officeDocument/2006/relationships/customXml" Target="../ink/ink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0B029-0052-6410-09DC-CC9318460A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DANA 4840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C28D5-50C5-24DB-9611-CA985D8473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Classification II</a:t>
            </a:r>
          </a:p>
          <a:p>
            <a:r>
              <a:rPr lang="en-CA" dirty="0"/>
              <a:t>Cluster Analysis</a:t>
            </a:r>
          </a:p>
          <a:p>
            <a:r>
              <a:rPr lang="en-CA" dirty="0"/>
              <a:t>Part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47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EF5F-6B47-AA29-1632-3BFBA227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Use cases of cluster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6738F-C34C-E854-0170-F2A30D3DE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3200" dirty="0"/>
              <a:t>Cluster analysis is used in many fields.   For example:</a:t>
            </a:r>
          </a:p>
          <a:p>
            <a:r>
              <a:rPr lang="en-CA" sz="3200" dirty="0"/>
              <a:t>City administrators all over the world are using cluster analysis to segment houses within a city (</a:t>
            </a:r>
            <a:r>
              <a:rPr lang="en-CA" sz="3200" dirty="0" err="1"/>
              <a:t>eg</a:t>
            </a:r>
            <a:r>
              <a:rPr lang="en-CA" sz="3200" dirty="0"/>
              <a:t> for property taxes purpose)</a:t>
            </a:r>
          </a:p>
          <a:p>
            <a:r>
              <a:rPr lang="en-CA" sz="3200" dirty="0"/>
              <a:t>A large company may collect data from its 20,000 employees to decide (a) groups where training is needed and (b) groups deserving of increments and promotions </a:t>
            </a:r>
          </a:p>
          <a:p>
            <a:endParaRPr lang="en-CA" sz="3200" b="1" dirty="0"/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994573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F74D3-E157-BC9C-180C-0DF224A49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Similarity vs dissimilarity measurements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DB38A-252D-2FA0-5E7D-7A1EFF034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It is important to know the difference between a similarity measurement and a dissimilarity measurement.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When a measurement increases when 2 objects (people) are alike (similar), we call that measurement a similarity measurement (</a:t>
            </a:r>
            <a:r>
              <a:rPr lang="en-CA" dirty="0" err="1"/>
              <a:t>eg</a:t>
            </a:r>
            <a:r>
              <a:rPr lang="en-CA" dirty="0"/>
              <a:t> Jaccard, dice coefficients </a:t>
            </a:r>
            <a:r>
              <a:rPr lang="en-CA" dirty="0" err="1"/>
              <a:t>etc</a:t>
            </a:r>
            <a:r>
              <a:rPr lang="en-CA" dirty="0"/>
              <a:t>)</a:t>
            </a:r>
          </a:p>
          <a:p>
            <a:r>
              <a:rPr lang="en-CA" dirty="0"/>
              <a:t>On the other hand, when a measurement decreases when 2 objects are alike, we call that measurement a dissimilarity measurement (</a:t>
            </a:r>
            <a:r>
              <a:rPr lang="en-CA" dirty="0" err="1"/>
              <a:t>eg</a:t>
            </a:r>
            <a:r>
              <a:rPr lang="en-CA" dirty="0"/>
              <a:t> Euclidean distance).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339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CF1B7-7AE8-46D3-D5C8-EB1480B46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Methods to calculate similarity and  dissimilarity measurements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7BE42-C3E7-0C44-5483-B9D8DF5A7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(a) For binary (categorical) data use: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dirty="0" err="1"/>
              <a:t>i</a:t>
            </a:r>
            <a:r>
              <a:rPr lang="en-CA" dirty="0"/>
              <a:t>) simple matching</a:t>
            </a:r>
          </a:p>
          <a:p>
            <a:pPr marL="0" indent="0">
              <a:buNone/>
            </a:pPr>
            <a:r>
              <a:rPr lang="en-CA" dirty="0"/>
              <a:t>	ii) Jaccard</a:t>
            </a:r>
          </a:p>
          <a:p>
            <a:pPr marL="0" indent="0">
              <a:buNone/>
            </a:pPr>
            <a:r>
              <a:rPr lang="en-CA" dirty="0"/>
              <a:t>	iii) dice  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(b)  For quantitative data, we can use:</a:t>
            </a:r>
          </a:p>
          <a:p>
            <a:pPr marL="1485900" lvl="2" indent="-571500">
              <a:buAutoNum type="romanLcParenR"/>
            </a:pPr>
            <a:r>
              <a:rPr lang="en-CA" sz="2800" dirty="0"/>
              <a:t>Euclidean distance</a:t>
            </a:r>
          </a:p>
          <a:p>
            <a:pPr marL="1485900" lvl="2" indent="-571500">
              <a:buAutoNum type="romanLcParenR"/>
            </a:pPr>
            <a:r>
              <a:rPr lang="en-CA" sz="2800" dirty="0"/>
              <a:t>Manhattan distance</a:t>
            </a:r>
          </a:p>
          <a:p>
            <a:pPr marL="1485900" lvl="2" indent="-571500">
              <a:buAutoNum type="romanLcParenR"/>
            </a:pPr>
            <a:r>
              <a:rPr lang="en-CA" sz="2800" dirty="0"/>
              <a:t>Correlation-based distances</a:t>
            </a:r>
          </a:p>
          <a:p>
            <a:pPr marL="914400" lvl="2" indent="0">
              <a:buNone/>
            </a:pPr>
            <a:endParaRPr lang="en-CA" sz="2800" dirty="0"/>
          </a:p>
          <a:p>
            <a:pPr marL="1485900" lvl="2" indent="-571500">
              <a:buAutoNum type="romanLcParenR"/>
            </a:pPr>
            <a:endParaRPr lang="en-CA" sz="2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276F92-66E4-982D-6703-23FD2C9B9BAC}"/>
              </a:ext>
            </a:extLst>
          </p:cNvPr>
          <p:cNvCxnSpPr>
            <a:cxnSpLocks/>
          </p:cNvCxnSpPr>
          <p:nvPr/>
        </p:nvCxnSpPr>
        <p:spPr>
          <a:xfrm>
            <a:off x="5568696" y="2569464"/>
            <a:ext cx="0" cy="11338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709CE53-B541-F3AB-4007-457DA27A668E}"/>
                  </a:ext>
                </a:extLst>
              </p14:cNvPr>
              <p14:cNvContentPartPr/>
              <p14:nvPr/>
            </p14:nvContentPartPr>
            <p14:xfrm>
              <a:off x="5340024" y="2523744"/>
              <a:ext cx="219960" cy="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709CE53-B541-F3AB-4007-457DA27A66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33904" y="2511504"/>
                <a:ext cx="2322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9BC5E63-27C7-5906-59FC-9870496D4D10}"/>
                  </a:ext>
                </a:extLst>
              </p14:cNvPr>
              <p14:cNvContentPartPr/>
              <p14:nvPr/>
            </p14:nvContentPartPr>
            <p14:xfrm>
              <a:off x="5321304" y="3712464"/>
              <a:ext cx="248040" cy="7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9BC5E63-27C7-5906-59FC-9870496D4D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15184" y="3700224"/>
                <a:ext cx="2602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51A3DC3-B01D-8AFD-E719-D01B6F877AF7}"/>
                  </a:ext>
                </a:extLst>
              </p14:cNvPr>
              <p14:cNvContentPartPr/>
              <p14:nvPr/>
            </p14:nvContentPartPr>
            <p14:xfrm>
              <a:off x="5568624" y="2559744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51A3DC3-B01D-8AFD-E719-D01B6F877AF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62504" y="2553624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64129F3-98E7-A99D-0357-A7294BD5E45F}"/>
                  </a:ext>
                </a:extLst>
              </p14:cNvPr>
              <p14:cNvContentPartPr/>
              <p14:nvPr/>
            </p14:nvContentPartPr>
            <p14:xfrm>
              <a:off x="6939864" y="3063168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64129F3-98E7-A99D-0357-A7294BD5E45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33744" y="3057048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6DCBC948-65D5-3611-07D4-CBC7D1206E6A}"/>
              </a:ext>
            </a:extLst>
          </p:cNvPr>
          <p:cNvGrpSpPr/>
          <p:nvPr/>
        </p:nvGrpSpPr>
        <p:grpSpPr>
          <a:xfrm>
            <a:off x="6537744" y="3163968"/>
            <a:ext cx="360" cy="360"/>
            <a:chOff x="6537744" y="3163968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777A3CF-76CF-8780-4F08-0D37770185C1}"/>
                    </a:ext>
                  </a:extLst>
                </p14:cNvPr>
                <p14:cNvContentPartPr/>
                <p14:nvPr/>
              </p14:nvContentPartPr>
              <p14:xfrm>
                <a:off x="6537744" y="3163968"/>
                <a:ext cx="3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777A3CF-76CF-8780-4F08-0D37770185C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31624" y="315784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A697C6C-689D-105E-6CD2-CD68B211A697}"/>
                    </a:ext>
                  </a:extLst>
                </p14:cNvPr>
                <p14:cNvContentPartPr/>
                <p14:nvPr/>
              </p14:nvContentPartPr>
              <p14:xfrm>
                <a:off x="6537744" y="3163968"/>
                <a:ext cx="36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A697C6C-689D-105E-6CD2-CD68B211A69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31624" y="315784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2C6BBFF-33DB-28C6-8CD9-38EFE076DD2E}"/>
              </a:ext>
            </a:extLst>
          </p:cNvPr>
          <p:cNvGrpSpPr/>
          <p:nvPr/>
        </p:nvGrpSpPr>
        <p:grpSpPr>
          <a:xfrm>
            <a:off x="6693264" y="4124088"/>
            <a:ext cx="360" cy="360"/>
            <a:chOff x="6693264" y="4124088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5CFA886-9FE5-B0F3-5A46-094175707B8F}"/>
                    </a:ext>
                  </a:extLst>
                </p14:cNvPr>
                <p14:cNvContentPartPr/>
                <p14:nvPr/>
              </p14:nvContentPartPr>
              <p14:xfrm>
                <a:off x="6693264" y="4124088"/>
                <a:ext cx="360" cy="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5CFA886-9FE5-B0F3-5A46-094175707B8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87144" y="41179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6AFD734-D37E-5A2B-1CA4-06369D6B2556}"/>
                    </a:ext>
                  </a:extLst>
                </p14:cNvPr>
                <p14:cNvContentPartPr/>
                <p14:nvPr/>
              </p14:nvContentPartPr>
              <p14:xfrm>
                <a:off x="6693264" y="4124088"/>
                <a:ext cx="360" cy="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6AFD734-D37E-5A2B-1CA4-06369D6B255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87144" y="41179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39DC0FE-D25F-1C13-B0DB-649C1ED903CB}"/>
                    </a:ext>
                  </a:extLst>
                </p14:cNvPr>
                <p14:cNvContentPartPr/>
                <p14:nvPr/>
              </p14:nvContentPartPr>
              <p14:xfrm>
                <a:off x="6693264" y="4124088"/>
                <a:ext cx="36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39DC0FE-D25F-1C13-B0DB-649C1ED903C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87144" y="41179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E404D3E-71C9-F446-232A-A073C384C599}"/>
                    </a:ext>
                  </a:extLst>
                </p14:cNvPr>
                <p14:cNvContentPartPr/>
                <p14:nvPr/>
              </p14:nvContentPartPr>
              <p14:xfrm>
                <a:off x="6693264" y="4124088"/>
                <a:ext cx="360" cy="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E404D3E-71C9-F446-232A-A073C384C59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87144" y="41179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29B6808-6E15-3059-1CB8-58E63EADB8B2}"/>
              </a:ext>
            </a:extLst>
          </p:cNvPr>
          <p:cNvSpPr txBox="1"/>
          <p:nvPr/>
        </p:nvSpPr>
        <p:spPr>
          <a:xfrm>
            <a:off x="6245352" y="3063168"/>
            <a:ext cx="3659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These are similarity measurements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195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4CFF2-4BF9-FA4C-271B-9B2A2B92D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Methods to calculate similarity and  dissimilarity measurements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E5853-32B0-8A93-0649-CB128C690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(c)  For mixed data (combination of quantitative and categorical data in a dataset), use </a:t>
            </a:r>
            <a:r>
              <a:rPr lang="en-CA" b="1" dirty="0"/>
              <a:t>Gower distance</a:t>
            </a:r>
            <a:r>
              <a:rPr lang="en-CA" dirty="0"/>
              <a:t>.   </a:t>
            </a:r>
          </a:p>
          <a:p>
            <a:pPr marL="0" indent="0">
              <a:buNone/>
            </a:pPr>
            <a:r>
              <a:rPr lang="en-CA" dirty="0"/>
              <a:t>           In R, you can obtain </a:t>
            </a:r>
            <a:r>
              <a:rPr lang="en-CA" dirty="0" err="1"/>
              <a:t>gower</a:t>
            </a:r>
            <a:r>
              <a:rPr lang="en-CA" dirty="0"/>
              <a:t> distance using daisy() command.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Teach students:  how to convert a similarity measurement to a dissimilarity measurement and why we need to do that.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048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955A0-8F2D-9F0B-9033-7236F18FC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Simple matching, Jaccard and dice coefficient calculations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B2CC06-2E8C-9EF4-0506-8993BD0FFD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CA" dirty="0"/>
                  <a:t>Simple matching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𝑎</m:t>
                        </m:r>
                        <m:r>
                          <a:rPr lang="en-US" i="1"/>
                          <m:t>+</m:t>
                        </m:r>
                        <m:r>
                          <a:rPr lang="en-US" i="1"/>
                          <m:t>𝑑</m:t>
                        </m:r>
                      </m:num>
                      <m:den>
                        <m:r>
                          <a:rPr lang="en-US" i="1"/>
                          <m:t>𝑎</m:t>
                        </m:r>
                        <m:r>
                          <a:rPr lang="en-US" i="1"/>
                          <m:t>+</m:t>
                        </m:r>
                        <m:r>
                          <a:rPr lang="en-US" i="1"/>
                          <m:t>𝑏</m:t>
                        </m:r>
                        <m:r>
                          <a:rPr lang="en-US" i="1"/>
                          <m:t>+</m:t>
                        </m:r>
                        <m:r>
                          <a:rPr lang="en-US" i="1"/>
                          <m:t>𝑐</m:t>
                        </m:r>
                        <m:r>
                          <a:rPr lang="en-US" i="1"/>
                          <m:t>+</m:t>
                        </m:r>
                        <m:r>
                          <a:rPr lang="en-US" i="1"/>
                          <m:t>𝑑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CA" dirty="0"/>
              </a:p>
              <a:p>
                <a:r>
                  <a:rPr lang="en-CA" dirty="0"/>
                  <a:t>Jaccard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𝑎</m:t>
                        </m:r>
                      </m:num>
                      <m:den>
                        <m:r>
                          <a:rPr lang="en-US" i="1"/>
                          <m:t>𝑎</m:t>
                        </m:r>
                        <m:r>
                          <a:rPr lang="en-US" i="1"/>
                          <m:t>+</m:t>
                        </m:r>
                        <m:r>
                          <a:rPr lang="en-US" i="1"/>
                          <m:t>𝑏</m:t>
                        </m:r>
                        <m:r>
                          <a:rPr lang="en-US" i="1"/>
                          <m:t>+</m:t>
                        </m:r>
                        <m:r>
                          <a:rPr lang="en-US" i="1"/>
                          <m:t>𝑐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CA" dirty="0"/>
              </a:p>
              <a:p>
                <a:r>
                  <a:rPr lang="en-CA" dirty="0"/>
                  <a:t>Dice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2</m:t>
                        </m:r>
                        <m:r>
                          <a:rPr lang="en-US" i="1"/>
                          <m:t>𝑎</m:t>
                        </m:r>
                      </m:num>
                      <m:den>
                        <m:r>
                          <a:rPr lang="en-US" i="1"/>
                          <m:t>2</m:t>
                        </m:r>
                        <m:r>
                          <a:rPr lang="en-US" i="1"/>
                          <m:t>𝑎</m:t>
                        </m:r>
                        <m:r>
                          <a:rPr lang="en-US" i="1"/>
                          <m:t>+</m:t>
                        </m:r>
                        <m:r>
                          <a:rPr lang="en-US" i="1"/>
                          <m:t>𝑏</m:t>
                        </m:r>
                        <m:r>
                          <a:rPr lang="en-US" i="1"/>
                          <m:t>+</m:t>
                        </m:r>
                        <m:r>
                          <a:rPr lang="en-US" i="1"/>
                          <m:t>𝑐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			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B2CC06-2E8C-9EF4-0506-8993BD0FFD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2661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E1A3-CA1E-B682-6039-08AFBD0E7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Simple matching, Jaccard and dice coefficient calculations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775B8-DB21-7455-541A-3FA368B4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Example: 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91907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304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DANA 4840</vt:lpstr>
      <vt:lpstr>Use cases of cluster analysis</vt:lpstr>
      <vt:lpstr>Similarity vs dissimilarity measurements</vt:lpstr>
      <vt:lpstr>Methods to calculate similarity and  dissimilarity measurements</vt:lpstr>
      <vt:lpstr>Methods to calculate similarity and  dissimilarity measurements</vt:lpstr>
      <vt:lpstr>Simple matching, Jaccard and dice coefficient calculations</vt:lpstr>
      <vt:lpstr>Simple matching, Jaccard and dice coefficient calculations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Yew-Wei Lim</dc:creator>
  <cp:lastModifiedBy>Yew-Wei Lim</cp:lastModifiedBy>
  <cp:revision>5</cp:revision>
  <cp:lastPrinted>2025-09-07T21:02:03Z</cp:lastPrinted>
  <dcterms:created xsi:type="dcterms:W3CDTF">2025-08-31T18:59:20Z</dcterms:created>
  <dcterms:modified xsi:type="dcterms:W3CDTF">2025-09-07T21:04:35Z</dcterms:modified>
</cp:coreProperties>
</file>