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II Partitional Clustering</a:t>
            </a:r>
          </a:p>
          <a:p>
            <a:r>
              <a:rPr lang="en-CA" dirty="0"/>
              <a:t>Part 6 – Gap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5F-6B47-AA29-1632-3BFBA227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Gap statistic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A6738F-C34C-E854-0170-F2A30D3DEB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You can use gap statistics to find optimal k (how many groups to cluster).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𝐺𝑎𝑝</m:t>
                      </m:r>
                      <m:r>
                        <a:rPr lang="en-US" i="1"/>
                        <m:t> 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𝑘</m:t>
                          </m:r>
                        </m:e>
                      </m:d>
                      <m:r>
                        <a:rPr lang="en-US" i="1"/>
                        <m:t>=</m:t>
                      </m:r>
                      <m:r>
                        <a:rPr lang="en-US" i="1"/>
                        <m:t>𝐸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func>
                            <m:funcPr>
                              <m:ctrlPr>
                                <a:rPr lang="en-US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/>
                                <m:t>log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i="1"/>
                                  </m:ctrlPr>
                                </m:sSubSupPr>
                                <m:e>
                                  <m:r>
                                    <a:rPr lang="en-US" i="1"/>
                                    <m:t>𝑊</m:t>
                                  </m:r>
                                </m:e>
                                <m:sub>
                                  <m:r>
                                    <a:rPr lang="en-US" i="1"/>
                                    <m:t>𝑘</m:t>
                                  </m:r>
                                </m:sub>
                                <m:sup>
                                  <m:r>
                                    <a:rPr lang="en-US" i="1"/>
                                    <m:t>𝑟𝑒𝑓𝑒𝑟𝑒𝑛𝑐𝑒</m:t>
                                  </m:r>
                                </m:sup>
                              </m:sSubSup>
                            </m:e>
                          </m:func>
                        </m:e>
                      </m:d>
                      <m:r>
                        <a:rPr lang="en-US" i="1"/>
                        <m:t>−</m:t>
                      </m:r>
                      <m:func>
                        <m:funcPr>
                          <m:ctrlPr>
                            <a:rPr lang="en-US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/>
                            <m:t>log</m:t>
                          </m:r>
                        </m:fName>
                        <m:e>
                          <m:r>
                            <a:rPr lang="en-US" i="1"/>
                            <m:t>(</m:t>
                          </m:r>
                          <m:sSubSup>
                            <m:sSubSupPr>
                              <m:ctrlPr>
                                <a:rPr lang="en-US" i="1"/>
                              </m:ctrlPr>
                            </m:sSubSupPr>
                            <m:e>
                              <m:r>
                                <a:rPr lang="en-US" i="1"/>
                                <m:t>𝑊</m:t>
                              </m:r>
                            </m:e>
                            <m:sub>
                              <m:r>
                                <a:rPr lang="en-US" i="1"/>
                                <m:t>𝑘</m:t>
                              </m:r>
                            </m:sub>
                            <m:sup>
                              <m:r>
                                <a:rPr lang="en-US" i="1"/>
                                <m:t>𝑦𝑜𝑢𝑟</m:t>
                              </m:r>
                              <m:r>
                                <a:rPr lang="en-US" i="1"/>
                                <m:t> </m:t>
                              </m:r>
                              <m:r>
                                <a:rPr lang="en-US" i="1"/>
                                <m:t>𝑑𝑎𝑡𝑎</m:t>
                              </m:r>
                            </m:sup>
                          </m:sSubSup>
                          <m:r>
                            <a:rPr lang="en-US" i="1"/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sz="3200" dirty="0"/>
              </a:p>
              <a:p>
                <a:pPr marL="0" indent="0" algn="ctr">
                  <a:buNone/>
                </a:pPr>
                <a:endParaRPr lang="en-US" sz="3200" b="1" dirty="0"/>
              </a:p>
              <a:p>
                <a:pPr marL="0" indent="0" algn="ctr">
                  <a:buNone/>
                </a:pPr>
                <a:endParaRPr lang="en-US" sz="3200" b="1" dirty="0"/>
              </a:p>
              <a:p>
                <a:pPr marL="0" indent="0">
                  <a:buNone/>
                </a:pPr>
                <a:r>
                  <a:rPr lang="en-US" sz="2200" dirty="0"/>
                  <a:t>The reference dataset is a dataset that is random and is not well clustered (students to draw a diagram to understand).  Hence, we expect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/>
                          <m:t>log</m:t>
                        </m:r>
                      </m:fName>
                      <m:e>
                        <m:sSubSup>
                          <m:sSubSupPr>
                            <m:ctrlPr>
                              <a:rPr lang="en-US" sz="2200" i="1"/>
                            </m:ctrlPr>
                          </m:sSubSupPr>
                          <m:e>
                            <m:r>
                              <a:rPr lang="en-US" sz="2200" i="1"/>
                              <m:t>𝑊</m:t>
                            </m:r>
                          </m:e>
                          <m:sub>
                            <m:r>
                              <a:rPr lang="en-US" sz="2200" i="1"/>
                              <m:t>𝑘</m:t>
                            </m:r>
                          </m:sub>
                          <m:sup>
                            <m:r>
                              <a:rPr lang="en-US" sz="2200" i="1"/>
                              <m:t>𝑟𝑒𝑓𝑒𝑟𝑒𝑛𝑐𝑒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en-US" sz="2200" dirty="0"/>
                  <a:t> to be larger than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/>
                          <m:t>log</m:t>
                        </m:r>
                      </m:fName>
                      <m:e>
                        <m:r>
                          <a:rPr lang="en-US" sz="2000" i="1"/>
                          <m:t>(</m:t>
                        </m:r>
                        <m:sSub>
                          <m:sSubPr>
                            <m:ctrlPr>
                              <a:rPr lang="en-US" sz="2000" i="1"/>
                            </m:ctrlPr>
                          </m:sSubPr>
                          <m:e>
                            <m:r>
                              <a:rPr lang="en-US" sz="2000" i="1"/>
                              <m:t>𝑊</m:t>
                            </m:r>
                          </m:e>
                          <m:sub>
                            <m:r>
                              <a:rPr lang="en-US" sz="2000" i="1"/>
                              <m:t>𝑘</m:t>
                            </m:r>
                          </m:sub>
                        </m:sSub>
                        <m:r>
                          <a:rPr lang="en-US" sz="2000" i="1"/>
                          <m:t>)</m:t>
                        </m:r>
                      </m:e>
                    </m:func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A6738F-C34C-E854-0170-F2A30D3DEB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7FD1563-AB4B-7016-5A43-92037070A23F}"/>
              </a:ext>
            </a:extLst>
          </p:cNvPr>
          <p:cNvSpPr/>
          <p:nvPr/>
        </p:nvSpPr>
        <p:spPr>
          <a:xfrm>
            <a:off x="4237022" y="3711583"/>
            <a:ext cx="2611238" cy="289711"/>
          </a:xfrm>
          <a:custGeom>
            <a:avLst/>
            <a:gdLst>
              <a:gd name="connsiteX0" fmla="*/ 0 w 2611238"/>
              <a:gd name="connsiteY0" fmla="*/ 0 h 289711"/>
              <a:gd name="connsiteX1" fmla="*/ 36214 w 2611238"/>
              <a:gd name="connsiteY1" fmla="*/ 45267 h 289711"/>
              <a:gd name="connsiteX2" fmla="*/ 63375 w 2611238"/>
              <a:gd name="connsiteY2" fmla="*/ 63374 h 289711"/>
              <a:gd name="connsiteX3" fmla="*/ 99588 w 2611238"/>
              <a:gd name="connsiteY3" fmla="*/ 108641 h 289711"/>
              <a:gd name="connsiteX4" fmla="*/ 153909 w 2611238"/>
              <a:gd name="connsiteY4" fmla="*/ 162962 h 289711"/>
              <a:gd name="connsiteX5" fmla="*/ 289711 w 2611238"/>
              <a:gd name="connsiteY5" fmla="*/ 181069 h 289711"/>
              <a:gd name="connsiteX6" fmla="*/ 425513 w 2611238"/>
              <a:gd name="connsiteY6" fmla="*/ 162962 h 289711"/>
              <a:gd name="connsiteX7" fmla="*/ 516048 w 2611238"/>
              <a:gd name="connsiteY7" fmla="*/ 144855 h 289711"/>
              <a:gd name="connsiteX8" fmla="*/ 561315 w 2611238"/>
              <a:gd name="connsiteY8" fmla="*/ 135802 h 289711"/>
              <a:gd name="connsiteX9" fmla="*/ 715224 w 2611238"/>
              <a:gd name="connsiteY9" fmla="*/ 117695 h 289711"/>
              <a:gd name="connsiteX10" fmla="*/ 751438 w 2611238"/>
              <a:gd name="connsiteY10" fmla="*/ 99588 h 289711"/>
              <a:gd name="connsiteX11" fmla="*/ 787652 w 2611238"/>
              <a:gd name="connsiteY11" fmla="*/ 90535 h 289711"/>
              <a:gd name="connsiteX12" fmla="*/ 1140737 w 2611238"/>
              <a:gd name="connsiteY12" fmla="*/ 99588 h 289711"/>
              <a:gd name="connsiteX13" fmla="*/ 1186004 w 2611238"/>
              <a:gd name="connsiteY13" fmla="*/ 108641 h 289711"/>
              <a:gd name="connsiteX14" fmla="*/ 1222218 w 2611238"/>
              <a:gd name="connsiteY14" fmla="*/ 153909 h 289711"/>
              <a:gd name="connsiteX15" fmla="*/ 1258432 w 2611238"/>
              <a:gd name="connsiteY15" fmla="*/ 172016 h 289711"/>
              <a:gd name="connsiteX16" fmla="*/ 1285592 w 2611238"/>
              <a:gd name="connsiteY16" fmla="*/ 208230 h 289711"/>
              <a:gd name="connsiteX17" fmla="*/ 1330860 w 2611238"/>
              <a:gd name="connsiteY17" fmla="*/ 289711 h 289711"/>
              <a:gd name="connsiteX18" fmla="*/ 1358020 w 2611238"/>
              <a:gd name="connsiteY18" fmla="*/ 244443 h 289711"/>
              <a:gd name="connsiteX19" fmla="*/ 1439501 w 2611238"/>
              <a:gd name="connsiteY19" fmla="*/ 172016 h 289711"/>
              <a:gd name="connsiteX20" fmla="*/ 1511929 w 2611238"/>
              <a:gd name="connsiteY20" fmla="*/ 144855 h 289711"/>
              <a:gd name="connsiteX21" fmla="*/ 1602464 w 2611238"/>
              <a:gd name="connsiteY21" fmla="*/ 135802 h 289711"/>
              <a:gd name="connsiteX22" fmla="*/ 1702052 w 2611238"/>
              <a:gd name="connsiteY22" fmla="*/ 153909 h 289711"/>
              <a:gd name="connsiteX23" fmla="*/ 1756373 w 2611238"/>
              <a:gd name="connsiteY23" fmla="*/ 172016 h 289711"/>
              <a:gd name="connsiteX24" fmla="*/ 1846907 w 2611238"/>
              <a:gd name="connsiteY24" fmla="*/ 181069 h 289711"/>
              <a:gd name="connsiteX25" fmla="*/ 1991763 w 2611238"/>
              <a:gd name="connsiteY25" fmla="*/ 199176 h 289711"/>
              <a:gd name="connsiteX26" fmla="*/ 2027977 w 2611238"/>
              <a:gd name="connsiteY26" fmla="*/ 208230 h 289711"/>
              <a:gd name="connsiteX27" fmla="*/ 2073244 w 2611238"/>
              <a:gd name="connsiteY27" fmla="*/ 217283 h 289711"/>
              <a:gd name="connsiteX28" fmla="*/ 2127565 w 2611238"/>
              <a:gd name="connsiteY28" fmla="*/ 235390 h 289711"/>
              <a:gd name="connsiteX29" fmla="*/ 2254313 w 2611238"/>
              <a:gd name="connsiteY29" fmla="*/ 217283 h 289711"/>
              <a:gd name="connsiteX30" fmla="*/ 2417276 w 2611238"/>
              <a:gd name="connsiteY30" fmla="*/ 144855 h 289711"/>
              <a:gd name="connsiteX31" fmla="*/ 2444436 w 2611238"/>
              <a:gd name="connsiteY31" fmla="*/ 126748 h 289711"/>
              <a:gd name="connsiteX32" fmla="*/ 2480650 w 2611238"/>
              <a:gd name="connsiteY32" fmla="*/ 99588 h 289711"/>
              <a:gd name="connsiteX33" fmla="*/ 2516864 w 2611238"/>
              <a:gd name="connsiteY33" fmla="*/ 63374 h 289711"/>
              <a:gd name="connsiteX34" fmla="*/ 2589291 w 2611238"/>
              <a:gd name="connsiteY34" fmla="*/ 18107 h 289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611238" h="289711">
                <a:moveTo>
                  <a:pt x="0" y="0"/>
                </a:moveTo>
                <a:cubicBezTo>
                  <a:pt x="12071" y="15089"/>
                  <a:pt x="22550" y="31603"/>
                  <a:pt x="36214" y="45267"/>
                </a:cubicBezTo>
                <a:cubicBezTo>
                  <a:pt x="43908" y="52961"/>
                  <a:pt x="55681" y="55680"/>
                  <a:pt x="63375" y="63374"/>
                </a:cubicBezTo>
                <a:cubicBezTo>
                  <a:pt x="77039" y="77038"/>
                  <a:pt x="86590" y="94343"/>
                  <a:pt x="99588" y="108641"/>
                </a:cubicBezTo>
                <a:cubicBezTo>
                  <a:pt x="116813" y="127589"/>
                  <a:pt x="129616" y="154864"/>
                  <a:pt x="153909" y="162962"/>
                </a:cubicBezTo>
                <a:cubicBezTo>
                  <a:pt x="215544" y="183508"/>
                  <a:pt x="171560" y="171223"/>
                  <a:pt x="289711" y="181069"/>
                </a:cubicBezTo>
                <a:cubicBezTo>
                  <a:pt x="318214" y="177506"/>
                  <a:pt x="395149" y="168320"/>
                  <a:pt x="425513" y="162962"/>
                </a:cubicBezTo>
                <a:cubicBezTo>
                  <a:pt x="455821" y="157613"/>
                  <a:pt x="485870" y="150891"/>
                  <a:pt x="516048" y="144855"/>
                </a:cubicBezTo>
                <a:cubicBezTo>
                  <a:pt x="531137" y="141837"/>
                  <a:pt x="546004" y="137333"/>
                  <a:pt x="561315" y="135802"/>
                </a:cubicBezTo>
                <a:cubicBezTo>
                  <a:pt x="673083" y="124625"/>
                  <a:pt x="621826" y="131037"/>
                  <a:pt x="715224" y="117695"/>
                </a:cubicBezTo>
                <a:cubicBezTo>
                  <a:pt x="727295" y="111659"/>
                  <a:pt x="738801" y="104327"/>
                  <a:pt x="751438" y="99588"/>
                </a:cubicBezTo>
                <a:cubicBezTo>
                  <a:pt x="763089" y="95219"/>
                  <a:pt x="775209" y="90535"/>
                  <a:pt x="787652" y="90535"/>
                </a:cubicBezTo>
                <a:cubicBezTo>
                  <a:pt x="905386" y="90535"/>
                  <a:pt x="1023042" y="96570"/>
                  <a:pt x="1140737" y="99588"/>
                </a:cubicBezTo>
                <a:cubicBezTo>
                  <a:pt x="1155826" y="102606"/>
                  <a:pt x="1173201" y="100105"/>
                  <a:pt x="1186004" y="108641"/>
                </a:cubicBezTo>
                <a:cubicBezTo>
                  <a:pt x="1202082" y="119360"/>
                  <a:pt x="1207675" y="141184"/>
                  <a:pt x="1222218" y="153909"/>
                </a:cubicBezTo>
                <a:cubicBezTo>
                  <a:pt x="1232375" y="162796"/>
                  <a:pt x="1246361" y="165980"/>
                  <a:pt x="1258432" y="172016"/>
                </a:cubicBezTo>
                <a:cubicBezTo>
                  <a:pt x="1267485" y="184087"/>
                  <a:pt x="1277222" y="195675"/>
                  <a:pt x="1285592" y="208230"/>
                </a:cubicBezTo>
                <a:cubicBezTo>
                  <a:pt x="1308332" y="242339"/>
                  <a:pt x="1313600" y="255192"/>
                  <a:pt x="1330860" y="289711"/>
                </a:cubicBezTo>
                <a:cubicBezTo>
                  <a:pt x="1339913" y="274622"/>
                  <a:pt x="1347027" y="258184"/>
                  <a:pt x="1358020" y="244443"/>
                </a:cubicBezTo>
                <a:cubicBezTo>
                  <a:pt x="1370190" y="229230"/>
                  <a:pt x="1417164" y="183185"/>
                  <a:pt x="1439501" y="172016"/>
                </a:cubicBezTo>
                <a:cubicBezTo>
                  <a:pt x="1462563" y="160485"/>
                  <a:pt x="1486759" y="150448"/>
                  <a:pt x="1511929" y="144855"/>
                </a:cubicBezTo>
                <a:cubicBezTo>
                  <a:pt x="1541536" y="138276"/>
                  <a:pt x="1572286" y="138820"/>
                  <a:pt x="1602464" y="135802"/>
                </a:cubicBezTo>
                <a:cubicBezTo>
                  <a:pt x="1647106" y="142179"/>
                  <a:pt x="1663241" y="142266"/>
                  <a:pt x="1702052" y="153909"/>
                </a:cubicBezTo>
                <a:cubicBezTo>
                  <a:pt x="1720333" y="159394"/>
                  <a:pt x="1737613" y="168499"/>
                  <a:pt x="1756373" y="172016"/>
                </a:cubicBezTo>
                <a:cubicBezTo>
                  <a:pt x="1786182" y="177605"/>
                  <a:pt x="1816778" y="177593"/>
                  <a:pt x="1846907" y="181069"/>
                </a:cubicBezTo>
                <a:lnTo>
                  <a:pt x="1991763" y="199176"/>
                </a:lnTo>
                <a:cubicBezTo>
                  <a:pt x="2003834" y="202194"/>
                  <a:pt x="2015830" y="205531"/>
                  <a:pt x="2027977" y="208230"/>
                </a:cubicBezTo>
                <a:cubicBezTo>
                  <a:pt x="2042998" y="211568"/>
                  <a:pt x="2058398" y="213234"/>
                  <a:pt x="2073244" y="217283"/>
                </a:cubicBezTo>
                <a:cubicBezTo>
                  <a:pt x="2091658" y="222305"/>
                  <a:pt x="2109458" y="229354"/>
                  <a:pt x="2127565" y="235390"/>
                </a:cubicBezTo>
                <a:cubicBezTo>
                  <a:pt x="2169814" y="229354"/>
                  <a:pt x="2213277" y="229008"/>
                  <a:pt x="2254313" y="217283"/>
                </a:cubicBezTo>
                <a:cubicBezTo>
                  <a:pt x="2258046" y="216216"/>
                  <a:pt x="2379709" y="166322"/>
                  <a:pt x="2417276" y="144855"/>
                </a:cubicBezTo>
                <a:cubicBezTo>
                  <a:pt x="2426723" y="139457"/>
                  <a:pt x="2435582" y="133072"/>
                  <a:pt x="2444436" y="126748"/>
                </a:cubicBezTo>
                <a:cubicBezTo>
                  <a:pt x="2456714" y="117978"/>
                  <a:pt x="2469294" y="109524"/>
                  <a:pt x="2480650" y="99588"/>
                </a:cubicBezTo>
                <a:cubicBezTo>
                  <a:pt x="2493498" y="88346"/>
                  <a:pt x="2502042" y="71844"/>
                  <a:pt x="2516864" y="63374"/>
                </a:cubicBezTo>
                <a:cubicBezTo>
                  <a:pt x="2598175" y="16910"/>
                  <a:pt x="2639685" y="43303"/>
                  <a:pt x="2589291" y="1810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9DAF9-BAEC-4C71-588A-6A6B723FA416}"/>
              </a:ext>
            </a:extLst>
          </p:cNvPr>
          <p:cNvSpPr txBox="1"/>
          <p:nvPr/>
        </p:nvSpPr>
        <p:spPr>
          <a:xfrm>
            <a:off x="4084004" y="4096693"/>
            <a:ext cx="2917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This is the expected value of log of</a:t>
            </a:r>
          </a:p>
          <a:p>
            <a:r>
              <a:rPr lang="en-US" sz="1400" dirty="0"/>
              <a:t>total WCSS using reference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59B1F-398D-0A53-03FF-98E61A212BDE}"/>
              </a:ext>
            </a:extLst>
          </p:cNvPr>
          <p:cNvSpPr txBox="1"/>
          <p:nvPr/>
        </p:nvSpPr>
        <p:spPr>
          <a:xfrm>
            <a:off x="7549547" y="4096693"/>
            <a:ext cx="1845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This is  the log of total</a:t>
            </a:r>
          </a:p>
          <a:p>
            <a:r>
              <a:rPr lang="en-US" sz="1400" dirty="0"/>
              <a:t>WCSS of your dataset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A92920-17A2-FDC4-B613-CF3A2E6A43EC}"/>
              </a:ext>
            </a:extLst>
          </p:cNvPr>
          <p:cNvSpPr/>
          <p:nvPr/>
        </p:nvSpPr>
        <p:spPr>
          <a:xfrm>
            <a:off x="7269933" y="3630440"/>
            <a:ext cx="2091370" cy="311048"/>
          </a:xfrm>
          <a:custGeom>
            <a:avLst/>
            <a:gdLst>
              <a:gd name="connsiteX0" fmla="*/ 0 w 2091370"/>
              <a:gd name="connsiteY0" fmla="*/ 0 h 311048"/>
              <a:gd name="connsiteX1" fmla="*/ 81481 w 2091370"/>
              <a:gd name="connsiteY1" fmla="*/ 45267 h 311048"/>
              <a:gd name="connsiteX2" fmla="*/ 153909 w 2091370"/>
              <a:gd name="connsiteY2" fmla="*/ 99588 h 311048"/>
              <a:gd name="connsiteX3" fmla="*/ 217283 w 2091370"/>
              <a:gd name="connsiteY3" fmla="*/ 126748 h 311048"/>
              <a:gd name="connsiteX4" fmla="*/ 344031 w 2091370"/>
              <a:gd name="connsiteY4" fmla="*/ 99588 h 311048"/>
              <a:gd name="connsiteX5" fmla="*/ 371192 w 2091370"/>
              <a:gd name="connsiteY5" fmla="*/ 90534 h 311048"/>
              <a:gd name="connsiteX6" fmla="*/ 570368 w 2091370"/>
              <a:gd name="connsiteY6" fmla="*/ 117695 h 311048"/>
              <a:gd name="connsiteX7" fmla="*/ 660903 w 2091370"/>
              <a:gd name="connsiteY7" fmla="*/ 135802 h 311048"/>
              <a:gd name="connsiteX8" fmla="*/ 995881 w 2091370"/>
              <a:gd name="connsiteY8" fmla="*/ 135802 h 311048"/>
              <a:gd name="connsiteX9" fmla="*/ 1023041 w 2091370"/>
              <a:gd name="connsiteY9" fmla="*/ 153909 h 311048"/>
              <a:gd name="connsiteX10" fmla="*/ 1068309 w 2091370"/>
              <a:gd name="connsiteY10" fmla="*/ 190122 h 311048"/>
              <a:gd name="connsiteX11" fmla="*/ 1077362 w 2091370"/>
              <a:gd name="connsiteY11" fmla="*/ 226336 h 311048"/>
              <a:gd name="connsiteX12" fmla="*/ 1068309 w 2091370"/>
              <a:gd name="connsiteY12" fmla="*/ 307817 h 311048"/>
              <a:gd name="connsiteX13" fmla="*/ 1095469 w 2091370"/>
              <a:gd name="connsiteY13" fmla="*/ 262550 h 311048"/>
              <a:gd name="connsiteX14" fmla="*/ 1140736 w 2091370"/>
              <a:gd name="connsiteY14" fmla="*/ 208229 h 311048"/>
              <a:gd name="connsiteX15" fmla="*/ 1176950 w 2091370"/>
              <a:gd name="connsiteY15" fmla="*/ 181069 h 311048"/>
              <a:gd name="connsiteX16" fmla="*/ 1204111 w 2091370"/>
              <a:gd name="connsiteY16" fmla="*/ 144855 h 311048"/>
              <a:gd name="connsiteX17" fmla="*/ 1330859 w 2091370"/>
              <a:gd name="connsiteY17" fmla="*/ 117695 h 311048"/>
              <a:gd name="connsiteX18" fmla="*/ 1484768 w 2091370"/>
              <a:gd name="connsiteY18" fmla="*/ 144855 h 311048"/>
              <a:gd name="connsiteX19" fmla="*/ 1629623 w 2091370"/>
              <a:gd name="connsiteY19" fmla="*/ 199176 h 311048"/>
              <a:gd name="connsiteX20" fmla="*/ 1711105 w 2091370"/>
              <a:gd name="connsiteY20" fmla="*/ 208229 h 311048"/>
              <a:gd name="connsiteX21" fmla="*/ 1756372 w 2091370"/>
              <a:gd name="connsiteY21" fmla="*/ 226336 h 311048"/>
              <a:gd name="connsiteX22" fmla="*/ 1937441 w 2091370"/>
              <a:gd name="connsiteY22" fmla="*/ 208229 h 311048"/>
              <a:gd name="connsiteX23" fmla="*/ 1973655 w 2091370"/>
              <a:gd name="connsiteY23" fmla="*/ 181069 h 311048"/>
              <a:gd name="connsiteX24" fmla="*/ 2073243 w 2091370"/>
              <a:gd name="connsiteY24" fmla="*/ 90534 h 311048"/>
              <a:gd name="connsiteX25" fmla="*/ 2091350 w 2091370"/>
              <a:gd name="connsiteY25" fmla="*/ 45267 h 31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091370" h="311048">
                <a:moveTo>
                  <a:pt x="0" y="0"/>
                </a:moveTo>
                <a:cubicBezTo>
                  <a:pt x="42217" y="21108"/>
                  <a:pt x="49213" y="21799"/>
                  <a:pt x="81481" y="45267"/>
                </a:cubicBezTo>
                <a:cubicBezTo>
                  <a:pt x="105887" y="63017"/>
                  <a:pt x="126171" y="87700"/>
                  <a:pt x="153909" y="99588"/>
                </a:cubicBezTo>
                <a:lnTo>
                  <a:pt x="217283" y="126748"/>
                </a:lnTo>
                <a:cubicBezTo>
                  <a:pt x="251902" y="119824"/>
                  <a:pt x="305500" y="110597"/>
                  <a:pt x="344031" y="99588"/>
                </a:cubicBezTo>
                <a:cubicBezTo>
                  <a:pt x="353207" y="96966"/>
                  <a:pt x="362138" y="93552"/>
                  <a:pt x="371192" y="90534"/>
                </a:cubicBezTo>
                <a:cubicBezTo>
                  <a:pt x="682236" y="125095"/>
                  <a:pt x="450234" y="91951"/>
                  <a:pt x="570368" y="117695"/>
                </a:cubicBezTo>
                <a:cubicBezTo>
                  <a:pt x="600461" y="124144"/>
                  <a:pt x="660903" y="135802"/>
                  <a:pt x="660903" y="135802"/>
                </a:cubicBezTo>
                <a:cubicBezTo>
                  <a:pt x="783424" y="129353"/>
                  <a:pt x="873964" y="118385"/>
                  <a:pt x="995881" y="135802"/>
                </a:cubicBezTo>
                <a:cubicBezTo>
                  <a:pt x="1006652" y="137341"/>
                  <a:pt x="1014336" y="147381"/>
                  <a:pt x="1023041" y="153909"/>
                </a:cubicBezTo>
                <a:cubicBezTo>
                  <a:pt x="1038500" y="165503"/>
                  <a:pt x="1053220" y="178051"/>
                  <a:pt x="1068309" y="190122"/>
                </a:cubicBezTo>
                <a:cubicBezTo>
                  <a:pt x="1071327" y="202193"/>
                  <a:pt x="1077362" y="213893"/>
                  <a:pt x="1077362" y="226336"/>
                </a:cubicBezTo>
                <a:cubicBezTo>
                  <a:pt x="1077362" y="253663"/>
                  <a:pt x="1056088" y="283375"/>
                  <a:pt x="1068309" y="307817"/>
                </a:cubicBezTo>
                <a:cubicBezTo>
                  <a:pt x="1076178" y="323556"/>
                  <a:pt x="1086143" y="277472"/>
                  <a:pt x="1095469" y="262550"/>
                </a:cubicBezTo>
                <a:cubicBezTo>
                  <a:pt x="1111586" y="236762"/>
                  <a:pt x="1116581" y="228934"/>
                  <a:pt x="1140736" y="208229"/>
                </a:cubicBezTo>
                <a:cubicBezTo>
                  <a:pt x="1152192" y="198409"/>
                  <a:pt x="1166280" y="191738"/>
                  <a:pt x="1176950" y="181069"/>
                </a:cubicBezTo>
                <a:cubicBezTo>
                  <a:pt x="1187620" y="170399"/>
                  <a:pt x="1191172" y="152618"/>
                  <a:pt x="1204111" y="144855"/>
                </a:cubicBezTo>
                <a:cubicBezTo>
                  <a:pt x="1230329" y="129124"/>
                  <a:pt x="1301754" y="121853"/>
                  <a:pt x="1330859" y="117695"/>
                </a:cubicBezTo>
                <a:cubicBezTo>
                  <a:pt x="1382162" y="126748"/>
                  <a:pt x="1434548" y="131001"/>
                  <a:pt x="1484768" y="144855"/>
                </a:cubicBezTo>
                <a:cubicBezTo>
                  <a:pt x="1558931" y="165314"/>
                  <a:pt x="1569928" y="189992"/>
                  <a:pt x="1629623" y="199176"/>
                </a:cubicBezTo>
                <a:cubicBezTo>
                  <a:pt x="1656633" y="203331"/>
                  <a:pt x="1683944" y="205211"/>
                  <a:pt x="1711105" y="208229"/>
                </a:cubicBezTo>
                <a:cubicBezTo>
                  <a:pt x="1726194" y="214265"/>
                  <a:pt x="1740121" y="226336"/>
                  <a:pt x="1756372" y="226336"/>
                </a:cubicBezTo>
                <a:cubicBezTo>
                  <a:pt x="1817029" y="226336"/>
                  <a:pt x="1878059" y="220600"/>
                  <a:pt x="1937441" y="208229"/>
                </a:cubicBezTo>
                <a:cubicBezTo>
                  <a:pt x="1952213" y="205152"/>
                  <a:pt x="1962490" y="191219"/>
                  <a:pt x="1973655" y="181069"/>
                </a:cubicBezTo>
                <a:cubicBezTo>
                  <a:pt x="2090017" y="75286"/>
                  <a:pt x="1991755" y="151651"/>
                  <a:pt x="2073243" y="90534"/>
                </a:cubicBezTo>
                <a:cubicBezTo>
                  <a:pt x="2092700" y="51621"/>
                  <a:pt x="2091350" y="67816"/>
                  <a:pt x="2091350" y="4526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CFF2-4BF9-FA4C-271B-9B2A2B92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Gap statistic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C9EBDB-93D2-32BB-A63F-522A5745C2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Because the reference dataset is created by generating n (same size as the total number of points in your k blobs) random points, you would expect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𝑟𝑒𝑓𝑒𝑟𝑒𝑛𝑐𝑒</m:t>
                        </m:r>
                      </m:sup>
                    </m:sSub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large</m:t>
                    </m:r>
                  </m:oMath>
                </a14:m>
                <a:r>
                  <a:rPr lang="en-US" b="0" dirty="0"/>
                  <a:t>  </a:t>
                </a:r>
                <a:r>
                  <a:rPr lang="en-US" dirty="0"/>
                  <a:t>(which implies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𝑟𝑒𝑓𝑒𝑟𝑒𝑛𝑐𝑒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en-US" dirty="0"/>
                  <a:t>will also be large)</a:t>
                </a:r>
              </a:p>
              <a:p>
                <a:r>
                  <a:rPr lang="en-US" dirty="0"/>
                  <a:t>If the clusters in your dataset are compact,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𝑦𝑜𝑢𝑟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which is the total within-cluster sum of squares (of all clusters), should be small.  This means if clusters in your dataset are compact,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𝑦𝑜𝑢𝑟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𝑑𝑎𝑡𝑎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small in value. </a:t>
                </a:r>
              </a:p>
              <a:p>
                <a:r>
                  <a:rPr lang="en-US" dirty="0"/>
                  <a:t>Idea:  Find smallest k such that the gap is “wide enough”. 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C9EBDB-93D2-32BB-A63F-522A5745C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04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51AB058-FB6C-48CF-304F-0A37C5B51B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CA" dirty="0"/>
                  <a:t>Understanding the </a:t>
                </a:r>
                <a:r>
                  <a:rPr lang="en-CA" i="1" dirty="0"/>
                  <a:t>E</a:t>
                </a:r>
                <a:r>
                  <a:rPr lang="en-CA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𝑟𝑒𝑓𝑒𝑟𝑒𝑛𝑐𝑒</m:t>
                                </m:r>
                              </m:sup>
                            </m:sSubSup>
                          </m:e>
                        </m:func>
                      </m:e>
                    </m:d>
                  </m:oMath>
                </a14:m>
                <a:r>
                  <a:rPr lang="en-CA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51AB058-FB6C-48CF-304F-0A37C5B51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b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98C619B-6135-2824-5100-97B7A98C7E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Because generating just one instance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𝑟𝑒𝑓𝑒𝑟𝑒𝑛𝑐𝑒</m:t>
                        </m:r>
                      </m:sup>
                    </m:sSubSup>
                  </m:oMath>
                </a14:m>
                <a:r>
                  <a:rPr lang="en-US" dirty="0"/>
                  <a:t>  is not enough to simulate “random data”,  you need to generate B copies of reference datasets.  (B = 10 in the Data Science lab document given to you in class).</a:t>
                </a:r>
              </a:p>
              <a:p>
                <a:r>
                  <a:rPr lang="en-US" dirty="0"/>
                  <a:t>Because there are 10 (value of B for instance) reference datasets, there will be ten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𝑟𝑒𝑓𝑒𝑟𝑒𝑛𝑐𝑒</m:t>
                        </m:r>
                      </m:sup>
                    </m:sSubSup>
                  </m:oMath>
                </a14:m>
                <a:r>
                  <a:rPr lang="en-US" dirty="0"/>
                  <a:t> values [which implies there are ten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𝑟𝑒𝑓𝑒𝑟𝑒𝑛𝑐𝑒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en-US" dirty="0"/>
                  <a:t> values].   If you take the average of these ten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𝑟𝑒𝑓𝑒𝑟𝑒𝑛𝑐𝑒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en-US" dirty="0"/>
                  <a:t> values, this is the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𝑟𝑒𝑓𝑒𝑟𝑒𝑛𝑐𝑒</m:t>
                                </m:r>
                              </m:sup>
                            </m:sSubSup>
                          </m:e>
                        </m:func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98C619B-6135-2824-5100-97B7A98C7E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700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519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06FF-C438-2923-56F9-882924C5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Graphs 4 and 5 of Data Science lab document: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459FBE-3745-8965-2394-D5943EC64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should now understand how to calculate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𝑟𝑒𝑓𝑒𝑟𝑒𝑛𝑐𝑒</m:t>
                                </m:r>
                              </m:sup>
                            </m:sSubSup>
                          </m:e>
                        </m:func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𝑦𝑜𝑢𝑟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𝑑𝑎𝑡𝑎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for each k = 1, 2, 3, ….,9.  You can then plot graph 4 of the Data Science lab document.   You are required to do this as part of your </a:t>
                </a:r>
                <a:r>
                  <a:rPr lang="en-US" b="1" dirty="0"/>
                  <a:t>individual </a:t>
                </a:r>
                <a:r>
                  <a:rPr lang="en-US" dirty="0"/>
                  <a:t>assignment.</a:t>
                </a:r>
              </a:p>
              <a:p>
                <a:r>
                  <a:rPr lang="en-US" dirty="0"/>
                  <a:t>Graph 5 should not be difficult to plot as it plots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𝐺𝑎𝑝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/>
                  <a:t> [which is simply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𝑟𝑒𝑓𝑒𝑟𝑒𝑛𝑐𝑒</m:t>
                                </m:r>
                              </m:sup>
                            </m:sSubSup>
                          </m:e>
                        </m:fun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𝑦𝑜𝑢𝑟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𝑑𝑎𝑡𝑎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] against k (from 1,2,3,..,9).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459FBE-3745-8965-2394-D5943EC64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700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9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09D4E2-EBE5-E862-9624-FD915C13746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Understanding </a:t>
                </a:r>
                <a14:m>
                  <m:oMath xmlns:m="http://schemas.openxmlformats.org/officeDocument/2006/math">
                    <m:r>
                      <a:rPr lang="en-US" i="1"/>
                      <m:t>𝑠𝑑</m:t>
                    </m:r>
                    <m:r>
                      <a:rPr lang="en-US" i="1"/>
                      <m:t>(</m:t>
                    </m:r>
                    <m:r>
                      <a:rPr lang="en-US" i="1"/>
                      <m:t>𝑘</m:t>
                    </m:r>
                    <m:r>
                      <a:rPr lang="en-US" i="1"/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09D4E2-EBE5-E862-9624-FD915C1374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94CFEC-DEB7-0B33-F335-2CC4CA7D1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Because there are ten (value of B) different values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𝑟𝑒𝑓𝑒𝑟𝑒𝑛𝑐𝑒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en-US" dirty="0"/>
                  <a:t> , you can calculate not only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𝑟𝑒𝑓𝑒𝑟𝑒𝑛𝑐𝑒</m:t>
                                </m:r>
                              </m:sup>
                            </m:sSubSup>
                          </m:e>
                        </m:func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/>
                        </m:ctrlPr>
                      </m:accPr>
                      <m:e>
                        <m:r>
                          <a:rPr lang="en-US" i="1"/>
                          <m:t>𝑤</m:t>
                        </m:r>
                      </m:e>
                    </m:acc>
                  </m:oMath>
                </a14:m>
                <a:r>
                  <a:rPr lang="en-US" dirty="0"/>
                  <a:t> which is the average of ten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𝑟𝑒𝑓𝑒𝑟𝑒𝑛𝑐𝑒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en-US" dirty="0"/>
                  <a:t> values but also the standard deviation since there are B (B = 10) iterations.  </a:t>
                </a:r>
              </a:p>
              <a:p>
                <a:r>
                  <a:rPr lang="en-US" dirty="0"/>
                  <a:t>The following expression should be obvious now: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𝐸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func>
                            <m:funcPr>
                              <m:ctrlPr>
                                <a:rPr lang="en-US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/>
                                <m:t>log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i="1"/>
                                  </m:ctrlPr>
                                </m:sSubSupPr>
                                <m:e>
                                  <m:r>
                                    <a:rPr lang="en-US" i="1"/>
                                    <m:t>𝑊</m:t>
                                  </m:r>
                                </m:e>
                                <m:sub>
                                  <m:r>
                                    <a:rPr lang="en-US" i="1"/>
                                    <m:t>𝑘</m:t>
                                  </m:r>
                                </m:sub>
                                <m:sup>
                                  <m:r>
                                    <a:rPr lang="en-US" i="1"/>
                                    <m:t>𝑟𝑒𝑓𝑒𝑟𝑒𝑛𝑐𝑒</m:t>
                                  </m:r>
                                </m:sup>
                              </m:sSubSup>
                            </m:e>
                          </m:func>
                        </m:e>
                      </m:d>
                      <m:r>
                        <a:rPr lang="en-US" i="1"/>
                        <m:t>= 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r>
                            <a:rPr lang="en-US" i="1"/>
                            <m:t>𝐵</m:t>
                          </m:r>
                        </m:den>
                      </m:f>
                      <m:r>
                        <a:rPr lang="en-US" i="1"/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𝑏</m:t>
                          </m:r>
                          <m:r>
                            <a:rPr lang="en-US" i="1"/>
                            <m:t>=1</m:t>
                          </m:r>
                        </m:sub>
                        <m:sup>
                          <m:r>
                            <a:rPr lang="en-US" i="1"/>
                            <m:t>𝐵</m:t>
                          </m:r>
                        </m:sup>
                        <m:e>
                          <m:func>
                            <m:funcPr>
                              <m:ctrlPr>
                                <a:rPr lang="en-US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/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/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/>
                                      </m:ctrlPr>
                                    </m:sSubSupPr>
                                    <m:e>
                                      <m:r>
                                        <a:rPr lang="en-US" i="1"/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i="1"/>
                                        <m:t>𝑟𝑒𝑓𝑒𝑟𝑒𝑛𝑐𝑒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i="1"/>
                                <m:t>=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/>
                                  </m:ctrlPr>
                                </m:accPr>
                                <m:e>
                                  <m:r>
                                    <a:rPr lang="en-US" i="1"/>
                                    <m:t>𝑤</m:t>
                                  </m:r>
                                </m:e>
                              </m:acc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Formula for standard deviation </a:t>
                </a:r>
                <a:r>
                  <a:rPr lang="en-US" dirty="0" err="1"/>
                  <a:t>sd</a:t>
                </a:r>
                <a:r>
                  <a:rPr lang="en-US" dirty="0"/>
                  <a:t>(k):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𝑠𝑑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𝑘</m:t>
                          </m:r>
                        </m:e>
                      </m:d>
                      <m:r>
                        <a:rPr lang="en-US" i="1"/>
                        <m:t>= </m:t>
                      </m:r>
                      <m:rad>
                        <m:radPr>
                          <m:degHide m:val="on"/>
                          <m:ctrlPr>
                            <a:rPr lang="en-US" i="1"/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1</m:t>
                              </m:r>
                            </m:num>
                            <m:den>
                              <m:r>
                                <a:rPr lang="en-US" i="1"/>
                                <m:t>𝐵</m:t>
                              </m:r>
                            </m:den>
                          </m:f>
                          <m:r>
                            <a:rPr lang="en-US" i="1"/>
                            <m:t> 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/>
                              </m:ctrlPr>
                            </m:naryPr>
                            <m:sub>
                              <m:r>
                                <a:rPr lang="en-US" i="1"/>
                                <m:t>𝑏</m:t>
                              </m:r>
                              <m:r>
                                <a:rPr lang="en-US" i="1"/>
                                <m:t>=1</m:t>
                              </m:r>
                            </m:sub>
                            <m:sup>
                              <m:r>
                                <a:rPr lang="en-US" i="1"/>
                                <m:t>𝐵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r>
                                    <a:rPr lang="en-US" i="1"/>
                                    <m:t>(</m:t>
                                  </m:r>
                                  <m:func>
                                    <m:funcPr>
                                      <m:ctrlPr>
                                        <a:rPr lang="en-US" i="1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/>
                                        <m:t>log</m:t>
                                      </m:r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i="1"/>
                                          </m:ctrlPr>
                                        </m:sSubSupPr>
                                        <m:e>
                                          <m:r>
                                            <a:rPr lang="en-US" i="1"/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i="1"/>
                                            <m:t>𝑟𝑒𝑓𝑒𝑟𝑒𝑛𝑐𝑒</m:t>
                                          </m:r>
                                        </m:sup>
                                      </m:sSubSup>
                                      <m:r>
                                        <a:rPr lang="en-US" i="1"/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/>
                                          </m:ctrlPr>
                                        </m:accPr>
                                        <m:e>
                                          <m:r>
                                            <a:rPr lang="en-US" i="1"/>
                                            <m:t>𝑤</m:t>
                                          </m:r>
                                        </m:e>
                                      </m:acc>
                                      <m:r>
                                        <a:rPr lang="en-US" i="1"/>
                                        <m:t>)</m:t>
                                      </m:r>
                                    </m:e>
                                  </m:func>
                                </m:e>
                                <m:sup>
                                  <m:r>
                                    <a:rPr lang="en-US" i="1"/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94CFEC-DEB7-0B33-F335-2CC4CA7D1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70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926F1BB-3B76-BB9F-D025-73281E5D23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Understanding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relationship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between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926F1BB-3B76-BB9F-D025-73281E5D23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903" b="-2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2E260D-412F-539B-E921-847B43AA26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Since you use B iterations (B = 10) instead of a very large B value, we need to adjust the standard deviation:</a:t>
                </a:r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𝑠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r>
                      <a:rPr lang="en-US" i="1"/>
                      <m:t>= </m:t>
                    </m:r>
                    <m:rad>
                      <m:radPr>
                        <m:degHide m:val="on"/>
                        <m:ctrlPr>
                          <a:rPr lang="en-US" i="1"/>
                        </m:ctrlPr>
                      </m:radPr>
                      <m:deg/>
                      <m:e>
                        <m:r>
                          <a:rPr lang="en-US" i="1"/>
                          <m:t>1+ 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1</m:t>
                            </m:r>
                          </m:num>
                          <m:den>
                            <m:r>
                              <a:rPr lang="en-US" i="1"/>
                              <m:t>𝐵</m:t>
                            </m:r>
                          </m:den>
                        </m:f>
                        <m:r>
                          <a:rPr lang="en-US" i="1"/>
                          <m:t> </m:t>
                        </m:r>
                      </m:e>
                    </m:rad>
                    <m:r>
                      <a:rPr lang="en-US" i="1"/>
                      <m:t>   </m:t>
                    </m:r>
                    <m:r>
                      <a:rPr lang="en-US" i="1"/>
                      <m:t>𝑠𝑑</m:t>
                    </m:r>
                    <m:r>
                      <a:rPr lang="en-US" i="1"/>
                      <m:t>(</m:t>
                    </m:r>
                    <m:r>
                      <a:rPr lang="en-US" i="1"/>
                      <m:t>𝑘</m:t>
                    </m:r>
                    <m:r>
                      <a:rPr lang="en-US" i="1"/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You can see that as B </a:t>
                </a:r>
                <a:r>
                  <a:rPr lang="en-US" b="1" dirty="0"/>
                  <a:t>→ </a:t>
                </a:r>
                <a:r>
                  <a:rPr lang="en-US" dirty="0"/>
                  <a:t>∞,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converges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which makes sense. </a:t>
                </a:r>
              </a:p>
              <a:p>
                <a:r>
                  <a:rPr lang="en-US" dirty="0"/>
                  <a:t>To find optimal k, choose the smallest k such that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𝐺𝑎𝑝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𝑘</m:t>
                          </m:r>
                        </m:e>
                      </m:d>
                      <m:r>
                        <a:rPr lang="en-US" i="1"/>
                        <m:t> ≥</m:t>
                      </m:r>
                      <m:r>
                        <a:rPr lang="en-US" i="1"/>
                        <m:t>𝐺𝑎𝑝</m:t>
                      </m:r>
                      <m:r>
                        <a:rPr lang="en-US" i="1"/>
                        <m:t> 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𝑘</m:t>
                          </m:r>
                          <m:r>
                            <a:rPr lang="en-US" i="1"/>
                            <m:t>+1</m:t>
                          </m:r>
                        </m:e>
                      </m:d>
                      <m:r>
                        <a:rPr lang="en-US" i="1"/>
                        <m:t>− 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𝑠</m:t>
                          </m:r>
                        </m:e>
                        <m:sub>
                          <m:r>
                            <a:rPr lang="en-US" i="1"/>
                            <m:t>𝑘</m:t>
                          </m:r>
                          <m:r>
                            <a:rPr lang="en-US" i="1"/>
                            <m:t>+1</m:t>
                          </m:r>
                        </m:sub>
                      </m:sSub>
                      <m:r>
                        <a:rPr lang="en-US" i="1"/>
                        <m:t>  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                                    </a:t>
                </a:r>
                <a:r>
                  <a:rPr lang="en-US" sz="2000" dirty="0"/>
                  <a:t>important expression to include in your cheat sheet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2E260D-412F-539B-E921-847B43AA26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670136-28EF-FD4F-ABC2-32CD71276BBE}"/>
              </a:ext>
            </a:extLst>
          </p:cNvPr>
          <p:cNvCxnSpPr/>
          <p:nvPr/>
        </p:nvCxnSpPr>
        <p:spPr>
          <a:xfrm flipH="1" flipV="1">
            <a:off x="8338242" y="5359651"/>
            <a:ext cx="280657" cy="1991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81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6A41-FED2-62E4-0B3A-A4E5500E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Graph 6 in Data Science lab document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3E9ED-40CA-4143-1CD6-9464B0C9C6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𝐺𝑎𝑝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𝐺𝑎𝑝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is equivalent to 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/>
                      <m:t>𝐺𝑎𝑝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𝑘</m:t>
                        </m:r>
                      </m:e>
                    </m:d>
                    <m:r>
                      <a:rPr lang="en-US" i="1"/>
                      <m:t>− </m:t>
                    </m:r>
                    <m:r>
                      <a:rPr lang="en-US" i="1"/>
                      <m:t>𝐺𝑎𝑝</m:t>
                    </m:r>
                    <m:r>
                      <a:rPr lang="en-US" i="1"/>
                      <m:t> 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𝑘</m:t>
                        </m:r>
                        <m:r>
                          <a:rPr lang="en-US" i="1"/>
                          <m:t>+1</m:t>
                        </m:r>
                      </m:e>
                    </m:d>
                    <m:r>
                      <a:rPr lang="en-US" i="1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𝑠</m:t>
                        </m:r>
                      </m:e>
                      <m:sub>
                        <m:r>
                          <a:rPr lang="en-US" i="1"/>
                          <m:t>𝑘</m:t>
                        </m:r>
                        <m:r>
                          <a:rPr lang="en-US" i="1"/>
                          <m:t>+1</m:t>
                        </m:r>
                      </m:sub>
                    </m:sSub>
                    <m:r>
                      <a:rPr lang="en-US" i="1"/>
                      <m:t> ≥0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last expression is the basis for Graph 6. Can you see now that it is much easier to identify optimal k using Graph 6?   [In graph 6, k =3 is the </a:t>
                </a:r>
                <a:r>
                  <a:rPr lang="en-US" b="1" dirty="0"/>
                  <a:t>smallest</a:t>
                </a:r>
                <a:r>
                  <a:rPr lang="en-US" dirty="0"/>
                  <a:t> k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𝐺𝑎𝑝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𝐺𝑎𝑝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≥0</m:t>
                    </m:r>
                  </m:oMath>
                </a14:m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3E9ED-40CA-4143-1CD6-9464B0C9C6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823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9C7F9-97AE-E12A-8009-DF3D57B53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paper and part of your project work: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BBD87-7011-B8BD-66B3-C9955018E9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In the original paper on gap statistics,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𝑦𝑜𝑢𝑟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p>
                    </m:sSubSup>
                  </m:oMath>
                </a14:m>
                <a:r>
                  <a:rPr lang="en-US" dirty="0"/>
                  <a:t> is calculated using an alternative approach: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⋴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(equation 1 of original paper)</a:t>
                </a:r>
              </a:p>
              <a:p>
                <a:pPr marL="0" indent="0">
                  <a:buNone/>
                </a:pPr>
                <a:r>
                  <a:rPr lang="en-US" dirty="0"/>
                  <a:t>This is the sum of pairwise distances for all points in cluster 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⋴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(equation 1 of original paper).   This is the sum of pairwise distances for all points in cluster r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𝑊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r>
                      <a:rPr lang="en-US" i="1"/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𝑟</m:t>
                        </m:r>
                        <m:r>
                          <a:rPr lang="en-US" i="1"/>
                          <m:t>=1</m:t>
                        </m:r>
                      </m:sub>
                      <m:sup>
                        <m:r>
                          <a:rPr lang="en-US" i="1"/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1</m:t>
                            </m:r>
                          </m:num>
                          <m:den>
                            <m:r>
                              <a:rPr lang="en-US" i="1"/>
                              <m:t>2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  <m:sub>
                                <m:r>
                                  <a:rPr lang="en-US" i="1"/>
                                  <m:t>𝑟</m:t>
                                </m:r>
                              </m:sub>
                            </m:sSub>
                          </m:den>
                        </m:f>
                        <m:r>
                          <a:rPr lang="en-US" i="1"/>
                          <m:t>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𝐷</m:t>
                            </m:r>
                          </m:e>
                          <m:sub>
                            <m:r>
                              <a:rPr lang="en-US" i="1"/>
                              <m:t>𝑟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(equation 2 of original paper)</a:t>
                </a:r>
              </a:p>
              <a:p>
                <a:pPr marL="0" indent="0">
                  <a:buNone/>
                </a:pPr>
                <a:r>
                  <a:rPr lang="en-US" dirty="0"/>
                  <a:t>(All team members are expected to spend time to understand this approach to 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𝑊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as part of your project).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BBD87-7011-B8BD-66B3-C9955018E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381" b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93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735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DANA 4840</vt:lpstr>
      <vt:lpstr>Gap statistic</vt:lpstr>
      <vt:lpstr>Gap statistic</vt:lpstr>
      <vt:lpstr>Understanding the E in E(log⁡〖W_k^reference 〗 ) </vt:lpstr>
      <vt:lpstr>Understanding Graphs 4 and 5 of Data Science lab document:</vt:lpstr>
      <vt:lpstr>Understanding sd(k)</vt:lpstr>
      <vt:lpstr>Understanding relationship between sd(k) and s_k</vt:lpstr>
      <vt:lpstr>Understanding Graph 6 in Data Science lab document</vt:lpstr>
      <vt:lpstr>Original paper and part of your project work: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Yew-Wei Lim</dc:creator>
  <cp:lastModifiedBy>Yew-Wei Lim</cp:lastModifiedBy>
  <cp:revision>30</cp:revision>
  <cp:lastPrinted>2025-09-16T20:04:00Z</cp:lastPrinted>
  <dcterms:created xsi:type="dcterms:W3CDTF">2025-08-31T18:59:20Z</dcterms:created>
  <dcterms:modified xsi:type="dcterms:W3CDTF">2025-10-01T03:59:52Z</dcterms:modified>
</cp:coreProperties>
</file>