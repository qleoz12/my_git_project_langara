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1" r:id="rId3"/>
    <p:sldId id="311" r:id="rId4"/>
    <p:sldId id="328" r:id="rId5"/>
    <p:sldId id="329" r:id="rId6"/>
    <p:sldId id="324" r:id="rId7"/>
    <p:sldId id="312" r:id="rId8"/>
    <p:sldId id="325" r:id="rId9"/>
    <p:sldId id="326" r:id="rId10"/>
    <p:sldId id="32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83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768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655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206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58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266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671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77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935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167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22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80508-5317-4CB0-8BF0-F24B753CAFCF}" type="datetimeFigureOut">
              <a:rPr lang="en-CA" smtClean="0"/>
              <a:t>2023-06-29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0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67691" y="782729"/>
            <a:ext cx="9144000" cy="2387600"/>
          </a:xfrm>
        </p:spPr>
        <p:txBody>
          <a:bodyPr>
            <a:normAutofit/>
          </a:bodyPr>
          <a:lstStyle/>
          <a:p>
            <a:r>
              <a:rPr lang="en-CA" sz="54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Choosing the best clustering Algorithm</a:t>
            </a:r>
            <a:endParaRPr lang="en-CA" sz="54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966" y="5784307"/>
            <a:ext cx="4302034" cy="10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01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Choosing the Best Clustering Algorithms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CA" b="1" dirty="0" smtClean="0">
                <a:latin typeface="Arial" panose="020B0604020202020204" pitchFamily="34" charset="0"/>
                <a:cs typeface="Arial" panose="020B0604020202020204" pitchFamily="34" charset="0"/>
              </a:rPr>
              <a:t>Choosing the best clustering methods 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 for a give data is a hard task.</a:t>
            </a:r>
          </a:p>
          <a:p>
            <a:pPr>
              <a:lnSpc>
                <a:spcPct val="170000"/>
              </a:lnSpc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There exists packages in R that can be used to compare simultaneously multiple clustering algorithms.</a:t>
            </a:r>
          </a:p>
          <a:p>
            <a:pPr>
              <a:lnSpc>
                <a:spcPct val="170000"/>
              </a:lnSpc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CA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clValid</a:t>
            </a: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 package in R contains functions which uses a single call to identify the best clustering approach and the optimal number of clusters.</a:t>
            </a: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0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for comparing clustering algorithm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Internal measures, uses intrinsic information in the data to assess the quality of the clustering.</a:t>
            </a:r>
          </a:p>
          <a:p>
            <a:pPr>
              <a:lnSpc>
                <a:spcPct val="170000"/>
              </a:lnSpc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Internal measures include the connectivity, the silhouette coefficient and the Dunn index.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679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for comparing clustering algorithm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Briefly, </a:t>
            </a: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 indicates the degree of </a:t>
            </a: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connectedness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 of the clusters, as determined by k-nearest neighbors. Connectedness corresponds to what extent items are placed in the same cluster as their nearest neighbors in the data space. The </a:t>
            </a: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connectivity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 has a value between 0 and infinity and should be </a:t>
            </a:r>
            <a:r>
              <a:rPr lang="en-CA" sz="2400" b="1" dirty="0">
                <a:latin typeface="Arial" panose="020B0604020202020204" pitchFamily="34" charset="0"/>
                <a:cs typeface="Arial" panose="020B0604020202020204" pitchFamily="34" charset="0"/>
              </a:rPr>
              <a:t>minimized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392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for comparing clustering algorithm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Silhouette width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 and </a:t>
            </a: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Dunn index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 combine measures of compactness and separation of the clusters. Recall that the values of </a:t>
            </a: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silhouette width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 range from -1 (poorly clustered observations) to 1 (well clustered observations). </a:t>
            </a:r>
            <a:endParaRPr lang="en-CA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CA" dirty="0" smtClean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CA" b="1" dirty="0">
                <a:latin typeface="Arial" panose="020B0604020202020204" pitchFamily="34" charset="0"/>
                <a:cs typeface="Arial" panose="020B0604020202020204" pitchFamily="34" charset="0"/>
              </a:rPr>
              <a:t>Dunn index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 is the ratio between the smallest distance between observations not in the same cluster to the largest intra-cluster distance. It has a value between 0 and infinity and should be maximized.</a:t>
            </a:r>
          </a:p>
          <a:p>
            <a:pPr marL="0" indent="0">
              <a:lnSpc>
                <a:spcPct val="170000"/>
              </a:lnSpc>
              <a:buNone/>
            </a:pP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24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 smtClean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for comparing clustering algorithm</a:t>
            </a:r>
            <a:endParaRPr lang="en-CA" sz="40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Stability measures, a special version of internal measures which evaluates the consistency of the clustering result by comparing it with the clusters obtained after each column is removed, one at a time.</a:t>
            </a:r>
            <a:endParaRPr lang="en-CA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87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for comparing clustering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Cluster stability measures include:</a:t>
            </a:r>
          </a:p>
          <a:p>
            <a:pPr>
              <a:lnSpc>
                <a:spcPct val="150000"/>
              </a:lnSpc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average proportion of non-overlap (APN)</a:t>
            </a:r>
          </a:p>
          <a:p>
            <a:pPr>
              <a:lnSpc>
                <a:spcPct val="150000"/>
              </a:lnSpc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average distance (AD)</a:t>
            </a:r>
          </a:p>
          <a:p>
            <a:pPr>
              <a:lnSpc>
                <a:spcPct val="150000"/>
              </a:lnSpc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average distance  between mean (ADM)</a:t>
            </a:r>
          </a:p>
          <a:p>
            <a:pPr>
              <a:lnSpc>
                <a:spcPct val="150000"/>
              </a:lnSpc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figure of merit (FOM)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for comparing clustering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APN, AD, and ADM are all based on the cross-classification table of the original clustering on the full data with the clustering based on the removal of one column.</a:t>
            </a:r>
          </a:p>
          <a:p>
            <a:pPr>
              <a:lnSpc>
                <a:spcPct val="150000"/>
              </a:lnSpc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 APN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measures the average proportion of observations not places in the same cluster by clustering based on the full data and clustering based on the data with a single column removed.</a:t>
            </a:r>
          </a:p>
          <a:p>
            <a:pPr>
              <a:lnSpc>
                <a:spcPct val="150000"/>
              </a:lnSpc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 AD measures the average distance between observations placed in the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same cluster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under both cases (full data set and removal of one column).</a:t>
            </a:r>
            <a:endParaRPr lang="en-CA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493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for comparing clustering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 ADM measures the average distance between cluster centers for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observations placed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in the same cluster under both cases.</a:t>
            </a:r>
          </a:p>
          <a:p>
            <a:pPr>
              <a:lnSpc>
                <a:spcPct val="150000"/>
              </a:lnSpc>
            </a:pP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FOM measures the average intra-cluster variance of the deleted </a:t>
            </a:r>
            <a:r>
              <a:rPr lang="en-CA" sz="2400" dirty="0" smtClean="0">
                <a:latin typeface="Arial" panose="020B0604020202020204" pitchFamily="34" charset="0"/>
                <a:cs typeface="Arial" panose="020B0604020202020204" pitchFamily="34" charset="0"/>
              </a:rPr>
              <a:t>column, where </a:t>
            </a:r>
            <a:r>
              <a:rPr lang="en-CA" sz="2400" dirty="0">
                <a:latin typeface="Arial" panose="020B0604020202020204" pitchFamily="34" charset="0"/>
                <a:cs typeface="Arial" panose="020B0604020202020204" pitchFamily="34" charset="0"/>
              </a:rPr>
              <a:t>the clustering is based on the remaining (undeleted) columns</a:t>
            </a:r>
            <a:r>
              <a:rPr lang="en-CA" dirty="0"/>
              <a:t>.</a:t>
            </a:r>
            <a:endParaRPr lang="en-CA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49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for comparing clustering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en-CA" sz="2600" dirty="0">
                <a:latin typeface="Arial" panose="020B0604020202020204" pitchFamily="34" charset="0"/>
                <a:cs typeface="Arial" panose="020B0604020202020204" pitchFamily="34" charset="0"/>
              </a:rPr>
              <a:t>The values of APN, ADM and FOM ranges from 0 to 1, with smaller value </a:t>
            </a:r>
            <a:r>
              <a:rPr lang="en-CA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corresponding with </a:t>
            </a:r>
            <a:r>
              <a:rPr lang="en-CA" sz="2600" dirty="0">
                <a:latin typeface="Arial" panose="020B0604020202020204" pitchFamily="34" charset="0"/>
                <a:cs typeface="Arial" panose="020B0604020202020204" pitchFamily="34" charset="0"/>
              </a:rPr>
              <a:t>highly consistent clustering results. AD has a value between 0 </a:t>
            </a:r>
            <a:r>
              <a:rPr lang="en-CA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and infinity</a:t>
            </a:r>
            <a:r>
              <a:rPr lang="en-CA" sz="2600" dirty="0">
                <a:latin typeface="Arial" panose="020B0604020202020204" pitchFamily="34" charset="0"/>
                <a:cs typeface="Arial" panose="020B0604020202020204" pitchFamily="34" charset="0"/>
              </a:rPr>
              <a:t>, and smaller values are also preferred</a:t>
            </a:r>
            <a:r>
              <a:rPr lang="en-CA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CA" sz="2600" dirty="0">
                <a:latin typeface="Arial" panose="020B0604020202020204" pitchFamily="34" charset="0"/>
                <a:cs typeface="Arial" panose="020B0604020202020204" pitchFamily="34" charset="0"/>
              </a:rPr>
              <a:t>Note that, the</a:t>
            </a:r>
            <a:r>
              <a:rPr lang="en-CA" sz="2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clValid</a:t>
            </a:r>
            <a:r>
              <a:rPr lang="en-CA" sz="26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sz="2600" dirty="0">
                <a:latin typeface="Arial" panose="020B0604020202020204" pitchFamily="34" charset="0"/>
                <a:cs typeface="Arial" panose="020B0604020202020204" pitchFamily="34" charset="0"/>
              </a:rPr>
              <a:t>package provides also biological validation measures, </a:t>
            </a:r>
            <a:r>
              <a:rPr lang="en-CA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which evaluates </a:t>
            </a:r>
            <a:r>
              <a:rPr lang="en-CA" sz="2600" dirty="0">
                <a:latin typeface="Arial" panose="020B0604020202020204" pitchFamily="34" charset="0"/>
                <a:cs typeface="Arial" panose="020B0604020202020204" pitchFamily="34" charset="0"/>
              </a:rPr>
              <a:t>the ability of a clustering algorithm to produce biologically meaningful clusters.</a:t>
            </a:r>
          </a:p>
          <a:p>
            <a:pPr>
              <a:lnSpc>
                <a:spcPct val="150000"/>
              </a:lnSpc>
            </a:pPr>
            <a:r>
              <a:rPr lang="en-CA" sz="2600" dirty="0">
                <a:latin typeface="Arial" panose="020B0604020202020204" pitchFamily="34" charset="0"/>
                <a:cs typeface="Arial" panose="020B0604020202020204" pitchFamily="34" charset="0"/>
              </a:rPr>
              <a:t>An application is microarray or </a:t>
            </a:r>
            <a:r>
              <a:rPr lang="en-CA" sz="2600" dirty="0" err="1">
                <a:latin typeface="Arial" panose="020B0604020202020204" pitchFamily="34" charset="0"/>
                <a:cs typeface="Arial" panose="020B0604020202020204" pitchFamily="34" charset="0"/>
              </a:rPr>
              <a:t>RNAseq</a:t>
            </a:r>
            <a:r>
              <a:rPr lang="en-CA" sz="2600" dirty="0">
                <a:latin typeface="Arial" panose="020B0604020202020204" pitchFamily="34" charset="0"/>
                <a:cs typeface="Arial" panose="020B0604020202020204" pitchFamily="34" charset="0"/>
              </a:rPr>
              <a:t> data where observations </a:t>
            </a:r>
            <a:r>
              <a:rPr lang="en-CA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corresponds to </a:t>
            </a:r>
            <a:r>
              <a:rPr lang="en-CA" sz="2600" dirty="0">
                <a:latin typeface="Arial" panose="020B0604020202020204" pitchFamily="34" charset="0"/>
                <a:cs typeface="Arial" panose="020B0604020202020204" pitchFamily="34" charset="0"/>
              </a:rPr>
              <a:t>genes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CA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76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9422</TotalTime>
  <Words>562</Words>
  <Application>Microsoft Office PowerPoint</Application>
  <PresentationFormat>Widescreen</PresentationFormat>
  <Paragraphs>32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Choosing the best clustering Algorithm</vt:lpstr>
      <vt:lpstr>Choosing the Best Clustering Algorithms</vt:lpstr>
      <vt:lpstr>Measures for comparing clustering algorithm</vt:lpstr>
      <vt:lpstr>Measures for comparing clustering algorithm</vt:lpstr>
      <vt:lpstr>Measures for comparing clustering algorithm</vt:lpstr>
      <vt:lpstr>Measures for comparing clustering algorithm</vt:lpstr>
      <vt:lpstr>Measures for comparing clustering algorithm</vt:lpstr>
      <vt:lpstr>Measures for comparing clustering algorithm</vt:lpstr>
      <vt:lpstr>Measures for comparing clustering algorithm</vt:lpstr>
      <vt:lpstr>Measures for comparing clustering algorithm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Announcements!!!!</dc:title>
  <dc:creator>jagyeman</dc:creator>
  <cp:lastModifiedBy>Yew-Wei Lim</cp:lastModifiedBy>
  <cp:revision>75</cp:revision>
  <dcterms:created xsi:type="dcterms:W3CDTF">2022-09-11T21:24:29Z</dcterms:created>
  <dcterms:modified xsi:type="dcterms:W3CDTF">2023-06-29T19:25:07Z</dcterms:modified>
</cp:coreProperties>
</file>