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77" r:id="rId4"/>
    <p:sldId id="274" r:id="rId5"/>
    <p:sldId id="278" r:id="rId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C4ADD-9090-60BA-96B8-A412B21A1D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67D1C1-1BBF-7255-DB1F-8D04B71350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8C33FD-6560-2D20-0AB0-244EC85EB801}"/>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5" name="Footer Placeholder 4">
            <a:extLst>
              <a:ext uri="{FF2B5EF4-FFF2-40B4-BE49-F238E27FC236}">
                <a16:creationId xmlns:a16="http://schemas.microsoft.com/office/drawing/2014/main" id="{EF381B98-2BD6-7FED-6607-5F67AD2B14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14245-EA64-A824-D791-9F6A34018A85}"/>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4185856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44987-D91E-E747-8448-3E1B72FF6D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4ACEB8-BDD9-12BA-72A1-5917E3DC5E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9CB00E-B236-D878-971A-37D47F3432A9}"/>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5" name="Footer Placeholder 4">
            <a:extLst>
              <a:ext uri="{FF2B5EF4-FFF2-40B4-BE49-F238E27FC236}">
                <a16:creationId xmlns:a16="http://schemas.microsoft.com/office/drawing/2014/main" id="{19BE0E9A-2B55-84A1-CDA7-F1D75DF20E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127AB3-3E68-862F-4001-FC1E69003B7C}"/>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1648649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B96E0-6F0E-5CD0-FF3A-6C37D0D7FC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C81E52-9962-6990-E97C-516B7DF551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1F9010-91FC-387E-387F-5077AD0C68BE}"/>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5" name="Footer Placeholder 4">
            <a:extLst>
              <a:ext uri="{FF2B5EF4-FFF2-40B4-BE49-F238E27FC236}">
                <a16:creationId xmlns:a16="http://schemas.microsoft.com/office/drawing/2014/main" id="{0B5405D0-3C8E-1306-BE60-699AAAAC5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346FB9-1DE1-825A-B56C-A4EA5DE358D4}"/>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3336266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73E5C-DE36-2129-1514-A60596513B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CEC802-D4A2-0032-A948-31A659643D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010F45-B9BA-EA3B-0196-552F1B59C3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E9696E-138F-639F-C285-5F68A1FB7B32}"/>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6" name="Footer Placeholder 5">
            <a:extLst>
              <a:ext uri="{FF2B5EF4-FFF2-40B4-BE49-F238E27FC236}">
                <a16:creationId xmlns:a16="http://schemas.microsoft.com/office/drawing/2014/main" id="{065A251A-CAAE-D370-ED67-871A746509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821D36-EBAF-9CA2-DEBD-9467605823EE}"/>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627696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A5244-C79C-533F-8BD7-CB6F823183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FEDE2C-F0A6-CC70-1F74-C33A749AD2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A0F0C3-466E-668E-73A7-24D8F8EEF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1009EC-6F60-3C4F-7FFC-EE93AEDC21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CC73FB-7797-7546-C094-635F2C8EB9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CF3982-6118-A403-A19B-F53E36938090}"/>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8" name="Footer Placeholder 7">
            <a:extLst>
              <a:ext uri="{FF2B5EF4-FFF2-40B4-BE49-F238E27FC236}">
                <a16:creationId xmlns:a16="http://schemas.microsoft.com/office/drawing/2014/main" id="{2FE18FF4-6CFF-4AE4-E151-C25669E200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C7255D-C774-BE19-9A13-F4E7B07BB2F0}"/>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320565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42D4E-A1CF-CFEA-5C35-5AA995982F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8B2B73-0330-5398-C5A8-CBB3B4EC4332}"/>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4" name="Footer Placeholder 3">
            <a:extLst>
              <a:ext uri="{FF2B5EF4-FFF2-40B4-BE49-F238E27FC236}">
                <a16:creationId xmlns:a16="http://schemas.microsoft.com/office/drawing/2014/main" id="{0A0FC741-0256-B4A3-A44E-192468BB11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FE38FF-E5E0-457A-7F63-6787C8C8E6A2}"/>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1764657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E75D81-570F-BA0A-EA7C-CE2C8CD9CBF2}"/>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3" name="Footer Placeholder 2">
            <a:extLst>
              <a:ext uri="{FF2B5EF4-FFF2-40B4-BE49-F238E27FC236}">
                <a16:creationId xmlns:a16="http://schemas.microsoft.com/office/drawing/2014/main" id="{8F9AAB19-8090-2B0E-D2F2-ECC1F69767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B3087A-A5EE-98FE-8FA0-9A8C956B019D}"/>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4165564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3B78-8A4F-6AEA-0B23-56D8079D6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EE3792-260D-5479-4226-C56BF1232E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DC5376-C0F1-D663-EDBC-2C9426616F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7D6F26-1DD9-91CF-D09F-4F39B52CCCC7}"/>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6" name="Footer Placeholder 5">
            <a:extLst>
              <a:ext uri="{FF2B5EF4-FFF2-40B4-BE49-F238E27FC236}">
                <a16:creationId xmlns:a16="http://schemas.microsoft.com/office/drawing/2014/main" id="{D6494565-85A8-4DCF-27A0-AD2DBEAA7E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752FD0-CAF7-83F1-FC80-A5A45EA1FC0A}"/>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1160101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620A1-2D90-B2D4-275C-6FD5965489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C84FFA-4960-92EC-EA1D-016233B4FA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E91601-DAC6-F9C7-D732-726BCD93D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1C4BD6-090C-7F0E-D575-CAFBD73D6295}"/>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6" name="Footer Placeholder 5">
            <a:extLst>
              <a:ext uri="{FF2B5EF4-FFF2-40B4-BE49-F238E27FC236}">
                <a16:creationId xmlns:a16="http://schemas.microsoft.com/office/drawing/2014/main" id="{47ECC1EC-DB79-DACF-F2ED-14D7ADE4F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9D661C-80F4-A05E-D8AC-16FC660202FA}"/>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3610687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F5811-68C2-1B4E-6E30-F9ED6A9F8A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78B0A0-CE66-E863-F980-0BECBC8B7D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EBBB67-48FC-904B-147F-B13920D591E6}"/>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5" name="Footer Placeholder 4">
            <a:extLst>
              <a:ext uri="{FF2B5EF4-FFF2-40B4-BE49-F238E27FC236}">
                <a16:creationId xmlns:a16="http://schemas.microsoft.com/office/drawing/2014/main" id="{B758FDFF-40C2-FC1D-B242-DAF421B1E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0EA6E-7907-E3BB-F684-416873475FC6}"/>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3176558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532EFA-9EDE-628F-B6E0-C4B5B0B7F6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15BCDB-CC0C-FF0C-BB8F-901E905BC6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6F464-963F-7B6E-9A5B-546B8AAB977E}"/>
              </a:ext>
            </a:extLst>
          </p:cNvPr>
          <p:cNvSpPr>
            <a:spLocks noGrp="1"/>
          </p:cNvSpPr>
          <p:nvPr>
            <p:ph type="dt" sz="half" idx="10"/>
          </p:nvPr>
        </p:nvSpPr>
        <p:spPr/>
        <p:txBody>
          <a:bodyPr/>
          <a:lstStyle/>
          <a:p>
            <a:fld id="{FD095DA4-6D81-44BE-B2E1-2D492887A84C}" type="datetimeFigureOut">
              <a:rPr lang="en-US" smtClean="0"/>
              <a:t>10/26/2025</a:t>
            </a:fld>
            <a:endParaRPr lang="en-US"/>
          </a:p>
        </p:txBody>
      </p:sp>
      <p:sp>
        <p:nvSpPr>
          <p:cNvPr id="5" name="Footer Placeholder 4">
            <a:extLst>
              <a:ext uri="{FF2B5EF4-FFF2-40B4-BE49-F238E27FC236}">
                <a16:creationId xmlns:a16="http://schemas.microsoft.com/office/drawing/2014/main" id="{8257FD8B-CDB7-9541-4F79-5267577FCE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4B8165-8273-1128-ADF4-DB1359C1F49B}"/>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1553884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EE9FE3-2E4B-3B20-C561-ABC469F7B3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BBFD7F-ADCF-D6C5-4A36-0EBD26BD68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6586C4-2146-D9A5-588F-0EC77FA117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095DA4-6D81-44BE-B2E1-2D492887A84C}" type="datetimeFigureOut">
              <a:rPr lang="en-US" smtClean="0"/>
              <a:t>10/26/2025</a:t>
            </a:fld>
            <a:endParaRPr lang="en-US"/>
          </a:p>
        </p:txBody>
      </p:sp>
      <p:sp>
        <p:nvSpPr>
          <p:cNvPr id="5" name="Footer Placeholder 4">
            <a:extLst>
              <a:ext uri="{FF2B5EF4-FFF2-40B4-BE49-F238E27FC236}">
                <a16:creationId xmlns:a16="http://schemas.microsoft.com/office/drawing/2014/main" id="{FF8C9FA4-9AC4-630D-E2CA-136D8C042C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E8D66E-E538-7769-6E8D-53FF2A5B26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72800F-5341-410B-92EF-F0507DD1BCB1}" type="slidenum">
              <a:rPr lang="en-US" smtClean="0"/>
              <a:t>‹#›</a:t>
            </a:fld>
            <a:endParaRPr lang="en-US"/>
          </a:p>
        </p:txBody>
      </p:sp>
    </p:spTree>
    <p:extLst>
      <p:ext uri="{BB962C8B-B14F-4D97-AF65-F5344CB8AC3E}">
        <p14:creationId xmlns:p14="http://schemas.microsoft.com/office/powerpoint/2010/main" val="1207621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0B029-0052-6410-09DC-CC9318460A1A}"/>
              </a:ext>
            </a:extLst>
          </p:cNvPr>
          <p:cNvSpPr>
            <a:spLocks noGrp="1"/>
          </p:cNvSpPr>
          <p:nvPr>
            <p:ph type="ctrTitle"/>
          </p:nvPr>
        </p:nvSpPr>
        <p:spPr/>
        <p:txBody>
          <a:bodyPr/>
          <a:lstStyle/>
          <a:p>
            <a:r>
              <a:rPr lang="en-CA" dirty="0"/>
              <a:t>DANA 4840</a:t>
            </a:r>
            <a:endParaRPr lang="en-US" dirty="0"/>
          </a:p>
        </p:txBody>
      </p:sp>
      <p:sp>
        <p:nvSpPr>
          <p:cNvPr id="3" name="Subtitle 2">
            <a:extLst>
              <a:ext uri="{FF2B5EF4-FFF2-40B4-BE49-F238E27FC236}">
                <a16:creationId xmlns:a16="http://schemas.microsoft.com/office/drawing/2014/main" id="{AD1C28D5-50C5-24DB-9611-CA985D84733F}"/>
              </a:ext>
            </a:extLst>
          </p:cNvPr>
          <p:cNvSpPr>
            <a:spLocks noGrp="1"/>
          </p:cNvSpPr>
          <p:nvPr>
            <p:ph type="subTitle" idx="1"/>
          </p:nvPr>
        </p:nvSpPr>
        <p:spPr/>
        <p:txBody>
          <a:bodyPr/>
          <a:lstStyle/>
          <a:p>
            <a:r>
              <a:rPr lang="en-CA" dirty="0"/>
              <a:t>Classification II</a:t>
            </a:r>
          </a:p>
          <a:p>
            <a:r>
              <a:rPr lang="en-CA" dirty="0"/>
              <a:t>Part III Hierarchical Clustering</a:t>
            </a:r>
          </a:p>
          <a:p>
            <a:r>
              <a:rPr lang="en-CA" dirty="0"/>
              <a:t>Part 2 – Verifying cluster tree</a:t>
            </a:r>
            <a:endParaRPr lang="en-US" dirty="0"/>
          </a:p>
        </p:txBody>
      </p:sp>
    </p:spTree>
    <p:extLst>
      <p:ext uri="{BB962C8B-B14F-4D97-AF65-F5344CB8AC3E}">
        <p14:creationId xmlns:p14="http://schemas.microsoft.com/office/powerpoint/2010/main" val="321347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4A757-854E-64A5-E36B-7468B33C4E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DB4B2-08E9-E65B-A01A-22A32FB1928F}"/>
              </a:ext>
            </a:extLst>
          </p:cNvPr>
          <p:cNvSpPr>
            <a:spLocks noGrp="1"/>
          </p:cNvSpPr>
          <p:nvPr>
            <p:ph type="title"/>
          </p:nvPr>
        </p:nvSpPr>
        <p:spPr/>
        <p:txBody>
          <a:bodyPr/>
          <a:lstStyle/>
          <a:p>
            <a:r>
              <a:rPr lang="en-CA" dirty="0"/>
              <a:t>Verifying Cluster tree (dendrogram):</a:t>
            </a:r>
            <a:endParaRPr lang="en-US" dirty="0"/>
          </a:p>
        </p:txBody>
      </p:sp>
      <p:sp>
        <p:nvSpPr>
          <p:cNvPr id="4" name="Content Placeholder 3">
            <a:extLst>
              <a:ext uri="{FF2B5EF4-FFF2-40B4-BE49-F238E27FC236}">
                <a16:creationId xmlns:a16="http://schemas.microsoft.com/office/drawing/2014/main" id="{530CF71F-FE4E-96A2-36C9-AA5CA06019D9}"/>
              </a:ext>
            </a:extLst>
          </p:cNvPr>
          <p:cNvSpPr>
            <a:spLocks noGrp="1"/>
          </p:cNvSpPr>
          <p:nvPr>
            <p:ph idx="1"/>
          </p:nvPr>
        </p:nvSpPr>
        <p:spPr/>
        <p:txBody>
          <a:bodyPr>
            <a:normAutofit fontScale="85000" lnSpcReduction="20000"/>
          </a:bodyPr>
          <a:lstStyle/>
          <a:p>
            <a:r>
              <a:rPr lang="en-CA" dirty="0"/>
              <a:t>One way to measure how well the cluster tree generated by the </a:t>
            </a:r>
            <a:r>
              <a:rPr lang="en-CA" dirty="0" err="1"/>
              <a:t>hclust</a:t>
            </a:r>
            <a:r>
              <a:rPr lang="en-CA" dirty="0"/>
              <a:t>() function reflects your data is to compute the correlation between the cophenetic distances and the original distance generated by the </a:t>
            </a:r>
            <a:r>
              <a:rPr lang="en-CA" dirty="0" err="1"/>
              <a:t>dist</a:t>
            </a:r>
            <a:r>
              <a:rPr lang="en-CA" dirty="0"/>
              <a:t>() function.</a:t>
            </a:r>
          </a:p>
          <a:p>
            <a:endParaRPr lang="en-CA" dirty="0"/>
          </a:p>
          <a:p>
            <a:r>
              <a:rPr lang="en-CA" dirty="0"/>
              <a:t>If the clustering is valid, the linking of the objects in the cluster tree should have a strong correlation with the distance between objects in the original distance matrix.   The closer the value of the correlation coefficient is to 1, the more accurately the clustering solution reflects your data.  Values above 0.75 are good.</a:t>
            </a:r>
          </a:p>
          <a:p>
            <a:endParaRPr lang="en-CA" dirty="0"/>
          </a:p>
          <a:p>
            <a:r>
              <a:rPr lang="en-CA" dirty="0"/>
              <a:t>The “average” linkage method appears to produce high values of this statistic, hence its popularity.</a:t>
            </a:r>
          </a:p>
          <a:p>
            <a:pPr marL="0" indent="0">
              <a:buNone/>
            </a:pPr>
            <a:r>
              <a:rPr lang="en-CA" dirty="0"/>
              <a:t>	</a:t>
            </a:r>
          </a:p>
          <a:p>
            <a:pPr marL="0" indent="0">
              <a:buNone/>
            </a:pPr>
            <a:endParaRPr lang="en-CA" dirty="0"/>
          </a:p>
        </p:txBody>
      </p:sp>
    </p:spTree>
    <p:extLst>
      <p:ext uri="{BB962C8B-B14F-4D97-AF65-F5344CB8AC3E}">
        <p14:creationId xmlns:p14="http://schemas.microsoft.com/office/powerpoint/2010/main" val="1764173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57BAD-9273-0A80-4A82-A8F84FCBE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67803-1EE2-F118-8ED1-C3E0E817C924}"/>
              </a:ext>
            </a:extLst>
          </p:cNvPr>
          <p:cNvSpPr>
            <a:spLocks noGrp="1"/>
          </p:cNvSpPr>
          <p:nvPr>
            <p:ph type="title"/>
          </p:nvPr>
        </p:nvSpPr>
        <p:spPr/>
        <p:txBody>
          <a:bodyPr/>
          <a:lstStyle/>
          <a:p>
            <a:r>
              <a:rPr lang="en-CA" dirty="0"/>
              <a:t>R code (see R code notes):</a:t>
            </a:r>
            <a:endParaRPr lang="en-US" dirty="0"/>
          </a:p>
        </p:txBody>
      </p:sp>
      <p:sp>
        <p:nvSpPr>
          <p:cNvPr id="4" name="Content Placeholder 3">
            <a:extLst>
              <a:ext uri="{FF2B5EF4-FFF2-40B4-BE49-F238E27FC236}">
                <a16:creationId xmlns:a16="http://schemas.microsoft.com/office/drawing/2014/main" id="{061863FB-19A8-F9DD-C53A-3A8BFEB1F45F}"/>
              </a:ext>
            </a:extLst>
          </p:cNvPr>
          <p:cNvSpPr>
            <a:spLocks noGrp="1"/>
          </p:cNvSpPr>
          <p:nvPr>
            <p:ph idx="1"/>
          </p:nvPr>
        </p:nvSpPr>
        <p:spPr/>
        <p:txBody>
          <a:bodyPr>
            <a:normAutofit fontScale="92500" lnSpcReduction="20000"/>
          </a:bodyPr>
          <a:lstStyle/>
          <a:p>
            <a:pPr marL="0" indent="0">
              <a:buNone/>
            </a:pPr>
            <a:r>
              <a:rPr lang="en-CA" dirty="0"/>
              <a:t>Example of R code:</a:t>
            </a:r>
          </a:p>
          <a:p>
            <a:pPr marL="0" indent="0">
              <a:buNone/>
            </a:pPr>
            <a:endParaRPr lang="en-CA" dirty="0"/>
          </a:p>
          <a:p>
            <a:pPr marL="0" indent="0">
              <a:buNone/>
            </a:pPr>
            <a:r>
              <a:rPr lang="en-CA" dirty="0" err="1"/>
              <a:t>res.coph</a:t>
            </a:r>
            <a:r>
              <a:rPr lang="en-CA" dirty="0"/>
              <a:t>&lt;-cophenetic(</a:t>
            </a:r>
            <a:r>
              <a:rPr lang="en-CA" dirty="0" err="1"/>
              <a:t>res.hc</a:t>
            </a:r>
            <a:r>
              <a:rPr lang="en-CA" dirty="0"/>
              <a:t>)    </a:t>
            </a:r>
          </a:p>
          <a:p>
            <a:pPr marL="0" indent="0">
              <a:buNone/>
            </a:pPr>
            <a:r>
              <a:rPr lang="en-CA" dirty="0"/>
              <a:t>#res.hc is the result of </a:t>
            </a:r>
            <a:r>
              <a:rPr lang="en-CA" dirty="0" err="1"/>
              <a:t>hclust</a:t>
            </a:r>
            <a:r>
              <a:rPr lang="en-CA" dirty="0"/>
              <a:t>()</a:t>
            </a:r>
          </a:p>
          <a:p>
            <a:pPr marL="0" indent="0">
              <a:buNone/>
            </a:pPr>
            <a:endParaRPr lang="en-CA" dirty="0"/>
          </a:p>
          <a:p>
            <a:pPr marL="0" indent="0">
              <a:buNone/>
            </a:pPr>
            <a:r>
              <a:rPr lang="en-CA" dirty="0" err="1"/>
              <a:t>cor</a:t>
            </a:r>
            <a:r>
              <a:rPr lang="en-CA" dirty="0"/>
              <a:t>(</a:t>
            </a:r>
            <a:r>
              <a:rPr lang="en-CA" dirty="0" err="1"/>
              <a:t>res.dist</a:t>
            </a:r>
            <a:r>
              <a:rPr lang="en-CA" dirty="0"/>
              <a:t>, </a:t>
            </a:r>
            <a:r>
              <a:rPr lang="en-CA" dirty="0" err="1"/>
              <a:t>res.coph</a:t>
            </a:r>
            <a:r>
              <a:rPr lang="en-CA" dirty="0"/>
              <a:t>)   </a:t>
            </a:r>
          </a:p>
          <a:p>
            <a:pPr marL="0" indent="0">
              <a:buNone/>
            </a:pPr>
            <a:r>
              <a:rPr lang="en-CA" dirty="0"/>
              <a:t>#res.dist is the result of </a:t>
            </a:r>
            <a:r>
              <a:rPr lang="en-CA" dirty="0" err="1"/>
              <a:t>dist</a:t>
            </a:r>
            <a:r>
              <a:rPr lang="en-CA" dirty="0"/>
              <a:t>()</a:t>
            </a:r>
          </a:p>
          <a:p>
            <a:pPr marL="0" indent="0">
              <a:buNone/>
            </a:pPr>
            <a:endParaRPr lang="en-CA" dirty="0"/>
          </a:p>
          <a:p>
            <a:pPr marL="0" indent="0">
              <a:buNone/>
            </a:pPr>
            <a:r>
              <a:rPr lang="en-CA" dirty="0"/>
              <a:t>See R code document on how to cut the dendrogram into different groups (gone through with students already) – might be useful for projects </a:t>
            </a:r>
          </a:p>
          <a:p>
            <a:pPr marL="0" indent="0">
              <a:buNone/>
            </a:pPr>
            <a:endParaRPr lang="en-CA" dirty="0"/>
          </a:p>
        </p:txBody>
      </p:sp>
    </p:spTree>
    <p:extLst>
      <p:ext uri="{BB962C8B-B14F-4D97-AF65-F5344CB8AC3E}">
        <p14:creationId xmlns:p14="http://schemas.microsoft.com/office/powerpoint/2010/main" val="3061257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D56DC-1B10-C342-F97D-971F21614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9E3D3-82E1-B8C8-2831-AA1597BAF877}"/>
              </a:ext>
            </a:extLst>
          </p:cNvPr>
          <p:cNvSpPr>
            <a:spLocks noGrp="1"/>
          </p:cNvSpPr>
          <p:nvPr>
            <p:ph type="title"/>
          </p:nvPr>
        </p:nvSpPr>
        <p:spPr/>
        <p:txBody>
          <a:bodyPr/>
          <a:lstStyle/>
          <a:p>
            <a:r>
              <a:rPr lang="en-CA" dirty="0"/>
              <a:t>Comparing dendrograms</a:t>
            </a:r>
            <a:endParaRPr lang="en-US" dirty="0"/>
          </a:p>
        </p:txBody>
      </p:sp>
      <p:sp>
        <p:nvSpPr>
          <p:cNvPr id="4" name="Content Placeholder 3">
            <a:extLst>
              <a:ext uri="{FF2B5EF4-FFF2-40B4-BE49-F238E27FC236}">
                <a16:creationId xmlns:a16="http://schemas.microsoft.com/office/drawing/2014/main" id="{F0D8A27C-449E-D8E3-324B-DCEF0AF23D79}"/>
              </a:ext>
            </a:extLst>
          </p:cNvPr>
          <p:cNvSpPr>
            <a:spLocks noGrp="1"/>
          </p:cNvSpPr>
          <p:nvPr>
            <p:ph idx="1"/>
          </p:nvPr>
        </p:nvSpPr>
        <p:spPr/>
        <p:txBody>
          <a:bodyPr>
            <a:normAutofit fontScale="92500" lnSpcReduction="20000"/>
          </a:bodyPr>
          <a:lstStyle/>
          <a:p>
            <a:pPr marL="914400" lvl="2" indent="0">
              <a:buNone/>
            </a:pPr>
            <a:endParaRPr lang="en-CA" dirty="0"/>
          </a:p>
          <a:p>
            <a:pPr>
              <a:buFontTx/>
              <a:buChar char="-"/>
            </a:pPr>
            <a:r>
              <a:rPr lang="en-CA" dirty="0"/>
              <a:t>We can compare dendrograms visually using the </a:t>
            </a:r>
            <a:r>
              <a:rPr lang="en-CA" i="1" dirty="0" err="1"/>
              <a:t>dendextend</a:t>
            </a:r>
            <a:r>
              <a:rPr lang="en-CA" dirty="0"/>
              <a:t> R package using </a:t>
            </a:r>
            <a:r>
              <a:rPr lang="en-CA" dirty="0" err="1"/>
              <a:t>tanglegram</a:t>
            </a:r>
            <a:r>
              <a:rPr lang="en-CA" dirty="0"/>
              <a:t>() function (entanglement provides a measure of the quality of the alignment between the two trees.  A low score corresponds to a good alignment).  See R output.</a:t>
            </a:r>
          </a:p>
          <a:p>
            <a:pPr>
              <a:buFontTx/>
              <a:buChar char="-"/>
            </a:pPr>
            <a:r>
              <a:rPr lang="en-CA" dirty="0"/>
              <a:t>We can also compare dendrograms using (Baker’s or Cophenetic) correlation matrix between a list of dendrograms using </a:t>
            </a:r>
            <a:r>
              <a:rPr lang="en-CA" i="1" dirty="0" err="1"/>
              <a:t>cor.dendlist</a:t>
            </a:r>
            <a:r>
              <a:rPr lang="en-CA" i="1" dirty="0"/>
              <a:t>() </a:t>
            </a:r>
            <a:r>
              <a:rPr lang="en-CA" dirty="0"/>
              <a:t>function.   The value of correlation can range between -1 and 1, with near 0 meaning that the two trees are not statistically similar.  See worksheets on Cophenetic correlation and Baker’s correlation.</a:t>
            </a:r>
            <a:endParaRPr lang="en-CA" i="1" dirty="0"/>
          </a:p>
          <a:p>
            <a:pPr>
              <a:buFontTx/>
              <a:buChar char="-"/>
            </a:pPr>
            <a:r>
              <a:rPr lang="en-CA" dirty="0"/>
              <a:t>We can also visualize the correlation matrix using </a:t>
            </a:r>
            <a:r>
              <a:rPr lang="en-CA" dirty="0" err="1"/>
              <a:t>corrplot</a:t>
            </a:r>
            <a:r>
              <a:rPr lang="en-CA" dirty="0"/>
              <a:t> package.  You are expected to show this plot when you work on your project using hierarchical clustering. </a:t>
            </a:r>
          </a:p>
        </p:txBody>
      </p:sp>
    </p:spTree>
    <p:extLst>
      <p:ext uri="{BB962C8B-B14F-4D97-AF65-F5344CB8AC3E}">
        <p14:creationId xmlns:p14="http://schemas.microsoft.com/office/powerpoint/2010/main" val="1167458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A5189-A07B-2D74-EDC3-ADC687E59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C7FD1-E772-92D8-BFD4-577847B6E3E8}"/>
              </a:ext>
            </a:extLst>
          </p:cNvPr>
          <p:cNvSpPr>
            <a:spLocks noGrp="1"/>
          </p:cNvSpPr>
          <p:nvPr>
            <p:ph type="title"/>
          </p:nvPr>
        </p:nvSpPr>
        <p:spPr/>
        <p:txBody>
          <a:bodyPr/>
          <a:lstStyle/>
          <a:p>
            <a:r>
              <a:rPr lang="en-CA" dirty="0"/>
              <a:t>Visualizing dendrograms</a:t>
            </a:r>
            <a:endParaRPr lang="en-US" dirty="0"/>
          </a:p>
        </p:txBody>
      </p:sp>
      <p:sp>
        <p:nvSpPr>
          <p:cNvPr id="4" name="Content Placeholder 3">
            <a:extLst>
              <a:ext uri="{FF2B5EF4-FFF2-40B4-BE49-F238E27FC236}">
                <a16:creationId xmlns:a16="http://schemas.microsoft.com/office/drawing/2014/main" id="{611CB6C3-3B4A-C09A-FC4F-A89BB6A0BBC3}"/>
              </a:ext>
            </a:extLst>
          </p:cNvPr>
          <p:cNvSpPr>
            <a:spLocks noGrp="1"/>
          </p:cNvSpPr>
          <p:nvPr>
            <p:ph idx="1"/>
          </p:nvPr>
        </p:nvSpPr>
        <p:spPr/>
        <p:txBody>
          <a:bodyPr>
            <a:normAutofit/>
          </a:bodyPr>
          <a:lstStyle/>
          <a:p>
            <a:pPr marL="914400" lvl="2" indent="0">
              <a:buNone/>
            </a:pPr>
            <a:endParaRPr lang="en-CA" dirty="0"/>
          </a:p>
          <a:p>
            <a:pPr>
              <a:buFontTx/>
              <a:buChar char="-"/>
            </a:pPr>
            <a:r>
              <a:rPr lang="en-CA" dirty="0"/>
              <a:t>See R output on visualizing and customizing dendrograms.  For instance, you can zoom in on specific portion of the dendrogram when you have a </a:t>
            </a:r>
            <a:r>
              <a:rPr lang="en-CA"/>
              <a:t>large data set.</a:t>
            </a:r>
          </a:p>
          <a:p>
            <a:pPr marL="0" indent="0">
              <a:buNone/>
            </a:pPr>
            <a:endParaRPr lang="en-CA" dirty="0"/>
          </a:p>
        </p:txBody>
      </p:sp>
    </p:spTree>
    <p:extLst>
      <p:ext uri="{BB962C8B-B14F-4D97-AF65-F5344CB8AC3E}">
        <p14:creationId xmlns:p14="http://schemas.microsoft.com/office/powerpoint/2010/main" val="333966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1312</TotalTime>
  <Words>380</Words>
  <Application>Microsoft Office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DANA 4840</vt:lpstr>
      <vt:lpstr>Verifying Cluster tree (dendrogram):</vt:lpstr>
      <vt:lpstr>R code (see R code notes):</vt:lpstr>
      <vt:lpstr>Comparing dendrograms</vt:lpstr>
      <vt:lpstr>Visualizing dendrograms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DANA 4840</dc:title>
  <dc:creator>Yew-Wei Lim</dc:creator>
  <cp:lastModifiedBy>Yew-Wei Lim</cp:lastModifiedBy>
  <cp:revision>42</cp:revision>
  <cp:lastPrinted>2025-10-06T01:00:42Z</cp:lastPrinted>
  <dcterms:created xsi:type="dcterms:W3CDTF">2025-08-31T18:59:20Z</dcterms:created>
  <dcterms:modified xsi:type="dcterms:W3CDTF">2025-10-27T04:54:21Z</dcterms:modified>
</cp:coreProperties>
</file>