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1" r:id="rId3"/>
    <p:sldId id="311" r:id="rId4"/>
    <p:sldId id="312" r:id="rId5"/>
    <p:sldId id="313" r:id="rId6"/>
    <p:sldId id="314" r:id="rId7"/>
    <p:sldId id="315" r:id="rId8"/>
    <p:sldId id="316" r:id="rId9"/>
    <p:sldId id="297" r:id="rId10"/>
    <p:sldId id="298" r:id="rId11"/>
    <p:sldId id="317" r:id="rId12"/>
    <p:sldId id="318" r:id="rId13"/>
    <p:sldId id="319" r:id="rId14"/>
    <p:sldId id="320" r:id="rId15"/>
    <p:sldId id="321" r:id="rId16"/>
    <p:sldId id="32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63" d="100"/>
          <a:sy n="63" d="100"/>
        </p:scale>
        <p:origin x="61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783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77687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4A80508-5317-4CB0-8BF0-F24B753CAFCF}" type="datetimeFigureOut">
              <a:rPr lang="en-CA" smtClean="0"/>
              <a:t>2023-06-16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61655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D4A80508-5317-4CB0-8BF0-F24B753CAFCF}" type="datetimeFigureOut">
              <a:rPr lang="en-CA" smtClean="0"/>
              <a:t>2023-06-16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812060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D4A80508-5317-4CB0-8BF0-F24B753CAFCF}" type="datetimeFigureOut">
              <a:rPr lang="en-CA" smtClean="0"/>
              <a:t>2023-06-16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133582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D4A80508-5317-4CB0-8BF0-F24B753CAFCF}" type="datetimeFigureOut">
              <a:rPr lang="en-CA" smtClean="0"/>
              <a:t>2023-06-16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62669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80508-5317-4CB0-8BF0-F24B753CAFCF}" type="datetimeFigureOut">
              <a:rPr lang="en-CA" smtClean="0"/>
              <a:t>2023-06-16</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3046716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2023-06-16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2577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2023-06-16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293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521678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07122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A80508-5317-4CB0-8BF0-F24B753CAFCF}" type="datetimeFigureOut">
              <a:rPr lang="en-CA" smtClean="0"/>
              <a:t>2023-06-16</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0C3AE8-76E1-4D4A-8D26-100D19D5D6B2}" type="slidenum">
              <a:rPr lang="en-CA" smtClean="0"/>
              <a:t>‹#›</a:t>
            </a:fld>
            <a:endParaRPr lang="en-CA"/>
          </a:p>
        </p:txBody>
      </p:sp>
    </p:spTree>
    <p:extLst>
      <p:ext uri="{BB962C8B-B14F-4D97-AF65-F5344CB8AC3E}">
        <p14:creationId xmlns:p14="http://schemas.microsoft.com/office/powerpoint/2010/main" val="6707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7691" y="782729"/>
            <a:ext cx="9144000" cy="2387600"/>
          </a:xfrm>
        </p:spPr>
        <p:txBody>
          <a:bodyPr>
            <a:normAutofit/>
          </a:bodyPr>
          <a:lstStyle/>
          <a:p>
            <a:r>
              <a:rPr lang="en-CA" sz="5400" dirty="0">
                <a:solidFill>
                  <a:schemeClr val="accent2"/>
                </a:solidFill>
                <a:latin typeface="Arial" panose="020B0604020202020204" pitchFamily="34" charset="0"/>
                <a:cs typeface="Arial" panose="020B0604020202020204" pitchFamily="34" charset="0"/>
              </a:rPr>
              <a:t>Optimal Number of Clusters</a:t>
            </a:r>
          </a:p>
        </p:txBody>
      </p:sp>
      <p:pic>
        <p:nvPicPr>
          <p:cNvPr id="4" name="Picture 3"/>
          <p:cNvPicPr>
            <a:picLocks noChangeAspect="1"/>
          </p:cNvPicPr>
          <p:nvPr/>
        </p:nvPicPr>
        <p:blipFill>
          <a:blip r:embed="rId2"/>
          <a:stretch>
            <a:fillRect/>
          </a:stretch>
        </p:blipFill>
        <p:spPr>
          <a:xfrm>
            <a:off x="7889966" y="5784307"/>
            <a:ext cx="4302034" cy="1073693"/>
          </a:xfrm>
          <a:prstGeom prst="rect">
            <a:avLst/>
          </a:prstGeom>
        </p:spPr>
      </p:pic>
    </p:spTree>
    <p:extLst>
      <p:ext uri="{BB962C8B-B14F-4D97-AF65-F5344CB8AC3E}">
        <p14:creationId xmlns:p14="http://schemas.microsoft.com/office/powerpoint/2010/main" val="70370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Determining the Optimal Number of Clusters</a:t>
            </a:r>
          </a:p>
        </p:txBody>
      </p:sp>
      <p:sp>
        <p:nvSpPr>
          <p:cNvPr id="3" name="Content Placeholder 2"/>
          <p:cNvSpPr>
            <a:spLocks noGrp="1"/>
          </p:cNvSpPr>
          <p:nvPr>
            <p:ph idx="1"/>
          </p:nvPr>
        </p:nvSpPr>
        <p:spPr>
          <a:xfrm>
            <a:off x="838200" y="1435507"/>
            <a:ext cx="10515600" cy="4351338"/>
          </a:xfrm>
        </p:spPr>
        <p:txBody>
          <a:bodyPr>
            <a:normAutofit fontScale="85000" lnSpcReduction="10000"/>
          </a:bodyPr>
          <a:lstStyle/>
          <a:p>
            <a:pPr>
              <a:lnSpc>
                <a:spcPct val="170000"/>
              </a:lnSpc>
            </a:pPr>
            <a:r>
              <a:rPr lang="en-CA" b="1" dirty="0">
                <a:latin typeface="Arial" panose="020B0604020202020204" pitchFamily="34" charset="0"/>
                <a:cs typeface="Arial" panose="020B0604020202020204" pitchFamily="34" charset="0"/>
              </a:rPr>
              <a:t>Determining the optimal number of clusters in a data set </a:t>
            </a:r>
            <a:r>
              <a:rPr lang="en-CA" dirty="0">
                <a:latin typeface="Arial" panose="020B0604020202020204" pitchFamily="34" charset="0"/>
                <a:cs typeface="Arial" panose="020B0604020202020204" pitchFamily="34" charset="0"/>
              </a:rPr>
              <a:t>is a fundamental issue in partitioning clustering, such as k-means clustering, which requires the user to specify the number of clusters k to be generated.</a:t>
            </a:r>
          </a:p>
          <a:p>
            <a:pPr>
              <a:lnSpc>
                <a:spcPct val="170000"/>
              </a:lnSpc>
            </a:pPr>
            <a:r>
              <a:rPr lang="en-CA" dirty="0">
                <a:latin typeface="Arial" panose="020B0604020202020204" pitchFamily="34" charset="0"/>
                <a:cs typeface="Arial" panose="020B0604020202020204" pitchFamily="34" charset="0"/>
              </a:rPr>
              <a:t>There is no definitive answer to finding the optimal number of clusters. This is somehow subjective and depends on the method used for measuring similarities and the parameters used for partitioning.</a:t>
            </a: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550409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Determining the Optimal Number of Clusters</a:t>
            </a:r>
          </a:p>
        </p:txBody>
      </p:sp>
      <p:sp>
        <p:nvSpPr>
          <p:cNvPr id="3" name="Content Placeholder 2"/>
          <p:cNvSpPr>
            <a:spLocks noGrp="1"/>
          </p:cNvSpPr>
          <p:nvPr>
            <p:ph idx="1"/>
          </p:nvPr>
        </p:nvSpPr>
        <p:spPr>
          <a:xfrm>
            <a:off x="838200" y="1435507"/>
            <a:ext cx="10515600" cy="4351338"/>
          </a:xfrm>
        </p:spPr>
        <p:txBody>
          <a:bodyPr>
            <a:normAutofit/>
          </a:bodyPr>
          <a:lstStyle/>
          <a:p>
            <a:pPr>
              <a:lnSpc>
                <a:spcPct val="170000"/>
              </a:lnSpc>
            </a:pPr>
            <a:r>
              <a:rPr lang="en-CA" sz="2400" dirty="0">
                <a:latin typeface="Arial" panose="020B0604020202020204" pitchFamily="34" charset="0"/>
                <a:cs typeface="Arial" panose="020B0604020202020204" pitchFamily="34" charset="0"/>
              </a:rPr>
              <a:t>Methods for determining the optimal number of clusters include direct methods or statistical testing methods:</a:t>
            </a:r>
          </a:p>
          <a:p>
            <a:pPr marL="0" indent="0">
              <a:lnSpc>
                <a:spcPct val="150000"/>
              </a:lnSpc>
              <a:buNone/>
            </a:pPr>
            <a:r>
              <a:rPr lang="en-CA" sz="2400" dirty="0">
                <a:latin typeface="Arial" panose="020B0604020202020204" pitchFamily="34" charset="0"/>
                <a:cs typeface="Arial" panose="020B0604020202020204" pitchFamily="34" charset="0"/>
              </a:rPr>
              <a:t>1. Direct methods: consists of optimizing a criterion, such as the within cluster sums of squares or the average silhouette. The corresponding methods are named </a:t>
            </a:r>
            <a:r>
              <a:rPr lang="en-CA" sz="2400" i="1" dirty="0">
                <a:latin typeface="Arial" panose="020B0604020202020204" pitchFamily="34" charset="0"/>
                <a:cs typeface="Arial" panose="020B0604020202020204" pitchFamily="34" charset="0"/>
              </a:rPr>
              <a:t>elbow </a:t>
            </a:r>
            <a:r>
              <a:rPr lang="en-CA" sz="2400" dirty="0">
                <a:latin typeface="Arial" panose="020B0604020202020204" pitchFamily="34" charset="0"/>
                <a:cs typeface="Arial" panose="020B0604020202020204" pitchFamily="34" charset="0"/>
              </a:rPr>
              <a:t>and </a:t>
            </a:r>
            <a:r>
              <a:rPr lang="en-CA" sz="2400" i="1" dirty="0">
                <a:latin typeface="Arial" panose="020B0604020202020204" pitchFamily="34" charset="0"/>
                <a:cs typeface="Arial" panose="020B0604020202020204" pitchFamily="34" charset="0"/>
              </a:rPr>
              <a:t>silhouette </a:t>
            </a:r>
            <a:r>
              <a:rPr lang="en-CA" sz="2400" dirty="0">
                <a:latin typeface="Arial" panose="020B0604020202020204" pitchFamily="34" charset="0"/>
                <a:cs typeface="Arial" panose="020B0604020202020204" pitchFamily="34" charset="0"/>
              </a:rPr>
              <a:t>methods, respectively.</a:t>
            </a:r>
          </a:p>
          <a:p>
            <a:pPr marL="0" indent="0">
              <a:lnSpc>
                <a:spcPct val="150000"/>
              </a:lnSpc>
              <a:buNone/>
            </a:pPr>
            <a:r>
              <a:rPr lang="en-CA" sz="2400" dirty="0">
                <a:latin typeface="Arial" panose="020B0604020202020204" pitchFamily="34" charset="0"/>
                <a:cs typeface="Arial" panose="020B0604020202020204" pitchFamily="34" charset="0"/>
              </a:rPr>
              <a:t>2. Statistical testing methods: consists of comparing evidence against null hypothesis. An example is the </a:t>
            </a:r>
            <a:r>
              <a:rPr lang="en-CA" sz="2400" i="1" dirty="0">
                <a:latin typeface="Arial" panose="020B0604020202020204" pitchFamily="34" charset="0"/>
                <a:cs typeface="Arial" panose="020B0604020202020204" pitchFamily="34" charset="0"/>
              </a:rPr>
              <a:t>gap statistic</a:t>
            </a:r>
            <a:r>
              <a:rPr lang="en-CA" sz="2400" dirty="0">
                <a:latin typeface="Arial" panose="020B0604020202020204" pitchFamily="34" charset="0"/>
                <a:cs typeface="Arial" panose="020B0604020202020204" pitchFamily="34" charset="0"/>
              </a:rPr>
              <a:t>.</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514679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Determining the Optimal Number of Clusters</a:t>
            </a:r>
          </a:p>
        </p:txBody>
      </p:sp>
      <p:sp>
        <p:nvSpPr>
          <p:cNvPr id="3" name="Content Placeholder 2"/>
          <p:cNvSpPr>
            <a:spLocks noGrp="1"/>
          </p:cNvSpPr>
          <p:nvPr>
            <p:ph idx="1"/>
          </p:nvPr>
        </p:nvSpPr>
        <p:spPr>
          <a:xfrm>
            <a:off x="838200" y="1435507"/>
            <a:ext cx="10515600" cy="4351338"/>
          </a:xfrm>
        </p:spPr>
        <p:txBody>
          <a:bodyPr>
            <a:normAutofit/>
          </a:bodyPr>
          <a:lstStyle/>
          <a:p>
            <a:pPr>
              <a:lnSpc>
                <a:spcPct val="150000"/>
              </a:lnSpc>
            </a:pPr>
            <a:r>
              <a:rPr lang="en-CA" sz="2400" dirty="0">
                <a:latin typeface="Arial" panose="020B0604020202020204" pitchFamily="34" charset="0"/>
                <a:cs typeface="Arial" panose="020B0604020202020204" pitchFamily="34" charset="0"/>
              </a:rPr>
              <a:t>In addition to </a:t>
            </a:r>
            <a:r>
              <a:rPr lang="en-CA" sz="2400" i="1" dirty="0">
                <a:latin typeface="Arial" panose="020B0604020202020204" pitchFamily="34" charset="0"/>
                <a:cs typeface="Arial" panose="020B0604020202020204" pitchFamily="34" charset="0"/>
              </a:rPr>
              <a:t>elbow</a:t>
            </a:r>
            <a:r>
              <a:rPr lang="en-CA" sz="2400" dirty="0">
                <a:latin typeface="Arial" panose="020B0604020202020204" pitchFamily="34" charset="0"/>
                <a:cs typeface="Arial" panose="020B0604020202020204" pitchFamily="34" charset="0"/>
              </a:rPr>
              <a:t>, </a:t>
            </a:r>
            <a:r>
              <a:rPr lang="en-CA" sz="2400" i="1" dirty="0">
                <a:latin typeface="Arial" panose="020B0604020202020204" pitchFamily="34" charset="0"/>
                <a:cs typeface="Arial" panose="020B0604020202020204" pitchFamily="34" charset="0"/>
              </a:rPr>
              <a:t>silhouette </a:t>
            </a:r>
            <a:r>
              <a:rPr lang="en-CA" sz="2400" dirty="0">
                <a:latin typeface="Arial" panose="020B0604020202020204" pitchFamily="34" charset="0"/>
                <a:cs typeface="Arial" panose="020B0604020202020204" pitchFamily="34" charset="0"/>
              </a:rPr>
              <a:t>and </a:t>
            </a:r>
            <a:r>
              <a:rPr lang="en-CA" sz="2400" i="1" dirty="0">
                <a:latin typeface="Arial" panose="020B0604020202020204" pitchFamily="34" charset="0"/>
                <a:cs typeface="Arial" panose="020B0604020202020204" pitchFamily="34" charset="0"/>
              </a:rPr>
              <a:t>gap statistic </a:t>
            </a:r>
            <a:r>
              <a:rPr lang="en-CA" sz="2400" dirty="0">
                <a:latin typeface="Arial" panose="020B0604020202020204" pitchFamily="34" charset="0"/>
                <a:cs typeface="Arial" panose="020B0604020202020204" pitchFamily="34" charset="0"/>
              </a:rPr>
              <a:t>methods, there are more than thirty other indices and methods that have been published for identifying the optimal number of clusters.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82060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Elbow Method</a:t>
            </a:r>
          </a:p>
        </p:txBody>
      </p:sp>
      <p:sp>
        <p:nvSpPr>
          <p:cNvPr id="3" name="Content Placeholder 2"/>
          <p:cNvSpPr>
            <a:spLocks noGrp="1"/>
          </p:cNvSpPr>
          <p:nvPr>
            <p:ph idx="1"/>
          </p:nvPr>
        </p:nvSpPr>
        <p:spPr>
          <a:xfrm>
            <a:off x="838200" y="1435507"/>
            <a:ext cx="10515600" cy="4351338"/>
          </a:xfrm>
        </p:spPr>
        <p:txBody>
          <a:bodyPr>
            <a:normAutofit/>
          </a:bodyPr>
          <a:lstStyle/>
          <a:p>
            <a:pPr>
              <a:lnSpc>
                <a:spcPct val="150000"/>
              </a:lnSpc>
            </a:pPr>
            <a:r>
              <a:rPr lang="en-CA" sz="2400" dirty="0">
                <a:latin typeface="Arial" panose="020B0604020202020204" pitchFamily="34" charset="0"/>
                <a:cs typeface="Arial" panose="020B0604020202020204" pitchFamily="34" charset="0"/>
              </a:rPr>
              <a:t>Recall that, the basic idea behind partitioning methods, such as k-means clustering is to define clusters such that the total intra-cluster variation [or total within-cluster sum of square (WSS)] is minimized. The total WSS measures the compactness of the clustering and we want it to be as small as possible. </a:t>
            </a:r>
          </a:p>
          <a:p>
            <a:pPr>
              <a:lnSpc>
                <a:spcPct val="150000"/>
              </a:lnSpc>
            </a:pPr>
            <a:r>
              <a:rPr lang="en-CA" sz="2400" dirty="0">
                <a:latin typeface="Arial" panose="020B0604020202020204" pitchFamily="34" charset="0"/>
                <a:cs typeface="Arial" panose="020B0604020202020204" pitchFamily="34" charset="0"/>
              </a:rPr>
              <a:t>Computed as shown below:</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064849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Elbow Method</a:t>
            </a:r>
          </a:p>
        </p:txBody>
      </p:sp>
      <p:pic>
        <p:nvPicPr>
          <p:cNvPr id="4" name="Content Placeholder 3"/>
          <p:cNvPicPr>
            <a:picLocks noGrp="1" noChangeAspect="1"/>
          </p:cNvPicPr>
          <p:nvPr>
            <p:ph idx="1"/>
          </p:nvPr>
        </p:nvPicPr>
        <p:blipFill>
          <a:blip r:embed="rId2"/>
          <a:stretch>
            <a:fillRect/>
          </a:stretch>
        </p:blipFill>
        <p:spPr>
          <a:xfrm>
            <a:off x="1071154" y="1408974"/>
            <a:ext cx="9213145" cy="4908363"/>
          </a:xfrm>
          <a:prstGeom prst="rect">
            <a:avLst/>
          </a:prstGeom>
        </p:spPr>
      </p:pic>
      <p:pic>
        <p:nvPicPr>
          <p:cNvPr id="5" name="Picture 4"/>
          <p:cNvPicPr>
            <a:picLocks noChangeAspect="1"/>
          </p:cNvPicPr>
          <p:nvPr/>
        </p:nvPicPr>
        <p:blipFill>
          <a:blip r:embed="rId3"/>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910866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Elbow Method</a:t>
            </a:r>
          </a:p>
        </p:txBody>
      </p:sp>
      <p:sp>
        <p:nvSpPr>
          <p:cNvPr id="3" name="Content Placeholder 2"/>
          <p:cNvSpPr>
            <a:spLocks noGrp="1"/>
          </p:cNvSpPr>
          <p:nvPr>
            <p:ph idx="1"/>
          </p:nvPr>
        </p:nvSpPr>
        <p:spPr>
          <a:xfrm>
            <a:off x="838200" y="1435507"/>
            <a:ext cx="10515600" cy="4351338"/>
          </a:xfrm>
        </p:spPr>
        <p:txBody>
          <a:bodyPr>
            <a:normAutofit/>
          </a:bodyPr>
          <a:lstStyle/>
          <a:p>
            <a:pPr>
              <a:lnSpc>
                <a:spcPct val="150000"/>
              </a:lnSpc>
            </a:pPr>
            <a:r>
              <a:rPr lang="en-CA" sz="2400" dirty="0">
                <a:latin typeface="Arial" panose="020B0604020202020204" pitchFamily="34" charset="0"/>
                <a:cs typeface="Arial" panose="020B0604020202020204" pitchFamily="34" charset="0"/>
              </a:rPr>
              <a:t>The Elbow method looks at the total WSS as a function of the number of clusters: One should choose a number of clusters so that adding another cluster doesn’t improve much better the total WSS.</a:t>
            </a:r>
          </a:p>
          <a:p>
            <a:pPr>
              <a:lnSpc>
                <a:spcPct val="150000"/>
              </a:lnSpc>
            </a:pPr>
            <a:r>
              <a:rPr lang="en-CA" sz="2400" dirty="0">
                <a:latin typeface="Arial" panose="020B0604020202020204" pitchFamily="34" charset="0"/>
                <a:cs typeface="Arial" panose="020B0604020202020204" pitchFamily="34" charset="0"/>
              </a:rPr>
              <a:t>Note that, the elbow method is sometimes ambiguous. An alternative is the average silhouette method (Kaufman and </a:t>
            </a:r>
            <a:r>
              <a:rPr lang="en-CA" sz="2400" dirty="0" err="1">
                <a:latin typeface="Arial" panose="020B0604020202020204" pitchFamily="34" charset="0"/>
                <a:cs typeface="Arial" panose="020B0604020202020204" pitchFamily="34" charset="0"/>
              </a:rPr>
              <a:t>Rousseeuw</a:t>
            </a:r>
            <a:r>
              <a:rPr lang="en-CA" sz="2400" dirty="0">
                <a:latin typeface="Arial" panose="020B0604020202020204" pitchFamily="34" charset="0"/>
                <a:cs typeface="Arial" panose="020B0604020202020204" pitchFamily="34" charset="0"/>
              </a:rPr>
              <a:t> [1990]) which can be also used with any clustering approach.</a:t>
            </a:r>
          </a:p>
          <a:p>
            <a:pPr>
              <a:lnSpc>
                <a:spcPct val="150000"/>
              </a:lnSpc>
            </a:pPr>
            <a:r>
              <a:rPr lang="en-CA" sz="2400" dirty="0">
                <a:latin typeface="Arial" panose="020B0604020202020204" pitchFamily="34" charset="0"/>
                <a:cs typeface="Arial" panose="020B0604020202020204" pitchFamily="34" charset="0"/>
              </a:rPr>
              <a:t>The optimal number of clusters can be defined as follows: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933954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Elbow Method</a:t>
            </a:r>
          </a:p>
        </p:txBody>
      </p:sp>
      <p:sp>
        <p:nvSpPr>
          <p:cNvPr id="3" name="Content Placeholder 2"/>
          <p:cNvSpPr>
            <a:spLocks noGrp="1"/>
          </p:cNvSpPr>
          <p:nvPr>
            <p:ph idx="1"/>
          </p:nvPr>
        </p:nvSpPr>
        <p:spPr>
          <a:xfrm>
            <a:off x="838200" y="1435507"/>
            <a:ext cx="10515600" cy="4351338"/>
          </a:xfrm>
        </p:spPr>
        <p:txBody>
          <a:bodyPr>
            <a:normAutofit/>
          </a:bodyPr>
          <a:lstStyle/>
          <a:p>
            <a:pPr marL="0" indent="0">
              <a:lnSpc>
                <a:spcPct val="150000"/>
              </a:lnSpc>
              <a:buNone/>
            </a:pPr>
            <a:r>
              <a:rPr lang="en-CA" sz="2400" dirty="0">
                <a:latin typeface="Arial" panose="020B0604020202020204" pitchFamily="34" charset="0"/>
                <a:cs typeface="Arial" panose="020B0604020202020204" pitchFamily="34" charset="0"/>
              </a:rPr>
              <a:t>1. Compute clustering algorithm (e.g., k-means clustering) for different values of k. For instance, by varying k from 1 to 10 clusters.</a:t>
            </a:r>
          </a:p>
          <a:p>
            <a:pPr marL="0" indent="0">
              <a:lnSpc>
                <a:spcPct val="150000"/>
              </a:lnSpc>
              <a:buNone/>
            </a:pPr>
            <a:r>
              <a:rPr lang="en-CA" sz="2400" dirty="0">
                <a:latin typeface="Arial" panose="020B0604020202020204" pitchFamily="34" charset="0"/>
                <a:cs typeface="Arial" panose="020B0604020202020204" pitchFamily="34" charset="0"/>
              </a:rPr>
              <a:t>2. For each k, calculate the total within-cluster sum of square (wss).</a:t>
            </a:r>
          </a:p>
          <a:p>
            <a:pPr marL="0" indent="0">
              <a:lnSpc>
                <a:spcPct val="150000"/>
              </a:lnSpc>
              <a:buNone/>
            </a:pPr>
            <a:r>
              <a:rPr lang="en-CA" sz="2400" dirty="0">
                <a:latin typeface="Arial" panose="020B0604020202020204" pitchFamily="34" charset="0"/>
                <a:cs typeface="Arial" panose="020B0604020202020204" pitchFamily="34" charset="0"/>
              </a:rPr>
              <a:t>3. Plot the curve of wss according to the number of clusters k.</a:t>
            </a:r>
          </a:p>
          <a:p>
            <a:pPr marL="0" indent="0">
              <a:lnSpc>
                <a:spcPct val="150000"/>
              </a:lnSpc>
              <a:buNone/>
            </a:pPr>
            <a:r>
              <a:rPr lang="en-CA" sz="2400" dirty="0">
                <a:latin typeface="Arial" panose="020B0604020202020204" pitchFamily="34" charset="0"/>
                <a:cs typeface="Arial" panose="020B0604020202020204" pitchFamily="34" charset="0"/>
              </a:rPr>
              <a:t>4. The location of a bend (knee) in the plot is generally considered as an indicator of the appropriate number of clusters.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395723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511" y="390478"/>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Average silhouette method</a:t>
            </a:r>
          </a:p>
        </p:txBody>
      </p:sp>
      <p:sp>
        <p:nvSpPr>
          <p:cNvPr id="3" name="Content Placeholder 2"/>
          <p:cNvSpPr>
            <a:spLocks noGrp="1"/>
          </p:cNvSpPr>
          <p:nvPr>
            <p:ph idx="1"/>
          </p:nvPr>
        </p:nvSpPr>
        <p:spPr>
          <a:xfrm>
            <a:off x="425632" y="1435507"/>
            <a:ext cx="11105606" cy="4351338"/>
          </a:xfrm>
        </p:spPr>
        <p:txBody>
          <a:bodyPr>
            <a:noAutofit/>
          </a:bodyPr>
          <a:lstStyle/>
          <a:p>
            <a:pPr>
              <a:lnSpc>
                <a:spcPct val="150000"/>
              </a:lnSpc>
            </a:pPr>
            <a:r>
              <a:rPr lang="en-CA" sz="2400" dirty="0">
                <a:latin typeface="Arial" panose="020B0604020202020204" pitchFamily="34" charset="0"/>
                <a:cs typeface="Arial" panose="020B0604020202020204" pitchFamily="34" charset="0"/>
              </a:rPr>
              <a:t>It measures the quality of a clustering. That is, it determines how well each object lies within its cluster. A high average silhouette width indicates a good clustering.</a:t>
            </a:r>
          </a:p>
          <a:p>
            <a:pPr>
              <a:lnSpc>
                <a:spcPct val="150000"/>
              </a:lnSpc>
            </a:pPr>
            <a:r>
              <a:rPr lang="en-CA" sz="2400" dirty="0">
                <a:latin typeface="Arial" panose="020B0604020202020204" pitchFamily="34" charset="0"/>
                <a:cs typeface="Arial" panose="020B0604020202020204" pitchFamily="34" charset="0"/>
              </a:rPr>
              <a:t>Average silhouette method computes the average silhouette of observations for different values of k. The optimal number of clusters k is the one that maximize the average silhouette over a range of possible values for k (Kaufman and </a:t>
            </a:r>
            <a:r>
              <a:rPr lang="en-CA" sz="2400" dirty="0" err="1">
                <a:latin typeface="Arial" panose="020B0604020202020204" pitchFamily="34" charset="0"/>
                <a:cs typeface="Arial" panose="020B0604020202020204" pitchFamily="34" charset="0"/>
              </a:rPr>
              <a:t>Rousseeuw</a:t>
            </a:r>
            <a:r>
              <a:rPr lang="en-CA" sz="2400" dirty="0">
                <a:latin typeface="Arial" panose="020B0604020202020204" pitchFamily="34" charset="0"/>
                <a:cs typeface="Arial" panose="020B0604020202020204" pitchFamily="34" charset="0"/>
              </a:rPr>
              <a:t> [1990]).</a:t>
            </a:r>
          </a:p>
          <a:p>
            <a:pPr marL="0" indent="0">
              <a:lnSpc>
                <a:spcPct val="150000"/>
              </a:lnSpc>
              <a:buNone/>
            </a:pPr>
            <a:endParaRPr lang="en-CA" sz="24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197762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005" y="-118201"/>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Silhouette Coefficient</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pic>
        <p:nvPicPr>
          <p:cNvPr id="6" name="Content Placeholder 5"/>
          <p:cNvPicPr>
            <a:picLocks noGrp="1" noChangeAspect="1"/>
          </p:cNvPicPr>
          <p:nvPr>
            <p:ph idx="1"/>
          </p:nvPr>
        </p:nvPicPr>
        <p:blipFill>
          <a:blip r:embed="rId3"/>
          <a:stretch>
            <a:fillRect/>
          </a:stretch>
        </p:blipFill>
        <p:spPr>
          <a:xfrm>
            <a:off x="759824" y="871279"/>
            <a:ext cx="11049000" cy="4915566"/>
          </a:xfrm>
          <a:prstGeom prst="rect">
            <a:avLst/>
          </a:prstGeom>
        </p:spPr>
      </p:pic>
    </p:spTree>
    <p:extLst>
      <p:ext uri="{BB962C8B-B14F-4D97-AF65-F5344CB8AC3E}">
        <p14:creationId xmlns:p14="http://schemas.microsoft.com/office/powerpoint/2010/main" val="2023867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197" y="274320"/>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Average silhouette method</a:t>
            </a:r>
          </a:p>
        </p:txBody>
      </p:sp>
      <p:sp>
        <p:nvSpPr>
          <p:cNvPr id="3" name="Content Placeholder 2"/>
          <p:cNvSpPr>
            <a:spLocks noGrp="1"/>
          </p:cNvSpPr>
          <p:nvPr>
            <p:ph idx="1"/>
          </p:nvPr>
        </p:nvSpPr>
        <p:spPr>
          <a:xfrm>
            <a:off x="339634" y="1325563"/>
            <a:ext cx="11309169" cy="4351338"/>
          </a:xfrm>
        </p:spPr>
        <p:txBody>
          <a:bodyPr>
            <a:noAutofit/>
          </a:bodyPr>
          <a:lstStyle/>
          <a:p>
            <a:pPr>
              <a:lnSpc>
                <a:spcPct val="150000"/>
              </a:lnSpc>
            </a:pPr>
            <a:r>
              <a:rPr lang="en-CA" sz="2400" dirty="0">
                <a:latin typeface="Arial" panose="020B0604020202020204" pitchFamily="34" charset="0"/>
                <a:cs typeface="Arial" panose="020B0604020202020204" pitchFamily="34" charset="0"/>
              </a:rPr>
              <a:t>The algorithm is similar to the elbow method and can be computed as follow:</a:t>
            </a:r>
          </a:p>
          <a:p>
            <a:pPr marL="0" indent="0">
              <a:lnSpc>
                <a:spcPct val="150000"/>
              </a:lnSpc>
              <a:buNone/>
            </a:pPr>
            <a:r>
              <a:rPr lang="en-CA" sz="2400" dirty="0">
                <a:latin typeface="Arial" panose="020B0604020202020204" pitchFamily="34" charset="0"/>
                <a:cs typeface="Arial" panose="020B0604020202020204" pitchFamily="34" charset="0"/>
              </a:rPr>
              <a:t>1. Compute clustering algorithm (e.g., k-means clustering) for different values of k. For instance, by varying k from 1 to 10 clusters.</a:t>
            </a:r>
          </a:p>
          <a:p>
            <a:pPr marL="0" indent="0">
              <a:lnSpc>
                <a:spcPct val="150000"/>
              </a:lnSpc>
              <a:buNone/>
            </a:pPr>
            <a:r>
              <a:rPr lang="en-CA" sz="2400" dirty="0">
                <a:latin typeface="Arial" panose="020B0604020202020204" pitchFamily="34" charset="0"/>
                <a:cs typeface="Arial" panose="020B0604020202020204" pitchFamily="34" charset="0"/>
              </a:rPr>
              <a:t>2. For each k, calculate the average silhouette of observations (</a:t>
            </a:r>
            <a:r>
              <a:rPr lang="en-CA" sz="2400" i="1" dirty="0" err="1">
                <a:latin typeface="Arial" panose="020B0604020202020204" pitchFamily="34" charset="0"/>
                <a:cs typeface="Arial" panose="020B0604020202020204" pitchFamily="34" charset="0"/>
              </a:rPr>
              <a:t>avg.sil</a:t>
            </a:r>
            <a:r>
              <a:rPr lang="en-CA" sz="2400" dirty="0">
                <a:latin typeface="Arial" panose="020B0604020202020204" pitchFamily="34" charset="0"/>
                <a:cs typeface="Arial" panose="020B0604020202020204" pitchFamily="34" charset="0"/>
              </a:rPr>
              <a:t>).</a:t>
            </a:r>
          </a:p>
          <a:p>
            <a:pPr marL="0" indent="0">
              <a:lnSpc>
                <a:spcPct val="150000"/>
              </a:lnSpc>
              <a:buNone/>
            </a:pPr>
            <a:r>
              <a:rPr lang="en-CA" sz="2400" dirty="0">
                <a:latin typeface="Arial" panose="020B0604020202020204" pitchFamily="34" charset="0"/>
                <a:cs typeface="Arial" panose="020B0604020202020204" pitchFamily="34" charset="0"/>
              </a:rPr>
              <a:t>3. Plot the curve of </a:t>
            </a:r>
            <a:r>
              <a:rPr lang="en-CA" sz="2400" i="1" dirty="0" err="1">
                <a:latin typeface="Arial" panose="020B0604020202020204" pitchFamily="34" charset="0"/>
                <a:cs typeface="Arial" panose="020B0604020202020204" pitchFamily="34" charset="0"/>
              </a:rPr>
              <a:t>avg.sil</a:t>
            </a:r>
            <a:r>
              <a:rPr lang="en-CA" sz="2400" i="1" dirty="0">
                <a:latin typeface="Arial" panose="020B0604020202020204" pitchFamily="34" charset="0"/>
                <a:cs typeface="Arial" panose="020B0604020202020204" pitchFamily="34" charset="0"/>
              </a:rPr>
              <a:t> </a:t>
            </a:r>
            <a:r>
              <a:rPr lang="en-CA" sz="2400" dirty="0">
                <a:latin typeface="Arial" panose="020B0604020202020204" pitchFamily="34" charset="0"/>
                <a:cs typeface="Arial" panose="020B0604020202020204" pitchFamily="34" charset="0"/>
              </a:rPr>
              <a:t>according to the number of clusters k.</a:t>
            </a:r>
          </a:p>
          <a:p>
            <a:pPr marL="0" indent="0">
              <a:lnSpc>
                <a:spcPct val="150000"/>
              </a:lnSpc>
              <a:buNone/>
            </a:pPr>
            <a:r>
              <a:rPr lang="en-CA" sz="2400" dirty="0">
                <a:latin typeface="Arial" panose="020B0604020202020204" pitchFamily="34" charset="0"/>
                <a:cs typeface="Arial" panose="020B0604020202020204" pitchFamily="34" charset="0"/>
              </a:rPr>
              <a:t>4. The location of the maximum is considered as the appropriate number</a:t>
            </a:r>
          </a:p>
          <a:p>
            <a:pPr marL="0" indent="0">
              <a:lnSpc>
                <a:spcPct val="150000"/>
              </a:lnSpc>
              <a:buNone/>
            </a:pPr>
            <a:r>
              <a:rPr lang="en-CA" sz="2400" dirty="0">
                <a:latin typeface="Arial" panose="020B0604020202020204" pitchFamily="34" charset="0"/>
                <a:cs typeface="Arial" panose="020B0604020202020204" pitchFamily="34" charset="0"/>
              </a:rPr>
              <a:t>of clusters.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625206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197" y="274320"/>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Gap Statistic</a:t>
            </a:r>
          </a:p>
        </p:txBody>
      </p:sp>
      <p:sp>
        <p:nvSpPr>
          <p:cNvPr id="3" name="Content Placeholder 2"/>
          <p:cNvSpPr>
            <a:spLocks noGrp="1"/>
          </p:cNvSpPr>
          <p:nvPr>
            <p:ph idx="1"/>
          </p:nvPr>
        </p:nvSpPr>
        <p:spPr>
          <a:xfrm>
            <a:off x="339634" y="1325563"/>
            <a:ext cx="11309169" cy="4351338"/>
          </a:xfrm>
        </p:spPr>
        <p:txBody>
          <a:bodyPr>
            <a:noAutofit/>
          </a:bodyPr>
          <a:lstStyle/>
          <a:p>
            <a:pPr>
              <a:lnSpc>
                <a:spcPct val="150000"/>
              </a:lnSpc>
            </a:pPr>
            <a:r>
              <a:rPr lang="en-CA" sz="2400" dirty="0">
                <a:latin typeface="Arial" panose="020B0604020202020204" pitchFamily="34" charset="0"/>
                <a:cs typeface="Arial" panose="020B0604020202020204" pitchFamily="34" charset="0"/>
              </a:rPr>
              <a:t>The gap statistic compares the total within intra-cluster variation for different values of k with their expected values under null reference distribution of the data. </a:t>
            </a:r>
          </a:p>
          <a:p>
            <a:pPr>
              <a:lnSpc>
                <a:spcPct val="150000"/>
              </a:lnSpc>
            </a:pPr>
            <a:r>
              <a:rPr lang="en-CA" sz="2400" dirty="0">
                <a:latin typeface="Arial" panose="020B0604020202020204" pitchFamily="34" charset="0"/>
                <a:cs typeface="Arial" panose="020B0604020202020204" pitchFamily="34" charset="0"/>
              </a:rPr>
              <a:t>The estimate of the optimal clusters will be value that maximize the gap statistic (i.e., that yields the largest gap statistic). This means that the clustering structure is far away from the random uniform distribution of points.</a:t>
            </a:r>
          </a:p>
          <a:p>
            <a:pPr>
              <a:lnSpc>
                <a:spcPct val="150000"/>
              </a:lnSpc>
            </a:pPr>
            <a:r>
              <a:rPr lang="en-CA" sz="2400" dirty="0">
                <a:latin typeface="Arial" panose="020B0604020202020204" pitchFamily="34" charset="0"/>
                <a:cs typeface="Arial" panose="020B0604020202020204" pitchFamily="34" charset="0"/>
              </a:rPr>
              <a:t>The algorithm works as follow:</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614612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197" y="274320"/>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Gap Statistic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9634" y="1325563"/>
                <a:ext cx="11309169" cy="4351338"/>
              </a:xfrm>
            </p:spPr>
            <p:txBody>
              <a:bodyPr>
                <a:noAutofit/>
              </a:bodyPr>
              <a:lstStyle/>
              <a:p>
                <a:pPr marL="514350" indent="-514350">
                  <a:lnSpc>
                    <a:spcPct val="150000"/>
                  </a:lnSpc>
                  <a:buAutoNum type="arabicPeriod"/>
                </a:pPr>
                <a:r>
                  <a:rPr lang="en-CA" sz="2400" dirty="0">
                    <a:latin typeface="Arial" panose="020B0604020202020204" pitchFamily="34" charset="0"/>
                    <a:cs typeface="Arial" panose="020B0604020202020204" pitchFamily="34" charset="0"/>
                  </a:rPr>
                  <a:t>Cluster the observed data, varying the number of clusters from k = 1, ...,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𝑘</m:t>
                        </m:r>
                      </m:e>
                      <m:sub>
                        <m:r>
                          <a:rPr lang="en-CA" sz="2400" b="0" i="1" dirty="0" smtClean="0">
                            <a:latin typeface="Cambria Math" panose="02040503050406030204" pitchFamily="18" charset="0"/>
                          </a:rPr>
                          <m:t>𝑚𝑎𝑥</m:t>
                        </m:r>
                      </m:sub>
                    </m:sSub>
                  </m:oMath>
                </a14:m>
                <a:r>
                  <a:rPr lang="en-CA" sz="2400" dirty="0">
                    <a:latin typeface="Arial" panose="020B0604020202020204" pitchFamily="34" charset="0"/>
                    <a:cs typeface="Arial" panose="020B0604020202020204" pitchFamily="34" charset="0"/>
                  </a:rPr>
                  <a:t>, and compute the corresponding total within intra-cluster variation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𝑊</m:t>
                        </m:r>
                      </m:e>
                      <m:sub>
                        <m:r>
                          <a:rPr lang="en-CA" sz="2400" b="0" i="1" dirty="0" smtClean="0">
                            <a:latin typeface="Cambria Math" panose="02040503050406030204" pitchFamily="18" charset="0"/>
                          </a:rPr>
                          <m:t>𝑘</m:t>
                        </m:r>
                      </m:sub>
                    </m:sSub>
                  </m:oMath>
                </a14:m>
                <a:r>
                  <a:rPr lang="en-CA" sz="2400" dirty="0">
                    <a:latin typeface="Arial" panose="020B0604020202020204" pitchFamily="34" charset="0"/>
                    <a:cs typeface="Arial" panose="020B0604020202020204" pitchFamily="34" charset="0"/>
                  </a:rPr>
                  <a:t>.</a:t>
                </a:r>
              </a:p>
              <a:p>
                <a:pPr marL="0" indent="0">
                  <a:lnSpc>
                    <a:spcPct val="150000"/>
                  </a:lnSpc>
                  <a:buNone/>
                </a:pPr>
                <a:r>
                  <a:rPr lang="en-CA" sz="2400" dirty="0">
                    <a:latin typeface="Arial" panose="020B0604020202020204" pitchFamily="34" charset="0"/>
                    <a:cs typeface="Arial" panose="020B0604020202020204" pitchFamily="34" charset="0"/>
                  </a:rPr>
                  <a:t>2. Generate B reference data sets with a random uniform distribution. Cluster </a:t>
                </a:r>
              </a:p>
              <a:p>
                <a:pPr marL="0" indent="0">
                  <a:lnSpc>
                    <a:spcPct val="150000"/>
                  </a:lnSpc>
                  <a:buNone/>
                </a:pPr>
                <a:r>
                  <a:rPr lang="en-CA" sz="2400" dirty="0">
                    <a:latin typeface="Arial" panose="020B0604020202020204" pitchFamily="34" charset="0"/>
                    <a:cs typeface="Arial" panose="020B0604020202020204" pitchFamily="34" charset="0"/>
                  </a:rPr>
                  <a:t>    each of these reference data sets with varying number of clusters k = 1, ..., </a:t>
                </a:r>
              </a:p>
              <a:p>
                <a:pPr marL="0" indent="0">
                  <a:lnSpc>
                    <a:spcPct val="150000"/>
                  </a:lnSpc>
                  <a:buNone/>
                </a:pPr>
                <a:r>
                  <a:rPr lang="en-CA" sz="2400" dirty="0">
                    <a:latin typeface="Arial" panose="020B0604020202020204" pitchFamily="34" charset="0"/>
                    <a:cs typeface="Arial" panose="020B0604020202020204" pitchFamily="34" charset="0"/>
                  </a:rPr>
                  <a:t>     </a:t>
                </a:r>
                <a14:m>
                  <m:oMath xmlns:m="http://schemas.openxmlformats.org/officeDocument/2006/math">
                    <m:sSub>
                      <m:sSubPr>
                        <m:ctrlPr>
                          <a:rPr lang="en-CA" sz="2400" i="1" dirty="0">
                            <a:latin typeface="Cambria Math" panose="02040503050406030204" pitchFamily="18" charset="0"/>
                          </a:rPr>
                        </m:ctrlPr>
                      </m:sSubPr>
                      <m:e>
                        <m:r>
                          <a:rPr lang="en-CA" sz="2400" i="1" dirty="0">
                            <a:latin typeface="Cambria Math" panose="02040503050406030204" pitchFamily="18" charset="0"/>
                          </a:rPr>
                          <m:t>𝑘</m:t>
                        </m:r>
                      </m:e>
                      <m:sub>
                        <m:r>
                          <a:rPr lang="en-CA" sz="2400" i="1" dirty="0">
                            <a:latin typeface="Cambria Math" panose="02040503050406030204" pitchFamily="18" charset="0"/>
                          </a:rPr>
                          <m:t>𝑚𝑎𝑥</m:t>
                        </m:r>
                      </m:sub>
                    </m:sSub>
                  </m:oMath>
                </a14:m>
                <a:r>
                  <a:rPr lang="en-CA" sz="2400" dirty="0">
                    <a:latin typeface="Arial" panose="020B0604020202020204" pitchFamily="34" charset="0"/>
                    <a:cs typeface="Arial" panose="020B0604020202020204" pitchFamily="34" charset="0"/>
                  </a:rPr>
                  <a:t>, and compute the corresponding total within intra-cluster variation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𝑊</m:t>
                        </m:r>
                      </m:e>
                      <m:sub>
                        <m:r>
                          <a:rPr lang="en-CA" sz="2400" b="0" i="1" dirty="0" smtClean="0">
                            <a:latin typeface="Cambria Math" panose="02040503050406030204" pitchFamily="18" charset="0"/>
                          </a:rPr>
                          <m:t>𝑘𝑏</m:t>
                        </m:r>
                      </m:sub>
                    </m:sSub>
                  </m:oMath>
                </a14:m>
                <a:r>
                  <a:rPr lang="en-CA" sz="2400" dirty="0">
                    <a:latin typeface="Arial" panose="020B0604020202020204" pitchFamily="34" charset="0"/>
                    <a:cs typeface="Arial" panose="020B0604020202020204" pitchFamily="34"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9634" y="1325563"/>
                <a:ext cx="11309169" cy="4351338"/>
              </a:xfrm>
              <a:blipFill>
                <a:blip r:embed="rId2"/>
                <a:stretch>
                  <a:fillRect l="-863" r="-809"/>
                </a:stretch>
              </a:blipFill>
            </p:spPr>
            <p:txBody>
              <a:bodyPr/>
              <a:lstStyle/>
              <a:p>
                <a:r>
                  <a:rPr lang="en-CA">
                    <a:noFill/>
                  </a:rPr>
                  <a:t> </a:t>
                </a:r>
              </a:p>
            </p:txBody>
          </p:sp>
        </mc:Fallback>
      </mc:AlternateContent>
      <p:pic>
        <p:nvPicPr>
          <p:cNvPr id="5" name="Picture 4"/>
          <p:cNvPicPr>
            <a:picLocks noChangeAspect="1"/>
          </p:cNvPicPr>
          <p:nvPr/>
        </p:nvPicPr>
        <p:blipFill>
          <a:blip r:embed="rId3"/>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633343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197" y="274320"/>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Gap Statistic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39634" y="1325562"/>
                <a:ext cx="11521440" cy="5872071"/>
              </a:xfrm>
            </p:spPr>
            <p:txBody>
              <a:bodyPr>
                <a:noAutofit/>
              </a:bodyPr>
              <a:lstStyle/>
              <a:p>
                <a:pPr marL="0" indent="0">
                  <a:lnSpc>
                    <a:spcPct val="150000"/>
                  </a:lnSpc>
                  <a:buNone/>
                </a:pPr>
                <a:r>
                  <a:rPr lang="en-CA" sz="2400" dirty="0">
                    <a:latin typeface="Arial" panose="020B0604020202020204" pitchFamily="34" charset="0"/>
                    <a:cs typeface="Arial" panose="020B0604020202020204" pitchFamily="34" charset="0"/>
                  </a:rPr>
                  <a:t>3. Compute the estimated gap statistic as the deviation of the observed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𝑊</m:t>
                        </m:r>
                      </m:e>
                      <m:sub>
                        <m:r>
                          <a:rPr lang="en-CA" sz="2400" b="0" i="1" dirty="0" smtClean="0">
                            <a:latin typeface="Cambria Math" panose="02040503050406030204" pitchFamily="18" charset="0"/>
                          </a:rPr>
                          <m:t>𝑘</m:t>
                        </m:r>
                      </m:sub>
                    </m:sSub>
                  </m:oMath>
                </a14:m>
                <a:r>
                  <a:rPr lang="en-CA" sz="2400" i="1" dirty="0">
                    <a:latin typeface="Arial" panose="020B0604020202020204" pitchFamily="34" charset="0"/>
                    <a:cs typeface="Arial" panose="020B0604020202020204" pitchFamily="34" charset="0"/>
                  </a:rPr>
                  <a:t> </a:t>
                </a:r>
                <a:r>
                  <a:rPr lang="en-CA" sz="2400" dirty="0">
                    <a:latin typeface="Arial" panose="020B0604020202020204" pitchFamily="34" charset="0"/>
                    <a:cs typeface="Arial" panose="020B0604020202020204" pitchFamily="34" charset="0"/>
                  </a:rPr>
                  <a:t>value from its expected value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𝑊</m:t>
                        </m:r>
                      </m:e>
                      <m:sub>
                        <m:r>
                          <a:rPr lang="en-CA" sz="2400" b="0" i="1" dirty="0" smtClean="0">
                            <a:latin typeface="Cambria Math" panose="02040503050406030204" pitchFamily="18" charset="0"/>
                          </a:rPr>
                          <m:t>𝑘𝑏</m:t>
                        </m:r>
                      </m:sub>
                    </m:sSub>
                  </m:oMath>
                </a14:m>
                <a:r>
                  <a:rPr lang="en-CA" sz="2400" i="1" dirty="0">
                    <a:latin typeface="Arial" panose="020B0604020202020204" pitchFamily="34" charset="0"/>
                    <a:cs typeface="Arial" panose="020B0604020202020204" pitchFamily="34" charset="0"/>
                  </a:rPr>
                  <a:t> </a:t>
                </a:r>
                <a:r>
                  <a:rPr lang="en-CA" sz="2400" dirty="0">
                    <a:latin typeface="Arial" panose="020B0604020202020204" pitchFamily="34" charset="0"/>
                    <a:cs typeface="Arial" panose="020B0604020202020204" pitchFamily="34" charset="0"/>
                  </a:rPr>
                  <a:t>under the null hypothesis: </a:t>
                </a:r>
                <a14:m>
                  <m:oMath xmlns:m="http://schemas.openxmlformats.org/officeDocument/2006/math">
                    <m:r>
                      <a:rPr lang="en-CA" sz="2400" i="1" dirty="0" smtClean="0">
                        <a:latin typeface="Cambria Math" panose="02040503050406030204" pitchFamily="18" charset="0"/>
                      </a:rPr>
                      <m:t>𝐺𝑎𝑝</m:t>
                    </m:r>
                    <m:d>
                      <m:dPr>
                        <m:ctrlPr>
                          <a:rPr lang="en-CA" sz="2400" i="1" dirty="0" smtClean="0">
                            <a:latin typeface="Cambria Math" panose="02040503050406030204" pitchFamily="18" charset="0"/>
                          </a:rPr>
                        </m:ctrlPr>
                      </m:dPr>
                      <m:e>
                        <m:r>
                          <a:rPr lang="en-CA" sz="2400" i="1" dirty="0" smtClean="0">
                            <a:latin typeface="Cambria Math" panose="02040503050406030204" pitchFamily="18" charset="0"/>
                          </a:rPr>
                          <m:t>𝑘</m:t>
                        </m:r>
                      </m:e>
                    </m:d>
                    <m:r>
                      <a:rPr lang="en-CA" sz="2400" i="1" dirty="0" smtClean="0">
                        <a:latin typeface="Cambria Math" panose="02040503050406030204" pitchFamily="18" charset="0"/>
                      </a:rPr>
                      <m:t>=</m:t>
                    </m:r>
                    <m:f>
                      <m:fPr>
                        <m:ctrlPr>
                          <a:rPr lang="en-CA" sz="2400" b="0" i="1" dirty="0" smtClean="0">
                            <a:latin typeface="Cambria Math" panose="02040503050406030204" pitchFamily="18" charset="0"/>
                          </a:rPr>
                        </m:ctrlPr>
                      </m:fPr>
                      <m:num>
                        <m:r>
                          <a:rPr lang="en-CA" sz="2400" i="1" dirty="0" smtClean="0">
                            <a:latin typeface="Cambria Math" panose="02040503050406030204" pitchFamily="18" charset="0"/>
                          </a:rPr>
                          <m:t>1</m:t>
                        </m:r>
                      </m:num>
                      <m:den>
                        <m:r>
                          <a:rPr lang="en-CA" sz="2400" b="0" i="1" dirty="0" smtClean="0">
                            <a:latin typeface="Cambria Math" panose="02040503050406030204" pitchFamily="18" charset="0"/>
                          </a:rPr>
                          <m:t>𝐵</m:t>
                        </m:r>
                      </m:den>
                    </m:f>
                    <m:r>
                      <a:rPr lang="en-CA" sz="2400" b="0" i="1" dirty="0" smtClean="0">
                        <a:latin typeface="Cambria Math" panose="02040503050406030204" pitchFamily="18" charset="0"/>
                      </a:rPr>
                      <m:t> </m:t>
                    </m:r>
                    <m:nary>
                      <m:naryPr>
                        <m:chr m:val="∑"/>
                        <m:ctrlPr>
                          <a:rPr lang="en-CA" sz="2400" b="0" i="1" dirty="0" smtClean="0">
                            <a:latin typeface="Cambria Math" panose="02040503050406030204" pitchFamily="18" charset="0"/>
                          </a:rPr>
                        </m:ctrlPr>
                      </m:naryPr>
                      <m:sub>
                        <m:r>
                          <a:rPr lang="en-CA" sz="2400" b="0" i="1" dirty="0" smtClean="0">
                            <a:latin typeface="Cambria Math" panose="02040503050406030204" pitchFamily="18" charset="0"/>
                          </a:rPr>
                          <m:t>𝑏</m:t>
                        </m:r>
                        <m:r>
                          <a:rPr lang="en-CA" sz="2400" b="0" i="1" dirty="0" smtClean="0">
                            <a:latin typeface="Cambria Math" panose="02040503050406030204" pitchFamily="18" charset="0"/>
                          </a:rPr>
                          <m:t>=1</m:t>
                        </m:r>
                      </m:sub>
                      <m:sup>
                        <m:r>
                          <a:rPr lang="en-CA" sz="2400" b="0" i="1" dirty="0" smtClean="0">
                            <a:latin typeface="Cambria Math" panose="02040503050406030204" pitchFamily="18" charset="0"/>
                          </a:rPr>
                          <m:t>𝐵</m:t>
                        </m:r>
                      </m:sup>
                      <m:e>
                        <m:func>
                          <m:funcPr>
                            <m:ctrlPr>
                              <a:rPr lang="en-CA" sz="2400" b="0" i="1" dirty="0" smtClean="0">
                                <a:latin typeface="Cambria Math" panose="02040503050406030204" pitchFamily="18" charset="0"/>
                              </a:rPr>
                            </m:ctrlPr>
                          </m:funcPr>
                          <m:fName>
                            <m:r>
                              <m:rPr>
                                <m:sty m:val="p"/>
                              </m:rPr>
                              <a:rPr lang="en-CA" sz="2400" b="0" i="0" dirty="0" smtClean="0">
                                <a:latin typeface="Cambria Math" panose="02040503050406030204" pitchFamily="18" charset="0"/>
                              </a:rPr>
                              <m:t>log</m:t>
                            </m:r>
                          </m:fName>
                          <m:e>
                            <m:d>
                              <m:dPr>
                                <m:ctrlPr>
                                  <a:rPr lang="en-CA" sz="2400" b="0" i="1" dirty="0" smtClean="0">
                                    <a:latin typeface="Cambria Math" panose="02040503050406030204" pitchFamily="18" charset="0"/>
                                  </a:rPr>
                                </m:ctrlPr>
                              </m:dPr>
                              <m:e>
                                <m:sSubSup>
                                  <m:sSubSupPr>
                                    <m:ctrlPr>
                                      <a:rPr lang="en-CA" sz="2400" b="0" i="1" dirty="0" smtClean="0">
                                        <a:latin typeface="Cambria Math" panose="02040503050406030204" pitchFamily="18" charset="0"/>
                                      </a:rPr>
                                    </m:ctrlPr>
                                  </m:sSubSupPr>
                                  <m:e>
                                    <m:r>
                                      <a:rPr lang="en-CA" sz="2400" b="0" i="1" dirty="0" smtClean="0">
                                        <a:latin typeface="Cambria Math" panose="02040503050406030204" pitchFamily="18" charset="0"/>
                                      </a:rPr>
                                      <m:t>𝑊</m:t>
                                    </m:r>
                                  </m:e>
                                  <m:sub>
                                    <m:r>
                                      <a:rPr lang="en-CA" sz="2400" b="0" i="1" dirty="0" smtClean="0">
                                        <a:latin typeface="Cambria Math" panose="02040503050406030204" pitchFamily="18" charset="0"/>
                                      </a:rPr>
                                      <m:t>𝑘𝑏</m:t>
                                    </m:r>
                                  </m:sub>
                                  <m:sup>
                                    <m:r>
                                      <a:rPr lang="en-CA" sz="2400" b="0" i="1" dirty="0" smtClean="0">
                                        <a:latin typeface="Cambria Math" panose="02040503050406030204" pitchFamily="18" charset="0"/>
                                      </a:rPr>
                                      <m:t>∗</m:t>
                                    </m:r>
                                  </m:sup>
                                </m:sSubSup>
                              </m:e>
                            </m:d>
                          </m:e>
                        </m:func>
                        <m:r>
                          <a:rPr lang="en-CA" sz="2400" b="0" i="1" dirty="0" smtClean="0">
                            <a:latin typeface="Cambria Math" panose="02040503050406030204" pitchFamily="18" charset="0"/>
                          </a:rPr>
                          <m:t>−</m:t>
                        </m:r>
                        <m:r>
                          <m:rPr>
                            <m:sty m:val="p"/>
                          </m:rPr>
                          <a:rPr lang="en-CA" sz="2400" dirty="0">
                            <a:latin typeface="Cambria Math" panose="02040503050406030204" pitchFamily="18" charset="0"/>
                          </a:rPr>
                          <m:t>log</m:t>
                        </m:r>
                        <m:r>
                          <a:rPr lang="en-CA" sz="2400" i="1" dirty="0">
                            <a:latin typeface="Cambria Math" panose="02040503050406030204" pitchFamily="18" charset="0"/>
                          </a:rPr>
                          <m:t>⁡(</m:t>
                        </m:r>
                        <m:sSub>
                          <m:sSubPr>
                            <m:ctrlPr>
                              <a:rPr lang="en-CA" sz="2400" b="0" i="1" dirty="0" smtClean="0">
                                <a:latin typeface="Cambria Math" panose="02040503050406030204" pitchFamily="18" charset="0"/>
                              </a:rPr>
                            </m:ctrlPr>
                          </m:sSubPr>
                          <m:e>
                            <m:r>
                              <a:rPr lang="en-CA" sz="2400" b="0" i="1" dirty="0" smtClean="0">
                                <a:latin typeface="Cambria Math" panose="02040503050406030204" pitchFamily="18" charset="0"/>
                              </a:rPr>
                              <m:t>𝑊</m:t>
                            </m:r>
                          </m:e>
                          <m:sub>
                            <m:r>
                              <a:rPr lang="en-CA" sz="2400" b="0" i="1" dirty="0" smtClean="0">
                                <a:latin typeface="Cambria Math" panose="02040503050406030204" pitchFamily="18" charset="0"/>
                              </a:rPr>
                              <m:t>𝑘</m:t>
                            </m:r>
                          </m:sub>
                        </m:sSub>
                        <m:r>
                          <a:rPr lang="en-CA" sz="2400" i="1" dirty="0">
                            <a:latin typeface="Cambria Math" panose="02040503050406030204" pitchFamily="18" charset="0"/>
                          </a:rPr>
                          <m:t>)</m:t>
                        </m:r>
                      </m:e>
                    </m:nary>
                    <m:r>
                      <a:rPr lang="en-CA" sz="2400" b="0" i="1" dirty="0" smtClean="0">
                        <a:latin typeface="Cambria Math" panose="02040503050406030204" pitchFamily="18" charset="0"/>
                      </a:rPr>
                      <m:t>. </m:t>
                    </m:r>
                    <m:r>
                      <a:rPr lang="en-CA" sz="2400" b="0" i="0" dirty="0" smtClean="0">
                        <a:latin typeface="Cambria Math" panose="02040503050406030204" pitchFamily="18" charset="0"/>
                      </a:rPr>
                      <m:t> </m:t>
                    </m:r>
                  </m:oMath>
                </a14:m>
                <a:r>
                  <a:rPr lang="en-CA" sz="2400" dirty="0">
                    <a:latin typeface="Arial" panose="020B0604020202020204" pitchFamily="34" charset="0"/>
                    <a:cs typeface="Arial" panose="020B0604020202020204" pitchFamily="34" charset="0"/>
                  </a:rPr>
                  <a:t>Compute also the standard deviation of the statistics. </a:t>
                </a:r>
              </a:p>
              <a:p>
                <a:pPr marL="0" indent="0">
                  <a:lnSpc>
                    <a:spcPct val="150000"/>
                  </a:lnSpc>
                  <a:buNone/>
                </a:pPr>
                <a:r>
                  <a:rPr lang="en-CA" sz="2400" dirty="0">
                    <a:latin typeface="Arial" panose="020B0604020202020204" pitchFamily="34" charset="0"/>
                    <a:cs typeface="Arial" panose="020B0604020202020204" pitchFamily="34" charset="0"/>
                  </a:rPr>
                  <a:t>4. Choose the number of clusters as the smallest value of k such that the gap statistic is within one standard deviation of the gap at k+1:  </a:t>
                </a:r>
                <a14:m>
                  <m:oMath xmlns:m="http://schemas.openxmlformats.org/officeDocument/2006/math">
                    <m:r>
                      <a:rPr lang="en-CA" sz="2400" b="0" i="1" smtClean="0">
                        <a:latin typeface="Cambria Math" panose="02040503050406030204" pitchFamily="18" charset="0"/>
                      </a:rPr>
                      <m:t>𝐺𝑎𝑝</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𝑘</m:t>
                        </m:r>
                      </m:e>
                    </m:d>
                    <m:r>
                      <a:rPr lang="en-CA" sz="2400" b="0" i="1" smtClean="0">
                        <a:latin typeface="Cambria Math" panose="02040503050406030204" pitchFamily="18" charset="0"/>
                      </a:rPr>
                      <m:t>≥</m:t>
                    </m:r>
                    <m:r>
                      <a:rPr lang="en-CA" sz="2400" b="0" i="1" smtClean="0">
                        <a:latin typeface="Cambria Math" panose="02040503050406030204" pitchFamily="18" charset="0"/>
                      </a:rPr>
                      <m:t>𝐺𝑎𝑝</m:t>
                    </m:r>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𝑘</m:t>
                        </m:r>
                        <m:r>
                          <a:rPr lang="en-CA" sz="2400" b="0" i="1" smtClean="0">
                            <a:latin typeface="Cambria Math" panose="02040503050406030204" pitchFamily="18" charset="0"/>
                          </a:rPr>
                          <m:t>+1</m:t>
                        </m:r>
                      </m:e>
                    </m:d>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𝑠</m:t>
                        </m:r>
                      </m:e>
                      <m:sub>
                        <m:r>
                          <a:rPr lang="en-CA" sz="2400" b="0" i="1" smtClean="0">
                            <a:latin typeface="Cambria Math" panose="02040503050406030204" pitchFamily="18" charset="0"/>
                          </a:rPr>
                          <m:t>𝑘</m:t>
                        </m:r>
                        <m:r>
                          <a:rPr lang="en-CA" sz="2400" b="0" i="1" smtClean="0">
                            <a:latin typeface="Cambria Math" panose="02040503050406030204" pitchFamily="18" charset="0"/>
                          </a:rPr>
                          <m:t>+1</m:t>
                        </m:r>
                      </m:sub>
                    </m:sSub>
                  </m:oMath>
                </a14:m>
                <a:r>
                  <a:rPr lang="en-CA" sz="2400" dirty="0">
                    <a:latin typeface="Arial" panose="020B0604020202020204" pitchFamily="34" charset="0"/>
                    <a:cs typeface="Arial" panose="020B0604020202020204" pitchFamily="34" charset="0"/>
                  </a:rPr>
                  <a:t>.</a:t>
                </a:r>
              </a:p>
              <a:p>
                <a:pPr marL="0" indent="0">
                  <a:lnSpc>
                    <a:spcPct val="150000"/>
                  </a:lnSpc>
                  <a:buNone/>
                </a:pPr>
                <a:r>
                  <a:rPr lang="en-CA" sz="2400" dirty="0">
                    <a:latin typeface="Arial" panose="020B0604020202020204" pitchFamily="34" charset="0"/>
                    <a:cs typeface="Arial" panose="020B0604020202020204" pitchFamily="34" charset="0"/>
                  </a:rPr>
                  <a:t>Note that, using B = 500 gives quite precise results so that the gap plot is basically unchanged after an another run.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39634" y="1325562"/>
                <a:ext cx="11521440" cy="5872071"/>
              </a:xfrm>
              <a:blipFill>
                <a:blip r:embed="rId2"/>
                <a:stretch>
                  <a:fillRect l="-847"/>
                </a:stretch>
              </a:blipFill>
            </p:spPr>
            <p:txBody>
              <a:bodyPr/>
              <a:lstStyle/>
              <a:p>
                <a:r>
                  <a:rPr lang="en-CA">
                    <a:noFill/>
                  </a:rPr>
                  <a:t> </a:t>
                </a:r>
              </a:p>
            </p:txBody>
          </p:sp>
        </mc:Fallback>
      </mc:AlternateContent>
      <p:pic>
        <p:nvPicPr>
          <p:cNvPr id="5" name="Picture 4"/>
          <p:cNvPicPr>
            <a:picLocks noChangeAspect="1"/>
          </p:cNvPicPr>
          <p:nvPr/>
        </p:nvPicPr>
        <p:blipFill>
          <a:blip r:embed="rId3"/>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621102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197" y="274320"/>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Computing the number of clusters using R</a:t>
            </a:r>
          </a:p>
        </p:txBody>
      </p:sp>
      <p:sp>
        <p:nvSpPr>
          <p:cNvPr id="3" name="Content Placeholder 2"/>
          <p:cNvSpPr>
            <a:spLocks noGrp="1"/>
          </p:cNvSpPr>
          <p:nvPr>
            <p:ph idx="1"/>
          </p:nvPr>
        </p:nvSpPr>
        <p:spPr>
          <a:xfrm>
            <a:off x="339634" y="1325562"/>
            <a:ext cx="11521440" cy="5872071"/>
          </a:xfrm>
        </p:spPr>
        <p:txBody>
          <a:bodyPr>
            <a:noAutofit/>
          </a:bodyPr>
          <a:lstStyle/>
          <a:p>
            <a:pPr marL="0" indent="0">
              <a:lnSpc>
                <a:spcPct val="150000"/>
              </a:lnSpc>
              <a:buNone/>
            </a:pPr>
            <a:r>
              <a:rPr lang="en-CA" i="1" dirty="0">
                <a:latin typeface="Arial" panose="020B0604020202020204" pitchFamily="34" charset="0"/>
                <a:cs typeface="Arial" panose="020B0604020202020204" pitchFamily="34" charset="0"/>
              </a:rPr>
              <a:t>The </a:t>
            </a:r>
            <a:r>
              <a:rPr lang="en-CA" i="1" dirty="0" err="1">
                <a:latin typeface="Arial" panose="020B0604020202020204" pitchFamily="34" charset="0"/>
                <a:cs typeface="Arial" panose="020B0604020202020204" pitchFamily="34" charset="0"/>
              </a:rPr>
              <a:t>fviz_nbclust</a:t>
            </a:r>
            <a:r>
              <a:rPr lang="en-CA" dirty="0">
                <a:latin typeface="Arial" panose="020B0604020202020204" pitchFamily="34" charset="0"/>
                <a:cs typeface="Arial" panose="020B0604020202020204" pitchFamily="34" charset="0"/>
              </a:rPr>
              <a:t>() function [in </a:t>
            </a:r>
            <a:r>
              <a:rPr lang="en-CA" i="1" dirty="0" err="1">
                <a:latin typeface="Arial" panose="020B0604020202020204" pitchFamily="34" charset="0"/>
                <a:cs typeface="Arial" panose="020B0604020202020204" pitchFamily="34" charset="0"/>
              </a:rPr>
              <a:t>factoextra</a:t>
            </a:r>
            <a:r>
              <a:rPr lang="en-CA" i="1"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R package]: It can be used to compute the three different methods [elbow, silhouette and gap statistic] for any partitioning clustering methods [K-means, K-medoids (PAM</a:t>
            </a:r>
            <a:r>
              <a:rPr lang="en-CA">
                <a:latin typeface="Arial" panose="020B0604020202020204" pitchFamily="34" charset="0"/>
                <a:cs typeface="Arial" panose="020B0604020202020204" pitchFamily="34" charset="0"/>
              </a:rPr>
              <a:t>), CLARA]. </a:t>
            </a:r>
            <a:endParaRPr lang="en-CA" dirty="0">
              <a:latin typeface="Arial" panose="020B0604020202020204" pitchFamily="34" charset="0"/>
              <a:cs typeface="Arial" panose="020B0604020202020204" pitchFamily="34" charset="0"/>
            </a:endParaRPr>
          </a:p>
          <a:p>
            <a:pPr marL="0" indent="0">
              <a:lnSpc>
                <a:spcPct val="150000"/>
              </a:lnSpc>
              <a:buNone/>
            </a:pPr>
            <a:endParaRPr lang="en-CA" sz="24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772956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197" y="274320"/>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Note</a:t>
            </a:r>
          </a:p>
        </p:txBody>
      </p:sp>
      <p:sp>
        <p:nvSpPr>
          <p:cNvPr id="3" name="Content Placeholder 2"/>
          <p:cNvSpPr>
            <a:spLocks noGrp="1"/>
          </p:cNvSpPr>
          <p:nvPr>
            <p:ph idx="1"/>
          </p:nvPr>
        </p:nvSpPr>
        <p:spPr>
          <a:xfrm>
            <a:off x="339634" y="1325562"/>
            <a:ext cx="11521440" cy="5872071"/>
          </a:xfrm>
        </p:spPr>
        <p:txBody>
          <a:bodyPr>
            <a:noAutofit/>
          </a:bodyPr>
          <a:lstStyle/>
          <a:p>
            <a:pPr>
              <a:lnSpc>
                <a:spcPct val="200000"/>
              </a:lnSpc>
            </a:pPr>
            <a:r>
              <a:rPr lang="en-CA" dirty="0">
                <a:latin typeface="Arial" panose="020B0604020202020204" pitchFamily="34" charset="0"/>
                <a:cs typeface="Arial" panose="020B0604020202020204" pitchFamily="34" charset="0"/>
              </a:rPr>
              <a:t>The disadvantage of elbow and average silhouette methods is that, they measure a global clustering characteristic only. A more sophisticated method is to use the gap statistic which provides a statistical procedure to formalize the elbow/silhouette heuristic in order to estimate the optimal number of clusters.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691479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9391</TotalTime>
  <Words>977</Words>
  <Application>Microsoft Office PowerPoint</Application>
  <PresentationFormat>Widescreen</PresentationFormat>
  <Paragraphs>51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Cambria Math</vt:lpstr>
      <vt:lpstr>Office Theme</vt:lpstr>
      <vt:lpstr>Optimal Number of Clusters</vt:lpstr>
      <vt:lpstr>Determining the Optimal Number of Clusters</vt:lpstr>
      <vt:lpstr>Determining the Optimal Number of Clusters</vt:lpstr>
      <vt:lpstr>Determining the Optimal Number of Clusters</vt:lpstr>
      <vt:lpstr>Elbow Method</vt:lpstr>
      <vt:lpstr>Elbow Method</vt:lpstr>
      <vt:lpstr>Elbow Method</vt:lpstr>
      <vt:lpstr>Elbow Method</vt:lpstr>
      <vt:lpstr>Average silhouette method</vt:lpstr>
      <vt:lpstr>Silhouette Coefficient</vt:lpstr>
      <vt:lpstr>Average silhouette method</vt:lpstr>
      <vt:lpstr>Gap Statistic</vt:lpstr>
      <vt:lpstr>Gap Statistic</vt:lpstr>
      <vt:lpstr>Gap Statistic</vt:lpstr>
      <vt:lpstr>Computing the number of clusters using R</vt:lpstr>
      <vt:lpstr>Note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Announcements!!!!</dc:title>
  <dc:creator>jagyeman</dc:creator>
  <cp:lastModifiedBy>Yew-Wei Lim</cp:lastModifiedBy>
  <cp:revision>72</cp:revision>
  <dcterms:created xsi:type="dcterms:W3CDTF">2022-09-11T21:24:29Z</dcterms:created>
  <dcterms:modified xsi:type="dcterms:W3CDTF">2023-06-16T19:48:44Z</dcterms:modified>
</cp:coreProperties>
</file>