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9" r:id="rId5"/>
    <p:sldId id="274" r:id="rId6"/>
    <p:sldId id="278" r:id="rId7"/>
    <p:sldId id="280" r:id="rId8"/>
    <p:sldId id="281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IV Cluster Validation Statistics</a:t>
            </a:r>
          </a:p>
          <a:p>
            <a:r>
              <a:rPr lang="en-CA" dirty="0"/>
              <a:t>Part 3 – Connectivity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4A757-854E-64A5-E36B-7468B33C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B4B2-08E9-E65B-A01A-22A32FB1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Connectivity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F71F-FE4E-96A2-36C9-AA5CA0601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Recap:   We learnt in previous classes that clusters should be </a:t>
            </a:r>
            <a:r>
              <a:rPr lang="en-CA" u="sng" dirty="0"/>
              <a:t>c________ and </a:t>
            </a:r>
            <a:r>
              <a:rPr lang="en-CA" dirty="0"/>
              <a:t>w_____-</a:t>
            </a:r>
            <a:r>
              <a:rPr lang="en-CA" u="sng" dirty="0"/>
              <a:t>s_________________. [Hence the use of Dunn Index as a cluster validation technique.]</a:t>
            </a:r>
          </a:p>
          <a:p>
            <a:endParaRPr lang="en-CA" u="sng" dirty="0"/>
          </a:p>
          <a:p>
            <a:r>
              <a:rPr lang="en-CA" dirty="0"/>
              <a:t>In addition, you will learn today that clusters should also be </a:t>
            </a:r>
            <a:r>
              <a:rPr lang="en-CA" b="1" dirty="0"/>
              <a:t>connected </a:t>
            </a:r>
            <a:r>
              <a:rPr lang="en-CA" dirty="0"/>
              <a:t>and </a:t>
            </a:r>
            <a:r>
              <a:rPr lang="en-CA" b="1" dirty="0"/>
              <a:t>stable. 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6417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57BAD-9273-0A80-4A82-A8F84FCBE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7803-1EE2-F118-8ED1-C3E0E817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Connectedness / Connectivity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863FB-19A8-F9DD-C53A-3A8BFEB1F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Connectedness (measured by connectivity) corresponds to what extent items are placed in the same cluster as their nearest neighbours in the data space.</a:t>
            </a:r>
          </a:p>
          <a:p>
            <a:endParaRPr lang="en-CA" dirty="0"/>
          </a:p>
          <a:p>
            <a:r>
              <a:rPr lang="en-CA" dirty="0"/>
              <a:t>Close neighbours that are put in different clusters are penalized.</a:t>
            </a:r>
          </a:p>
          <a:p>
            <a:endParaRPr lang="en-CA" dirty="0"/>
          </a:p>
          <a:p>
            <a:r>
              <a:rPr lang="en-CA" dirty="0"/>
              <a:t>Important:   Smallest value of Connectivity is 0.   You will see why when you understand how connectivity is calculated.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6125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CC555-7B77-C157-6AA8-CADB373C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7B7F-F126-38B6-601B-575BC2C5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calculate </a:t>
            </a:r>
            <a:r>
              <a:rPr lang="en-CA" dirty="0" err="1"/>
              <a:t>Connectivty</a:t>
            </a:r>
            <a:r>
              <a:rPr lang="en-CA" dirty="0"/>
              <a:t>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828B9-A0A3-4B5D-BFA5-E75B0CDA0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As an example: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Use number of neighbours to be 2 to calculate the Connectivity of the data set drawn.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4E7E38-0D70-B7E0-F7F7-1A4748522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904" y="1238250"/>
            <a:ext cx="4728504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5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56DC-1B10-C342-F97D-971F2161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E3D3-82E1-B8C8-2831-AA1597BAF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Practice question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8A27C-449E-D8E3-324B-DCEF0AF23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endParaRPr lang="en-CA" dirty="0"/>
          </a:p>
          <a:p>
            <a:r>
              <a:rPr lang="en-CA" dirty="0"/>
              <a:t>Calculate Connectivity for the same data set using number of nearest neighbours = 3.</a:t>
            </a:r>
          </a:p>
        </p:txBody>
      </p:sp>
    </p:spTree>
    <p:extLst>
      <p:ext uri="{BB962C8B-B14F-4D97-AF65-F5344CB8AC3E}">
        <p14:creationId xmlns:p14="http://schemas.microsoft.com/office/powerpoint/2010/main" val="116745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A5189-A07B-2D74-EDC3-ADC687E5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7FD1-E772-92D8-BFD4-577847B6E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 code: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CB6C3-3B4A-C09A-FC4F-A89BB6A0B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You can obtain connectivity scores using </a:t>
            </a:r>
            <a:r>
              <a:rPr lang="en-CA" dirty="0" err="1"/>
              <a:t>clValid</a:t>
            </a:r>
            <a:r>
              <a:rPr lang="en-CA" dirty="0"/>
              <a:t> package (thick document that is handed out to you). 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Command:</a:t>
            </a:r>
          </a:p>
          <a:p>
            <a:pPr marL="0" indent="0">
              <a:buNone/>
            </a:pPr>
            <a:r>
              <a:rPr lang="en-CA" dirty="0"/>
              <a:t>connectivity(</a:t>
            </a:r>
            <a:r>
              <a:rPr lang="en-CA" dirty="0" err="1"/>
              <a:t>distance_matrix</a:t>
            </a:r>
            <a:r>
              <a:rPr lang="en-CA" dirty="0"/>
              <a:t>, cluster, </a:t>
            </a:r>
            <a:r>
              <a:rPr lang="en-CA" dirty="0" err="1"/>
              <a:t>neighbSize</a:t>
            </a:r>
            <a:r>
              <a:rPr lang="en-CA" dirty="0"/>
              <a:t> = 2)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See Worksheet 20 for example of R code.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966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45BD-5F31-6475-AC82-9E976F07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code for exercise (continue next page)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01A6C4E-4229-09D5-4C1A-17E8689E3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2319" y="1690688"/>
            <a:ext cx="7520785" cy="42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43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485AC-89BD-9515-6172-7EE03864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Continuation: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3FAB3B-59C3-EF0B-E199-763348104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6099" y="1466849"/>
            <a:ext cx="6753225" cy="448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69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220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DANA 4840</vt:lpstr>
      <vt:lpstr>Connectivity</vt:lpstr>
      <vt:lpstr>Connectedness / Connectivity</vt:lpstr>
      <vt:lpstr>How to calculate Connectivty?</vt:lpstr>
      <vt:lpstr>Practice question</vt:lpstr>
      <vt:lpstr>R code:</vt:lpstr>
      <vt:lpstr>R code for exercise (continue next page)</vt:lpstr>
      <vt:lpstr>Continuation: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 4840</dc:title>
  <dc:creator>Yew-Wei Lim</dc:creator>
  <cp:lastModifiedBy>Yew-Wei Lim</cp:lastModifiedBy>
  <cp:revision>50</cp:revision>
  <cp:lastPrinted>2025-10-06T01:00:42Z</cp:lastPrinted>
  <dcterms:created xsi:type="dcterms:W3CDTF">2025-08-31T18:59:20Z</dcterms:created>
  <dcterms:modified xsi:type="dcterms:W3CDTF">2025-11-10T05:38:40Z</dcterms:modified>
</cp:coreProperties>
</file>