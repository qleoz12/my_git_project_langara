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0" r:id="rId7"/>
    <p:sldId id="264" r:id="rId8"/>
    <p:sldId id="265" r:id="rId9"/>
    <p:sldId id="261" r:id="rId10"/>
    <p:sldId id="263" r:id="rId11"/>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C4ADD-9090-60BA-96B8-A412B21A1D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E67D1C1-1BBF-7255-DB1F-8D04B71350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88C33FD-6560-2D20-0AB0-244EC85EB801}"/>
              </a:ext>
            </a:extLst>
          </p:cNvPr>
          <p:cNvSpPr>
            <a:spLocks noGrp="1"/>
          </p:cNvSpPr>
          <p:nvPr>
            <p:ph type="dt" sz="half" idx="10"/>
          </p:nvPr>
        </p:nvSpPr>
        <p:spPr/>
        <p:txBody>
          <a:bodyPr/>
          <a:lstStyle/>
          <a:p>
            <a:fld id="{FD095DA4-6D81-44BE-B2E1-2D492887A84C}" type="datetimeFigureOut">
              <a:rPr lang="en-US" smtClean="0"/>
              <a:t>9/2/2025</a:t>
            </a:fld>
            <a:endParaRPr lang="en-US"/>
          </a:p>
        </p:txBody>
      </p:sp>
      <p:sp>
        <p:nvSpPr>
          <p:cNvPr id="5" name="Footer Placeholder 4">
            <a:extLst>
              <a:ext uri="{FF2B5EF4-FFF2-40B4-BE49-F238E27FC236}">
                <a16:creationId xmlns:a16="http://schemas.microsoft.com/office/drawing/2014/main" id="{EF381B98-2BD6-7FED-6607-5F67AD2B14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714245-EA64-A824-D791-9F6A34018A85}"/>
              </a:ext>
            </a:extLst>
          </p:cNvPr>
          <p:cNvSpPr>
            <a:spLocks noGrp="1"/>
          </p:cNvSpPr>
          <p:nvPr>
            <p:ph type="sldNum" sz="quarter" idx="12"/>
          </p:nvPr>
        </p:nvSpPr>
        <p:spPr/>
        <p:txBody>
          <a:bodyPr/>
          <a:lstStyle/>
          <a:p>
            <a:fld id="{B972800F-5341-410B-92EF-F0507DD1BCB1}" type="slidenum">
              <a:rPr lang="en-US" smtClean="0"/>
              <a:t>‹#›</a:t>
            </a:fld>
            <a:endParaRPr lang="en-US"/>
          </a:p>
        </p:txBody>
      </p:sp>
    </p:spTree>
    <p:extLst>
      <p:ext uri="{BB962C8B-B14F-4D97-AF65-F5344CB8AC3E}">
        <p14:creationId xmlns:p14="http://schemas.microsoft.com/office/powerpoint/2010/main" val="4185856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44987-D91E-E747-8448-3E1B72FF6D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4ACEB8-BDD9-12BA-72A1-5917E3DC5E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9CB00E-B236-D878-971A-37D47F3432A9}"/>
              </a:ext>
            </a:extLst>
          </p:cNvPr>
          <p:cNvSpPr>
            <a:spLocks noGrp="1"/>
          </p:cNvSpPr>
          <p:nvPr>
            <p:ph type="dt" sz="half" idx="10"/>
          </p:nvPr>
        </p:nvSpPr>
        <p:spPr/>
        <p:txBody>
          <a:bodyPr/>
          <a:lstStyle/>
          <a:p>
            <a:fld id="{FD095DA4-6D81-44BE-B2E1-2D492887A84C}" type="datetimeFigureOut">
              <a:rPr lang="en-US" smtClean="0"/>
              <a:t>9/2/2025</a:t>
            </a:fld>
            <a:endParaRPr lang="en-US"/>
          </a:p>
        </p:txBody>
      </p:sp>
      <p:sp>
        <p:nvSpPr>
          <p:cNvPr id="5" name="Footer Placeholder 4">
            <a:extLst>
              <a:ext uri="{FF2B5EF4-FFF2-40B4-BE49-F238E27FC236}">
                <a16:creationId xmlns:a16="http://schemas.microsoft.com/office/drawing/2014/main" id="{19BE0E9A-2B55-84A1-CDA7-F1D75DF20E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127AB3-3E68-862F-4001-FC1E69003B7C}"/>
              </a:ext>
            </a:extLst>
          </p:cNvPr>
          <p:cNvSpPr>
            <a:spLocks noGrp="1"/>
          </p:cNvSpPr>
          <p:nvPr>
            <p:ph type="sldNum" sz="quarter" idx="12"/>
          </p:nvPr>
        </p:nvSpPr>
        <p:spPr/>
        <p:txBody>
          <a:bodyPr/>
          <a:lstStyle/>
          <a:p>
            <a:fld id="{B972800F-5341-410B-92EF-F0507DD1BCB1}" type="slidenum">
              <a:rPr lang="en-US" smtClean="0"/>
              <a:t>‹#›</a:t>
            </a:fld>
            <a:endParaRPr lang="en-US"/>
          </a:p>
        </p:txBody>
      </p:sp>
    </p:spTree>
    <p:extLst>
      <p:ext uri="{BB962C8B-B14F-4D97-AF65-F5344CB8AC3E}">
        <p14:creationId xmlns:p14="http://schemas.microsoft.com/office/powerpoint/2010/main" val="1648649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B96E0-6F0E-5CD0-FF3A-6C37D0D7FC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6C81E52-9962-6990-E97C-516B7DF5510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1F9010-91FC-387E-387F-5077AD0C68BE}"/>
              </a:ext>
            </a:extLst>
          </p:cNvPr>
          <p:cNvSpPr>
            <a:spLocks noGrp="1"/>
          </p:cNvSpPr>
          <p:nvPr>
            <p:ph type="dt" sz="half" idx="10"/>
          </p:nvPr>
        </p:nvSpPr>
        <p:spPr/>
        <p:txBody>
          <a:bodyPr/>
          <a:lstStyle/>
          <a:p>
            <a:fld id="{FD095DA4-6D81-44BE-B2E1-2D492887A84C}" type="datetimeFigureOut">
              <a:rPr lang="en-US" smtClean="0"/>
              <a:t>9/2/2025</a:t>
            </a:fld>
            <a:endParaRPr lang="en-US"/>
          </a:p>
        </p:txBody>
      </p:sp>
      <p:sp>
        <p:nvSpPr>
          <p:cNvPr id="5" name="Footer Placeholder 4">
            <a:extLst>
              <a:ext uri="{FF2B5EF4-FFF2-40B4-BE49-F238E27FC236}">
                <a16:creationId xmlns:a16="http://schemas.microsoft.com/office/drawing/2014/main" id="{0B5405D0-3C8E-1306-BE60-699AAAAC5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346FB9-1DE1-825A-B56C-A4EA5DE358D4}"/>
              </a:ext>
            </a:extLst>
          </p:cNvPr>
          <p:cNvSpPr>
            <a:spLocks noGrp="1"/>
          </p:cNvSpPr>
          <p:nvPr>
            <p:ph type="sldNum" sz="quarter" idx="12"/>
          </p:nvPr>
        </p:nvSpPr>
        <p:spPr/>
        <p:txBody>
          <a:bodyPr/>
          <a:lstStyle/>
          <a:p>
            <a:fld id="{B972800F-5341-410B-92EF-F0507DD1BCB1}" type="slidenum">
              <a:rPr lang="en-US" smtClean="0"/>
              <a:t>‹#›</a:t>
            </a:fld>
            <a:endParaRPr lang="en-US"/>
          </a:p>
        </p:txBody>
      </p:sp>
    </p:spTree>
    <p:extLst>
      <p:ext uri="{BB962C8B-B14F-4D97-AF65-F5344CB8AC3E}">
        <p14:creationId xmlns:p14="http://schemas.microsoft.com/office/powerpoint/2010/main" val="3336266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73E5C-DE36-2129-1514-A60596513B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CEC802-D4A2-0032-A948-31A659643D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010F45-B9BA-EA3B-0196-552F1B59C3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9E9696E-138F-639F-C285-5F68A1FB7B32}"/>
              </a:ext>
            </a:extLst>
          </p:cNvPr>
          <p:cNvSpPr>
            <a:spLocks noGrp="1"/>
          </p:cNvSpPr>
          <p:nvPr>
            <p:ph type="dt" sz="half" idx="10"/>
          </p:nvPr>
        </p:nvSpPr>
        <p:spPr/>
        <p:txBody>
          <a:bodyPr/>
          <a:lstStyle/>
          <a:p>
            <a:fld id="{FD095DA4-6D81-44BE-B2E1-2D492887A84C}" type="datetimeFigureOut">
              <a:rPr lang="en-US" smtClean="0"/>
              <a:t>9/2/2025</a:t>
            </a:fld>
            <a:endParaRPr lang="en-US"/>
          </a:p>
        </p:txBody>
      </p:sp>
      <p:sp>
        <p:nvSpPr>
          <p:cNvPr id="6" name="Footer Placeholder 5">
            <a:extLst>
              <a:ext uri="{FF2B5EF4-FFF2-40B4-BE49-F238E27FC236}">
                <a16:creationId xmlns:a16="http://schemas.microsoft.com/office/drawing/2014/main" id="{065A251A-CAAE-D370-ED67-871A746509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821D36-EBAF-9CA2-DEBD-9467605823EE}"/>
              </a:ext>
            </a:extLst>
          </p:cNvPr>
          <p:cNvSpPr>
            <a:spLocks noGrp="1"/>
          </p:cNvSpPr>
          <p:nvPr>
            <p:ph type="sldNum" sz="quarter" idx="12"/>
          </p:nvPr>
        </p:nvSpPr>
        <p:spPr/>
        <p:txBody>
          <a:bodyPr/>
          <a:lstStyle/>
          <a:p>
            <a:fld id="{B972800F-5341-410B-92EF-F0507DD1BCB1}" type="slidenum">
              <a:rPr lang="en-US" smtClean="0"/>
              <a:t>‹#›</a:t>
            </a:fld>
            <a:endParaRPr lang="en-US"/>
          </a:p>
        </p:txBody>
      </p:sp>
    </p:spTree>
    <p:extLst>
      <p:ext uri="{BB962C8B-B14F-4D97-AF65-F5344CB8AC3E}">
        <p14:creationId xmlns:p14="http://schemas.microsoft.com/office/powerpoint/2010/main" val="627696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A5244-C79C-533F-8BD7-CB6F8231838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9FEDE2C-F0A6-CC70-1F74-C33A749AD2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0A0F0C3-466E-668E-73A7-24D8F8EEF6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61009EC-6F60-3C4F-7FFC-EE93AEDC21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CC73FB-7797-7546-C094-635F2C8EB9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CF3982-6118-A403-A19B-F53E36938090}"/>
              </a:ext>
            </a:extLst>
          </p:cNvPr>
          <p:cNvSpPr>
            <a:spLocks noGrp="1"/>
          </p:cNvSpPr>
          <p:nvPr>
            <p:ph type="dt" sz="half" idx="10"/>
          </p:nvPr>
        </p:nvSpPr>
        <p:spPr/>
        <p:txBody>
          <a:bodyPr/>
          <a:lstStyle/>
          <a:p>
            <a:fld id="{FD095DA4-6D81-44BE-B2E1-2D492887A84C}" type="datetimeFigureOut">
              <a:rPr lang="en-US" smtClean="0"/>
              <a:t>9/2/2025</a:t>
            </a:fld>
            <a:endParaRPr lang="en-US"/>
          </a:p>
        </p:txBody>
      </p:sp>
      <p:sp>
        <p:nvSpPr>
          <p:cNvPr id="8" name="Footer Placeholder 7">
            <a:extLst>
              <a:ext uri="{FF2B5EF4-FFF2-40B4-BE49-F238E27FC236}">
                <a16:creationId xmlns:a16="http://schemas.microsoft.com/office/drawing/2014/main" id="{2FE18FF4-6CFF-4AE4-E151-C25669E200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9C7255D-C774-BE19-9A13-F4E7B07BB2F0}"/>
              </a:ext>
            </a:extLst>
          </p:cNvPr>
          <p:cNvSpPr>
            <a:spLocks noGrp="1"/>
          </p:cNvSpPr>
          <p:nvPr>
            <p:ph type="sldNum" sz="quarter" idx="12"/>
          </p:nvPr>
        </p:nvSpPr>
        <p:spPr/>
        <p:txBody>
          <a:bodyPr/>
          <a:lstStyle/>
          <a:p>
            <a:fld id="{B972800F-5341-410B-92EF-F0507DD1BCB1}" type="slidenum">
              <a:rPr lang="en-US" smtClean="0"/>
              <a:t>‹#›</a:t>
            </a:fld>
            <a:endParaRPr lang="en-US"/>
          </a:p>
        </p:txBody>
      </p:sp>
    </p:spTree>
    <p:extLst>
      <p:ext uri="{BB962C8B-B14F-4D97-AF65-F5344CB8AC3E}">
        <p14:creationId xmlns:p14="http://schemas.microsoft.com/office/powerpoint/2010/main" val="3205651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42D4E-A1CF-CFEA-5C35-5AA995982FF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E8B2B73-0330-5398-C5A8-CBB3B4EC4332}"/>
              </a:ext>
            </a:extLst>
          </p:cNvPr>
          <p:cNvSpPr>
            <a:spLocks noGrp="1"/>
          </p:cNvSpPr>
          <p:nvPr>
            <p:ph type="dt" sz="half" idx="10"/>
          </p:nvPr>
        </p:nvSpPr>
        <p:spPr/>
        <p:txBody>
          <a:bodyPr/>
          <a:lstStyle/>
          <a:p>
            <a:fld id="{FD095DA4-6D81-44BE-B2E1-2D492887A84C}" type="datetimeFigureOut">
              <a:rPr lang="en-US" smtClean="0"/>
              <a:t>9/2/2025</a:t>
            </a:fld>
            <a:endParaRPr lang="en-US"/>
          </a:p>
        </p:txBody>
      </p:sp>
      <p:sp>
        <p:nvSpPr>
          <p:cNvPr id="4" name="Footer Placeholder 3">
            <a:extLst>
              <a:ext uri="{FF2B5EF4-FFF2-40B4-BE49-F238E27FC236}">
                <a16:creationId xmlns:a16="http://schemas.microsoft.com/office/drawing/2014/main" id="{0A0FC741-0256-B4A3-A44E-192468BB11D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DFE38FF-E5E0-457A-7F63-6787C8C8E6A2}"/>
              </a:ext>
            </a:extLst>
          </p:cNvPr>
          <p:cNvSpPr>
            <a:spLocks noGrp="1"/>
          </p:cNvSpPr>
          <p:nvPr>
            <p:ph type="sldNum" sz="quarter" idx="12"/>
          </p:nvPr>
        </p:nvSpPr>
        <p:spPr/>
        <p:txBody>
          <a:bodyPr/>
          <a:lstStyle/>
          <a:p>
            <a:fld id="{B972800F-5341-410B-92EF-F0507DD1BCB1}" type="slidenum">
              <a:rPr lang="en-US" smtClean="0"/>
              <a:t>‹#›</a:t>
            </a:fld>
            <a:endParaRPr lang="en-US"/>
          </a:p>
        </p:txBody>
      </p:sp>
    </p:spTree>
    <p:extLst>
      <p:ext uri="{BB962C8B-B14F-4D97-AF65-F5344CB8AC3E}">
        <p14:creationId xmlns:p14="http://schemas.microsoft.com/office/powerpoint/2010/main" val="1764657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E75D81-570F-BA0A-EA7C-CE2C8CD9CBF2}"/>
              </a:ext>
            </a:extLst>
          </p:cNvPr>
          <p:cNvSpPr>
            <a:spLocks noGrp="1"/>
          </p:cNvSpPr>
          <p:nvPr>
            <p:ph type="dt" sz="half" idx="10"/>
          </p:nvPr>
        </p:nvSpPr>
        <p:spPr/>
        <p:txBody>
          <a:bodyPr/>
          <a:lstStyle/>
          <a:p>
            <a:fld id="{FD095DA4-6D81-44BE-B2E1-2D492887A84C}" type="datetimeFigureOut">
              <a:rPr lang="en-US" smtClean="0"/>
              <a:t>9/2/2025</a:t>
            </a:fld>
            <a:endParaRPr lang="en-US"/>
          </a:p>
        </p:txBody>
      </p:sp>
      <p:sp>
        <p:nvSpPr>
          <p:cNvPr id="3" name="Footer Placeholder 2">
            <a:extLst>
              <a:ext uri="{FF2B5EF4-FFF2-40B4-BE49-F238E27FC236}">
                <a16:creationId xmlns:a16="http://schemas.microsoft.com/office/drawing/2014/main" id="{8F9AAB19-8090-2B0E-D2F2-ECC1F697673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DB3087A-A5EE-98FE-8FA0-9A8C956B019D}"/>
              </a:ext>
            </a:extLst>
          </p:cNvPr>
          <p:cNvSpPr>
            <a:spLocks noGrp="1"/>
          </p:cNvSpPr>
          <p:nvPr>
            <p:ph type="sldNum" sz="quarter" idx="12"/>
          </p:nvPr>
        </p:nvSpPr>
        <p:spPr/>
        <p:txBody>
          <a:bodyPr/>
          <a:lstStyle/>
          <a:p>
            <a:fld id="{B972800F-5341-410B-92EF-F0507DD1BCB1}" type="slidenum">
              <a:rPr lang="en-US" smtClean="0"/>
              <a:t>‹#›</a:t>
            </a:fld>
            <a:endParaRPr lang="en-US"/>
          </a:p>
        </p:txBody>
      </p:sp>
    </p:spTree>
    <p:extLst>
      <p:ext uri="{BB962C8B-B14F-4D97-AF65-F5344CB8AC3E}">
        <p14:creationId xmlns:p14="http://schemas.microsoft.com/office/powerpoint/2010/main" val="4165564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B3B78-8A4F-6AEA-0B23-56D8079D63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EE3792-260D-5479-4226-C56BF1232E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CDC5376-C0F1-D663-EDBC-2C9426616F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7D6F26-1DD9-91CF-D09F-4F39B52CCCC7}"/>
              </a:ext>
            </a:extLst>
          </p:cNvPr>
          <p:cNvSpPr>
            <a:spLocks noGrp="1"/>
          </p:cNvSpPr>
          <p:nvPr>
            <p:ph type="dt" sz="half" idx="10"/>
          </p:nvPr>
        </p:nvSpPr>
        <p:spPr/>
        <p:txBody>
          <a:bodyPr/>
          <a:lstStyle/>
          <a:p>
            <a:fld id="{FD095DA4-6D81-44BE-B2E1-2D492887A84C}" type="datetimeFigureOut">
              <a:rPr lang="en-US" smtClean="0"/>
              <a:t>9/2/2025</a:t>
            </a:fld>
            <a:endParaRPr lang="en-US"/>
          </a:p>
        </p:txBody>
      </p:sp>
      <p:sp>
        <p:nvSpPr>
          <p:cNvPr id="6" name="Footer Placeholder 5">
            <a:extLst>
              <a:ext uri="{FF2B5EF4-FFF2-40B4-BE49-F238E27FC236}">
                <a16:creationId xmlns:a16="http://schemas.microsoft.com/office/drawing/2014/main" id="{D6494565-85A8-4DCF-27A0-AD2DBEAA7E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752FD0-CAF7-83F1-FC80-A5A45EA1FC0A}"/>
              </a:ext>
            </a:extLst>
          </p:cNvPr>
          <p:cNvSpPr>
            <a:spLocks noGrp="1"/>
          </p:cNvSpPr>
          <p:nvPr>
            <p:ph type="sldNum" sz="quarter" idx="12"/>
          </p:nvPr>
        </p:nvSpPr>
        <p:spPr/>
        <p:txBody>
          <a:bodyPr/>
          <a:lstStyle/>
          <a:p>
            <a:fld id="{B972800F-5341-410B-92EF-F0507DD1BCB1}" type="slidenum">
              <a:rPr lang="en-US" smtClean="0"/>
              <a:t>‹#›</a:t>
            </a:fld>
            <a:endParaRPr lang="en-US"/>
          </a:p>
        </p:txBody>
      </p:sp>
    </p:spTree>
    <p:extLst>
      <p:ext uri="{BB962C8B-B14F-4D97-AF65-F5344CB8AC3E}">
        <p14:creationId xmlns:p14="http://schemas.microsoft.com/office/powerpoint/2010/main" val="11601012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620A1-2D90-B2D4-275C-6FD5965489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5C84FFA-4960-92EC-EA1D-016233B4FA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9E91601-DAC6-F9C7-D732-726BCD93D8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1C4BD6-090C-7F0E-D575-CAFBD73D6295}"/>
              </a:ext>
            </a:extLst>
          </p:cNvPr>
          <p:cNvSpPr>
            <a:spLocks noGrp="1"/>
          </p:cNvSpPr>
          <p:nvPr>
            <p:ph type="dt" sz="half" idx="10"/>
          </p:nvPr>
        </p:nvSpPr>
        <p:spPr/>
        <p:txBody>
          <a:bodyPr/>
          <a:lstStyle/>
          <a:p>
            <a:fld id="{FD095DA4-6D81-44BE-B2E1-2D492887A84C}" type="datetimeFigureOut">
              <a:rPr lang="en-US" smtClean="0"/>
              <a:t>9/2/2025</a:t>
            </a:fld>
            <a:endParaRPr lang="en-US"/>
          </a:p>
        </p:txBody>
      </p:sp>
      <p:sp>
        <p:nvSpPr>
          <p:cNvPr id="6" name="Footer Placeholder 5">
            <a:extLst>
              <a:ext uri="{FF2B5EF4-FFF2-40B4-BE49-F238E27FC236}">
                <a16:creationId xmlns:a16="http://schemas.microsoft.com/office/drawing/2014/main" id="{47ECC1EC-DB79-DACF-F2ED-14D7ADE4F9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9D661C-80F4-A05E-D8AC-16FC660202FA}"/>
              </a:ext>
            </a:extLst>
          </p:cNvPr>
          <p:cNvSpPr>
            <a:spLocks noGrp="1"/>
          </p:cNvSpPr>
          <p:nvPr>
            <p:ph type="sldNum" sz="quarter" idx="12"/>
          </p:nvPr>
        </p:nvSpPr>
        <p:spPr/>
        <p:txBody>
          <a:bodyPr/>
          <a:lstStyle/>
          <a:p>
            <a:fld id="{B972800F-5341-410B-92EF-F0507DD1BCB1}" type="slidenum">
              <a:rPr lang="en-US" smtClean="0"/>
              <a:t>‹#›</a:t>
            </a:fld>
            <a:endParaRPr lang="en-US"/>
          </a:p>
        </p:txBody>
      </p:sp>
    </p:spTree>
    <p:extLst>
      <p:ext uri="{BB962C8B-B14F-4D97-AF65-F5344CB8AC3E}">
        <p14:creationId xmlns:p14="http://schemas.microsoft.com/office/powerpoint/2010/main" val="3610687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F5811-68C2-1B4E-6E30-F9ED6A9F8A4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78B0A0-CE66-E863-F980-0BECBC8B7D1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EBBB67-48FC-904B-147F-B13920D591E6}"/>
              </a:ext>
            </a:extLst>
          </p:cNvPr>
          <p:cNvSpPr>
            <a:spLocks noGrp="1"/>
          </p:cNvSpPr>
          <p:nvPr>
            <p:ph type="dt" sz="half" idx="10"/>
          </p:nvPr>
        </p:nvSpPr>
        <p:spPr/>
        <p:txBody>
          <a:bodyPr/>
          <a:lstStyle/>
          <a:p>
            <a:fld id="{FD095DA4-6D81-44BE-B2E1-2D492887A84C}" type="datetimeFigureOut">
              <a:rPr lang="en-US" smtClean="0"/>
              <a:t>9/2/2025</a:t>
            </a:fld>
            <a:endParaRPr lang="en-US"/>
          </a:p>
        </p:txBody>
      </p:sp>
      <p:sp>
        <p:nvSpPr>
          <p:cNvPr id="5" name="Footer Placeholder 4">
            <a:extLst>
              <a:ext uri="{FF2B5EF4-FFF2-40B4-BE49-F238E27FC236}">
                <a16:creationId xmlns:a16="http://schemas.microsoft.com/office/drawing/2014/main" id="{B758FDFF-40C2-FC1D-B242-DAF421B1E8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D0EA6E-7907-E3BB-F684-416873475FC6}"/>
              </a:ext>
            </a:extLst>
          </p:cNvPr>
          <p:cNvSpPr>
            <a:spLocks noGrp="1"/>
          </p:cNvSpPr>
          <p:nvPr>
            <p:ph type="sldNum" sz="quarter" idx="12"/>
          </p:nvPr>
        </p:nvSpPr>
        <p:spPr/>
        <p:txBody>
          <a:bodyPr/>
          <a:lstStyle/>
          <a:p>
            <a:fld id="{B972800F-5341-410B-92EF-F0507DD1BCB1}" type="slidenum">
              <a:rPr lang="en-US" smtClean="0"/>
              <a:t>‹#›</a:t>
            </a:fld>
            <a:endParaRPr lang="en-US"/>
          </a:p>
        </p:txBody>
      </p:sp>
    </p:spTree>
    <p:extLst>
      <p:ext uri="{BB962C8B-B14F-4D97-AF65-F5344CB8AC3E}">
        <p14:creationId xmlns:p14="http://schemas.microsoft.com/office/powerpoint/2010/main" val="3176558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532EFA-9EDE-628F-B6E0-C4B5B0B7F67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415BCDB-CC0C-FF0C-BB8F-901E905BC6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6F464-963F-7B6E-9A5B-546B8AAB977E}"/>
              </a:ext>
            </a:extLst>
          </p:cNvPr>
          <p:cNvSpPr>
            <a:spLocks noGrp="1"/>
          </p:cNvSpPr>
          <p:nvPr>
            <p:ph type="dt" sz="half" idx="10"/>
          </p:nvPr>
        </p:nvSpPr>
        <p:spPr/>
        <p:txBody>
          <a:bodyPr/>
          <a:lstStyle/>
          <a:p>
            <a:fld id="{FD095DA4-6D81-44BE-B2E1-2D492887A84C}" type="datetimeFigureOut">
              <a:rPr lang="en-US" smtClean="0"/>
              <a:t>9/2/2025</a:t>
            </a:fld>
            <a:endParaRPr lang="en-US"/>
          </a:p>
        </p:txBody>
      </p:sp>
      <p:sp>
        <p:nvSpPr>
          <p:cNvPr id="5" name="Footer Placeholder 4">
            <a:extLst>
              <a:ext uri="{FF2B5EF4-FFF2-40B4-BE49-F238E27FC236}">
                <a16:creationId xmlns:a16="http://schemas.microsoft.com/office/drawing/2014/main" id="{8257FD8B-CDB7-9541-4F79-5267577FCE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4B8165-8273-1128-ADF4-DB1359C1F49B}"/>
              </a:ext>
            </a:extLst>
          </p:cNvPr>
          <p:cNvSpPr>
            <a:spLocks noGrp="1"/>
          </p:cNvSpPr>
          <p:nvPr>
            <p:ph type="sldNum" sz="quarter" idx="12"/>
          </p:nvPr>
        </p:nvSpPr>
        <p:spPr/>
        <p:txBody>
          <a:bodyPr/>
          <a:lstStyle/>
          <a:p>
            <a:fld id="{B972800F-5341-410B-92EF-F0507DD1BCB1}" type="slidenum">
              <a:rPr lang="en-US" smtClean="0"/>
              <a:t>‹#›</a:t>
            </a:fld>
            <a:endParaRPr lang="en-US"/>
          </a:p>
        </p:txBody>
      </p:sp>
    </p:spTree>
    <p:extLst>
      <p:ext uri="{BB962C8B-B14F-4D97-AF65-F5344CB8AC3E}">
        <p14:creationId xmlns:p14="http://schemas.microsoft.com/office/powerpoint/2010/main" val="1553884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EE9FE3-2E4B-3B20-C561-ABC469F7B3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3BBFD7F-ADCF-D6C5-4A36-0EBD26BD68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6586C4-2146-D9A5-588F-0EC77FA117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D095DA4-6D81-44BE-B2E1-2D492887A84C}" type="datetimeFigureOut">
              <a:rPr lang="en-US" smtClean="0"/>
              <a:t>9/2/2025</a:t>
            </a:fld>
            <a:endParaRPr lang="en-US"/>
          </a:p>
        </p:txBody>
      </p:sp>
      <p:sp>
        <p:nvSpPr>
          <p:cNvPr id="5" name="Footer Placeholder 4">
            <a:extLst>
              <a:ext uri="{FF2B5EF4-FFF2-40B4-BE49-F238E27FC236}">
                <a16:creationId xmlns:a16="http://schemas.microsoft.com/office/drawing/2014/main" id="{FF8C9FA4-9AC4-630D-E2CA-136D8C042C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E8D66E-E538-7769-6E8D-53FF2A5B26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972800F-5341-410B-92EF-F0507DD1BCB1}" type="slidenum">
              <a:rPr lang="en-US" smtClean="0"/>
              <a:t>‹#›</a:t>
            </a:fld>
            <a:endParaRPr lang="en-US"/>
          </a:p>
        </p:txBody>
      </p:sp>
    </p:spTree>
    <p:extLst>
      <p:ext uri="{BB962C8B-B14F-4D97-AF65-F5344CB8AC3E}">
        <p14:creationId xmlns:p14="http://schemas.microsoft.com/office/powerpoint/2010/main" val="12076218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0B029-0052-6410-09DC-CC9318460A1A}"/>
              </a:ext>
            </a:extLst>
          </p:cNvPr>
          <p:cNvSpPr>
            <a:spLocks noGrp="1"/>
          </p:cNvSpPr>
          <p:nvPr>
            <p:ph type="ctrTitle"/>
          </p:nvPr>
        </p:nvSpPr>
        <p:spPr/>
        <p:txBody>
          <a:bodyPr/>
          <a:lstStyle/>
          <a:p>
            <a:r>
              <a:rPr lang="en-CA" dirty="0"/>
              <a:t>DANA 4840</a:t>
            </a:r>
            <a:endParaRPr lang="en-US" dirty="0"/>
          </a:p>
        </p:txBody>
      </p:sp>
      <p:sp>
        <p:nvSpPr>
          <p:cNvPr id="3" name="Subtitle 2">
            <a:extLst>
              <a:ext uri="{FF2B5EF4-FFF2-40B4-BE49-F238E27FC236}">
                <a16:creationId xmlns:a16="http://schemas.microsoft.com/office/drawing/2014/main" id="{AD1C28D5-50C5-24DB-9611-CA985D84733F}"/>
              </a:ext>
            </a:extLst>
          </p:cNvPr>
          <p:cNvSpPr>
            <a:spLocks noGrp="1"/>
          </p:cNvSpPr>
          <p:nvPr>
            <p:ph type="subTitle" idx="1"/>
          </p:nvPr>
        </p:nvSpPr>
        <p:spPr/>
        <p:txBody>
          <a:bodyPr/>
          <a:lstStyle/>
          <a:p>
            <a:r>
              <a:rPr lang="en-CA" dirty="0"/>
              <a:t>Classification II</a:t>
            </a:r>
          </a:p>
          <a:p>
            <a:r>
              <a:rPr lang="en-CA" dirty="0"/>
              <a:t>Cluster Analysis</a:t>
            </a:r>
            <a:endParaRPr lang="en-US" dirty="0"/>
          </a:p>
        </p:txBody>
      </p:sp>
    </p:spTree>
    <p:extLst>
      <p:ext uri="{BB962C8B-B14F-4D97-AF65-F5344CB8AC3E}">
        <p14:creationId xmlns:p14="http://schemas.microsoft.com/office/powerpoint/2010/main" val="3213474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2EF5F-6B47-AA29-1632-3BFBA22715AA}"/>
              </a:ext>
            </a:extLst>
          </p:cNvPr>
          <p:cNvSpPr>
            <a:spLocks noGrp="1"/>
          </p:cNvSpPr>
          <p:nvPr>
            <p:ph type="title"/>
          </p:nvPr>
        </p:nvSpPr>
        <p:spPr/>
        <p:txBody>
          <a:bodyPr/>
          <a:lstStyle/>
          <a:p>
            <a:r>
              <a:rPr lang="en-CA" dirty="0"/>
              <a:t>What is cluster analysis?</a:t>
            </a:r>
            <a:endParaRPr lang="en-US" dirty="0"/>
          </a:p>
        </p:txBody>
      </p:sp>
      <p:sp>
        <p:nvSpPr>
          <p:cNvPr id="3" name="Content Placeholder 2">
            <a:extLst>
              <a:ext uri="{FF2B5EF4-FFF2-40B4-BE49-F238E27FC236}">
                <a16:creationId xmlns:a16="http://schemas.microsoft.com/office/drawing/2014/main" id="{80A6738F-C34C-E854-0170-F2A30D3DEB5C}"/>
              </a:ext>
            </a:extLst>
          </p:cNvPr>
          <p:cNvSpPr>
            <a:spLocks noGrp="1"/>
          </p:cNvSpPr>
          <p:nvPr>
            <p:ph idx="1"/>
          </p:nvPr>
        </p:nvSpPr>
        <p:spPr/>
        <p:txBody>
          <a:bodyPr>
            <a:normAutofit lnSpcReduction="10000"/>
          </a:bodyPr>
          <a:lstStyle/>
          <a:p>
            <a:r>
              <a:rPr lang="en-CA" sz="3200" b="1" dirty="0"/>
              <a:t>Cluster analysis </a:t>
            </a:r>
            <a:r>
              <a:rPr lang="en-CA" sz="3200" dirty="0"/>
              <a:t>is an approach that finds structure in data by identifying natural groupings in the data.</a:t>
            </a:r>
          </a:p>
          <a:p>
            <a:r>
              <a:rPr lang="en-CA" sz="3200" dirty="0"/>
              <a:t>It is natural to have more than 1 natural grouping for any collection of data.</a:t>
            </a:r>
          </a:p>
          <a:p>
            <a:r>
              <a:rPr lang="en-CA" sz="3200" dirty="0"/>
              <a:t>Example:   How would you put a shuffled deck of cards into groups (clusters)?</a:t>
            </a:r>
          </a:p>
          <a:p>
            <a:pPr marL="0" indent="0">
              <a:buNone/>
            </a:pPr>
            <a:r>
              <a:rPr lang="en-CA" sz="3200" dirty="0"/>
              <a:t>	a)</a:t>
            </a:r>
          </a:p>
          <a:p>
            <a:pPr marL="0" indent="0">
              <a:buNone/>
            </a:pPr>
            <a:r>
              <a:rPr lang="en-CA" sz="3200" dirty="0"/>
              <a:t>	b)</a:t>
            </a:r>
          </a:p>
          <a:p>
            <a:pPr marL="0" indent="0">
              <a:buNone/>
            </a:pPr>
            <a:r>
              <a:rPr lang="en-CA" sz="3200" dirty="0"/>
              <a:t>None of these groupings is wrong – they are just different.</a:t>
            </a:r>
          </a:p>
          <a:p>
            <a:endParaRPr lang="en-CA" sz="3200" b="1" dirty="0"/>
          </a:p>
          <a:p>
            <a:pPr marL="0" indent="0">
              <a:buNone/>
            </a:pPr>
            <a:endParaRPr lang="en-US" sz="3200" b="1" dirty="0"/>
          </a:p>
        </p:txBody>
      </p:sp>
    </p:spTree>
    <p:extLst>
      <p:ext uri="{BB962C8B-B14F-4D97-AF65-F5344CB8AC3E}">
        <p14:creationId xmlns:p14="http://schemas.microsoft.com/office/powerpoint/2010/main" val="39945732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F74D3-E157-BC9C-180C-0DF224A491C4}"/>
              </a:ext>
            </a:extLst>
          </p:cNvPr>
          <p:cNvSpPr>
            <a:spLocks noGrp="1"/>
          </p:cNvSpPr>
          <p:nvPr>
            <p:ph type="title"/>
          </p:nvPr>
        </p:nvSpPr>
        <p:spPr/>
        <p:txBody>
          <a:bodyPr/>
          <a:lstStyle/>
          <a:p>
            <a:r>
              <a:rPr lang="en-CA" dirty="0"/>
              <a:t>About cluster analysis</a:t>
            </a:r>
            <a:endParaRPr lang="en-US" dirty="0"/>
          </a:p>
        </p:txBody>
      </p:sp>
      <p:sp>
        <p:nvSpPr>
          <p:cNvPr id="3" name="Content Placeholder 2">
            <a:extLst>
              <a:ext uri="{FF2B5EF4-FFF2-40B4-BE49-F238E27FC236}">
                <a16:creationId xmlns:a16="http://schemas.microsoft.com/office/drawing/2014/main" id="{BB1DB38A-252D-2FA0-5E7D-7A1EFF03409D}"/>
              </a:ext>
            </a:extLst>
          </p:cNvPr>
          <p:cNvSpPr>
            <a:spLocks noGrp="1"/>
          </p:cNvSpPr>
          <p:nvPr>
            <p:ph idx="1"/>
          </p:nvPr>
        </p:nvSpPr>
        <p:spPr/>
        <p:txBody>
          <a:bodyPr/>
          <a:lstStyle/>
          <a:p>
            <a:r>
              <a:rPr lang="en-CA" dirty="0"/>
              <a:t>Note:   It is worth remembering that clustering algorithms will place cases into clusters even when real clusters do not exist.  It is therefore unwise to attach too much value to the results from a single clustering exercise.  </a:t>
            </a:r>
          </a:p>
          <a:p>
            <a:endParaRPr lang="en-CA" dirty="0"/>
          </a:p>
          <a:p>
            <a:r>
              <a:rPr lang="en-CA" dirty="0"/>
              <a:t>Although DANA 4840 course name is Classification II, it is important to know the distinction between classification and cluster analysis. </a:t>
            </a:r>
          </a:p>
          <a:p>
            <a:pPr marL="0" indent="0">
              <a:buNone/>
            </a:pPr>
            <a:endParaRPr lang="en-US" dirty="0"/>
          </a:p>
        </p:txBody>
      </p:sp>
    </p:spTree>
    <p:extLst>
      <p:ext uri="{BB962C8B-B14F-4D97-AF65-F5344CB8AC3E}">
        <p14:creationId xmlns:p14="http://schemas.microsoft.com/office/powerpoint/2010/main" val="34193395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CF1B7-7AE8-46D3-D5C8-EB1480B46544}"/>
              </a:ext>
            </a:extLst>
          </p:cNvPr>
          <p:cNvSpPr>
            <a:spLocks noGrp="1"/>
          </p:cNvSpPr>
          <p:nvPr>
            <p:ph type="title"/>
          </p:nvPr>
        </p:nvSpPr>
        <p:spPr/>
        <p:txBody>
          <a:bodyPr/>
          <a:lstStyle/>
          <a:p>
            <a:r>
              <a:rPr lang="en-CA" dirty="0"/>
              <a:t>Difference between </a:t>
            </a:r>
            <a:r>
              <a:rPr lang="en-CA" b="1" dirty="0"/>
              <a:t>Classification</a:t>
            </a:r>
            <a:r>
              <a:rPr lang="en-CA" dirty="0"/>
              <a:t> and </a:t>
            </a:r>
            <a:r>
              <a:rPr lang="en-CA" b="1" dirty="0"/>
              <a:t>Cluster Analysis</a:t>
            </a:r>
            <a:endParaRPr lang="en-US" b="1" dirty="0"/>
          </a:p>
        </p:txBody>
      </p:sp>
      <p:sp>
        <p:nvSpPr>
          <p:cNvPr id="3" name="Content Placeholder 2">
            <a:extLst>
              <a:ext uri="{FF2B5EF4-FFF2-40B4-BE49-F238E27FC236}">
                <a16:creationId xmlns:a16="http://schemas.microsoft.com/office/drawing/2014/main" id="{5857BE42-C3E7-0C44-5483-B9D8DF5A78FF}"/>
              </a:ext>
            </a:extLst>
          </p:cNvPr>
          <p:cNvSpPr>
            <a:spLocks noGrp="1"/>
          </p:cNvSpPr>
          <p:nvPr>
            <p:ph idx="1"/>
          </p:nvPr>
        </p:nvSpPr>
        <p:spPr/>
        <p:txBody>
          <a:bodyPr>
            <a:normAutofit/>
          </a:bodyPr>
          <a:lstStyle/>
          <a:p>
            <a:r>
              <a:rPr lang="en-CA" dirty="0"/>
              <a:t>Classification is placing objects into predefined groups.</a:t>
            </a:r>
          </a:p>
          <a:p>
            <a:r>
              <a:rPr lang="en-CA" dirty="0"/>
              <a:t>Although clustering is related to classification in that both techniques place objects into groups, the important difference is that the </a:t>
            </a:r>
            <a:r>
              <a:rPr lang="en-CA" b="1" dirty="0"/>
              <a:t>groups</a:t>
            </a:r>
            <a:r>
              <a:rPr lang="en-CA" dirty="0"/>
              <a:t> (classes) are </a:t>
            </a:r>
            <a:r>
              <a:rPr lang="en-CA" b="1" dirty="0"/>
              <a:t>not predefined </a:t>
            </a:r>
            <a:r>
              <a:rPr lang="en-CA" dirty="0"/>
              <a:t>in cluster analysis.  Instead, objects are placed into natural groupings.</a:t>
            </a:r>
          </a:p>
          <a:p>
            <a:r>
              <a:rPr lang="en-CA" dirty="0"/>
              <a:t>Classification methods are </a:t>
            </a:r>
            <a:r>
              <a:rPr lang="en-CA" b="1" dirty="0"/>
              <a:t>supervised methods </a:t>
            </a:r>
            <a:r>
              <a:rPr lang="en-CA" dirty="0"/>
              <a:t>(goals of study are established beforehand) whereas clustering algorithms are </a:t>
            </a:r>
            <a:r>
              <a:rPr lang="en-CA" b="1" dirty="0"/>
              <a:t>unsupervised</a:t>
            </a:r>
            <a:r>
              <a:rPr lang="en-CA" dirty="0"/>
              <a:t>. </a:t>
            </a:r>
          </a:p>
        </p:txBody>
      </p:sp>
    </p:spTree>
    <p:extLst>
      <p:ext uri="{BB962C8B-B14F-4D97-AF65-F5344CB8AC3E}">
        <p14:creationId xmlns:p14="http://schemas.microsoft.com/office/powerpoint/2010/main" val="3270195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4CFF2-4BF9-FA4C-271B-9B2A2B92D74B}"/>
              </a:ext>
            </a:extLst>
          </p:cNvPr>
          <p:cNvSpPr>
            <a:spLocks noGrp="1"/>
          </p:cNvSpPr>
          <p:nvPr>
            <p:ph type="title"/>
          </p:nvPr>
        </p:nvSpPr>
        <p:spPr/>
        <p:txBody>
          <a:bodyPr/>
          <a:lstStyle/>
          <a:p>
            <a:r>
              <a:rPr lang="en-CA" dirty="0"/>
              <a:t>Difference between </a:t>
            </a:r>
            <a:r>
              <a:rPr lang="en-CA" b="1" dirty="0"/>
              <a:t>Classification</a:t>
            </a:r>
            <a:r>
              <a:rPr lang="en-CA" dirty="0"/>
              <a:t> and </a:t>
            </a:r>
            <a:r>
              <a:rPr lang="en-CA" b="1" dirty="0"/>
              <a:t>Cluster Analysis</a:t>
            </a:r>
            <a:endParaRPr lang="en-US" dirty="0"/>
          </a:p>
        </p:txBody>
      </p:sp>
      <p:sp>
        <p:nvSpPr>
          <p:cNvPr id="3" name="Content Placeholder 2">
            <a:extLst>
              <a:ext uri="{FF2B5EF4-FFF2-40B4-BE49-F238E27FC236}">
                <a16:creationId xmlns:a16="http://schemas.microsoft.com/office/drawing/2014/main" id="{C69E5853-32B0-8A93-0649-CB128C69042C}"/>
              </a:ext>
            </a:extLst>
          </p:cNvPr>
          <p:cNvSpPr>
            <a:spLocks noGrp="1"/>
          </p:cNvSpPr>
          <p:nvPr>
            <p:ph idx="1"/>
          </p:nvPr>
        </p:nvSpPr>
        <p:spPr/>
        <p:txBody>
          <a:bodyPr/>
          <a:lstStyle/>
          <a:p>
            <a:r>
              <a:rPr lang="en-CA" dirty="0"/>
              <a:t>Some popular classification techniques (not part of DANA 4840):</a:t>
            </a:r>
          </a:p>
          <a:p>
            <a:pPr marL="0" indent="0">
              <a:buNone/>
            </a:pPr>
            <a:r>
              <a:rPr lang="en-CA" dirty="0"/>
              <a:t>	- logistic regression 	 		- random forests</a:t>
            </a:r>
          </a:p>
          <a:p>
            <a:pPr marL="0" indent="0">
              <a:buNone/>
            </a:pPr>
            <a:r>
              <a:rPr lang="en-CA" dirty="0"/>
              <a:t>	- support vector machine		- decision tree</a:t>
            </a:r>
          </a:p>
          <a:p>
            <a:r>
              <a:rPr lang="en-US" dirty="0"/>
              <a:t>This course is about cluster analysis and you will learn popular algorithms used in the industry.</a:t>
            </a:r>
          </a:p>
          <a:p>
            <a:endParaRPr lang="en-US" dirty="0"/>
          </a:p>
        </p:txBody>
      </p:sp>
    </p:spTree>
    <p:extLst>
      <p:ext uri="{BB962C8B-B14F-4D97-AF65-F5344CB8AC3E}">
        <p14:creationId xmlns:p14="http://schemas.microsoft.com/office/powerpoint/2010/main" val="14510486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955A0-8F2D-9F0B-9033-7236F18FC180}"/>
              </a:ext>
            </a:extLst>
          </p:cNvPr>
          <p:cNvSpPr>
            <a:spLocks noGrp="1"/>
          </p:cNvSpPr>
          <p:nvPr>
            <p:ph type="title"/>
          </p:nvPr>
        </p:nvSpPr>
        <p:spPr/>
        <p:txBody>
          <a:bodyPr/>
          <a:lstStyle/>
          <a:p>
            <a:r>
              <a:rPr lang="en-CA" dirty="0"/>
              <a:t>Draw a diagram to illustrate ways to </a:t>
            </a:r>
            <a:r>
              <a:rPr lang="en-CA" b="1" dirty="0"/>
              <a:t>split data into groups</a:t>
            </a:r>
            <a:r>
              <a:rPr lang="en-CA" dirty="0"/>
              <a:t> covered in this course:</a:t>
            </a:r>
            <a:endParaRPr lang="en-US" dirty="0"/>
          </a:p>
        </p:txBody>
      </p:sp>
      <p:sp>
        <p:nvSpPr>
          <p:cNvPr id="3" name="Content Placeholder 2">
            <a:extLst>
              <a:ext uri="{FF2B5EF4-FFF2-40B4-BE49-F238E27FC236}">
                <a16:creationId xmlns:a16="http://schemas.microsoft.com/office/drawing/2014/main" id="{E1B2CC06-2E8C-9EF4-0506-8993BD0FFDB1}"/>
              </a:ext>
            </a:extLst>
          </p:cNvPr>
          <p:cNvSpPr>
            <a:spLocks noGrp="1"/>
          </p:cNvSpPr>
          <p:nvPr>
            <p:ph idx="1"/>
          </p:nvPr>
        </p:nvSpPr>
        <p:spPr/>
        <p:txBody>
          <a:bodyPr/>
          <a:lstStyle/>
          <a:p>
            <a:pPr marL="0" indent="0">
              <a:buNone/>
            </a:pPr>
            <a:r>
              <a:rPr lang="en-CA" dirty="0"/>
              <a:t>				</a:t>
            </a:r>
            <a:endParaRPr lang="en-US" dirty="0"/>
          </a:p>
        </p:txBody>
      </p:sp>
    </p:spTree>
    <p:extLst>
      <p:ext uri="{BB962C8B-B14F-4D97-AF65-F5344CB8AC3E}">
        <p14:creationId xmlns:p14="http://schemas.microsoft.com/office/powerpoint/2010/main" val="3302661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4E1A3-CA1E-B682-6039-08AFBD0E7AA3}"/>
              </a:ext>
            </a:extLst>
          </p:cNvPr>
          <p:cNvSpPr>
            <a:spLocks noGrp="1"/>
          </p:cNvSpPr>
          <p:nvPr>
            <p:ph type="title"/>
          </p:nvPr>
        </p:nvSpPr>
        <p:spPr/>
        <p:txBody>
          <a:bodyPr/>
          <a:lstStyle/>
          <a:p>
            <a:r>
              <a:rPr lang="en-CA" dirty="0"/>
              <a:t>Notes:</a:t>
            </a:r>
            <a:endParaRPr lang="en-US" dirty="0"/>
          </a:p>
        </p:txBody>
      </p:sp>
      <p:sp>
        <p:nvSpPr>
          <p:cNvPr id="3" name="Content Placeholder 2">
            <a:extLst>
              <a:ext uri="{FF2B5EF4-FFF2-40B4-BE49-F238E27FC236}">
                <a16:creationId xmlns:a16="http://schemas.microsoft.com/office/drawing/2014/main" id="{C4B775B8-DB21-7455-541A-3FA368B4F4A2}"/>
              </a:ext>
            </a:extLst>
          </p:cNvPr>
          <p:cNvSpPr>
            <a:spLocks noGrp="1"/>
          </p:cNvSpPr>
          <p:nvPr>
            <p:ph idx="1"/>
          </p:nvPr>
        </p:nvSpPr>
        <p:spPr/>
        <p:txBody>
          <a:bodyPr/>
          <a:lstStyle/>
          <a:p>
            <a:r>
              <a:rPr lang="en-CA" dirty="0"/>
              <a:t>Hierarchical clustering techniques proceed by either a series of </a:t>
            </a:r>
            <a:r>
              <a:rPr lang="en-CA" b="1" dirty="0"/>
              <a:t>successive merges </a:t>
            </a:r>
            <a:r>
              <a:rPr lang="en-CA" dirty="0"/>
              <a:t>or series of </a:t>
            </a:r>
            <a:r>
              <a:rPr lang="en-CA" b="1" dirty="0"/>
              <a:t>successive divisions</a:t>
            </a:r>
            <a:r>
              <a:rPr lang="en-CA" dirty="0"/>
              <a:t>. </a:t>
            </a:r>
          </a:p>
          <a:p>
            <a:endParaRPr lang="en-CA" dirty="0"/>
          </a:p>
          <a:p>
            <a:r>
              <a:rPr lang="en-CA" b="1" dirty="0"/>
              <a:t>Agglomerative hierarchical method </a:t>
            </a:r>
            <a:r>
              <a:rPr lang="en-CA" dirty="0"/>
              <a:t>starts with the individual objects.   The most similar objects are first grouped.   Eventually, as the similarity decreases, all subgroups are fused into a single cluster.</a:t>
            </a:r>
          </a:p>
          <a:p>
            <a:pPr marL="0" indent="0">
              <a:buNone/>
            </a:pPr>
            <a:endParaRPr lang="en-CA" dirty="0"/>
          </a:p>
          <a:p>
            <a:pPr marL="0" indent="0">
              <a:buNone/>
            </a:pPr>
            <a:endParaRPr lang="en-US" dirty="0"/>
          </a:p>
        </p:txBody>
      </p:sp>
    </p:spTree>
    <p:extLst>
      <p:ext uri="{BB962C8B-B14F-4D97-AF65-F5344CB8AC3E}">
        <p14:creationId xmlns:p14="http://schemas.microsoft.com/office/powerpoint/2010/main" val="35919074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FBB14-833F-367D-9813-CDBD471A6CE6}"/>
              </a:ext>
            </a:extLst>
          </p:cNvPr>
          <p:cNvSpPr>
            <a:spLocks noGrp="1"/>
          </p:cNvSpPr>
          <p:nvPr>
            <p:ph type="title"/>
          </p:nvPr>
        </p:nvSpPr>
        <p:spPr/>
        <p:txBody>
          <a:bodyPr/>
          <a:lstStyle/>
          <a:p>
            <a:r>
              <a:rPr lang="en-CA" dirty="0"/>
              <a:t>Notes:</a:t>
            </a:r>
            <a:endParaRPr lang="en-US" dirty="0"/>
          </a:p>
        </p:txBody>
      </p:sp>
      <p:sp>
        <p:nvSpPr>
          <p:cNvPr id="3" name="Content Placeholder 2">
            <a:extLst>
              <a:ext uri="{FF2B5EF4-FFF2-40B4-BE49-F238E27FC236}">
                <a16:creationId xmlns:a16="http://schemas.microsoft.com/office/drawing/2014/main" id="{2E91AD12-24EC-AE6D-BA27-47316E9D0537}"/>
              </a:ext>
            </a:extLst>
          </p:cNvPr>
          <p:cNvSpPr>
            <a:spLocks noGrp="1"/>
          </p:cNvSpPr>
          <p:nvPr>
            <p:ph idx="1"/>
          </p:nvPr>
        </p:nvSpPr>
        <p:spPr/>
        <p:txBody>
          <a:bodyPr/>
          <a:lstStyle/>
          <a:p>
            <a:r>
              <a:rPr lang="en-CA" b="1" dirty="0"/>
              <a:t>Divisive hierarchical method </a:t>
            </a:r>
            <a:r>
              <a:rPr lang="en-CA" dirty="0"/>
              <a:t>works in the opposite direction (compared to agglomerative method).    An initial group of single objects is divided into 2 subgroups such that the objects in one subgroup are “far from” the objects of the other.   These subgroups are then further divided into dissimilar subgroups.   The process continues until there are as many subgroups as objects.  </a:t>
            </a:r>
          </a:p>
          <a:p>
            <a:endParaRPr lang="en-CA" dirty="0"/>
          </a:p>
          <a:p>
            <a:r>
              <a:rPr lang="en-CA" dirty="0"/>
              <a:t>The results of both agglomerative and divisive methods may be displayed in the form of a 2-dimensional diagram known as a </a:t>
            </a:r>
            <a:r>
              <a:rPr lang="en-CA" b="1" dirty="0"/>
              <a:t>dendrogram</a:t>
            </a:r>
            <a:r>
              <a:rPr lang="en-CA" dirty="0"/>
              <a:t>.</a:t>
            </a:r>
            <a:endParaRPr lang="en-US" dirty="0"/>
          </a:p>
        </p:txBody>
      </p:sp>
    </p:spTree>
    <p:extLst>
      <p:ext uri="{BB962C8B-B14F-4D97-AF65-F5344CB8AC3E}">
        <p14:creationId xmlns:p14="http://schemas.microsoft.com/office/powerpoint/2010/main" val="21414619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3F799-3C97-5D2A-0345-881A6FB2AA56}"/>
              </a:ext>
            </a:extLst>
          </p:cNvPr>
          <p:cNvSpPr>
            <a:spLocks noGrp="1"/>
          </p:cNvSpPr>
          <p:nvPr>
            <p:ph type="title"/>
          </p:nvPr>
        </p:nvSpPr>
        <p:spPr/>
        <p:txBody>
          <a:bodyPr>
            <a:normAutofit fontScale="90000"/>
          </a:bodyPr>
          <a:lstStyle/>
          <a:p>
            <a:r>
              <a:rPr lang="en-CA" dirty="0"/>
              <a:t>Show an example of hierarchical clustering and illustrate how a </a:t>
            </a:r>
            <a:r>
              <a:rPr lang="en-CA" b="1" dirty="0"/>
              <a:t>dendrogram </a:t>
            </a:r>
            <a:r>
              <a:rPr lang="en-CA" dirty="0"/>
              <a:t>is constructed:</a:t>
            </a:r>
            <a:endParaRPr lang="en-US" dirty="0"/>
          </a:p>
        </p:txBody>
      </p:sp>
      <p:sp>
        <p:nvSpPr>
          <p:cNvPr id="3" name="Content Placeholder 2">
            <a:extLst>
              <a:ext uri="{FF2B5EF4-FFF2-40B4-BE49-F238E27FC236}">
                <a16:creationId xmlns:a16="http://schemas.microsoft.com/office/drawing/2014/main" id="{EFD770B9-C93A-1184-848F-AF7547780AA6}"/>
              </a:ext>
            </a:extLst>
          </p:cNvPr>
          <p:cNvSpPr>
            <a:spLocks noGrp="1"/>
          </p:cNvSpPr>
          <p:nvPr>
            <p:ph idx="1"/>
          </p:nvPr>
        </p:nvSpPr>
        <p:spPr/>
        <p:txBody>
          <a:bodyPr/>
          <a:lstStyle/>
          <a:p>
            <a:endParaRPr lang="en-CA" dirty="0"/>
          </a:p>
          <a:p>
            <a:endParaRPr lang="en-US" dirty="0"/>
          </a:p>
          <a:p>
            <a:endParaRPr lang="en-US" dirty="0"/>
          </a:p>
          <a:p>
            <a:endParaRPr lang="en-US" dirty="0"/>
          </a:p>
        </p:txBody>
      </p:sp>
    </p:spTree>
    <p:extLst>
      <p:ext uri="{BB962C8B-B14F-4D97-AF65-F5344CB8AC3E}">
        <p14:creationId xmlns:p14="http://schemas.microsoft.com/office/powerpoint/2010/main" val="15702916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2DC4B-F9D7-9626-CE51-48A96B67C1E1}"/>
              </a:ext>
            </a:extLst>
          </p:cNvPr>
          <p:cNvSpPr>
            <a:spLocks noGrp="1"/>
          </p:cNvSpPr>
          <p:nvPr>
            <p:ph type="title"/>
          </p:nvPr>
        </p:nvSpPr>
        <p:spPr/>
        <p:txBody>
          <a:bodyPr/>
          <a:lstStyle/>
          <a:p>
            <a:r>
              <a:rPr lang="en-CA" dirty="0"/>
              <a:t>R code:</a:t>
            </a:r>
            <a:endParaRPr lang="en-US" dirty="0"/>
          </a:p>
        </p:txBody>
      </p:sp>
      <p:sp>
        <p:nvSpPr>
          <p:cNvPr id="3" name="Content Placeholder 2">
            <a:extLst>
              <a:ext uri="{FF2B5EF4-FFF2-40B4-BE49-F238E27FC236}">
                <a16:creationId xmlns:a16="http://schemas.microsoft.com/office/drawing/2014/main" id="{23871CAD-A40C-FD1A-3B6F-FF8342B549E3}"/>
              </a:ext>
            </a:extLst>
          </p:cNvPr>
          <p:cNvSpPr>
            <a:spLocks noGrp="1"/>
          </p:cNvSpPr>
          <p:nvPr>
            <p:ph idx="1"/>
          </p:nvPr>
        </p:nvSpPr>
        <p:spPr/>
        <p:txBody>
          <a:bodyPr/>
          <a:lstStyle/>
          <a:p>
            <a:r>
              <a:rPr lang="en-CA" dirty="0"/>
              <a:t>As a data analyst, students should be knowledgeable about the various data structures inherent in R.</a:t>
            </a:r>
          </a:p>
          <a:p>
            <a:r>
              <a:rPr lang="en-CA" dirty="0"/>
              <a:t>Do you know the differences between:  vectors, matrices, arrays, lists, factors, data frames?</a:t>
            </a:r>
          </a:p>
          <a:p>
            <a:r>
              <a:rPr lang="en-CA" dirty="0"/>
              <a:t>In DANA 4840, we make use of vectors, matrices, factors and data frames – so students should be comfortable with programming using these data structures.</a:t>
            </a:r>
          </a:p>
          <a:p>
            <a:r>
              <a:rPr lang="en-CA" dirty="0"/>
              <a:t>Students should also know how to use R to read in data from various file types:  text file,  csv and Excel files.  </a:t>
            </a:r>
          </a:p>
        </p:txBody>
      </p:sp>
    </p:spTree>
    <p:extLst>
      <p:ext uri="{BB962C8B-B14F-4D97-AF65-F5344CB8AC3E}">
        <p14:creationId xmlns:p14="http://schemas.microsoft.com/office/powerpoint/2010/main" val="28269020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150</TotalTime>
  <Words>544</Words>
  <Application>Microsoft Office PowerPoint</Application>
  <PresentationFormat>Widescreen</PresentationFormat>
  <Paragraphs>41</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DANA 4840</vt:lpstr>
      <vt:lpstr>What is cluster analysis?</vt:lpstr>
      <vt:lpstr>About cluster analysis</vt:lpstr>
      <vt:lpstr>Difference between Classification and Cluster Analysis</vt:lpstr>
      <vt:lpstr>Difference between Classification and Cluster Analysis</vt:lpstr>
      <vt:lpstr>Draw a diagram to illustrate ways to split data into groups covered in this course:</vt:lpstr>
      <vt:lpstr>Notes:</vt:lpstr>
      <vt:lpstr>Notes:</vt:lpstr>
      <vt:lpstr>Show an example of hierarchical clustering and illustrate how a dendrogram is constructed:</vt:lpstr>
      <vt:lpstr>R code: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Yew-Wei Lim</dc:creator>
  <cp:lastModifiedBy>Yew-Wei Lim</cp:lastModifiedBy>
  <cp:revision>2</cp:revision>
  <cp:lastPrinted>2025-08-31T21:07:32Z</cp:lastPrinted>
  <dcterms:created xsi:type="dcterms:W3CDTF">2025-08-31T18:59:20Z</dcterms:created>
  <dcterms:modified xsi:type="dcterms:W3CDTF">2025-09-02T16:32:18Z</dcterms:modified>
</cp:coreProperties>
</file>