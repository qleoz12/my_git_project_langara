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74" r:id="rId5"/>
    <p:sldId id="266" r:id="rId6"/>
    <p:sldId id="275" r:id="rId7"/>
    <p:sldId id="269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III Hierarchical Clustering</a:t>
            </a:r>
          </a:p>
          <a:p>
            <a:r>
              <a:rPr lang="en-CA" dirty="0"/>
              <a:t>Part 2 – Ward’s hierarchical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Recall various algorithms to split data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				</a:t>
            </a:r>
          </a:p>
          <a:p>
            <a:pPr marL="0" indent="0" algn="ctr">
              <a:buNone/>
            </a:pPr>
            <a:r>
              <a:rPr lang="en-US" sz="3200" dirty="0"/>
              <a:t>Ways to Split Data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	Partitional 				Hierarchical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K-means	K-medoids 	Agglomerative	     Divisive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			</a:t>
            </a:r>
            <a:r>
              <a:rPr lang="en-US" sz="2000" b="1" dirty="0"/>
              <a:t>Single linkage      Complete linkage    Average linkage     Ward’s method</a:t>
            </a:r>
          </a:p>
          <a:p>
            <a:pPr marL="0" indent="0">
              <a:buNone/>
            </a:pPr>
            <a:r>
              <a:rPr lang="en-US" sz="2000" b="1" dirty="0"/>
              <a:t>                                          (nearest </a:t>
            </a:r>
            <a:r>
              <a:rPr lang="en-US" sz="2000" b="1" dirty="0" err="1"/>
              <a:t>neighbour</a:t>
            </a:r>
            <a:r>
              <a:rPr lang="en-US" sz="2000" b="1" dirty="0"/>
              <a:t>)   (furthest </a:t>
            </a:r>
            <a:r>
              <a:rPr lang="en-US" sz="2000" b="1" dirty="0" err="1"/>
              <a:t>neighbour</a:t>
            </a:r>
            <a:r>
              <a:rPr lang="en-US" sz="2000" b="1" dirty="0"/>
              <a:t>) </a:t>
            </a:r>
            <a:endParaRPr lang="en-US" sz="32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0E8C66-8F64-833A-2B64-999B9420B88A}"/>
              </a:ext>
            </a:extLst>
          </p:cNvPr>
          <p:cNvCxnSpPr/>
          <p:nvPr/>
        </p:nvCxnSpPr>
        <p:spPr>
          <a:xfrm flipH="1">
            <a:off x="3831336" y="2825496"/>
            <a:ext cx="758952" cy="37490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35B94D-3C0B-BCCD-BB9D-6391B1AE4176}"/>
              </a:ext>
            </a:extLst>
          </p:cNvPr>
          <p:cNvCxnSpPr/>
          <p:nvPr/>
        </p:nvCxnSpPr>
        <p:spPr>
          <a:xfrm>
            <a:off x="6729984" y="2743200"/>
            <a:ext cx="603504" cy="4572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4829AF-1118-8B50-5790-FB6D3D88C871}"/>
              </a:ext>
            </a:extLst>
          </p:cNvPr>
          <p:cNvCxnSpPr/>
          <p:nvPr/>
        </p:nvCxnSpPr>
        <p:spPr>
          <a:xfrm flipH="1">
            <a:off x="2048256" y="3758184"/>
            <a:ext cx="301752" cy="4480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76DCE9-6A78-80D4-F478-BE3006E92D6C}"/>
              </a:ext>
            </a:extLst>
          </p:cNvPr>
          <p:cNvCxnSpPr/>
          <p:nvPr/>
        </p:nvCxnSpPr>
        <p:spPr>
          <a:xfrm>
            <a:off x="3493008" y="3758184"/>
            <a:ext cx="246888" cy="3749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10E70F-72BB-68D2-678D-B92237B4891A}"/>
              </a:ext>
            </a:extLst>
          </p:cNvPr>
          <p:cNvCxnSpPr/>
          <p:nvPr/>
        </p:nvCxnSpPr>
        <p:spPr>
          <a:xfrm flipH="1">
            <a:off x="7772400" y="3758184"/>
            <a:ext cx="283464" cy="4480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DD4E32-A665-D4BE-CA14-41473A3E4349}"/>
              </a:ext>
            </a:extLst>
          </p:cNvPr>
          <p:cNvCxnSpPr/>
          <p:nvPr/>
        </p:nvCxnSpPr>
        <p:spPr>
          <a:xfrm>
            <a:off x="9336024" y="3758184"/>
            <a:ext cx="420624" cy="3749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7BAADD-38E1-A379-93B1-17CB2FEFC60F}"/>
              </a:ext>
            </a:extLst>
          </p:cNvPr>
          <p:cNvCxnSpPr/>
          <p:nvPr/>
        </p:nvCxnSpPr>
        <p:spPr>
          <a:xfrm flipH="1">
            <a:off x="6705600" y="4832604"/>
            <a:ext cx="265176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EF02C6-F0DE-0E7F-0EDE-6796D4C078C1}"/>
              </a:ext>
            </a:extLst>
          </p:cNvPr>
          <p:cNvCxnSpPr/>
          <p:nvPr/>
        </p:nvCxnSpPr>
        <p:spPr>
          <a:xfrm>
            <a:off x="8138160" y="4809744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FAA894-68A6-6576-9585-6851D728CFDA}"/>
              </a:ext>
            </a:extLst>
          </p:cNvPr>
          <p:cNvCxnSpPr/>
          <p:nvPr/>
        </p:nvCxnSpPr>
        <p:spPr>
          <a:xfrm>
            <a:off x="9006840" y="4882896"/>
            <a:ext cx="914400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02E917-5826-F5C1-9E6C-9A6CCA5B75A5}"/>
              </a:ext>
            </a:extLst>
          </p:cNvPr>
          <p:cNvCxnSpPr/>
          <p:nvPr/>
        </p:nvCxnSpPr>
        <p:spPr>
          <a:xfrm flipH="1">
            <a:off x="4590288" y="4690872"/>
            <a:ext cx="1709928" cy="53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16C02DD-253A-6AD4-F276-9BE1F9CBC340}"/>
              </a:ext>
            </a:extLst>
          </p:cNvPr>
          <p:cNvCxnSpPr/>
          <p:nvPr/>
        </p:nvCxnSpPr>
        <p:spPr>
          <a:xfrm flipV="1">
            <a:off x="4210812" y="560527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0E1D95-2CF1-600D-5D36-232878530646}"/>
              </a:ext>
            </a:extLst>
          </p:cNvPr>
          <p:cNvCxnSpPr/>
          <p:nvPr/>
        </p:nvCxnSpPr>
        <p:spPr>
          <a:xfrm flipV="1">
            <a:off x="6217920" y="560527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FE2B180-91E1-64BF-EDB2-071B8D295A95}"/>
              </a:ext>
            </a:extLst>
          </p:cNvPr>
          <p:cNvSpPr/>
          <p:nvPr/>
        </p:nvSpPr>
        <p:spPr>
          <a:xfrm>
            <a:off x="9006840" y="5221224"/>
            <a:ext cx="1865376" cy="630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Agglomerative Hierarchical clustering: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9EBDB-93D2-32BB-A63F-522A5745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Single linkage </a:t>
            </a:r>
            <a:r>
              <a:rPr lang="en-CA" dirty="0"/>
              <a:t>tends to produce long, “loose” clusters.</a:t>
            </a:r>
          </a:p>
          <a:p>
            <a:pPr marL="0" indent="0">
              <a:buNone/>
            </a:pPr>
            <a:r>
              <a:rPr lang="en-CA" dirty="0"/>
              <a:t>    Students to draw a diagram to illustrate: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b="1" dirty="0"/>
              <a:t>Complete linkage </a:t>
            </a:r>
            <a:r>
              <a:rPr lang="en-CA" dirty="0"/>
              <a:t>tends to produce more compact clusters.</a:t>
            </a:r>
          </a:p>
          <a:p>
            <a:pPr marL="0" indent="0">
              <a:buNone/>
            </a:pPr>
            <a:r>
              <a:rPr lang="en-CA" dirty="0"/>
              <a:t>   Students to draw a diagram to illustrate: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56DC-1B10-C342-F97D-971F2161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E3D3-82E1-B8C8-2831-AA1597BA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Agglomerative Hierarchical clustering: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8A27C-449E-D8E3-324B-DCEF0AF23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Ward’s linkage:</a:t>
            </a:r>
          </a:p>
          <a:p>
            <a:pPr lvl="2"/>
            <a:endParaRPr lang="en-CA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CA" b="1" dirty="0"/>
              <a:t>	</a:t>
            </a:r>
            <a:r>
              <a:rPr lang="en-CA" dirty="0"/>
              <a:t>also called Ward’s minimum variance method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    it minimizes the total within-cluster sum of squares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    it tends to create clusters that are similar in size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    like other hierarchical methods,  Ward’s linkage is suitable for small   	datasets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    Ward’s method can be implemented using Lance-Williams algorithm.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745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Lance-Williams algorithm: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98C619B-6135-2824-5100-97B7A98C7E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Lance-Williams algorithm offers a formula for updating distance between clusters.   There are two versions :  </a:t>
                </a:r>
                <a:r>
                  <a:rPr lang="en-US" dirty="0" err="1"/>
                  <a:t>ward.D</a:t>
                </a:r>
                <a:r>
                  <a:rPr lang="en-US" dirty="0"/>
                  <a:t> and ward.D2.</a:t>
                </a:r>
              </a:p>
              <a:p>
                <a:r>
                  <a:rPr lang="en-US" dirty="0"/>
                  <a:t> </a:t>
                </a:r>
                <a:r>
                  <a:rPr lang="en-US" dirty="0" err="1"/>
                  <a:t>Ward.D</a:t>
                </a:r>
                <a:r>
                  <a:rPr lang="en-US" dirty="0"/>
                  <a:t> formula: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/>
                          </m:ctrlPr>
                        </m:sSubPr>
                        <m:e>
                          <m:r>
                            <a:rPr lang="en-CA" i="1"/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CA" i="1"/>
                              </m:ctrlPr>
                            </m:dPr>
                            <m:e>
                              <m:r>
                                <a:rPr lang="en-CA" i="1"/>
                                <m:t>𝑖𝑗</m:t>
                              </m:r>
                            </m:e>
                          </m:d>
                          <m:r>
                            <a:rPr lang="en-CA" i="1"/>
                            <m:t>𝑘</m:t>
                          </m:r>
                        </m:sub>
                      </m:sSub>
                      <m:r>
                        <a:rPr lang="en-CA" i="1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𝑖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𝑖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𝑗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CA" i="1"/>
                          </m:ctrlPr>
                        </m:sSubPr>
                        <m:e>
                          <m:r>
                            <a:rPr lang="en-CA" i="1"/>
                            <m:t>𝑑</m:t>
                          </m:r>
                        </m:e>
                        <m:sub>
                          <m:r>
                            <a:rPr lang="en-CA" i="1"/>
                            <m:t>𝑖𝑘</m:t>
                          </m:r>
                        </m:sub>
                      </m:sSub>
                      <m:r>
                        <a:rPr lang="en-CA" i="1"/>
                        <m:t> +  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𝑗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𝑖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𝑗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CA" i="1"/>
                          </m:ctrlPr>
                        </m:sSubPr>
                        <m:e>
                          <m:r>
                            <a:rPr lang="en-CA" i="1"/>
                            <m:t>𝑑</m:t>
                          </m:r>
                        </m:e>
                        <m:sub>
                          <m:r>
                            <a:rPr lang="en-CA" i="1"/>
                            <m:t>𝑗𝑘</m:t>
                          </m:r>
                        </m:sub>
                      </m:sSub>
                      <m:r>
                        <a:rPr lang="en-CA" i="1"/>
                        <m:t> −  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𝑖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𝑗</m:t>
                              </m:r>
                            </m:sub>
                          </m:sSub>
                          <m:r>
                            <a:rPr lang="en-CA" i="1"/>
                            <m:t>+</m:t>
                          </m:r>
                          <m:sSub>
                            <m:sSubPr>
                              <m:ctrlPr>
                                <a:rPr lang="en-CA" i="1"/>
                              </m:ctrlPr>
                            </m:sSubPr>
                            <m:e>
                              <m:r>
                                <a:rPr lang="en-CA" i="1"/>
                                <m:t>𝑛</m:t>
                              </m:r>
                            </m:e>
                            <m:sub>
                              <m:r>
                                <a:rPr lang="en-CA" i="1"/>
                                <m:t>𝑘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CA" i="1"/>
                          </m:ctrlPr>
                        </m:sSubPr>
                        <m:e>
                          <m:r>
                            <a:rPr lang="en-CA" i="1"/>
                            <m:t>𝑑</m:t>
                          </m:r>
                        </m:e>
                        <m:sub>
                          <m:r>
                            <a:rPr lang="en-CA" i="1"/>
                            <m:t>𝑖𝑗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important: you are merging cluster </a:t>
                </a:r>
                <a:r>
                  <a:rPr lang="en-US" i="1" dirty="0" err="1"/>
                  <a:t>i</a:t>
                </a:r>
                <a:r>
                  <a:rPr lang="en-US" dirty="0"/>
                  <a:t> with cluster </a:t>
                </a:r>
                <a:r>
                  <a:rPr lang="en-US" i="1" dirty="0"/>
                  <a:t>j</a:t>
                </a:r>
                <a:r>
                  <a:rPr lang="en-US" dirty="0"/>
                  <a:t> and you wish to calculate the distance between the merged cluster (</a:t>
                </a:r>
                <a:r>
                  <a:rPr lang="en-US" dirty="0" err="1"/>
                  <a:t>ij</a:t>
                </a:r>
                <a:r>
                  <a:rPr lang="en-US" dirty="0"/>
                  <a:t>) and cluster (k).  Think of </a:t>
                </a:r>
                <a:r>
                  <a:rPr lang="en-US" i="1" dirty="0" err="1"/>
                  <a:t>i</a:t>
                </a:r>
                <a:r>
                  <a:rPr lang="en-US" dirty="0"/>
                  <a:t>, </a:t>
                </a:r>
                <a:r>
                  <a:rPr lang="en-US" i="1" dirty="0"/>
                  <a:t>j </a:t>
                </a:r>
                <a:r>
                  <a:rPr lang="en-US" dirty="0"/>
                  <a:t>and </a:t>
                </a:r>
                <a:r>
                  <a:rPr lang="en-US" i="1" dirty="0"/>
                  <a:t>k </a:t>
                </a:r>
                <a:r>
                  <a:rPr lang="en-US" dirty="0"/>
                  <a:t>as clusters.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/>
                        </m:ctrlPr>
                      </m:sSubPr>
                      <m:e>
                        <m:r>
                          <a:rPr lang="en-CA" i="1"/>
                          <m:t>𝑛</m:t>
                        </m:r>
                      </m:e>
                      <m:sub>
                        <m:r>
                          <a:rPr lang="en-CA" i="1"/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naturally refers to the number of items in cluster </a:t>
                </a:r>
                <a:r>
                  <a:rPr lang="en-CA" i="1" dirty="0" err="1"/>
                  <a:t>i</a:t>
                </a:r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98C619B-6135-2824-5100-97B7A98C7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8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0C65BFA-33F0-68C1-22E6-C21356874921}"/>
              </a:ext>
            </a:extLst>
          </p:cNvPr>
          <p:cNvCxnSpPr/>
          <p:nvPr/>
        </p:nvCxnSpPr>
        <p:spPr>
          <a:xfrm flipH="1" flipV="1">
            <a:off x="1801368" y="3886200"/>
            <a:ext cx="64008" cy="5852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F4B2-783A-38A3-7077-DEE45380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962B-4305-DAA9-838A-094A68A4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Lance-Williams algorithm: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8DE1FA0-BE19-6E99-9559-038724D91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Ward.D2 formula: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/>
                          </m:ctrlPr>
                        </m:sSubPr>
                        <m:e>
                          <m:r>
                            <a:rPr lang="en-CA" i="1"/>
                            <m:t>𝑑</m:t>
                          </m:r>
                        </m:e>
                        <m:sub>
                          <m:d>
                            <m:dPr>
                              <m:ctrlPr>
                                <a:rPr lang="en-CA" i="1"/>
                              </m:ctrlPr>
                            </m:dPr>
                            <m:e>
                              <m:r>
                                <a:rPr lang="en-CA" i="1"/>
                                <m:t>𝑖𝑗</m:t>
                              </m:r>
                            </m:e>
                          </m:d>
                          <m:r>
                            <a:rPr lang="en-CA" i="1"/>
                            <m:t>𝑘</m:t>
                          </m:r>
                        </m:sub>
                      </m:sSub>
                      <m:r>
                        <a:rPr lang="en-CA" i="1"/>
                        <m:t>=</m:t>
                      </m:r>
                      <m:rad>
                        <m:radPr>
                          <m:degHide m:val="on"/>
                          <m:ctrlPr>
                            <a:rPr lang="en-CA" i="1"/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CA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𝑖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𝑖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𝑗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CA" i="1"/>
                              </m:ctrlPr>
                            </m:sSubSupPr>
                            <m:e>
                              <m:r>
                                <a:rPr lang="en-CA" i="1"/>
                                <m:t>𝑑</m:t>
                              </m:r>
                            </m:e>
                            <m:sub>
                              <m:r>
                                <a:rPr lang="en-CA" i="1"/>
                                <m:t>𝑖𝑘</m:t>
                              </m:r>
                            </m:sub>
                            <m:sup>
                              <m:r>
                                <a:rPr lang="en-CA" i="1"/>
                                <m:t>2</m:t>
                              </m:r>
                            </m:sup>
                          </m:sSubSup>
                          <m:r>
                            <a:rPr lang="en-CA" i="1"/>
                            <m:t>+  </m:t>
                          </m:r>
                          <m:f>
                            <m:fPr>
                              <m:ctrlPr>
                                <a:rPr lang="en-CA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𝑗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𝑖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𝑗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CA" i="1"/>
                            <m:t> </m:t>
                          </m:r>
                          <m:sSubSup>
                            <m:sSubSupPr>
                              <m:ctrlPr>
                                <a:rPr lang="en-CA" i="1"/>
                              </m:ctrlPr>
                            </m:sSubSupPr>
                            <m:e>
                              <m:r>
                                <a:rPr lang="en-CA" i="1"/>
                                <m:t>𝑑</m:t>
                              </m:r>
                            </m:e>
                            <m:sub>
                              <m:r>
                                <a:rPr lang="en-CA" i="1"/>
                                <m:t>𝑗𝑘</m:t>
                              </m:r>
                            </m:sub>
                            <m:sup>
                              <m:r>
                                <a:rPr lang="en-CA" i="1"/>
                                <m:t>2</m:t>
                              </m:r>
                            </m:sup>
                          </m:sSubSup>
                          <m:r>
                            <a:rPr lang="en-CA" i="1"/>
                            <m:t>−  </m:t>
                          </m:r>
                          <m:f>
                            <m:fPr>
                              <m:ctrlPr>
                                <a:rPr lang="en-CA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𝑖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𝑗</m:t>
                                  </m:r>
                                </m:sub>
                              </m:sSub>
                              <m:r>
                                <a:rPr lang="en-CA" i="1"/>
                                <m:t>+</m:t>
                              </m:r>
                              <m:sSub>
                                <m:sSubPr>
                                  <m:ctrlPr>
                                    <a:rPr lang="en-CA" i="1"/>
                                  </m:ctrlPr>
                                </m:sSubPr>
                                <m:e>
                                  <m:r>
                                    <a:rPr lang="en-CA" i="1"/>
                                    <m:t>𝑛</m:t>
                                  </m:r>
                                </m:e>
                                <m:sub>
                                  <m:r>
                                    <a:rPr lang="en-CA" i="1"/>
                                    <m:t>𝑘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CA" i="1"/>
                              </m:ctrlPr>
                            </m:sSubSupPr>
                            <m:e>
                              <m:r>
                                <a:rPr lang="en-CA" i="1"/>
                                <m:t>𝑑</m:t>
                              </m:r>
                            </m:e>
                            <m:sub>
                              <m:r>
                                <a:rPr lang="en-CA" i="1"/>
                                <m:t>𝑖𝑗</m:t>
                              </m:r>
                            </m:sub>
                            <m:sup>
                              <m:r>
                                <a:rPr lang="en-CA" i="1"/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Make sure you can solve Worksheet problems on </a:t>
                </a:r>
                <a:r>
                  <a:rPr lang="en-US" dirty="0" err="1"/>
                  <a:t>ward.D</a:t>
                </a:r>
                <a:r>
                  <a:rPr lang="en-US" dirty="0"/>
                  <a:t> and ward.D2.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8DE1FA0-BE19-6E99-9559-038724D9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91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F1BB-3B76-BB9F-D025-73281E5D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260D-412F-539B-E921-847B43AA2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Perform hierarchical clustering using </a:t>
            </a:r>
            <a:r>
              <a:rPr lang="en-US" dirty="0" err="1"/>
              <a:t>ward.D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	-   </a:t>
            </a:r>
            <a:r>
              <a:rPr lang="en-US" dirty="0" err="1"/>
              <a:t>res.hc</a:t>
            </a:r>
            <a:r>
              <a:rPr lang="en-US" dirty="0"/>
              <a:t>&lt;-</a:t>
            </a:r>
            <a:r>
              <a:rPr lang="en-US" dirty="0" err="1"/>
              <a:t>hclust</a:t>
            </a:r>
            <a:r>
              <a:rPr lang="en-US" dirty="0"/>
              <a:t>(d = </a:t>
            </a:r>
            <a:r>
              <a:rPr lang="en-US" dirty="0" err="1"/>
              <a:t>res.dist</a:t>
            </a:r>
            <a:r>
              <a:rPr lang="en-US" dirty="0"/>
              <a:t>, method = “</a:t>
            </a:r>
            <a:r>
              <a:rPr lang="en-US" dirty="0" err="1"/>
              <a:t>ward.D</a:t>
            </a:r>
            <a:r>
              <a:rPr lang="en-US" dirty="0"/>
              <a:t>”)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Go through the worksheets on </a:t>
            </a:r>
            <a:r>
              <a:rPr lang="en-US" dirty="0" err="1"/>
              <a:t>ward.D</a:t>
            </a:r>
            <a:r>
              <a:rPr lang="en-US" dirty="0"/>
              <a:t> and ward.D2 and implement them using R code to verify that your hand-drawn dendrogram and calculations of cophenetic distances </a:t>
            </a:r>
            <a:r>
              <a:rPr lang="en-US"/>
              <a:t>are correct.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1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352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DANA 4840</vt:lpstr>
      <vt:lpstr>Recall various algorithms to split data</vt:lpstr>
      <vt:lpstr>Agglomerative Hierarchical clustering:</vt:lpstr>
      <vt:lpstr>Agglomerative Hierarchical clustering:</vt:lpstr>
      <vt:lpstr>Lance-Williams algorithm:</vt:lpstr>
      <vt:lpstr>Lance-Williams algorithm: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 4840</dc:title>
  <dc:creator>Yew-Wei Lim</dc:creator>
  <cp:lastModifiedBy>Yew-Wei Lim</cp:lastModifiedBy>
  <cp:revision>38</cp:revision>
  <cp:lastPrinted>2025-10-06T01:00:42Z</cp:lastPrinted>
  <dcterms:created xsi:type="dcterms:W3CDTF">2025-08-31T18:59:20Z</dcterms:created>
  <dcterms:modified xsi:type="dcterms:W3CDTF">2025-10-19T23:21:13Z</dcterms:modified>
</cp:coreProperties>
</file>