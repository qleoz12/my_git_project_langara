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1" r:id="rId3"/>
    <p:sldId id="287" r:id="rId4"/>
    <p:sldId id="268" r:id="rId5"/>
    <p:sldId id="288" r:id="rId6"/>
    <p:sldId id="289" r:id="rId7"/>
    <p:sldId id="290" r:id="rId8"/>
    <p:sldId id="277" r:id="rId9"/>
    <p:sldId id="283" r:id="rId10"/>
    <p:sldId id="292" r:id="rId11"/>
    <p:sldId id="293" r:id="rId12"/>
    <p:sldId id="294" r:id="rId13"/>
    <p:sldId id="2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67" d="100"/>
          <a:sy n="67" d="100"/>
        </p:scale>
        <p:origin x="45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783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7768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4A80508-5317-4CB0-8BF0-F24B753CAFCF}" type="datetimeFigureOut">
              <a:rPr lang="en-CA" smtClean="0"/>
              <a:t>2023-05-19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61655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D4A80508-5317-4CB0-8BF0-F24B753CAFCF}" type="datetimeFigureOut">
              <a:rPr lang="en-CA" smtClean="0"/>
              <a:t>2023-05-19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81206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D4A80508-5317-4CB0-8BF0-F24B753CAFCF}" type="datetimeFigureOut">
              <a:rPr lang="en-CA" smtClean="0"/>
              <a:t>2023-05-19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133582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D4A80508-5317-4CB0-8BF0-F24B753CAFCF}" type="datetimeFigureOut">
              <a:rPr lang="en-CA" smtClean="0"/>
              <a:t>2023-05-19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6266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80508-5317-4CB0-8BF0-F24B753CAFCF}" type="datetimeFigureOut">
              <a:rPr lang="en-CA" smtClean="0"/>
              <a:t>2023-05-19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3046716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2023-05-19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2577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2023-05-19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293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52167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2023-05-19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07122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A80508-5317-4CB0-8BF0-F24B753CAFCF}" type="datetimeFigureOut">
              <a:rPr lang="en-CA" smtClean="0"/>
              <a:t>2023-05-19</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0C3AE8-76E1-4D4A-8D26-100D19D5D6B2}" type="slidenum">
              <a:rPr lang="en-CA" smtClean="0"/>
              <a:t>‹#›</a:t>
            </a:fld>
            <a:endParaRPr lang="en-CA"/>
          </a:p>
        </p:txBody>
      </p:sp>
    </p:spTree>
    <p:extLst>
      <p:ext uri="{BB962C8B-B14F-4D97-AF65-F5344CB8AC3E}">
        <p14:creationId xmlns:p14="http://schemas.microsoft.com/office/powerpoint/2010/main" val="670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7691" y="782729"/>
            <a:ext cx="9144000" cy="2387600"/>
          </a:xfrm>
        </p:spPr>
        <p:txBody>
          <a:bodyPr>
            <a:normAutofit/>
          </a:bodyPr>
          <a:lstStyle/>
          <a:p>
            <a:r>
              <a:rPr lang="en-CA" sz="5400" dirty="0">
                <a:solidFill>
                  <a:schemeClr val="accent2"/>
                </a:solidFill>
                <a:latin typeface="Arial" panose="020B0604020202020204" pitchFamily="34" charset="0"/>
                <a:cs typeface="Arial" panose="020B0604020202020204" pitchFamily="34" charset="0"/>
              </a:rPr>
              <a:t>CLARA – Clustering Large Applications</a:t>
            </a:r>
          </a:p>
        </p:txBody>
      </p:sp>
      <p:pic>
        <p:nvPicPr>
          <p:cNvPr id="4" name="Picture 3"/>
          <p:cNvPicPr>
            <a:picLocks noChangeAspect="1"/>
          </p:cNvPicPr>
          <p:nvPr/>
        </p:nvPicPr>
        <p:blipFill>
          <a:blip r:embed="rId2"/>
          <a:stretch>
            <a:fillRect/>
          </a:stretch>
        </p:blipFill>
        <p:spPr>
          <a:xfrm>
            <a:off x="7889966" y="5784307"/>
            <a:ext cx="4302034" cy="1073693"/>
          </a:xfrm>
          <a:prstGeom prst="rect">
            <a:avLst/>
          </a:prstGeom>
        </p:spPr>
      </p:pic>
    </p:spTree>
    <p:extLst>
      <p:ext uri="{BB962C8B-B14F-4D97-AF65-F5344CB8AC3E}">
        <p14:creationId xmlns:p14="http://schemas.microsoft.com/office/powerpoint/2010/main" val="70370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dirty="0">
                <a:latin typeface="Arial" panose="020B0604020202020204" pitchFamily="34" charset="0"/>
                <a:cs typeface="Arial" panose="020B0604020202020204" pitchFamily="34" charset="0"/>
              </a:rPr>
              <a:t>CLARA is an extension to k-medoids methods to deal with data containing a large number of objects. </a:t>
            </a:r>
          </a:p>
          <a:p>
            <a:pPr>
              <a:lnSpc>
                <a:spcPct val="150000"/>
              </a:lnSpc>
            </a:pPr>
            <a:r>
              <a:rPr lang="en-CA" dirty="0">
                <a:latin typeface="Arial" panose="020B0604020202020204" pitchFamily="34" charset="0"/>
                <a:cs typeface="Arial" panose="020B0604020202020204" pitchFamily="34" charset="0"/>
              </a:rPr>
              <a:t>This is to help reduce the computing time and RAM storage problem.</a:t>
            </a:r>
          </a:p>
          <a:p>
            <a:pPr marL="0" indent="0">
              <a:lnSpc>
                <a:spcPct val="150000"/>
              </a:lnSpc>
              <a:buNone/>
            </a:pP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550409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 Concept</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CLARA considers a small sample of the data with fixed size (</a:t>
            </a:r>
            <a:r>
              <a:rPr lang="en-CA" i="1" dirty="0" err="1">
                <a:latin typeface="Arial" panose="020B0604020202020204" pitchFamily="34" charset="0"/>
                <a:cs typeface="Arial" panose="020B0604020202020204" pitchFamily="34" charset="0"/>
              </a:rPr>
              <a:t>sampsize</a:t>
            </a:r>
            <a:r>
              <a:rPr lang="en-CA" dirty="0">
                <a:latin typeface="Arial" panose="020B0604020202020204" pitchFamily="34" charset="0"/>
                <a:cs typeface="Arial" panose="020B0604020202020204" pitchFamily="34" charset="0"/>
              </a:rPr>
              <a:t>) and applies the PAM algorithm to generate an optimal set of medoids for the sample.</a:t>
            </a:r>
          </a:p>
          <a:p>
            <a:pPr>
              <a:lnSpc>
                <a:spcPct val="150000"/>
              </a:lnSpc>
            </a:pPr>
            <a:r>
              <a:rPr lang="en-CA" dirty="0">
                <a:latin typeface="Arial" panose="020B0604020202020204" pitchFamily="34" charset="0"/>
                <a:cs typeface="Arial" panose="020B0604020202020204" pitchFamily="34" charset="0"/>
              </a:rPr>
              <a:t>Quality of resulting medoids is measured by the average dissimilarity between every object in the entire data set and the medoids of its cluster, defined as the cost function.</a:t>
            </a: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647174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 Concept</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CLARA repeats the sampling and clustering processes a pre-specified number of times in order to minimize the sampling bias.</a:t>
            </a:r>
          </a:p>
          <a:p>
            <a:pPr>
              <a:lnSpc>
                <a:spcPct val="150000"/>
              </a:lnSpc>
            </a:pPr>
            <a:r>
              <a:rPr lang="en-CA" dirty="0">
                <a:latin typeface="Arial" panose="020B0604020202020204" pitchFamily="34" charset="0"/>
                <a:cs typeface="Arial" panose="020B0604020202020204" pitchFamily="34" charset="0"/>
              </a:rPr>
              <a:t>The final clustering results correspond to the set of medoids with the minimal cost.</a:t>
            </a: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0422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 Algorithm</a:t>
            </a:r>
          </a:p>
        </p:txBody>
      </p:sp>
      <p:sp>
        <p:nvSpPr>
          <p:cNvPr id="3" name="Content Placeholder 2"/>
          <p:cNvSpPr>
            <a:spLocks noGrp="1"/>
          </p:cNvSpPr>
          <p:nvPr>
            <p:ph idx="1"/>
          </p:nvPr>
        </p:nvSpPr>
        <p:spPr>
          <a:xfrm>
            <a:off x="749300" y="1563098"/>
            <a:ext cx="10515600" cy="4223747"/>
          </a:xfrm>
        </p:spPr>
        <p:txBody>
          <a:bodyPr>
            <a:normAutofit fontScale="92500" lnSpcReduction="10000"/>
          </a:bodyPr>
          <a:lstStyle/>
          <a:p>
            <a:pPr>
              <a:lnSpc>
                <a:spcPct val="150000"/>
              </a:lnSpc>
            </a:pPr>
            <a:r>
              <a:rPr lang="en-CA" sz="3200" dirty="0">
                <a:latin typeface="Arial" panose="020B0604020202020204" pitchFamily="34" charset="0"/>
                <a:cs typeface="Arial" panose="020B0604020202020204" pitchFamily="34" charset="0"/>
              </a:rPr>
              <a:t>Split randomly the data sets in multiple subsets with fixed size (</a:t>
            </a:r>
            <a:r>
              <a:rPr lang="en-CA" sz="3200" dirty="0" err="1">
                <a:latin typeface="Arial" panose="020B0604020202020204" pitchFamily="34" charset="0"/>
                <a:cs typeface="Arial" panose="020B0604020202020204" pitchFamily="34" charset="0"/>
              </a:rPr>
              <a:t>sampsize</a:t>
            </a:r>
            <a:r>
              <a:rPr lang="en-CA" sz="3200" dirty="0">
                <a:latin typeface="Arial" panose="020B0604020202020204" pitchFamily="34" charset="0"/>
                <a:cs typeface="Arial" panose="020B0604020202020204" pitchFamily="34" charset="0"/>
              </a:rPr>
              <a:t>).</a:t>
            </a:r>
          </a:p>
          <a:p>
            <a:pPr>
              <a:lnSpc>
                <a:spcPct val="150000"/>
              </a:lnSpc>
            </a:pPr>
            <a:r>
              <a:rPr lang="en-CA" sz="3200" dirty="0">
                <a:latin typeface="Arial" panose="020B0604020202020204" pitchFamily="34" charset="0"/>
                <a:cs typeface="Arial" panose="020B0604020202020204" pitchFamily="34" charset="0"/>
              </a:rPr>
              <a:t>Compute PAM algorithm on each subset and choose the corresponding </a:t>
            </a:r>
            <a:r>
              <a:rPr lang="en-CA" sz="3200" i="1" dirty="0">
                <a:latin typeface="Arial" panose="020B0604020202020204" pitchFamily="34" charset="0"/>
                <a:cs typeface="Arial" panose="020B0604020202020204" pitchFamily="34" charset="0"/>
              </a:rPr>
              <a:t>k</a:t>
            </a:r>
            <a:r>
              <a:rPr lang="en-CA" sz="3200" dirty="0">
                <a:latin typeface="Arial" panose="020B0604020202020204" pitchFamily="34" charset="0"/>
                <a:cs typeface="Arial" panose="020B0604020202020204" pitchFamily="34" charset="0"/>
              </a:rPr>
              <a:t> representative objects (medoids). </a:t>
            </a:r>
          </a:p>
          <a:p>
            <a:pPr>
              <a:lnSpc>
                <a:spcPct val="150000"/>
              </a:lnSpc>
            </a:pPr>
            <a:r>
              <a:rPr lang="en-CA" sz="3200" dirty="0">
                <a:latin typeface="Arial" panose="020B0604020202020204" pitchFamily="34" charset="0"/>
                <a:cs typeface="Arial" panose="020B0604020202020204" pitchFamily="34" charset="0"/>
              </a:rPr>
              <a:t>Assign each observation of the entire data set to the closest medoids.</a:t>
            </a:r>
          </a:p>
          <a:p>
            <a:endParaRPr lang="en-CA" dirty="0"/>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137714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 Algorithm</a:t>
            </a:r>
          </a:p>
        </p:txBody>
      </p:sp>
      <p:sp>
        <p:nvSpPr>
          <p:cNvPr id="3" name="Content Placeholder 2"/>
          <p:cNvSpPr>
            <a:spLocks noGrp="1"/>
          </p:cNvSpPr>
          <p:nvPr>
            <p:ph idx="1"/>
          </p:nvPr>
        </p:nvSpPr>
        <p:spPr>
          <a:xfrm>
            <a:off x="749300" y="1563098"/>
            <a:ext cx="10515600" cy="4223747"/>
          </a:xfrm>
        </p:spPr>
        <p:txBody>
          <a:bodyPr>
            <a:normAutofit fontScale="92500" lnSpcReduction="10000"/>
          </a:bodyPr>
          <a:lstStyle/>
          <a:p>
            <a:pPr>
              <a:lnSpc>
                <a:spcPct val="150000"/>
              </a:lnSpc>
            </a:pPr>
            <a:r>
              <a:rPr lang="en-CA" sz="3200" dirty="0">
                <a:latin typeface="Arial" panose="020B0604020202020204" pitchFamily="34" charset="0"/>
                <a:cs typeface="Arial" panose="020B0604020202020204" pitchFamily="34" charset="0"/>
              </a:rPr>
              <a:t>Calculate the mean (or the sum) of the dissimilarities of the observations to their closest </a:t>
            </a:r>
            <a:r>
              <a:rPr lang="en-CA" sz="3200" dirty="0" err="1">
                <a:latin typeface="Arial" panose="020B0604020202020204" pitchFamily="34" charset="0"/>
                <a:cs typeface="Arial" panose="020B0604020202020204" pitchFamily="34" charset="0"/>
              </a:rPr>
              <a:t>medoid</a:t>
            </a:r>
            <a:r>
              <a:rPr lang="en-CA" sz="3200" dirty="0">
                <a:latin typeface="Arial" panose="020B0604020202020204" pitchFamily="34" charset="0"/>
                <a:cs typeface="Arial" panose="020B0604020202020204" pitchFamily="34" charset="0"/>
              </a:rPr>
              <a:t>. This is used as measure of the goodness of the clustering.</a:t>
            </a:r>
          </a:p>
          <a:p>
            <a:pPr>
              <a:lnSpc>
                <a:spcPct val="150000"/>
              </a:lnSpc>
            </a:pPr>
            <a:r>
              <a:rPr lang="en-CA" sz="3200" dirty="0">
                <a:latin typeface="Arial" panose="020B0604020202020204" pitchFamily="34" charset="0"/>
                <a:cs typeface="Arial" panose="020B0604020202020204" pitchFamily="34" charset="0"/>
              </a:rPr>
              <a:t>Retain the sub-data set for which the mean (or sum) is minimal. A further analysis is carried out on the final prediction.</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419815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CLARA Algorithm</a:t>
            </a:r>
          </a:p>
        </p:txBody>
      </p:sp>
      <p:sp>
        <p:nvSpPr>
          <p:cNvPr id="3" name="Content Placeholder 2"/>
          <p:cNvSpPr>
            <a:spLocks noGrp="1"/>
          </p:cNvSpPr>
          <p:nvPr>
            <p:ph idx="1"/>
          </p:nvPr>
        </p:nvSpPr>
        <p:spPr>
          <a:xfrm>
            <a:off x="736237" y="1563098"/>
            <a:ext cx="10515600" cy="4223747"/>
          </a:xfrm>
        </p:spPr>
        <p:txBody>
          <a:bodyPr>
            <a:normAutofit/>
          </a:bodyPr>
          <a:lstStyle/>
          <a:p>
            <a:pPr marL="0" indent="0">
              <a:lnSpc>
                <a:spcPct val="150000"/>
              </a:lnSpc>
              <a:buNone/>
            </a:pPr>
            <a:r>
              <a:rPr lang="en-CA" dirty="0">
                <a:latin typeface="Arial" panose="020B0604020202020204" pitchFamily="34" charset="0"/>
                <a:cs typeface="Arial" panose="020B0604020202020204" pitchFamily="34" charset="0"/>
              </a:rPr>
              <a:t>Note that, each sub-data set is forced to contain the medoids obtained from the best sub-data set until then. Randomly drawn observations are added to this set until </a:t>
            </a:r>
            <a:r>
              <a:rPr lang="en-CA" i="1" dirty="0" err="1">
                <a:latin typeface="Arial" panose="020B0604020202020204" pitchFamily="34" charset="0"/>
                <a:cs typeface="Arial" panose="020B0604020202020204" pitchFamily="34" charset="0"/>
              </a:rPr>
              <a:t>sampsize</a:t>
            </a:r>
            <a:r>
              <a:rPr lang="en-CA" dirty="0">
                <a:latin typeface="Arial" panose="020B0604020202020204" pitchFamily="34" charset="0"/>
                <a:cs typeface="Arial" panose="020B0604020202020204" pitchFamily="34" charset="0"/>
              </a:rPr>
              <a:t> has been reached.</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90750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Computing CLARA in R</a:t>
            </a:r>
          </a:p>
        </p:txBody>
      </p:sp>
      <p:sp>
        <p:nvSpPr>
          <p:cNvPr id="3" name="Content Placeholder 2"/>
          <p:cNvSpPr>
            <a:spLocks noGrp="1"/>
          </p:cNvSpPr>
          <p:nvPr>
            <p:ph idx="1"/>
          </p:nvPr>
        </p:nvSpPr>
        <p:spPr>
          <a:xfrm>
            <a:off x="838200" y="1435507"/>
            <a:ext cx="10515600" cy="4351338"/>
          </a:xfrm>
        </p:spPr>
        <p:txBody>
          <a:bodyPr>
            <a:normAutofit/>
          </a:bodyPr>
          <a:lstStyle/>
          <a:p>
            <a:pPr marL="0" indent="0">
              <a:lnSpc>
                <a:spcPct val="150000"/>
              </a:lnSpc>
              <a:buNone/>
            </a:pPr>
            <a:r>
              <a:rPr lang="en-CA" dirty="0">
                <a:latin typeface="Arial" panose="020B0604020202020204" pitchFamily="34" charset="0"/>
                <a:cs typeface="Arial" panose="020B0604020202020204" pitchFamily="34" charset="0"/>
              </a:rPr>
              <a:t>R functions and packages:</a:t>
            </a:r>
          </a:p>
          <a:p>
            <a:pPr>
              <a:lnSpc>
                <a:spcPct val="150000"/>
              </a:lnSpc>
            </a:pPr>
            <a:r>
              <a:rPr lang="en-CA" dirty="0">
                <a:latin typeface="Arial" panose="020B0604020202020204" pitchFamily="34" charset="0"/>
                <a:cs typeface="Arial" panose="020B0604020202020204" pitchFamily="34" charset="0"/>
              </a:rPr>
              <a:t>The function </a:t>
            </a:r>
            <a:r>
              <a:rPr lang="en-CA" i="1" dirty="0" err="1">
                <a:latin typeface="Arial" panose="020B0604020202020204" pitchFamily="34" charset="0"/>
                <a:cs typeface="Arial" panose="020B0604020202020204" pitchFamily="34" charset="0"/>
              </a:rPr>
              <a:t>clara</a:t>
            </a:r>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[cluster package] can be used to compute CLARA.</a:t>
            </a:r>
          </a:p>
          <a:p>
            <a:pPr marL="0" indent="0">
              <a:buNone/>
            </a:pPr>
            <a:endParaRPr lang="en-CA" b="1" dirty="0"/>
          </a:p>
          <a:p>
            <a:pPr marL="0" indent="0">
              <a:buNone/>
            </a:pPr>
            <a:r>
              <a:rPr lang="en-CA" b="1" dirty="0" err="1"/>
              <a:t>clara</a:t>
            </a:r>
            <a:r>
              <a:rPr lang="en-CA" dirty="0"/>
              <a:t>(x, k, metric = "euclidean", stand = FALSE, samples = 5, pamLike = FALSE)</a:t>
            </a:r>
            <a:endParaRPr lang="en-CA" i="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10329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283698"/>
            <a:ext cx="10515600" cy="4351338"/>
          </a:xfrm>
        </p:spPr>
        <p:txBody>
          <a:bodyPr>
            <a:normAutofit fontScale="77500" lnSpcReduction="20000"/>
          </a:bodyPr>
          <a:lstStyle/>
          <a:p>
            <a:pPr>
              <a:lnSpc>
                <a:spcPct val="160000"/>
              </a:lnSpc>
            </a:pPr>
            <a:r>
              <a:rPr lang="en-CA" sz="3000" dirty="0">
                <a:latin typeface="Arial" panose="020B0604020202020204" pitchFamily="34" charset="0"/>
                <a:cs typeface="Arial" panose="020B0604020202020204" pitchFamily="34" charset="0"/>
              </a:rPr>
              <a:t>The CLARA (Clustering Large Applications) algorithm is an extension to the PAM (Partitioning Around Medoids) clustering method for large data sets. It intended to reduce the computation time in the case of large data set.</a:t>
            </a:r>
          </a:p>
          <a:p>
            <a:endParaRPr lang="en-CA" dirty="0">
              <a:latin typeface="Arial" panose="020B0604020202020204" pitchFamily="34" charset="0"/>
              <a:cs typeface="Arial" panose="020B0604020202020204" pitchFamily="34" charset="0"/>
            </a:endParaRPr>
          </a:p>
          <a:p>
            <a:pPr>
              <a:lnSpc>
                <a:spcPct val="170000"/>
              </a:lnSpc>
            </a:pPr>
            <a:r>
              <a:rPr lang="en-CA" dirty="0">
                <a:latin typeface="Arial" panose="020B0604020202020204" pitchFamily="34" charset="0"/>
                <a:cs typeface="Arial" panose="020B0604020202020204" pitchFamily="34" charset="0"/>
              </a:rPr>
              <a:t>The R function </a:t>
            </a:r>
            <a:r>
              <a:rPr lang="en-CA" i="1" dirty="0" err="1">
                <a:latin typeface="Arial" panose="020B0604020202020204" pitchFamily="34" charset="0"/>
                <a:cs typeface="Arial" panose="020B0604020202020204" pitchFamily="34" charset="0"/>
              </a:rPr>
              <a:t>clara</a:t>
            </a:r>
            <a:r>
              <a:rPr lang="en-CA" dirty="0">
                <a:latin typeface="Arial" panose="020B0604020202020204" pitchFamily="34" charset="0"/>
                <a:cs typeface="Arial" panose="020B0604020202020204" pitchFamily="34" charset="0"/>
              </a:rPr>
              <a:t>() [</a:t>
            </a:r>
            <a:r>
              <a:rPr lang="en-CA" i="1" dirty="0">
                <a:latin typeface="Arial" panose="020B0604020202020204" pitchFamily="34" charset="0"/>
                <a:cs typeface="Arial" panose="020B0604020202020204" pitchFamily="34" charset="0"/>
              </a:rPr>
              <a:t>cluster </a:t>
            </a:r>
            <a:r>
              <a:rPr lang="en-CA" dirty="0">
                <a:latin typeface="Arial" panose="020B0604020202020204" pitchFamily="34" charset="0"/>
                <a:cs typeface="Arial" panose="020B0604020202020204" pitchFamily="34" charset="0"/>
              </a:rPr>
              <a:t>package] can be used to compute CLARA algorithm. The simplified format is </a:t>
            </a:r>
            <a:r>
              <a:rPr lang="en-CA" dirty="0" err="1">
                <a:latin typeface="Arial" panose="020B0604020202020204" pitchFamily="34" charset="0"/>
                <a:cs typeface="Arial" panose="020B0604020202020204" pitchFamily="34" charset="0"/>
              </a:rPr>
              <a:t>clara</a:t>
            </a:r>
            <a:r>
              <a:rPr lang="en-CA" dirty="0">
                <a:latin typeface="Arial" panose="020B0604020202020204" pitchFamily="34" charset="0"/>
                <a:cs typeface="Arial" panose="020B0604020202020204" pitchFamily="34" charset="0"/>
              </a:rPr>
              <a:t>(x, k, pamLike = TRUE), where “x” is the data and k is the number of clusters to be generated.</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250384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PARTITIONING CLUSTERING SUMMARY</a:t>
            </a:r>
          </a:p>
        </p:txBody>
      </p:sp>
      <p:sp>
        <p:nvSpPr>
          <p:cNvPr id="3" name="Content Placeholder 2"/>
          <p:cNvSpPr>
            <a:spLocks noGrp="1"/>
          </p:cNvSpPr>
          <p:nvPr>
            <p:ph idx="1"/>
          </p:nvPr>
        </p:nvSpPr>
        <p:spPr>
          <a:xfrm>
            <a:off x="838200" y="1435507"/>
            <a:ext cx="10515600" cy="4351338"/>
          </a:xfrm>
        </p:spPr>
        <p:txBody>
          <a:bodyPr>
            <a:normAutofit fontScale="77500" lnSpcReduction="20000"/>
          </a:bodyPr>
          <a:lstStyle/>
          <a:p>
            <a:pPr>
              <a:lnSpc>
                <a:spcPct val="160000"/>
              </a:lnSpc>
            </a:pPr>
            <a:r>
              <a:rPr lang="en-CA" b="1" dirty="0">
                <a:latin typeface="Arial" panose="020B0604020202020204" pitchFamily="34" charset="0"/>
                <a:cs typeface="Arial" panose="020B0604020202020204" pitchFamily="34" charset="0"/>
              </a:rPr>
              <a:t>Partitioning clustering </a:t>
            </a:r>
            <a:r>
              <a:rPr lang="en-CA" dirty="0">
                <a:latin typeface="Arial" panose="020B0604020202020204" pitchFamily="34" charset="0"/>
                <a:cs typeface="Arial" panose="020B0604020202020204" pitchFamily="34" charset="0"/>
              </a:rPr>
              <a:t>are clustering methods used to classify observations, within a data set, into multiple groups based on their similarity. The algorithms require the analyst to specify the number of clusters to be generated. The commonly used partitioning clustering, including:</a:t>
            </a:r>
          </a:p>
          <a:p>
            <a:pPr marL="0" indent="0">
              <a:lnSpc>
                <a:spcPct val="160000"/>
              </a:lnSpc>
              <a:buNone/>
            </a:pPr>
            <a:r>
              <a:rPr lang="en-CA" dirty="0">
                <a:latin typeface="Arial" panose="020B0604020202020204" pitchFamily="34" charset="0"/>
                <a:cs typeface="Arial" panose="020B0604020202020204" pitchFamily="34" charset="0"/>
              </a:rPr>
              <a:t>• </a:t>
            </a:r>
            <a:r>
              <a:rPr lang="en-CA" b="1" dirty="0">
                <a:latin typeface="Arial" panose="020B0604020202020204" pitchFamily="34" charset="0"/>
                <a:cs typeface="Arial" panose="020B0604020202020204" pitchFamily="34" charset="0"/>
              </a:rPr>
              <a:t>K-means clustering </a:t>
            </a:r>
            <a:r>
              <a:rPr lang="en-CA" dirty="0">
                <a:latin typeface="Arial" panose="020B0604020202020204" pitchFamily="34" charset="0"/>
                <a:cs typeface="Arial" panose="020B0604020202020204" pitchFamily="34" charset="0"/>
              </a:rPr>
              <a:t>(</a:t>
            </a:r>
            <a:r>
              <a:rPr lang="en-CA" dirty="0" err="1">
                <a:latin typeface="Arial" panose="020B0604020202020204" pitchFamily="34" charset="0"/>
                <a:cs typeface="Arial" panose="020B0604020202020204" pitchFamily="34" charset="0"/>
              </a:rPr>
              <a:t>MacQueen</a:t>
            </a:r>
            <a:r>
              <a:rPr lang="en-CA" dirty="0">
                <a:latin typeface="Arial" panose="020B0604020202020204" pitchFamily="34" charset="0"/>
                <a:cs typeface="Arial" panose="020B0604020202020204" pitchFamily="34" charset="0"/>
              </a:rPr>
              <a:t>, 1967), in which, each cluster is represented by the center or means of the data points belonging to the cluster. The K-means method is sensitive to anomalous data points and outliers.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942908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PARTITIONING CLUSTERING SUMMARY</a:t>
            </a:r>
          </a:p>
        </p:txBody>
      </p:sp>
      <p:sp>
        <p:nvSpPr>
          <p:cNvPr id="3" name="Content Placeholder 2"/>
          <p:cNvSpPr>
            <a:spLocks noGrp="1"/>
          </p:cNvSpPr>
          <p:nvPr>
            <p:ph idx="1"/>
          </p:nvPr>
        </p:nvSpPr>
        <p:spPr>
          <a:xfrm>
            <a:off x="838200" y="1435507"/>
            <a:ext cx="10515600" cy="4351338"/>
          </a:xfrm>
        </p:spPr>
        <p:txBody>
          <a:bodyPr>
            <a:normAutofit/>
          </a:bodyPr>
          <a:lstStyle/>
          <a:p>
            <a:pPr marL="0" indent="0">
              <a:lnSpc>
                <a:spcPct val="150000"/>
              </a:lnSpc>
              <a:buNone/>
            </a:pPr>
            <a:r>
              <a:rPr lang="en-CA" dirty="0">
                <a:latin typeface="Arial" panose="020B0604020202020204" pitchFamily="34" charset="0"/>
                <a:cs typeface="Arial" panose="020B0604020202020204" pitchFamily="34" charset="0"/>
              </a:rPr>
              <a:t>• </a:t>
            </a:r>
            <a:r>
              <a:rPr lang="en-CA" b="1" dirty="0">
                <a:latin typeface="Arial" panose="020B0604020202020204" pitchFamily="34" charset="0"/>
                <a:cs typeface="Arial" panose="020B0604020202020204" pitchFamily="34" charset="0"/>
              </a:rPr>
              <a:t>K-medoids clustering </a:t>
            </a:r>
            <a:r>
              <a:rPr lang="en-CA" dirty="0">
                <a:latin typeface="Arial" panose="020B0604020202020204" pitchFamily="34" charset="0"/>
                <a:cs typeface="Arial" panose="020B0604020202020204" pitchFamily="34" charset="0"/>
              </a:rPr>
              <a:t>or </a:t>
            </a:r>
            <a:r>
              <a:rPr lang="en-CA" b="1" dirty="0">
                <a:latin typeface="Arial" panose="020B0604020202020204" pitchFamily="34" charset="0"/>
                <a:cs typeface="Arial" panose="020B0604020202020204" pitchFamily="34" charset="0"/>
              </a:rPr>
              <a:t>PAM </a:t>
            </a:r>
            <a:r>
              <a:rPr lang="en-CA" dirty="0">
                <a:latin typeface="Arial" panose="020B0604020202020204" pitchFamily="34" charset="0"/>
                <a:cs typeface="Arial" panose="020B0604020202020204" pitchFamily="34" charset="0"/>
              </a:rPr>
              <a:t>(</a:t>
            </a:r>
            <a:r>
              <a:rPr lang="en-CA" i="1" dirty="0">
                <a:latin typeface="Arial" panose="020B0604020202020204" pitchFamily="34" charset="0"/>
                <a:cs typeface="Arial" panose="020B0604020202020204" pitchFamily="34" charset="0"/>
              </a:rPr>
              <a:t>Partitioning Around Medoids</a:t>
            </a:r>
            <a:r>
              <a:rPr lang="en-CA" dirty="0">
                <a:latin typeface="Arial" panose="020B0604020202020204" pitchFamily="34" charset="0"/>
                <a:cs typeface="Arial" panose="020B0604020202020204" pitchFamily="34" charset="0"/>
              </a:rPr>
              <a:t>, Kaufman &amp; </a:t>
            </a:r>
            <a:r>
              <a:rPr lang="en-CA" dirty="0" err="1">
                <a:latin typeface="Arial" panose="020B0604020202020204" pitchFamily="34" charset="0"/>
                <a:cs typeface="Arial" panose="020B0604020202020204" pitchFamily="34" charset="0"/>
              </a:rPr>
              <a:t>Rousseeuw</a:t>
            </a:r>
            <a:r>
              <a:rPr lang="en-CA" dirty="0">
                <a:latin typeface="Arial" panose="020B0604020202020204" pitchFamily="34" charset="0"/>
                <a:cs typeface="Arial" panose="020B0604020202020204" pitchFamily="34" charset="0"/>
              </a:rPr>
              <a:t>, 1990), in which, each cluster is represented by one of the objects in the cluster. PAM is less sensitive to outliers compared to k-means.</a:t>
            </a:r>
          </a:p>
          <a:p>
            <a:pPr marL="0" indent="0">
              <a:lnSpc>
                <a:spcPct val="150000"/>
              </a:lnSpc>
              <a:buNone/>
            </a:pPr>
            <a:r>
              <a:rPr lang="en-CA" dirty="0">
                <a:latin typeface="Arial" panose="020B0604020202020204" pitchFamily="34" charset="0"/>
                <a:cs typeface="Arial" panose="020B0604020202020204" pitchFamily="34" charset="0"/>
              </a:rPr>
              <a:t>• </a:t>
            </a:r>
            <a:r>
              <a:rPr lang="en-CA" b="1" dirty="0">
                <a:latin typeface="Arial" panose="020B0604020202020204" pitchFamily="34" charset="0"/>
                <a:cs typeface="Arial" panose="020B0604020202020204" pitchFamily="34" charset="0"/>
              </a:rPr>
              <a:t>CLARA algorithm </a:t>
            </a:r>
            <a:r>
              <a:rPr lang="en-CA" dirty="0">
                <a:latin typeface="Arial" panose="020B0604020202020204" pitchFamily="34" charset="0"/>
                <a:cs typeface="Arial" panose="020B0604020202020204" pitchFamily="34" charset="0"/>
              </a:rPr>
              <a:t>(</a:t>
            </a:r>
            <a:r>
              <a:rPr lang="en-CA" i="1" dirty="0">
                <a:latin typeface="Arial" panose="020B0604020202020204" pitchFamily="34" charset="0"/>
                <a:cs typeface="Arial" panose="020B0604020202020204" pitchFamily="34" charset="0"/>
              </a:rPr>
              <a:t>Clustering Large Applications</a:t>
            </a:r>
            <a:r>
              <a:rPr lang="en-CA" dirty="0">
                <a:latin typeface="Arial" panose="020B0604020202020204" pitchFamily="34" charset="0"/>
                <a:cs typeface="Arial" panose="020B0604020202020204" pitchFamily="34" charset="0"/>
              </a:rPr>
              <a:t>), which is an extension to PAM adapted for large data sets.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65754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QUESTIONS</a:t>
            </a:r>
          </a:p>
        </p:txBody>
      </p:sp>
      <p:sp>
        <p:nvSpPr>
          <p:cNvPr id="3" name="Content Placeholder 2"/>
          <p:cNvSpPr>
            <a:spLocks noGrp="1"/>
          </p:cNvSpPr>
          <p:nvPr>
            <p:ph idx="1"/>
          </p:nvPr>
        </p:nvSpPr>
        <p:spPr>
          <a:xfrm>
            <a:off x="838200" y="1435507"/>
            <a:ext cx="10515600" cy="4351338"/>
          </a:xfrm>
        </p:spPr>
        <p:txBody>
          <a:bodyPr>
            <a:normAutofit fontScale="92500" lnSpcReduction="20000"/>
          </a:bodyPr>
          <a:lstStyle/>
          <a:p>
            <a:pPr marL="514350" indent="-514350">
              <a:lnSpc>
                <a:spcPct val="150000"/>
              </a:lnSpc>
              <a:buAutoNum type="arabicPeriod"/>
            </a:pPr>
            <a:r>
              <a:rPr lang="en-CA" dirty="0">
                <a:latin typeface="Arial" panose="020B0604020202020204" pitchFamily="34" charset="0"/>
                <a:cs typeface="Arial" panose="020B0604020202020204" pitchFamily="34" charset="0"/>
              </a:rPr>
              <a:t>What is K-means Clustering Algorithm?</a:t>
            </a:r>
          </a:p>
          <a:p>
            <a:pPr marL="514350" indent="-514350">
              <a:lnSpc>
                <a:spcPct val="150000"/>
              </a:lnSpc>
              <a:buAutoNum type="arabicPeriod"/>
            </a:pPr>
            <a:r>
              <a:rPr lang="en-CA" dirty="0">
                <a:latin typeface="Arial" panose="020B0604020202020204" pitchFamily="34" charset="0"/>
                <a:cs typeface="Arial" panose="020B0604020202020204" pitchFamily="34" charset="0"/>
              </a:rPr>
              <a:t>When would you prefer to use Manhattan distance over Euclidean distance methods?</a:t>
            </a:r>
          </a:p>
          <a:p>
            <a:pPr marL="514350" indent="-514350">
              <a:lnSpc>
                <a:spcPct val="150000"/>
              </a:lnSpc>
              <a:buAutoNum type="arabicPeriod"/>
            </a:pPr>
            <a:r>
              <a:rPr lang="en-CA" dirty="0">
                <a:latin typeface="Arial" panose="020B0604020202020204" pitchFamily="34" charset="0"/>
                <a:cs typeface="Arial" panose="020B0604020202020204" pitchFamily="34" charset="0"/>
              </a:rPr>
              <a:t>What does the plot of total within cluster sum of square vs k tell you?</a:t>
            </a:r>
          </a:p>
          <a:p>
            <a:pPr marL="514350" indent="-514350">
              <a:lnSpc>
                <a:spcPct val="150000"/>
              </a:lnSpc>
              <a:buFont typeface="Arial" panose="020B0604020202020204" pitchFamily="34" charset="0"/>
              <a:buAutoNum type="arabicPeriod"/>
            </a:pPr>
            <a:r>
              <a:rPr lang="en-CA" dirty="0">
                <a:latin typeface="Arial" panose="020B0604020202020204" pitchFamily="34" charset="0"/>
                <a:cs typeface="Arial" panose="020B0604020202020204" pitchFamily="34" charset="0"/>
              </a:rPr>
              <a:t>What is the difference between a centroid and a medoid in clustering?</a:t>
            </a:r>
          </a:p>
          <a:p>
            <a:pPr marL="514350" indent="-514350">
              <a:lnSpc>
                <a:spcPct val="150000"/>
              </a:lnSpc>
              <a:buAutoNum type="arabicPeriod"/>
            </a:pP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666275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257" y="208371"/>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QUESTIONS</a:t>
            </a:r>
          </a:p>
        </p:txBody>
      </p:sp>
      <p:sp>
        <p:nvSpPr>
          <p:cNvPr id="3" name="Content Placeholder 2"/>
          <p:cNvSpPr>
            <a:spLocks noGrp="1"/>
          </p:cNvSpPr>
          <p:nvPr>
            <p:ph idx="1"/>
          </p:nvPr>
        </p:nvSpPr>
        <p:spPr>
          <a:xfrm>
            <a:off x="838200" y="1278752"/>
            <a:ext cx="11062063" cy="4821602"/>
          </a:xfrm>
        </p:spPr>
        <p:txBody>
          <a:bodyPr>
            <a:normAutofit fontScale="92500"/>
          </a:bodyPr>
          <a:lstStyle/>
          <a:p>
            <a:pPr marL="0" indent="0">
              <a:lnSpc>
                <a:spcPct val="150000"/>
              </a:lnSpc>
              <a:buNone/>
            </a:pPr>
            <a:r>
              <a:rPr lang="en-CA" sz="3000" dirty="0">
                <a:latin typeface="Arial" panose="020B0604020202020204" pitchFamily="34" charset="0"/>
                <a:cs typeface="Arial" panose="020B0604020202020204" pitchFamily="34" charset="0"/>
              </a:rPr>
              <a:t>5. When is the CLARA clustering most appropriate to use?</a:t>
            </a:r>
          </a:p>
          <a:p>
            <a:pPr marL="0" indent="0">
              <a:lnSpc>
                <a:spcPct val="150000"/>
              </a:lnSpc>
              <a:buNone/>
            </a:pPr>
            <a:r>
              <a:rPr lang="en-CA" sz="3000" dirty="0">
                <a:latin typeface="Arial" panose="020B0604020202020204" pitchFamily="34" charset="0"/>
                <a:cs typeface="Arial" panose="020B0604020202020204" pitchFamily="34" charset="0"/>
              </a:rPr>
              <a:t>6. The output of daisy() is a dissimilarity matrix.   Can you feed this dissimilarity matrix to PAM algorithm to produce k clusters?  </a:t>
            </a:r>
          </a:p>
          <a:p>
            <a:pPr marL="0" indent="0">
              <a:lnSpc>
                <a:spcPct val="150000"/>
              </a:lnSpc>
              <a:buNone/>
            </a:pPr>
            <a:r>
              <a:rPr lang="en-CA" sz="3000" dirty="0">
                <a:latin typeface="Arial" panose="020B0604020202020204" pitchFamily="34" charset="0"/>
                <a:cs typeface="Arial" panose="020B0604020202020204" pitchFamily="34" charset="0"/>
              </a:rPr>
              <a:t>7. What are the challenges associated with the K means Algorithm?</a:t>
            </a:r>
          </a:p>
          <a:p>
            <a:pPr marL="0" indent="0">
              <a:lnSpc>
                <a:spcPct val="150000"/>
              </a:lnSpc>
              <a:buNone/>
            </a:pPr>
            <a:r>
              <a:rPr lang="en-CA" sz="3000" dirty="0">
                <a:latin typeface="Arial" panose="020B0604020202020204" pitchFamily="34" charset="0"/>
                <a:cs typeface="Arial" panose="020B0604020202020204" pitchFamily="34" charset="0"/>
              </a:rPr>
              <a:t>8. What kinds of datasets are not suitable for use with the K medoids Algorithm?  </a:t>
            </a:r>
          </a:p>
          <a:p>
            <a:pPr marL="0" indent="0">
              <a:lnSpc>
                <a:spcPct val="150000"/>
              </a:lnSpc>
              <a:buNone/>
            </a:pPr>
            <a:endParaRPr lang="en-CA" dirty="0">
              <a:latin typeface="Arial" panose="020B0604020202020204" pitchFamily="34" charset="0"/>
              <a:cs typeface="Arial" panose="020B0604020202020204" pitchFamily="34" charset="0"/>
            </a:endParaRPr>
          </a:p>
          <a:p>
            <a:pPr marL="0" indent="0">
              <a:lnSpc>
                <a:spcPct val="150000"/>
              </a:lnSpc>
              <a:buNone/>
            </a:pPr>
            <a:endParaRPr lang="en-CA" dirty="0">
              <a:latin typeface="Arial" panose="020B0604020202020204" pitchFamily="34" charset="0"/>
              <a:cs typeface="Arial" panose="020B0604020202020204" pitchFamily="34" charset="0"/>
            </a:endParaRPr>
          </a:p>
          <a:p>
            <a:pPr marL="0" indent="0">
              <a:lnSpc>
                <a:spcPct val="150000"/>
              </a:lnSpc>
              <a:buNone/>
            </a:pP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512693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2185</TotalTime>
  <Words>689</Words>
  <Application>Microsoft Office PowerPoint</Application>
  <PresentationFormat>Widescreen</PresentationFormat>
  <Paragraphs>45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CLARA – Clustering Large Applications</vt:lpstr>
      <vt:lpstr>CLARA</vt:lpstr>
      <vt:lpstr>CLARA Concept</vt:lpstr>
      <vt:lpstr>CLARA Concept</vt:lpstr>
      <vt:lpstr>CLARA Algorithm</vt:lpstr>
      <vt:lpstr>CLARA Algorithm</vt:lpstr>
      <vt:lpstr>CLARA Algorithm</vt:lpstr>
      <vt:lpstr>Computing CLARA in R</vt:lpstr>
      <vt:lpstr>Summary</vt:lpstr>
      <vt:lpstr>PARTITIONING CLUSTERING SUMMARY</vt:lpstr>
      <vt:lpstr>PARTITIONING CLUSTERING SUMMARY</vt:lpstr>
      <vt:lpstr>QUESTIONS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Announcements!!!!</dc:title>
  <dc:creator>jagyeman</dc:creator>
  <cp:lastModifiedBy>Yew-Wei Lim</cp:lastModifiedBy>
  <cp:revision>42</cp:revision>
  <dcterms:created xsi:type="dcterms:W3CDTF">2022-09-11T21:24:29Z</dcterms:created>
  <dcterms:modified xsi:type="dcterms:W3CDTF">2023-05-20T00:04:18Z</dcterms:modified>
</cp:coreProperties>
</file>