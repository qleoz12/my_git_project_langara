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 Partitional Clustering</a:t>
            </a:r>
          </a:p>
          <a:p>
            <a:r>
              <a:rPr lang="en-CA" dirty="0"/>
              <a:t>Part 4 – Silhouette widths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Silhouette Width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A6738F-C34C-E854-0170-F2A30D3DEB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200" b="1" dirty="0"/>
                  <a:t>Silhouette width =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dirty="0"/>
                  <a:t>Students to draw a diagram with three clusters and illustrate how to calculate silhouette width for any point:</a:t>
                </a:r>
              </a:p>
              <a:p>
                <a:pPr marL="0" indent="0" algn="ctr">
                  <a:buNone/>
                </a:pPr>
                <a:endParaRPr lang="en-US" sz="3200" b="1" dirty="0"/>
              </a:p>
              <a:p>
                <a:pPr marL="0" indent="0" algn="ctr">
                  <a:buNone/>
                </a:pPr>
                <a:endParaRPr lang="en-US" sz="32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A6738F-C34C-E854-0170-F2A30D3DE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Silhouette widths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E5853-32B0-8A93-0649-CB128C6904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dirty="0"/>
                  <a:t>Every observation in the dataset has a silhouette width.</a:t>
                </a:r>
              </a:p>
              <a:p>
                <a:r>
                  <a:rPr lang="en-CA" dirty="0"/>
                  <a:t>If there are 10 observations, then there are 10 silhouette widths.</a:t>
                </a:r>
              </a:p>
              <a:p>
                <a:r>
                  <a:rPr lang="en-CA" dirty="0"/>
                  <a:t>You can therefore find the average silhouette width for the entire dataset.</a:t>
                </a:r>
              </a:p>
              <a:p>
                <a:r>
                  <a:rPr lang="en-CA" dirty="0"/>
                  <a:t>Silhouette width ranges from -1 to 1.  (closer to 1 is ideal)</a:t>
                </a:r>
              </a:p>
              <a:p>
                <a:pPr lvl="1"/>
                <a:r>
                  <a:rPr lang="en-CA" sz="1600" dirty="0"/>
                  <a:t>Suppose b &gt; a, silhouette width</a:t>
                </a:r>
                <a14:m>
                  <m:oMath xmlns:m="http://schemas.openxmlformats.org/officeDocument/2006/math">
                    <m:r>
                      <a:rPr lang="en-CA" i="1"/>
                      <m:t>= 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CA" i="1"/>
                          <m:t>𝑏</m:t>
                        </m:r>
                        <m:r>
                          <a:rPr lang="en-CA" i="1"/>
                          <m:t>−</m:t>
                        </m:r>
                        <m:r>
                          <a:rPr lang="en-CA" i="1"/>
                          <m:t>𝑎</m:t>
                        </m:r>
                        <m:r>
                          <a:rPr lang="en-CA" i="1"/>
                          <m:t> </m:t>
                        </m:r>
                      </m:num>
                      <m:den>
                        <m:r>
                          <a:rPr lang="en-CA" i="1"/>
                          <m:t>𝑏</m:t>
                        </m:r>
                      </m:den>
                    </m:f>
                    <m:r>
                      <a:rPr lang="en-CA" i="1"/>
                      <m:t>=1− 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CA" i="1"/>
                          <m:t>𝑎</m:t>
                        </m:r>
                      </m:num>
                      <m:den>
                        <m:r>
                          <a:rPr lang="en-CA" i="1"/>
                          <m:t>𝑏</m:t>
                        </m:r>
                      </m:den>
                    </m:f>
                    <m:r>
                      <a:rPr lang="en-US" i="1"/>
                      <m:t>&gt;0</m:t>
                    </m:r>
                  </m:oMath>
                </a14:m>
                <a:endParaRPr lang="en-CA" sz="1600" dirty="0"/>
              </a:p>
              <a:p>
                <a:pPr lvl="1"/>
                <a:r>
                  <a:rPr lang="en-CA" sz="1600" dirty="0"/>
                  <a:t>Suppose b =a, silhouette width = 0</a:t>
                </a:r>
              </a:p>
              <a:p>
                <a:pPr lvl="1"/>
                <a:r>
                  <a:rPr lang="en-CA" sz="1600" dirty="0"/>
                  <a:t>Suppose a &gt; b, silhouette width =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CA" i="1"/>
                          <m:t>𝑏</m:t>
                        </m:r>
                        <m:r>
                          <a:rPr lang="en-CA" i="1"/>
                          <m:t>−</m:t>
                        </m:r>
                        <m:r>
                          <a:rPr lang="en-CA" i="1"/>
                          <m:t>𝑎</m:t>
                        </m:r>
                        <m:r>
                          <a:rPr lang="en-CA" i="1"/>
                          <m:t> </m:t>
                        </m:r>
                      </m:num>
                      <m:den>
                        <m:r>
                          <a:rPr lang="en-CA" i="1"/>
                          <m:t>𝑎</m:t>
                        </m:r>
                      </m:den>
                    </m:f>
                    <m:r>
                      <a:rPr lang="en-CA" i="1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CA" i="1"/>
                          <m:t>−(</m:t>
                        </m:r>
                        <m:r>
                          <a:rPr lang="en-CA" i="1"/>
                          <m:t>𝑎</m:t>
                        </m:r>
                        <m:r>
                          <a:rPr lang="en-CA" i="1"/>
                          <m:t>−</m:t>
                        </m:r>
                        <m:r>
                          <a:rPr lang="en-CA" i="1"/>
                          <m:t>𝑏</m:t>
                        </m:r>
                        <m:r>
                          <a:rPr lang="en-CA" i="1"/>
                          <m:t>)</m:t>
                        </m:r>
                      </m:num>
                      <m:den>
                        <m:r>
                          <a:rPr lang="en-CA" i="1"/>
                          <m:t>𝑎</m:t>
                        </m:r>
                      </m:den>
                    </m:f>
                    <m:r>
                      <a:rPr lang="en-US" i="1"/>
                      <m:t>&lt;0</m:t>
                    </m:r>
                  </m:oMath>
                </a14:m>
                <a:r>
                  <a:rPr lang="en-US" dirty="0"/>
                  <a:t> </a:t>
                </a:r>
                <a:r>
                  <a:rPr lang="en-CA" dirty="0"/>
                  <a:t>(which is not a good sign – meaning points are likely misplaced)</a:t>
                </a:r>
                <a:endParaRPr lang="en-CA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E5853-32B0-8A93-0649-CB128C6904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B058-FB6C-48CF-304F-0A37C5B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 code: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9A5-0431-AFEC-320F-F74427E3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Learn how to use R to find silhouette widths for every single observation</a:t>
            </a:r>
          </a:p>
          <a:p>
            <a:r>
              <a:rPr lang="en-CA" dirty="0"/>
              <a:t>Learn how to use R to determine k using silhouette approach</a:t>
            </a:r>
          </a:p>
          <a:p>
            <a:r>
              <a:rPr lang="en-CA" sz="2800" dirty="0"/>
              <a:t>Learn </a:t>
            </a:r>
            <a:r>
              <a:rPr lang="en-CA" dirty="0"/>
              <a:t>how to produce visual plots showing which cluster has negative silhouette widths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184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DANA 4840</vt:lpstr>
      <vt:lpstr>Silhouette Width</vt:lpstr>
      <vt:lpstr>Silhouette widths</vt:lpstr>
      <vt:lpstr>R code: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24</cp:revision>
  <cp:lastPrinted>2025-09-16T20:04:00Z</cp:lastPrinted>
  <dcterms:created xsi:type="dcterms:W3CDTF">2025-08-31T18:59:20Z</dcterms:created>
  <dcterms:modified xsi:type="dcterms:W3CDTF">2025-09-25T00:11:33Z</dcterms:modified>
</cp:coreProperties>
</file>