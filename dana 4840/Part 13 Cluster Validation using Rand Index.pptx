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4" r:id="rId5"/>
    <p:sldId id="278" r:id="rId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4ADD-9090-60BA-96B8-A412B21A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7D1C1-1BBF-7255-DB1F-8D04B713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33FD-6560-2D20-0AB0-244EC85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1B98-2BD6-7FED-6607-5F67AD2B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4245-EA64-A824-D791-9F6A3401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987-D91E-E747-8448-3E1B72FF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CEB8-BDD9-12BA-72A1-5917E3DC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B00E-B236-D878-971A-37D47F34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0E9A-2B55-84A1-CDA7-F1D75DF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7AB3-3E68-862F-4001-FC1E6900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96E0-6F0E-5CD0-FF3A-6C37D0D7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1E52-9962-6990-E97C-516B7DF55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9010-91FC-387E-387F-5077AD0C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05D0-3C8E-1306-BE60-699AAAAC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6FB9-1DE1-825A-B56C-A4EA5DE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3E5C-DE36-2129-1514-A6059651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C802-D4A2-0032-A948-31A659643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10F45-B9BA-EA3B-0196-552F1B59C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696E-138F-639F-C285-5F68A1FB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A251A-CAAE-D370-ED67-871A7465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1D36-EBAF-9CA2-DEBD-94676058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244-C79C-533F-8BD7-CB6F8231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DE2C-F0A6-CC70-1F74-C33A749A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F0C3-466E-668E-73A7-24D8F8EEF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09EC-6F60-3C4F-7FFC-EE93AEDC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73FB-7797-7546-C094-635F2C8EB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3982-6118-A403-A19B-F53E3693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18FF4-6CFF-4AE4-E151-C25669E2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7255D-C774-BE19-9A13-F4E7B07B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2D4E-A1CF-CFEA-5C35-5AA99598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2B73-0330-5398-C5A8-CBB3B4EC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FC741-0256-B4A3-A44E-192468BB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E38FF-E5E0-457A-7F63-6787C8C8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5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75D81-570F-BA0A-EA7C-CE2C8CD9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AAB19-8090-2B0E-D2F2-ECC1F697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087A-A5EE-98FE-8FA0-9A8C956B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6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3B78-8A4F-6AEA-0B23-56D8079D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792-260D-5479-4226-C56BF123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5376-C0F1-D663-EDBC-2C9426616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D6F26-1DD9-91CF-D09F-4F39B52C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4565-85A8-4DCF-27A0-AD2DBEAA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52FD0-CAF7-83F1-FC80-A5A45EA1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0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20A1-2D90-B2D4-275C-6FD59654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84FFA-4960-92EC-EA1D-016233B4F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1601-DAC6-F9C7-D732-726BCD93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BD6-090C-7F0E-D575-CAFBD73D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C1EC-DB79-DACF-F2ED-14D7ADE4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661C-80F4-A05E-D8AC-16FC660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811-68C2-1B4E-6E30-F9ED6A9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B0A0-CE66-E863-F980-0BECBC8B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BB67-48FC-904B-147F-B13920D5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FDFF-40C2-FC1D-B242-DAF421B1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EA6E-7907-E3BB-F684-41687347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32EFA-9EDE-628F-B6E0-C4B5B0B7F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BCDB-CC0C-FF0C-BB8F-901E905BC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F464-963F-7B6E-9A5B-546B8AAB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FD8B-CDB7-9541-4F79-5267577F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8165-8273-1128-ADF4-DB1359C1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8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E9FE3-2E4B-3B20-C561-ABC469F7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FD7F-ADCF-D6C5-4A36-0EBD26BD6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86C4-2146-D9A5-588F-0EC77FA11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95DA4-6D81-44BE-B2E1-2D492887A84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9FA4-9AC4-630D-E2CA-136D8C042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D66E-E538-7769-6E8D-53FF2A5B2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029-0052-6410-09DC-CC9318460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DANA 4840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28D5-50C5-24DB-9611-CA985D847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Classification II</a:t>
            </a:r>
          </a:p>
          <a:p>
            <a:r>
              <a:rPr lang="en-CA" dirty="0"/>
              <a:t>Part IV Cluster Validation Statistics</a:t>
            </a:r>
          </a:p>
          <a:p>
            <a:r>
              <a:rPr lang="en-CA" dirty="0"/>
              <a:t>Part 1 – Rand Index and Adjusted Rand Index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4A757-854E-64A5-E36B-7468B33C4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B4B2-08E9-E65B-A01A-22A32FB1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Cluster Validation Statistics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CF71F-FE4E-96A2-36C9-AA5CA0601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CA" dirty="0"/>
              <a:t>Cluster Validation Statistics:  one use is to compare which of several clustering results is better</a:t>
            </a:r>
          </a:p>
          <a:p>
            <a:endParaRPr lang="en-CA" dirty="0"/>
          </a:p>
          <a:p>
            <a:r>
              <a:rPr lang="en-CA" dirty="0"/>
              <a:t>Cluster validation can be divided into (a) internal cluster validation and (b) external cluster validation.</a:t>
            </a:r>
          </a:p>
          <a:p>
            <a:endParaRPr lang="en-CA" dirty="0"/>
          </a:p>
          <a:p>
            <a:pPr marL="514350" indent="-514350">
              <a:buAutoNum type="alphaLcParenBoth"/>
            </a:pPr>
            <a:r>
              <a:rPr lang="en-CA" dirty="0"/>
              <a:t>Internal cluster validation (using only data used in the clustering)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dirty="0" err="1"/>
              <a:t>i</a:t>
            </a:r>
            <a:r>
              <a:rPr lang="en-CA" dirty="0"/>
              <a:t>) silhouette method (already covered) [average of all silhouette scores]</a:t>
            </a:r>
          </a:p>
          <a:p>
            <a:pPr marL="0" indent="0">
              <a:buNone/>
            </a:pPr>
            <a:r>
              <a:rPr lang="en-CA" dirty="0"/>
              <a:t>	ii) Dunn index (to be covered next week or two)</a:t>
            </a:r>
          </a:p>
          <a:p>
            <a:pPr marL="0" indent="0">
              <a:buNone/>
            </a:pPr>
            <a:endParaRPr lang="en-CA" dirty="0"/>
          </a:p>
          <a:p>
            <a:pPr marL="514350" indent="-514350">
              <a:buAutoNum type="alphaLcParenBoth" startAt="2"/>
            </a:pPr>
            <a:r>
              <a:rPr lang="en-CA" dirty="0"/>
              <a:t>External cluster validation (using data outside of what is used in the clustering).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dirty="0" err="1"/>
              <a:t>i</a:t>
            </a:r>
            <a:r>
              <a:rPr lang="en-CA" dirty="0"/>
              <a:t>) Rand index (and adjusted Rand index) [covered today in this lecture]</a:t>
            </a:r>
          </a:p>
          <a:p>
            <a:pPr marL="0" indent="0">
              <a:buNone/>
            </a:pPr>
            <a:r>
              <a:rPr lang="en-CA" dirty="0"/>
              <a:t>	ii) there are other approaches such as Meila’s VI (variation of information) – not covered in this course</a:t>
            </a:r>
          </a:p>
          <a:p>
            <a:pPr marL="0" indent="0">
              <a:buNone/>
            </a:pPr>
            <a:r>
              <a:rPr lang="en-CA" dirty="0"/>
              <a:t>	An example of external cluster validation is the Iris dataset (ground truth is Species which tells us which group an 	observation should belong to).</a:t>
            </a:r>
          </a:p>
          <a:p>
            <a:pPr marL="0" indent="0">
              <a:buNone/>
            </a:pPr>
            <a:r>
              <a:rPr lang="en-CA" dirty="0"/>
              <a:t>	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64173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57BAD-9273-0A80-4A82-A8F84FCBE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67803-1EE2-F118-8ED1-C3E0E817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Rand index: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61863FB-19A8-F9DD-C53A-3A8BFEB1F4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CA" dirty="0"/>
                  <a:t>Rand Index:  compares clustering with ground truth (hence, you will need two clustering results to compare).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Formula to calculate Rand Index: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		 </a:t>
                </a:r>
                <a14:m>
                  <m:oMath xmlns:m="http://schemas.openxmlformats.org/officeDocument/2006/math">
                    <m:r>
                      <a:rPr lang="en-US" i="1"/>
                      <m:t>𝑅𝑎𝑛𝑑</m:t>
                    </m:r>
                    <m:r>
                      <a:rPr lang="en-US" i="1"/>
                      <m:t> </m:t>
                    </m:r>
                    <m:r>
                      <a:rPr lang="en-US" i="1"/>
                      <m:t>𝐼𝑛𝑑𝑒𝑥</m:t>
                    </m:r>
                    <m:r>
                      <a:rPr lang="en-US" i="1"/>
                      <m:t>= 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𝑎</m:t>
                        </m:r>
                        <m:r>
                          <a:rPr lang="en-US" i="1"/>
                          <m:t>+</m:t>
                        </m:r>
                        <m:r>
                          <a:rPr lang="en-US" i="1"/>
                          <m:t>𝑏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sPre>
                              <m:sPrePr>
                                <m:ctrlPr>
                                  <a:rPr lang="en-US" i="1"/>
                                </m:ctrlPr>
                              </m:sPrePr>
                              <m:sub/>
                              <m:sup>
                                <m:r>
                                  <a:rPr lang="en-US" i="1"/>
                                  <m:t>𝑛</m:t>
                                </m:r>
                              </m:sup>
                              <m:e>
                                <m:r>
                                  <a:rPr lang="en-US" i="1"/>
                                  <m:t>𝐶</m:t>
                                </m:r>
                              </m:e>
                            </m:sPre>
                          </m:e>
                          <m:sub>
                            <m:r>
                              <a:rPr lang="en-US" i="1"/>
                              <m:t>𝑟</m:t>
                            </m:r>
                          </m:sub>
                          <m:sup/>
                        </m:sSubSup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				where  a = how many times pairs of observations are 					                  	grouped together for both methods</a:t>
                </a:r>
              </a:p>
              <a:p>
                <a:pPr marL="0" indent="0">
                  <a:buNone/>
                </a:pPr>
                <a:r>
                  <a:rPr lang="en-CA" dirty="0"/>
                  <a:t>				and       b = how many times pairs of observations are 							not grouped together for both methods</a:t>
                </a:r>
              </a:p>
              <a:p>
                <a:pPr marL="0" indent="0">
                  <a:buNone/>
                </a:pPr>
                <a:r>
                  <a:rPr lang="en-CA" dirty="0"/>
                  <a:t> </a:t>
                </a:r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61863FB-19A8-F9DD-C53A-3A8BFEB1F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125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56DC-1B10-C342-F97D-971F2161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E3D3-82E1-B8C8-2831-AA1597BAF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Example: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8A27C-449E-D8E3-324B-DCEF0AF23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CA" dirty="0"/>
              <a:t>4 observations :  A, B, C, D</a:t>
            </a:r>
          </a:p>
          <a:p>
            <a:pPr marL="914400" lvl="2" indent="0">
              <a:buNone/>
            </a:pPr>
            <a:r>
              <a:rPr lang="en-CA" dirty="0"/>
              <a:t>Ground truth:   (1, 1, 2, 2)  </a:t>
            </a:r>
            <a:r>
              <a:rPr lang="en-CA" dirty="0">
                <a:sym typeface="Wingdings" panose="05000000000000000000" pitchFamily="2" charset="2"/>
              </a:rPr>
              <a:t> this means (AB) (CD) are the two clusters</a:t>
            </a:r>
          </a:p>
          <a:p>
            <a:pPr marL="914400" lvl="2" indent="0">
              <a:buNone/>
            </a:pPr>
            <a:r>
              <a:rPr lang="en-CA" dirty="0">
                <a:sym typeface="Wingdings" panose="05000000000000000000" pitchFamily="2" charset="2"/>
              </a:rPr>
              <a:t>Your clustering results:   (1, 1, 1, 2)  write down what this means:</a:t>
            </a:r>
          </a:p>
          <a:p>
            <a:pPr marL="914400" lvl="2" indent="0">
              <a:buNone/>
            </a:pPr>
            <a:r>
              <a:rPr lang="en-CA" dirty="0">
                <a:sym typeface="Wingdings" panose="05000000000000000000" pitchFamily="2" charset="2"/>
              </a:rPr>
              <a:t>Calculate Rand Index.</a:t>
            </a:r>
          </a:p>
          <a:p>
            <a:pPr marL="914400" lvl="2" indent="0">
              <a:buNone/>
            </a:pPr>
            <a:endParaRPr lang="en-CA" dirty="0">
              <a:sym typeface="Wingdings" panose="05000000000000000000" pitchFamily="2" charset="2"/>
            </a:endParaRPr>
          </a:p>
          <a:p>
            <a:pPr marL="914400" lvl="2" indent="0">
              <a:buNone/>
            </a:pPr>
            <a:r>
              <a:rPr lang="en-CA" dirty="0">
                <a:sym typeface="Wingdings" panose="05000000000000000000" pitchFamily="2" charset="2"/>
              </a:rPr>
              <a:t>Students to write down solution:</a:t>
            </a:r>
            <a:endParaRPr lang="en-CA" dirty="0"/>
          </a:p>
          <a:p>
            <a:pPr marL="914400" lvl="2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6745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A5189-A07B-2D74-EDC3-ADC687E5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7FD1-E772-92D8-BFD4-577847B6E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Weakness of Rand Index: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CB6C3-3B4A-C09A-FC4F-A89BB6A0B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When we generate clustering result by “chance” (that is, assign observations randomly to groups) – chances are, the values of a and b are not 0. 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Hence, the Rand Index will not be 0 even when logically, we hope its value will be 0 when observations are randomly assigned to groups.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Solution to get around this weakness:   Use Adjusted Rand Index. See worksheet for details.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396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423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DANA 4840</vt:lpstr>
      <vt:lpstr>Cluster Validation Statistics</vt:lpstr>
      <vt:lpstr>Rand index:</vt:lpstr>
      <vt:lpstr>Example:</vt:lpstr>
      <vt:lpstr>Weakness of Rand Index: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DANA 4840</dc:title>
  <dc:creator>Yew-Wei Lim</dc:creator>
  <cp:lastModifiedBy>Yew-Wei Lim</cp:lastModifiedBy>
  <cp:revision>45</cp:revision>
  <cp:lastPrinted>2025-10-06T01:00:42Z</cp:lastPrinted>
  <dcterms:created xsi:type="dcterms:W3CDTF">2025-08-31T18:59:20Z</dcterms:created>
  <dcterms:modified xsi:type="dcterms:W3CDTF">2025-10-29T06:49:44Z</dcterms:modified>
</cp:coreProperties>
</file>