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7" r:id="rId2"/>
    <p:sldId id="261" r:id="rId3"/>
    <p:sldId id="287" r:id="rId4"/>
    <p:sldId id="298" r:id="rId5"/>
    <p:sldId id="296" r:id="rId6"/>
    <p:sldId id="297" r:id="rId7"/>
    <p:sldId id="299" r:id="rId8"/>
    <p:sldId id="301" r:id="rId9"/>
    <p:sldId id="302" r:id="rId10"/>
    <p:sldId id="303" r:id="rId11"/>
    <p:sldId id="304" r:id="rId12"/>
    <p:sldId id="268" r:id="rId13"/>
    <p:sldId id="305" r:id="rId14"/>
    <p:sldId id="306" r:id="rId15"/>
    <p:sldId id="307" r:id="rId16"/>
    <p:sldId id="288" r:id="rId17"/>
    <p:sldId id="308" r:id="rId18"/>
    <p:sldId id="289" r:id="rId19"/>
    <p:sldId id="309" r:id="rId20"/>
    <p:sldId id="290" r:id="rId21"/>
    <p:sldId id="310" r:id="rId22"/>
    <p:sldId id="313" r:id="rId23"/>
    <p:sldId id="314" r:id="rId24"/>
    <p:sldId id="277" r:id="rId25"/>
    <p:sldId id="311" r:id="rId26"/>
    <p:sldId id="283" r:id="rId27"/>
    <p:sldId id="312"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016" autoAdjust="0"/>
    <p:restoredTop sz="94660"/>
  </p:normalViewPr>
  <p:slideViewPr>
    <p:cSldViewPr snapToGrid="0">
      <p:cViewPr varScale="1">
        <p:scale>
          <a:sx n="115" d="100"/>
          <a:sy n="115" d="100"/>
        </p:scale>
        <p:origin x="14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CA"/>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CA"/>
          </a:p>
        </p:txBody>
      </p:sp>
      <p:sp>
        <p:nvSpPr>
          <p:cNvPr id="4" name="Date Placeholder 3"/>
          <p:cNvSpPr>
            <a:spLocks noGrp="1"/>
          </p:cNvSpPr>
          <p:nvPr>
            <p:ph type="dt" sz="half" idx="10"/>
          </p:nvPr>
        </p:nvSpPr>
        <p:spPr/>
        <p:txBody>
          <a:bodyPr/>
          <a:lstStyle/>
          <a:p>
            <a:fld id="{D4A80508-5317-4CB0-8BF0-F24B753CAFCF}" type="datetimeFigureOut">
              <a:rPr lang="en-CA" smtClean="0"/>
              <a:t>2023-05-28</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CF0C3AE8-76E1-4D4A-8D26-100D19D5D6B2}" type="slidenum">
              <a:rPr lang="en-CA" smtClean="0"/>
              <a:t>‹#›</a:t>
            </a:fld>
            <a:endParaRPr lang="en-CA"/>
          </a:p>
        </p:txBody>
      </p:sp>
    </p:spTree>
    <p:extLst>
      <p:ext uri="{BB962C8B-B14F-4D97-AF65-F5344CB8AC3E}">
        <p14:creationId xmlns:p14="http://schemas.microsoft.com/office/powerpoint/2010/main" val="1478371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Date Placeholder 3"/>
          <p:cNvSpPr>
            <a:spLocks noGrp="1"/>
          </p:cNvSpPr>
          <p:nvPr>
            <p:ph type="dt" sz="half" idx="10"/>
          </p:nvPr>
        </p:nvSpPr>
        <p:spPr/>
        <p:txBody>
          <a:bodyPr/>
          <a:lstStyle/>
          <a:p>
            <a:fld id="{D4A80508-5317-4CB0-8BF0-F24B753CAFCF}" type="datetimeFigureOut">
              <a:rPr lang="en-CA" smtClean="0"/>
              <a:t>2023-05-28</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CF0C3AE8-76E1-4D4A-8D26-100D19D5D6B2}" type="slidenum">
              <a:rPr lang="en-CA" smtClean="0"/>
              <a:t>‹#›</a:t>
            </a:fld>
            <a:endParaRPr lang="en-CA"/>
          </a:p>
        </p:txBody>
      </p:sp>
    </p:spTree>
    <p:extLst>
      <p:ext uri="{BB962C8B-B14F-4D97-AF65-F5344CB8AC3E}">
        <p14:creationId xmlns:p14="http://schemas.microsoft.com/office/powerpoint/2010/main" val="25776871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CA"/>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D4A80508-5317-4CB0-8BF0-F24B753CAFCF}" type="datetimeFigureOut">
              <a:rPr lang="en-CA" smtClean="0"/>
              <a:t>2023-05-28</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CF0C3AE8-76E1-4D4A-8D26-100D19D5D6B2}" type="slidenum">
              <a:rPr lang="en-CA" smtClean="0"/>
              <a:t>‹#›</a:t>
            </a:fld>
            <a:endParaRPr lang="en-CA"/>
          </a:p>
        </p:txBody>
      </p:sp>
    </p:spTree>
    <p:extLst>
      <p:ext uri="{BB962C8B-B14F-4D97-AF65-F5344CB8AC3E}">
        <p14:creationId xmlns:p14="http://schemas.microsoft.com/office/powerpoint/2010/main" val="16165575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5" name="Date Placeholder 4"/>
          <p:cNvSpPr>
            <a:spLocks noGrp="1"/>
          </p:cNvSpPr>
          <p:nvPr>
            <p:ph type="dt" sz="half" idx="10"/>
          </p:nvPr>
        </p:nvSpPr>
        <p:spPr/>
        <p:txBody>
          <a:bodyPr/>
          <a:lstStyle/>
          <a:p>
            <a:fld id="{D4A80508-5317-4CB0-8BF0-F24B753CAFCF}" type="datetimeFigureOut">
              <a:rPr lang="en-CA" smtClean="0"/>
              <a:t>2023-05-28</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CF0C3AE8-76E1-4D4A-8D26-100D19D5D6B2}" type="slidenum">
              <a:rPr lang="en-CA" smtClean="0"/>
              <a:t>‹#›</a:t>
            </a:fld>
            <a:endParaRPr lang="en-CA"/>
          </a:p>
        </p:txBody>
      </p:sp>
    </p:spTree>
    <p:extLst>
      <p:ext uri="{BB962C8B-B14F-4D97-AF65-F5344CB8AC3E}">
        <p14:creationId xmlns:p14="http://schemas.microsoft.com/office/powerpoint/2010/main" val="28120600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CA"/>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7" name="Date Placeholder 6"/>
          <p:cNvSpPr>
            <a:spLocks noGrp="1"/>
          </p:cNvSpPr>
          <p:nvPr>
            <p:ph type="dt" sz="half" idx="10"/>
          </p:nvPr>
        </p:nvSpPr>
        <p:spPr/>
        <p:txBody>
          <a:bodyPr/>
          <a:lstStyle/>
          <a:p>
            <a:fld id="{D4A80508-5317-4CB0-8BF0-F24B753CAFCF}" type="datetimeFigureOut">
              <a:rPr lang="en-CA" smtClean="0"/>
              <a:t>2023-05-28</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CF0C3AE8-76E1-4D4A-8D26-100D19D5D6B2}" type="slidenum">
              <a:rPr lang="en-CA" smtClean="0"/>
              <a:t>‹#›</a:t>
            </a:fld>
            <a:endParaRPr lang="en-CA"/>
          </a:p>
        </p:txBody>
      </p:sp>
    </p:spTree>
    <p:extLst>
      <p:ext uri="{BB962C8B-B14F-4D97-AF65-F5344CB8AC3E}">
        <p14:creationId xmlns:p14="http://schemas.microsoft.com/office/powerpoint/2010/main" val="21335827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Date Placeholder 2"/>
          <p:cNvSpPr>
            <a:spLocks noGrp="1"/>
          </p:cNvSpPr>
          <p:nvPr>
            <p:ph type="dt" sz="half" idx="10"/>
          </p:nvPr>
        </p:nvSpPr>
        <p:spPr/>
        <p:txBody>
          <a:bodyPr/>
          <a:lstStyle/>
          <a:p>
            <a:fld id="{D4A80508-5317-4CB0-8BF0-F24B753CAFCF}" type="datetimeFigureOut">
              <a:rPr lang="en-CA" smtClean="0"/>
              <a:t>2023-05-28</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CF0C3AE8-76E1-4D4A-8D26-100D19D5D6B2}" type="slidenum">
              <a:rPr lang="en-CA" smtClean="0"/>
              <a:t>‹#›</a:t>
            </a:fld>
            <a:endParaRPr lang="en-CA"/>
          </a:p>
        </p:txBody>
      </p:sp>
    </p:spTree>
    <p:extLst>
      <p:ext uri="{BB962C8B-B14F-4D97-AF65-F5344CB8AC3E}">
        <p14:creationId xmlns:p14="http://schemas.microsoft.com/office/powerpoint/2010/main" val="25626696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4A80508-5317-4CB0-8BF0-F24B753CAFCF}" type="datetimeFigureOut">
              <a:rPr lang="en-CA" smtClean="0"/>
              <a:t>2023-05-28</a:t>
            </a:fld>
            <a:endParaRPr lang="en-CA"/>
          </a:p>
        </p:txBody>
      </p:sp>
      <p:sp>
        <p:nvSpPr>
          <p:cNvPr id="3" name="Footer Placeholder 2"/>
          <p:cNvSpPr>
            <a:spLocks noGrp="1"/>
          </p:cNvSpPr>
          <p:nvPr>
            <p:ph type="ftr" sz="quarter" idx="11"/>
          </p:nvPr>
        </p:nvSpPr>
        <p:spPr/>
        <p:txBody>
          <a:bodyPr/>
          <a:lstStyle/>
          <a:p>
            <a:endParaRPr lang="en-CA"/>
          </a:p>
        </p:txBody>
      </p:sp>
      <p:sp>
        <p:nvSpPr>
          <p:cNvPr id="4" name="Slide Number Placeholder 3"/>
          <p:cNvSpPr>
            <a:spLocks noGrp="1"/>
          </p:cNvSpPr>
          <p:nvPr>
            <p:ph type="sldNum" sz="quarter" idx="12"/>
          </p:nvPr>
        </p:nvSpPr>
        <p:spPr/>
        <p:txBody>
          <a:bodyPr/>
          <a:lstStyle/>
          <a:p>
            <a:fld id="{CF0C3AE8-76E1-4D4A-8D26-100D19D5D6B2}" type="slidenum">
              <a:rPr lang="en-CA" smtClean="0"/>
              <a:t>‹#›</a:t>
            </a:fld>
            <a:endParaRPr lang="en-CA"/>
          </a:p>
        </p:txBody>
      </p:sp>
    </p:spTree>
    <p:extLst>
      <p:ext uri="{BB962C8B-B14F-4D97-AF65-F5344CB8AC3E}">
        <p14:creationId xmlns:p14="http://schemas.microsoft.com/office/powerpoint/2010/main" val="30467165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CA"/>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4A80508-5317-4CB0-8BF0-F24B753CAFCF}" type="datetimeFigureOut">
              <a:rPr lang="en-CA" smtClean="0"/>
              <a:t>2023-05-28</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CF0C3AE8-76E1-4D4A-8D26-100D19D5D6B2}" type="slidenum">
              <a:rPr lang="en-CA" smtClean="0"/>
              <a:t>‹#›</a:t>
            </a:fld>
            <a:endParaRPr lang="en-CA"/>
          </a:p>
        </p:txBody>
      </p:sp>
    </p:spTree>
    <p:extLst>
      <p:ext uri="{BB962C8B-B14F-4D97-AF65-F5344CB8AC3E}">
        <p14:creationId xmlns:p14="http://schemas.microsoft.com/office/powerpoint/2010/main" val="1257796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CA"/>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4A80508-5317-4CB0-8BF0-F24B753CAFCF}" type="datetimeFigureOut">
              <a:rPr lang="en-CA" smtClean="0"/>
              <a:t>2023-05-28</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CF0C3AE8-76E1-4D4A-8D26-100D19D5D6B2}" type="slidenum">
              <a:rPr lang="en-CA" smtClean="0"/>
              <a:t>‹#›</a:t>
            </a:fld>
            <a:endParaRPr lang="en-CA"/>
          </a:p>
        </p:txBody>
      </p:sp>
    </p:spTree>
    <p:extLst>
      <p:ext uri="{BB962C8B-B14F-4D97-AF65-F5344CB8AC3E}">
        <p14:creationId xmlns:p14="http://schemas.microsoft.com/office/powerpoint/2010/main" val="14293535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CA"/>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Date Placeholder 3"/>
          <p:cNvSpPr>
            <a:spLocks noGrp="1"/>
          </p:cNvSpPr>
          <p:nvPr>
            <p:ph type="dt" sz="half" idx="10"/>
          </p:nvPr>
        </p:nvSpPr>
        <p:spPr/>
        <p:txBody>
          <a:bodyPr/>
          <a:lstStyle/>
          <a:p>
            <a:fld id="{D4A80508-5317-4CB0-8BF0-F24B753CAFCF}" type="datetimeFigureOut">
              <a:rPr lang="en-CA" smtClean="0"/>
              <a:t>2023-05-28</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CF0C3AE8-76E1-4D4A-8D26-100D19D5D6B2}" type="slidenum">
              <a:rPr lang="en-CA" smtClean="0"/>
              <a:t>‹#›</a:t>
            </a:fld>
            <a:endParaRPr lang="en-CA"/>
          </a:p>
        </p:txBody>
      </p:sp>
    </p:spTree>
    <p:extLst>
      <p:ext uri="{BB962C8B-B14F-4D97-AF65-F5344CB8AC3E}">
        <p14:creationId xmlns:p14="http://schemas.microsoft.com/office/powerpoint/2010/main" val="15216787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CA"/>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Date Placeholder 3"/>
          <p:cNvSpPr>
            <a:spLocks noGrp="1"/>
          </p:cNvSpPr>
          <p:nvPr>
            <p:ph type="dt" sz="half" idx="10"/>
          </p:nvPr>
        </p:nvSpPr>
        <p:spPr/>
        <p:txBody>
          <a:bodyPr/>
          <a:lstStyle/>
          <a:p>
            <a:fld id="{D4A80508-5317-4CB0-8BF0-F24B753CAFCF}" type="datetimeFigureOut">
              <a:rPr lang="en-CA" smtClean="0"/>
              <a:t>2023-05-28</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CF0C3AE8-76E1-4D4A-8D26-100D19D5D6B2}" type="slidenum">
              <a:rPr lang="en-CA" smtClean="0"/>
              <a:t>‹#›</a:t>
            </a:fld>
            <a:endParaRPr lang="en-CA"/>
          </a:p>
        </p:txBody>
      </p:sp>
    </p:spTree>
    <p:extLst>
      <p:ext uri="{BB962C8B-B14F-4D97-AF65-F5344CB8AC3E}">
        <p14:creationId xmlns:p14="http://schemas.microsoft.com/office/powerpoint/2010/main" val="20712279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CA"/>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4A80508-5317-4CB0-8BF0-F24B753CAFCF}" type="datetimeFigureOut">
              <a:rPr lang="en-CA" smtClean="0"/>
              <a:t>2023-05-28</a:t>
            </a:fld>
            <a:endParaRPr lang="en-CA"/>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A"/>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F0C3AE8-76E1-4D4A-8D26-100D19D5D6B2}" type="slidenum">
              <a:rPr lang="en-CA" smtClean="0"/>
              <a:t>‹#›</a:t>
            </a:fld>
            <a:endParaRPr lang="en-CA"/>
          </a:p>
        </p:txBody>
      </p:sp>
    </p:spTree>
    <p:extLst>
      <p:ext uri="{BB962C8B-B14F-4D97-AF65-F5344CB8AC3E}">
        <p14:creationId xmlns:p14="http://schemas.microsoft.com/office/powerpoint/2010/main" val="670771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67691" y="782729"/>
            <a:ext cx="9144000" cy="2387600"/>
          </a:xfrm>
        </p:spPr>
        <p:txBody>
          <a:bodyPr>
            <a:normAutofit/>
          </a:bodyPr>
          <a:lstStyle/>
          <a:p>
            <a:r>
              <a:rPr lang="en-CA" sz="5400" dirty="0" smtClean="0">
                <a:solidFill>
                  <a:schemeClr val="accent2"/>
                </a:solidFill>
                <a:latin typeface="Arial" panose="020B0604020202020204" pitchFamily="34" charset="0"/>
                <a:cs typeface="Arial" panose="020B0604020202020204" pitchFamily="34" charset="0"/>
              </a:rPr>
              <a:t>Hierarchical Clustering</a:t>
            </a:r>
            <a:endParaRPr lang="en-CA" sz="5400" dirty="0">
              <a:solidFill>
                <a:schemeClr val="accent2"/>
              </a:solidFill>
              <a:latin typeface="Arial" panose="020B0604020202020204" pitchFamily="34" charset="0"/>
              <a:cs typeface="Arial" panose="020B0604020202020204" pitchFamily="34" charset="0"/>
            </a:endParaRPr>
          </a:p>
        </p:txBody>
      </p:sp>
      <p:pic>
        <p:nvPicPr>
          <p:cNvPr id="4" name="Picture 3"/>
          <p:cNvPicPr>
            <a:picLocks noChangeAspect="1"/>
          </p:cNvPicPr>
          <p:nvPr/>
        </p:nvPicPr>
        <p:blipFill>
          <a:blip r:embed="rId2"/>
          <a:stretch>
            <a:fillRect/>
          </a:stretch>
        </p:blipFill>
        <p:spPr>
          <a:xfrm>
            <a:off x="7889966" y="5784307"/>
            <a:ext cx="4302034" cy="1073693"/>
          </a:xfrm>
          <a:prstGeom prst="rect">
            <a:avLst/>
          </a:prstGeom>
        </p:spPr>
      </p:pic>
    </p:spTree>
    <p:extLst>
      <p:ext uri="{BB962C8B-B14F-4D97-AF65-F5344CB8AC3E}">
        <p14:creationId xmlns:p14="http://schemas.microsoft.com/office/powerpoint/2010/main" val="70370142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4000" dirty="0" smtClean="0">
                <a:solidFill>
                  <a:schemeClr val="accent2"/>
                </a:solidFill>
                <a:latin typeface="Arial" panose="020B0604020202020204" pitchFamily="34" charset="0"/>
                <a:cs typeface="Arial" panose="020B0604020202020204" pitchFamily="34" charset="0"/>
              </a:rPr>
              <a:t>Hierarchical Clustering</a:t>
            </a:r>
            <a:endParaRPr lang="en-CA" sz="4000" dirty="0">
              <a:solidFill>
                <a:schemeClr val="accent2"/>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435507"/>
            <a:ext cx="10515600" cy="4351338"/>
          </a:xfrm>
        </p:spPr>
        <p:txBody>
          <a:bodyPr>
            <a:normAutofit/>
          </a:bodyPr>
          <a:lstStyle/>
          <a:p>
            <a:pPr>
              <a:lnSpc>
                <a:spcPct val="150000"/>
              </a:lnSpc>
            </a:pPr>
            <a:r>
              <a:rPr lang="en-CA" dirty="0" smtClean="0">
                <a:latin typeface="Arial" panose="020B0604020202020204" pitchFamily="34" charset="0"/>
                <a:cs typeface="Arial" panose="020B0604020202020204" pitchFamily="34" charset="0"/>
              </a:rPr>
              <a:t>Hierarchical clustering is an alternative approach to partitioning clustering for grouping objects based on their similarity. </a:t>
            </a:r>
            <a:endParaRPr lang="en-CA" dirty="0">
              <a:latin typeface="Arial" panose="020B0604020202020204" pitchFamily="34" charset="0"/>
              <a:cs typeface="Arial" panose="020B0604020202020204" pitchFamily="34" charset="0"/>
            </a:endParaRPr>
          </a:p>
          <a:p>
            <a:pPr>
              <a:lnSpc>
                <a:spcPct val="150000"/>
              </a:lnSpc>
            </a:pPr>
            <a:r>
              <a:rPr lang="en-CA" dirty="0" smtClean="0">
                <a:latin typeface="Arial" panose="020B0604020202020204" pitchFamily="34" charset="0"/>
                <a:cs typeface="Arial" panose="020B0604020202020204" pitchFamily="34" charset="0"/>
              </a:rPr>
              <a:t>In contrast to partitioning clustering, hierarchical clustering does not require to pre-specify the number of clusters to be produced.</a:t>
            </a:r>
            <a:endParaRPr lang="en-CA" dirty="0">
              <a:latin typeface="Arial" panose="020B0604020202020204" pitchFamily="34" charset="0"/>
              <a:cs typeface="Arial" panose="020B0604020202020204" pitchFamily="34" charset="0"/>
            </a:endParaRPr>
          </a:p>
          <a:p>
            <a:pPr marL="0" indent="0">
              <a:lnSpc>
                <a:spcPct val="150000"/>
              </a:lnSpc>
              <a:buNone/>
            </a:pPr>
            <a:endParaRPr lang="en-CA" dirty="0" smtClean="0">
              <a:latin typeface="Arial" panose="020B0604020202020204" pitchFamily="34" charset="0"/>
              <a:cs typeface="Arial" panose="020B0604020202020204" pitchFamily="34" charset="0"/>
            </a:endParaRPr>
          </a:p>
          <a:p>
            <a:endParaRPr lang="en-CA" dirty="0">
              <a:latin typeface="Arial" panose="020B0604020202020204" pitchFamily="34" charset="0"/>
              <a:cs typeface="Arial" panose="020B0604020202020204" pitchFamily="34" charset="0"/>
            </a:endParaRPr>
          </a:p>
        </p:txBody>
      </p:sp>
      <p:pic>
        <p:nvPicPr>
          <p:cNvPr id="5" name="Picture 4"/>
          <p:cNvPicPr>
            <a:picLocks noChangeAspect="1"/>
          </p:cNvPicPr>
          <p:nvPr/>
        </p:nvPicPr>
        <p:blipFill>
          <a:blip r:embed="rId2"/>
          <a:stretch>
            <a:fillRect/>
          </a:stretch>
        </p:blipFill>
        <p:spPr>
          <a:xfrm>
            <a:off x="7876903" y="5786845"/>
            <a:ext cx="4302034" cy="1097280"/>
          </a:xfrm>
          <a:prstGeom prst="rect">
            <a:avLst/>
          </a:prstGeom>
        </p:spPr>
      </p:pic>
    </p:spTree>
    <p:extLst>
      <p:ext uri="{BB962C8B-B14F-4D97-AF65-F5344CB8AC3E}">
        <p14:creationId xmlns:p14="http://schemas.microsoft.com/office/powerpoint/2010/main" val="55040939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4000" dirty="0">
                <a:solidFill>
                  <a:schemeClr val="accent2"/>
                </a:solidFill>
                <a:latin typeface="Arial" panose="020B0604020202020204" pitchFamily="34" charset="0"/>
                <a:cs typeface="Arial" panose="020B0604020202020204" pitchFamily="34" charset="0"/>
              </a:rPr>
              <a:t>Hierarchical Clustering</a:t>
            </a:r>
          </a:p>
        </p:txBody>
      </p:sp>
      <p:sp>
        <p:nvSpPr>
          <p:cNvPr id="3" name="Content Placeholder 2"/>
          <p:cNvSpPr>
            <a:spLocks noGrp="1"/>
          </p:cNvSpPr>
          <p:nvPr>
            <p:ph idx="1"/>
          </p:nvPr>
        </p:nvSpPr>
        <p:spPr>
          <a:xfrm>
            <a:off x="749300" y="1563098"/>
            <a:ext cx="10515600" cy="4223747"/>
          </a:xfrm>
        </p:spPr>
        <p:txBody>
          <a:bodyPr>
            <a:normAutofit/>
          </a:bodyPr>
          <a:lstStyle/>
          <a:p>
            <a:pPr>
              <a:lnSpc>
                <a:spcPct val="150000"/>
              </a:lnSpc>
            </a:pPr>
            <a:r>
              <a:rPr lang="en-CA" dirty="0" smtClean="0">
                <a:latin typeface="Arial" panose="020B0604020202020204" pitchFamily="34" charset="0"/>
                <a:cs typeface="Arial" panose="020B0604020202020204" pitchFamily="34" charset="0"/>
              </a:rPr>
              <a:t>Hierarchical clustering can be subdivided into two types:</a:t>
            </a:r>
          </a:p>
          <a:p>
            <a:pPr lvl="1">
              <a:lnSpc>
                <a:spcPct val="150000"/>
              </a:lnSpc>
            </a:pPr>
            <a:r>
              <a:rPr lang="en-CA" dirty="0" smtClean="0">
                <a:latin typeface="Arial" panose="020B0604020202020204" pitchFamily="34" charset="0"/>
                <a:cs typeface="Arial" panose="020B0604020202020204" pitchFamily="34" charset="0"/>
              </a:rPr>
              <a:t>Agglomerative clustering.</a:t>
            </a:r>
          </a:p>
          <a:p>
            <a:pPr lvl="1">
              <a:lnSpc>
                <a:spcPct val="150000"/>
              </a:lnSpc>
            </a:pPr>
            <a:r>
              <a:rPr lang="en-CA" dirty="0" smtClean="0">
                <a:latin typeface="Arial" panose="020B0604020202020204" pitchFamily="34" charset="0"/>
                <a:cs typeface="Arial" panose="020B0604020202020204" pitchFamily="34" charset="0"/>
              </a:rPr>
              <a:t>Divisive clustering.</a:t>
            </a:r>
          </a:p>
          <a:p>
            <a:pPr>
              <a:lnSpc>
                <a:spcPct val="150000"/>
              </a:lnSpc>
            </a:pPr>
            <a:r>
              <a:rPr lang="en-CA" dirty="0" smtClean="0">
                <a:latin typeface="Arial" panose="020B0604020202020204" pitchFamily="34" charset="0"/>
                <a:cs typeface="Arial" panose="020B0604020202020204" pitchFamily="34" charset="0"/>
              </a:rPr>
              <a:t>The result of hierarchical clustering is a tree-based representation of the objects, which is also known as a dendrogram.</a:t>
            </a:r>
            <a:endParaRPr lang="en-CA" dirty="0">
              <a:latin typeface="Arial" panose="020B0604020202020204" pitchFamily="34" charset="0"/>
              <a:cs typeface="Arial" panose="020B0604020202020204" pitchFamily="34" charset="0"/>
            </a:endParaRPr>
          </a:p>
          <a:p>
            <a:endParaRPr lang="en-CA" dirty="0">
              <a:latin typeface="Arial" panose="020B0604020202020204" pitchFamily="34" charset="0"/>
              <a:cs typeface="Arial" panose="020B0604020202020204" pitchFamily="34" charset="0"/>
            </a:endParaRPr>
          </a:p>
        </p:txBody>
      </p:sp>
      <p:pic>
        <p:nvPicPr>
          <p:cNvPr id="5" name="Picture 4"/>
          <p:cNvPicPr>
            <a:picLocks noChangeAspect="1"/>
          </p:cNvPicPr>
          <p:nvPr/>
        </p:nvPicPr>
        <p:blipFill>
          <a:blip r:embed="rId2"/>
          <a:stretch>
            <a:fillRect/>
          </a:stretch>
        </p:blipFill>
        <p:spPr>
          <a:xfrm>
            <a:off x="7876903" y="5786845"/>
            <a:ext cx="4302034" cy="1097280"/>
          </a:xfrm>
          <a:prstGeom prst="rect">
            <a:avLst/>
          </a:prstGeom>
        </p:spPr>
      </p:pic>
    </p:spTree>
    <p:extLst>
      <p:ext uri="{BB962C8B-B14F-4D97-AF65-F5344CB8AC3E}">
        <p14:creationId xmlns:p14="http://schemas.microsoft.com/office/powerpoint/2010/main" val="64717431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2300" y="136525"/>
            <a:ext cx="10515600" cy="1325563"/>
          </a:xfrm>
        </p:spPr>
        <p:txBody>
          <a:bodyPr>
            <a:normAutofit/>
          </a:bodyPr>
          <a:lstStyle/>
          <a:p>
            <a:r>
              <a:rPr lang="en-CA" sz="4000" dirty="0">
                <a:solidFill>
                  <a:schemeClr val="accent2"/>
                </a:solidFill>
                <a:latin typeface="Arial" panose="020B0604020202020204" pitchFamily="34" charset="0"/>
                <a:cs typeface="Arial" panose="020B0604020202020204" pitchFamily="34" charset="0"/>
              </a:rPr>
              <a:t>Hierarchical Clustering</a:t>
            </a:r>
          </a:p>
        </p:txBody>
      </p:sp>
      <p:pic>
        <p:nvPicPr>
          <p:cNvPr id="4" name="Content Placeholder 3"/>
          <p:cNvPicPr>
            <a:picLocks noGrp="1" noChangeAspect="1"/>
          </p:cNvPicPr>
          <p:nvPr>
            <p:ph idx="1"/>
          </p:nvPr>
        </p:nvPicPr>
        <p:blipFill>
          <a:blip r:embed="rId2"/>
          <a:stretch>
            <a:fillRect/>
          </a:stretch>
        </p:blipFill>
        <p:spPr>
          <a:xfrm>
            <a:off x="1905000" y="1244599"/>
            <a:ext cx="8127999" cy="4636007"/>
          </a:xfrm>
          <a:prstGeom prst="rect">
            <a:avLst/>
          </a:prstGeom>
        </p:spPr>
      </p:pic>
      <p:pic>
        <p:nvPicPr>
          <p:cNvPr id="5" name="Picture 4"/>
          <p:cNvPicPr>
            <a:picLocks noChangeAspect="1"/>
          </p:cNvPicPr>
          <p:nvPr/>
        </p:nvPicPr>
        <p:blipFill>
          <a:blip r:embed="rId3"/>
          <a:stretch>
            <a:fillRect/>
          </a:stretch>
        </p:blipFill>
        <p:spPr>
          <a:xfrm>
            <a:off x="7876903" y="5786845"/>
            <a:ext cx="4302034" cy="1097280"/>
          </a:xfrm>
          <a:prstGeom prst="rect">
            <a:avLst/>
          </a:prstGeom>
        </p:spPr>
      </p:pic>
    </p:spTree>
    <p:extLst>
      <p:ext uri="{BB962C8B-B14F-4D97-AF65-F5344CB8AC3E}">
        <p14:creationId xmlns:p14="http://schemas.microsoft.com/office/powerpoint/2010/main" val="425221988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4000" dirty="0" smtClean="0">
                <a:solidFill>
                  <a:schemeClr val="accent2"/>
                </a:solidFill>
                <a:latin typeface="Arial" panose="020B0604020202020204" pitchFamily="34" charset="0"/>
                <a:cs typeface="Arial" panose="020B0604020202020204" pitchFamily="34" charset="0"/>
              </a:rPr>
              <a:t>Agglomerative </a:t>
            </a:r>
            <a:r>
              <a:rPr lang="en-CA" sz="4000" dirty="0">
                <a:solidFill>
                  <a:schemeClr val="accent2"/>
                </a:solidFill>
                <a:latin typeface="Arial" panose="020B0604020202020204" pitchFamily="34" charset="0"/>
                <a:cs typeface="Arial" panose="020B0604020202020204" pitchFamily="34" charset="0"/>
              </a:rPr>
              <a:t>Clustering</a:t>
            </a:r>
          </a:p>
        </p:txBody>
      </p:sp>
      <p:sp>
        <p:nvSpPr>
          <p:cNvPr id="3" name="Content Placeholder 2"/>
          <p:cNvSpPr>
            <a:spLocks noGrp="1"/>
          </p:cNvSpPr>
          <p:nvPr>
            <p:ph idx="1"/>
          </p:nvPr>
        </p:nvSpPr>
        <p:spPr>
          <a:xfrm>
            <a:off x="749300" y="1563098"/>
            <a:ext cx="10515600" cy="4223747"/>
          </a:xfrm>
        </p:spPr>
        <p:txBody>
          <a:bodyPr>
            <a:normAutofit/>
          </a:bodyPr>
          <a:lstStyle/>
          <a:p>
            <a:pPr>
              <a:lnSpc>
                <a:spcPct val="150000"/>
              </a:lnSpc>
            </a:pPr>
            <a:r>
              <a:rPr lang="en-CA" dirty="0" smtClean="0">
                <a:latin typeface="Arial" panose="020B0604020202020204" pitchFamily="34" charset="0"/>
                <a:cs typeface="Arial" panose="020B0604020202020204" pitchFamily="34" charset="0"/>
              </a:rPr>
              <a:t>This is clustering where each observation is initially considered as a cluster of its own (leaf) before the most similar clusters are successively merged until there is just one single big cluster(root).</a:t>
            </a:r>
            <a:endParaRPr lang="en-CA" dirty="0">
              <a:latin typeface="Arial" panose="020B0604020202020204" pitchFamily="34" charset="0"/>
              <a:cs typeface="Arial" panose="020B0604020202020204" pitchFamily="34" charset="0"/>
            </a:endParaRPr>
          </a:p>
          <a:p>
            <a:endParaRPr lang="en-CA" dirty="0">
              <a:latin typeface="Arial" panose="020B0604020202020204" pitchFamily="34" charset="0"/>
              <a:cs typeface="Arial" panose="020B0604020202020204" pitchFamily="34" charset="0"/>
            </a:endParaRPr>
          </a:p>
        </p:txBody>
      </p:sp>
      <p:pic>
        <p:nvPicPr>
          <p:cNvPr id="5" name="Picture 4"/>
          <p:cNvPicPr>
            <a:picLocks noChangeAspect="1"/>
          </p:cNvPicPr>
          <p:nvPr/>
        </p:nvPicPr>
        <p:blipFill>
          <a:blip r:embed="rId2"/>
          <a:stretch>
            <a:fillRect/>
          </a:stretch>
        </p:blipFill>
        <p:spPr>
          <a:xfrm>
            <a:off x="7876903" y="5786845"/>
            <a:ext cx="4302034" cy="1097280"/>
          </a:xfrm>
          <a:prstGeom prst="rect">
            <a:avLst/>
          </a:prstGeom>
        </p:spPr>
      </p:pic>
    </p:spTree>
    <p:extLst>
      <p:ext uri="{BB962C8B-B14F-4D97-AF65-F5344CB8AC3E}">
        <p14:creationId xmlns:p14="http://schemas.microsoft.com/office/powerpoint/2010/main" val="74845553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4000" dirty="0" smtClean="0">
                <a:solidFill>
                  <a:schemeClr val="accent2"/>
                </a:solidFill>
                <a:latin typeface="Arial" panose="020B0604020202020204" pitchFamily="34" charset="0"/>
                <a:cs typeface="Arial" panose="020B0604020202020204" pitchFamily="34" charset="0"/>
              </a:rPr>
              <a:t>Divisive </a:t>
            </a:r>
            <a:r>
              <a:rPr lang="en-CA" sz="4000" dirty="0">
                <a:solidFill>
                  <a:schemeClr val="accent2"/>
                </a:solidFill>
                <a:latin typeface="Arial" panose="020B0604020202020204" pitchFamily="34" charset="0"/>
                <a:cs typeface="Arial" panose="020B0604020202020204" pitchFamily="34" charset="0"/>
              </a:rPr>
              <a:t>Clustering</a:t>
            </a:r>
          </a:p>
        </p:txBody>
      </p:sp>
      <p:sp>
        <p:nvSpPr>
          <p:cNvPr id="3" name="Content Placeholder 2"/>
          <p:cNvSpPr>
            <a:spLocks noGrp="1"/>
          </p:cNvSpPr>
          <p:nvPr>
            <p:ph idx="1"/>
          </p:nvPr>
        </p:nvSpPr>
        <p:spPr>
          <a:xfrm>
            <a:off x="749300" y="1563098"/>
            <a:ext cx="10515600" cy="4223747"/>
          </a:xfrm>
        </p:spPr>
        <p:txBody>
          <a:bodyPr>
            <a:normAutofit/>
          </a:bodyPr>
          <a:lstStyle/>
          <a:p>
            <a:pPr>
              <a:lnSpc>
                <a:spcPct val="150000"/>
              </a:lnSpc>
            </a:pPr>
            <a:r>
              <a:rPr lang="en-CA" dirty="0" smtClean="0">
                <a:latin typeface="Arial" panose="020B0604020202020204" pitchFamily="34" charset="0"/>
                <a:cs typeface="Arial" panose="020B0604020202020204" pitchFamily="34" charset="0"/>
              </a:rPr>
              <a:t>This is clustering begins with the root, in which all objects are included in one cluster. Then the most heterogeneous clusters are successively divided until all observations are in their own cluster. </a:t>
            </a:r>
          </a:p>
          <a:p>
            <a:pPr>
              <a:lnSpc>
                <a:spcPct val="150000"/>
              </a:lnSpc>
            </a:pPr>
            <a:endParaRPr lang="en-CA" dirty="0">
              <a:latin typeface="Arial" panose="020B0604020202020204" pitchFamily="34" charset="0"/>
              <a:cs typeface="Arial" panose="020B0604020202020204" pitchFamily="34" charset="0"/>
            </a:endParaRPr>
          </a:p>
        </p:txBody>
      </p:sp>
      <p:pic>
        <p:nvPicPr>
          <p:cNvPr id="5" name="Picture 4"/>
          <p:cNvPicPr>
            <a:picLocks noChangeAspect="1"/>
          </p:cNvPicPr>
          <p:nvPr/>
        </p:nvPicPr>
        <p:blipFill>
          <a:blip r:embed="rId2"/>
          <a:stretch>
            <a:fillRect/>
          </a:stretch>
        </p:blipFill>
        <p:spPr>
          <a:xfrm>
            <a:off x="7876903" y="5786845"/>
            <a:ext cx="4302034" cy="1097280"/>
          </a:xfrm>
          <a:prstGeom prst="rect">
            <a:avLst/>
          </a:prstGeom>
        </p:spPr>
      </p:pic>
    </p:spTree>
    <p:extLst>
      <p:ext uri="{BB962C8B-B14F-4D97-AF65-F5344CB8AC3E}">
        <p14:creationId xmlns:p14="http://schemas.microsoft.com/office/powerpoint/2010/main" val="329684296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4000" dirty="0" smtClean="0">
                <a:solidFill>
                  <a:schemeClr val="accent2"/>
                </a:solidFill>
                <a:latin typeface="Arial" panose="020B0604020202020204" pitchFamily="34" charset="0"/>
                <a:cs typeface="Arial" panose="020B0604020202020204" pitchFamily="34" charset="0"/>
              </a:rPr>
              <a:t>Agglomerative </a:t>
            </a:r>
            <a:r>
              <a:rPr lang="en-CA" sz="4000" dirty="0">
                <a:solidFill>
                  <a:schemeClr val="accent2"/>
                </a:solidFill>
                <a:latin typeface="Arial" panose="020B0604020202020204" pitchFamily="34" charset="0"/>
                <a:cs typeface="Arial" panose="020B0604020202020204" pitchFamily="34" charset="0"/>
              </a:rPr>
              <a:t>Clustering</a:t>
            </a:r>
          </a:p>
        </p:txBody>
      </p:sp>
      <p:sp>
        <p:nvSpPr>
          <p:cNvPr id="3" name="Content Placeholder 2"/>
          <p:cNvSpPr>
            <a:spLocks noGrp="1"/>
          </p:cNvSpPr>
          <p:nvPr>
            <p:ph idx="1"/>
          </p:nvPr>
        </p:nvSpPr>
        <p:spPr>
          <a:xfrm>
            <a:off x="749300" y="1563098"/>
            <a:ext cx="10515600" cy="4223747"/>
          </a:xfrm>
        </p:spPr>
        <p:txBody>
          <a:bodyPr>
            <a:normAutofit/>
          </a:bodyPr>
          <a:lstStyle/>
          <a:p>
            <a:pPr>
              <a:lnSpc>
                <a:spcPct val="150000"/>
              </a:lnSpc>
            </a:pPr>
            <a:r>
              <a:rPr lang="en-CA" dirty="0" smtClean="0">
                <a:latin typeface="Arial" panose="020B0604020202020204" pitchFamily="34" charset="0"/>
                <a:cs typeface="Arial" panose="020B0604020202020204" pitchFamily="34" charset="0"/>
              </a:rPr>
              <a:t>This is agglomerative clustering is also known as agglomerative Nesting (AGNES). </a:t>
            </a:r>
          </a:p>
          <a:p>
            <a:pPr>
              <a:lnSpc>
                <a:spcPct val="150000"/>
              </a:lnSpc>
            </a:pPr>
            <a:r>
              <a:rPr lang="en-CA" dirty="0" smtClean="0">
                <a:latin typeface="Arial" panose="020B0604020202020204" pitchFamily="34" charset="0"/>
                <a:cs typeface="Arial" panose="020B0604020202020204" pitchFamily="34" charset="0"/>
              </a:rPr>
              <a:t>The algorithm starts by treating each object as a singleton cluster. </a:t>
            </a:r>
          </a:p>
          <a:p>
            <a:pPr>
              <a:lnSpc>
                <a:spcPct val="150000"/>
              </a:lnSpc>
            </a:pPr>
            <a:r>
              <a:rPr lang="en-CA" dirty="0" smtClean="0">
                <a:latin typeface="Arial" panose="020B0604020202020204" pitchFamily="34" charset="0"/>
                <a:cs typeface="Arial" panose="020B0604020202020204" pitchFamily="34" charset="0"/>
              </a:rPr>
              <a:t>Next pairs of clusters are successively merged until all clusters have been merged into one big cluster containing all objects.</a:t>
            </a:r>
            <a:endParaRPr lang="en-CA" dirty="0">
              <a:latin typeface="Arial" panose="020B0604020202020204" pitchFamily="34" charset="0"/>
              <a:cs typeface="Arial" panose="020B0604020202020204" pitchFamily="34" charset="0"/>
            </a:endParaRPr>
          </a:p>
          <a:p>
            <a:endParaRPr lang="en-CA" dirty="0">
              <a:latin typeface="Arial" panose="020B0604020202020204" pitchFamily="34" charset="0"/>
              <a:cs typeface="Arial" panose="020B0604020202020204" pitchFamily="34" charset="0"/>
            </a:endParaRPr>
          </a:p>
        </p:txBody>
      </p:sp>
      <p:pic>
        <p:nvPicPr>
          <p:cNvPr id="5" name="Picture 4"/>
          <p:cNvPicPr>
            <a:picLocks noChangeAspect="1"/>
          </p:cNvPicPr>
          <p:nvPr/>
        </p:nvPicPr>
        <p:blipFill>
          <a:blip r:embed="rId2"/>
          <a:stretch>
            <a:fillRect/>
          </a:stretch>
        </p:blipFill>
        <p:spPr>
          <a:xfrm>
            <a:off x="7876903" y="5786845"/>
            <a:ext cx="4302034" cy="1097280"/>
          </a:xfrm>
          <a:prstGeom prst="rect">
            <a:avLst/>
          </a:prstGeom>
        </p:spPr>
      </p:pic>
    </p:spTree>
    <p:extLst>
      <p:ext uri="{BB962C8B-B14F-4D97-AF65-F5344CB8AC3E}">
        <p14:creationId xmlns:p14="http://schemas.microsoft.com/office/powerpoint/2010/main" val="109863159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4000" dirty="0" smtClean="0">
                <a:solidFill>
                  <a:schemeClr val="accent2"/>
                </a:solidFill>
                <a:latin typeface="Arial" panose="020B0604020202020204" pitchFamily="34" charset="0"/>
                <a:cs typeface="Arial" panose="020B0604020202020204" pitchFamily="34" charset="0"/>
              </a:rPr>
              <a:t>Agglomerative Clustering Algorithm</a:t>
            </a:r>
            <a:endParaRPr lang="en-CA" sz="4000" dirty="0">
              <a:solidFill>
                <a:schemeClr val="accent2"/>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749300" y="1563098"/>
            <a:ext cx="10515600" cy="4223747"/>
          </a:xfrm>
        </p:spPr>
        <p:txBody>
          <a:bodyPr>
            <a:normAutofit fontScale="62500" lnSpcReduction="20000"/>
          </a:bodyPr>
          <a:lstStyle/>
          <a:p>
            <a:pPr>
              <a:lnSpc>
                <a:spcPct val="150000"/>
              </a:lnSpc>
            </a:pPr>
            <a:r>
              <a:rPr lang="en-CA" sz="3600" dirty="0" smtClean="0">
                <a:latin typeface="Arial" panose="020B0604020202020204" pitchFamily="34" charset="0"/>
                <a:cs typeface="Arial" panose="020B0604020202020204" pitchFamily="34" charset="0"/>
              </a:rPr>
              <a:t>This is agglomerative clustering works in a “bottom-up” manner. </a:t>
            </a:r>
          </a:p>
          <a:p>
            <a:pPr>
              <a:lnSpc>
                <a:spcPct val="150000"/>
              </a:lnSpc>
            </a:pPr>
            <a:r>
              <a:rPr lang="en-CA" sz="3600" dirty="0" smtClean="0">
                <a:latin typeface="Arial" panose="020B0604020202020204" pitchFamily="34" charset="0"/>
                <a:cs typeface="Arial" panose="020B0604020202020204" pitchFamily="34" charset="0"/>
              </a:rPr>
              <a:t>Each object is considered as a single-cluster element (leaf)</a:t>
            </a:r>
          </a:p>
          <a:p>
            <a:pPr>
              <a:lnSpc>
                <a:spcPct val="150000"/>
              </a:lnSpc>
            </a:pPr>
            <a:r>
              <a:rPr lang="en-CA" sz="3600" dirty="0" smtClean="0">
                <a:latin typeface="Arial" panose="020B0604020202020204" pitchFamily="34" charset="0"/>
                <a:cs typeface="Arial" panose="020B0604020202020204" pitchFamily="34" charset="0"/>
              </a:rPr>
              <a:t>Agglomerative clustering is good at identifying small clusters.</a:t>
            </a:r>
          </a:p>
          <a:p>
            <a:pPr>
              <a:lnSpc>
                <a:spcPct val="170000"/>
              </a:lnSpc>
            </a:pPr>
            <a:r>
              <a:rPr lang="en-CA" sz="3600" dirty="0">
                <a:latin typeface="Arial" panose="020B0604020202020204" pitchFamily="34" charset="0"/>
                <a:cs typeface="Arial" panose="020B0604020202020204" pitchFamily="34" charset="0"/>
              </a:rPr>
              <a:t>The inverse of agglomerative clustering is </a:t>
            </a:r>
            <a:r>
              <a:rPr lang="en-CA" sz="3600" i="1" dirty="0">
                <a:latin typeface="Arial" panose="020B0604020202020204" pitchFamily="34" charset="0"/>
                <a:cs typeface="Arial" panose="020B0604020202020204" pitchFamily="34" charset="0"/>
              </a:rPr>
              <a:t>divisive clustering</a:t>
            </a:r>
            <a:r>
              <a:rPr lang="en-CA" sz="3600" dirty="0">
                <a:latin typeface="Arial" panose="020B0604020202020204" pitchFamily="34" charset="0"/>
                <a:cs typeface="Arial" panose="020B0604020202020204" pitchFamily="34" charset="0"/>
              </a:rPr>
              <a:t>, which is also known </a:t>
            </a:r>
            <a:r>
              <a:rPr lang="en-CA" sz="3600" dirty="0" smtClean="0">
                <a:latin typeface="Arial" panose="020B0604020202020204" pitchFamily="34" charset="0"/>
                <a:cs typeface="Arial" panose="020B0604020202020204" pitchFamily="34" charset="0"/>
              </a:rPr>
              <a:t>as DIANA </a:t>
            </a:r>
            <a:r>
              <a:rPr lang="en-CA" sz="3600" dirty="0">
                <a:latin typeface="Arial" panose="020B0604020202020204" pitchFamily="34" charset="0"/>
                <a:cs typeface="Arial" panose="020B0604020202020204" pitchFamily="34" charset="0"/>
              </a:rPr>
              <a:t>(</a:t>
            </a:r>
            <a:r>
              <a:rPr lang="en-CA" sz="3600" i="1" dirty="0" err="1">
                <a:latin typeface="Arial" panose="020B0604020202020204" pitchFamily="34" charset="0"/>
                <a:cs typeface="Arial" panose="020B0604020202020204" pitchFamily="34" charset="0"/>
              </a:rPr>
              <a:t>Divise</a:t>
            </a:r>
            <a:r>
              <a:rPr lang="en-CA" sz="3600" i="1" dirty="0">
                <a:latin typeface="Arial" panose="020B0604020202020204" pitchFamily="34" charset="0"/>
                <a:cs typeface="Arial" panose="020B0604020202020204" pitchFamily="34" charset="0"/>
              </a:rPr>
              <a:t> Analysis</a:t>
            </a:r>
            <a:r>
              <a:rPr lang="en-CA" sz="3600" dirty="0">
                <a:latin typeface="Arial" panose="020B0604020202020204" pitchFamily="34" charset="0"/>
                <a:cs typeface="Arial" panose="020B0604020202020204" pitchFamily="34" charset="0"/>
              </a:rPr>
              <a:t>) and it works in a “top-down” manner. It begins with </a:t>
            </a:r>
            <a:r>
              <a:rPr lang="en-CA" sz="3600" dirty="0" smtClean="0">
                <a:latin typeface="Arial" panose="020B0604020202020204" pitchFamily="34" charset="0"/>
                <a:cs typeface="Arial" panose="020B0604020202020204" pitchFamily="34" charset="0"/>
              </a:rPr>
              <a:t>the root</a:t>
            </a:r>
            <a:r>
              <a:rPr lang="en-CA" sz="3600" dirty="0">
                <a:latin typeface="Arial" panose="020B0604020202020204" pitchFamily="34" charset="0"/>
                <a:cs typeface="Arial" panose="020B0604020202020204" pitchFamily="34" charset="0"/>
              </a:rPr>
              <a:t>, in which all objects are included in a single cluster. At each step of iteration</a:t>
            </a:r>
            <a:r>
              <a:rPr lang="en-CA" sz="3600" dirty="0" smtClean="0">
                <a:latin typeface="Arial" panose="020B0604020202020204" pitchFamily="34" charset="0"/>
                <a:cs typeface="Arial" panose="020B0604020202020204" pitchFamily="34" charset="0"/>
              </a:rPr>
              <a:t>,</a:t>
            </a:r>
            <a:r>
              <a:rPr lang="en-CA" sz="3600" dirty="0"/>
              <a:t> </a:t>
            </a:r>
            <a:r>
              <a:rPr lang="en-CA" sz="3600" dirty="0">
                <a:latin typeface="Arial" panose="020B0604020202020204" pitchFamily="34" charset="0"/>
                <a:cs typeface="Arial" panose="020B0604020202020204" pitchFamily="34" charset="0"/>
              </a:rPr>
              <a:t>the most heterogeneous cluster is divided into two.</a:t>
            </a:r>
            <a:endParaRPr lang="en-CA" sz="3600" dirty="0" smtClean="0">
              <a:latin typeface="Arial" panose="020B0604020202020204" pitchFamily="34" charset="0"/>
              <a:cs typeface="Arial" panose="020B0604020202020204" pitchFamily="34" charset="0"/>
            </a:endParaRPr>
          </a:p>
          <a:p>
            <a:pPr marL="0" indent="0">
              <a:buNone/>
            </a:pPr>
            <a:endParaRPr lang="en-CA" dirty="0">
              <a:latin typeface="Arial" panose="020B0604020202020204" pitchFamily="34" charset="0"/>
              <a:cs typeface="Arial" panose="020B0604020202020204" pitchFamily="34" charset="0"/>
            </a:endParaRPr>
          </a:p>
        </p:txBody>
      </p:sp>
      <p:pic>
        <p:nvPicPr>
          <p:cNvPr id="5" name="Picture 4"/>
          <p:cNvPicPr>
            <a:picLocks noChangeAspect="1"/>
          </p:cNvPicPr>
          <p:nvPr/>
        </p:nvPicPr>
        <p:blipFill>
          <a:blip r:embed="rId2"/>
          <a:stretch>
            <a:fillRect/>
          </a:stretch>
        </p:blipFill>
        <p:spPr>
          <a:xfrm>
            <a:off x="7876903" y="5786845"/>
            <a:ext cx="4302034" cy="1097280"/>
          </a:xfrm>
          <a:prstGeom prst="rect">
            <a:avLst/>
          </a:prstGeom>
        </p:spPr>
      </p:pic>
    </p:spTree>
    <p:extLst>
      <p:ext uri="{BB962C8B-B14F-4D97-AF65-F5344CB8AC3E}">
        <p14:creationId xmlns:p14="http://schemas.microsoft.com/office/powerpoint/2010/main" val="94793093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4000" dirty="0" smtClean="0">
                <a:solidFill>
                  <a:schemeClr val="accent2"/>
                </a:solidFill>
                <a:latin typeface="Arial" panose="020B0604020202020204" pitchFamily="34" charset="0"/>
                <a:cs typeface="Arial" panose="020B0604020202020204" pitchFamily="34" charset="0"/>
              </a:rPr>
              <a:t>Agglomerative Clustering Algorithm</a:t>
            </a:r>
            <a:endParaRPr lang="en-CA" sz="4000" dirty="0">
              <a:solidFill>
                <a:schemeClr val="accent2"/>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749300" y="1563098"/>
            <a:ext cx="10515600" cy="4223747"/>
          </a:xfrm>
        </p:spPr>
        <p:txBody>
          <a:bodyPr>
            <a:normAutofit fontScale="92500" lnSpcReduction="20000"/>
          </a:bodyPr>
          <a:lstStyle/>
          <a:p>
            <a:pPr marL="514350" indent="-514350">
              <a:lnSpc>
                <a:spcPct val="150000"/>
              </a:lnSpc>
              <a:buAutoNum type="arabicPeriod"/>
            </a:pPr>
            <a:r>
              <a:rPr lang="en-CA" dirty="0" smtClean="0">
                <a:latin typeface="Arial" panose="020B0604020202020204" pitchFamily="34" charset="0"/>
                <a:cs typeface="Arial" panose="020B0604020202020204" pitchFamily="34" charset="0"/>
              </a:rPr>
              <a:t>Preparing the data.</a:t>
            </a:r>
          </a:p>
          <a:p>
            <a:pPr marL="514350" indent="-514350">
              <a:lnSpc>
                <a:spcPct val="150000"/>
              </a:lnSpc>
              <a:buAutoNum type="arabicPeriod"/>
            </a:pPr>
            <a:r>
              <a:rPr lang="en-CA" dirty="0" smtClean="0">
                <a:latin typeface="Arial" panose="020B0604020202020204" pitchFamily="34" charset="0"/>
                <a:cs typeface="Arial" panose="020B0604020202020204" pitchFamily="34" charset="0"/>
              </a:rPr>
              <a:t>Computing (dis) similarity information between every pair of objects in the data set.</a:t>
            </a:r>
          </a:p>
          <a:p>
            <a:pPr marL="514350" indent="-514350">
              <a:lnSpc>
                <a:spcPct val="150000"/>
              </a:lnSpc>
              <a:buAutoNum type="arabicPeriod"/>
            </a:pPr>
            <a:r>
              <a:rPr lang="en-CA" dirty="0" smtClean="0">
                <a:latin typeface="Arial" panose="020B0604020202020204" pitchFamily="34" charset="0"/>
                <a:cs typeface="Arial" panose="020B0604020202020204" pitchFamily="34" charset="0"/>
              </a:rPr>
              <a:t>Using </a:t>
            </a:r>
            <a:r>
              <a:rPr lang="en-CA" dirty="0">
                <a:latin typeface="Arial" panose="020B0604020202020204" pitchFamily="34" charset="0"/>
                <a:cs typeface="Arial" panose="020B0604020202020204" pitchFamily="34" charset="0"/>
              </a:rPr>
              <a:t>linkage function to group objects into hierarchical cluster tree, based </a:t>
            </a:r>
            <a:r>
              <a:rPr lang="en-CA" dirty="0" smtClean="0">
                <a:latin typeface="Arial" panose="020B0604020202020204" pitchFamily="34" charset="0"/>
                <a:cs typeface="Arial" panose="020B0604020202020204" pitchFamily="34" charset="0"/>
              </a:rPr>
              <a:t>on the </a:t>
            </a:r>
            <a:r>
              <a:rPr lang="en-CA" dirty="0">
                <a:latin typeface="Arial" panose="020B0604020202020204" pitchFamily="34" charset="0"/>
                <a:cs typeface="Arial" panose="020B0604020202020204" pitchFamily="34" charset="0"/>
              </a:rPr>
              <a:t>distance information generated at step 1. Objects/clusters that are in </a:t>
            </a:r>
            <a:r>
              <a:rPr lang="en-CA" dirty="0" smtClean="0">
                <a:latin typeface="Arial" panose="020B0604020202020204" pitchFamily="34" charset="0"/>
                <a:cs typeface="Arial" panose="020B0604020202020204" pitchFamily="34" charset="0"/>
              </a:rPr>
              <a:t>close proximity </a:t>
            </a:r>
            <a:r>
              <a:rPr lang="en-CA" dirty="0">
                <a:latin typeface="Arial" panose="020B0604020202020204" pitchFamily="34" charset="0"/>
                <a:cs typeface="Arial" panose="020B0604020202020204" pitchFamily="34" charset="0"/>
              </a:rPr>
              <a:t>are linked together using the linkage function.</a:t>
            </a:r>
            <a:endParaRPr lang="en-CA" dirty="0" smtClean="0">
              <a:latin typeface="Arial" panose="020B0604020202020204" pitchFamily="34" charset="0"/>
              <a:cs typeface="Arial" panose="020B0604020202020204" pitchFamily="34" charset="0"/>
            </a:endParaRPr>
          </a:p>
          <a:p>
            <a:pPr marL="0" indent="0">
              <a:buNone/>
            </a:pPr>
            <a:endParaRPr lang="en-CA" dirty="0">
              <a:latin typeface="Arial" panose="020B0604020202020204" pitchFamily="34" charset="0"/>
              <a:cs typeface="Arial" panose="020B0604020202020204" pitchFamily="34" charset="0"/>
            </a:endParaRPr>
          </a:p>
        </p:txBody>
      </p:sp>
      <p:pic>
        <p:nvPicPr>
          <p:cNvPr id="5" name="Picture 4"/>
          <p:cNvPicPr>
            <a:picLocks noChangeAspect="1"/>
          </p:cNvPicPr>
          <p:nvPr/>
        </p:nvPicPr>
        <p:blipFill>
          <a:blip r:embed="rId2"/>
          <a:stretch>
            <a:fillRect/>
          </a:stretch>
        </p:blipFill>
        <p:spPr>
          <a:xfrm>
            <a:off x="7876903" y="5786845"/>
            <a:ext cx="4302034" cy="1097280"/>
          </a:xfrm>
          <a:prstGeom prst="rect">
            <a:avLst/>
          </a:prstGeom>
        </p:spPr>
      </p:pic>
    </p:spTree>
    <p:extLst>
      <p:ext uri="{BB962C8B-B14F-4D97-AF65-F5344CB8AC3E}">
        <p14:creationId xmlns:p14="http://schemas.microsoft.com/office/powerpoint/2010/main" val="294690215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4000" dirty="0" smtClean="0">
                <a:solidFill>
                  <a:schemeClr val="accent2"/>
                </a:solidFill>
                <a:latin typeface="Arial" panose="020B0604020202020204" pitchFamily="34" charset="0"/>
                <a:cs typeface="Arial" panose="020B0604020202020204" pitchFamily="34" charset="0"/>
              </a:rPr>
              <a:t>Agglomerative Clustering Algorithm</a:t>
            </a:r>
            <a:endParaRPr lang="en-CA" sz="4000" dirty="0">
              <a:solidFill>
                <a:schemeClr val="accent2"/>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749300" y="1563098"/>
            <a:ext cx="10515600" cy="4223747"/>
          </a:xfrm>
        </p:spPr>
        <p:txBody>
          <a:bodyPr>
            <a:normAutofit/>
          </a:bodyPr>
          <a:lstStyle/>
          <a:p>
            <a:pPr marL="0" indent="0">
              <a:lnSpc>
                <a:spcPct val="150000"/>
              </a:lnSpc>
              <a:buNone/>
            </a:pPr>
            <a:r>
              <a:rPr lang="en-CA" dirty="0" smtClean="0">
                <a:latin typeface="Arial" panose="020B0604020202020204" pitchFamily="34" charset="0"/>
                <a:cs typeface="Arial" panose="020B0604020202020204" pitchFamily="34" charset="0"/>
              </a:rPr>
              <a:t>4. </a:t>
            </a:r>
            <a:r>
              <a:rPr lang="en-CA" dirty="0">
                <a:latin typeface="Arial" panose="020B0604020202020204" pitchFamily="34" charset="0"/>
                <a:cs typeface="Arial" panose="020B0604020202020204" pitchFamily="34" charset="0"/>
              </a:rPr>
              <a:t>Determining where to cut the hierarchical tree into clusters. This creates </a:t>
            </a:r>
            <a:r>
              <a:rPr lang="en-CA" dirty="0" smtClean="0">
                <a:latin typeface="Arial" panose="020B0604020202020204" pitchFamily="34" charset="0"/>
                <a:cs typeface="Arial" panose="020B0604020202020204" pitchFamily="34" charset="0"/>
              </a:rPr>
              <a:t>a partition </a:t>
            </a:r>
            <a:r>
              <a:rPr lang="en-CA" dirty="0">
                <a:latin typeface="Arial" panose="020B0604020202020204" pitchFamily="34" charset="0"/>
                <a:cs typeface="Arial" panose="020B0604020202020204" pitchFamily="34" charset="0"/>
              </a:rPr>
              <a:t>of the data</a:t>
            </a:r>
            <a:r>
              <a:rPr lang="en-CA" dirty="0" smtClean="0">
                <a:latin typeface="Arial" panose="020B0604020202020204" pitchFamily="34" charset="0"/>
                <a:cs typeface="Arial" panose="020B0604020202020204" pitchFamily="34" charset="0"/>
              </a:rPr>
              <a:t>. </a:t>
            </a:r>
            <a:endParaRPr lang="en-CA" dirty="0">
              <a:latin typeface="Arial" panose="020B0604020202020204" pitchFamily="34" charset="0"/>
              <a:cs typeface="Arial" panose="020B0604020202020204" pitchFamily="34" charset="0"/>
            </a:endParaRPr>
          </a:p>
        </p:txBody>
      </p:sp>
      <p:pic>
        <p:nvPicPr>
          <p:cNvPr id="5" name="Picture 4"/>
          <p:cNvPicPr>
            <a:picLocks noChangeAspect="1"/>
          </p:cNvPicPr>
          <p:nvPr/>
        </p:nvPicPr>
        <p:blipFill>
          <a:blip r:embed="rId2"/>
          <a:stretch>
            <a:fillRect/>
          </a:stretch>
        </p:blipFill>
        <p:spPr>
          <a:xfrm>
            <a:off x="7876903" y="5786845"/>
            <a:ext cx="4302034" cy="1097280"/>
          </a:xfrm>
          <a:prstGeom prst="rect">
            <a:avLst/>
          </a:prstGeom>
        </p:spPr>
      </p:pic>
    </p:spTree>
    <p:extLst>
      <p:ext uri="{BB962C8B-B14F-4D97-AF65-F5344CB8AC3E}">
        <p14:creationId xmlns:p14="http://schemas.microsoft.com/office/powerpoint/2010/main" val="198741262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4000" dirty="0" smtClean="0">
                <a:solidFill>
                  <a:schemeClr val="accent2"/>
                </a:solidFill>
                <a:latin typeface="Arial" panose="020B0604020202020204" pitchFamily="34" charset="0"/>
                <a:cs typeface="Arial" panose="020B0604020202020204" pitchFamily="34" charset="0"/>
              </a:rPr>
              <a:t>Key points</a:t>
            </a:r>
            <a:endParaRPr lang="en-CA" sz="4000" dirty="0">
              <a:solidFill>
                <a:schemeClr val="accent2"/>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749300" y="1563098"/>
            <a:ext cx="10515600" cy="4223747"/>
          </a:xfrm>
        </p:spPr>
        <p:txBody>
          <a:bodyPr>
            <a:normAutofit/>
          </a:bodyPr>
          <a:lstStyle/>
          <a:p>
            <a:pPr>
              <a:lnSpc>
                <a:spcPct val="150000"/>
              </a:lnSpc>
            </a:pPr>
            <a:r>
              <a:rPr lang="en-CA" dirty="0" smtClean="0">
                <a:latin typeface="Arial" panose="020B0604020202020204" pitchFamily="34" charset="0"/>
                <a:cs typeface="Arial" panose="020B0604020202020204" pitchFamily="34" charset="0"/>
              </a:rPr>
              <a:t>The data should be a numeric matrix.</a:t>
            </a:r>
          </a:p>
          <a:p>
            <a:pPr>
              <a:lnSpc>
                <a:spcPct val="150000"/>
              </a:lnSpc>
            </a:pPr>
            <a:r>
              <a:rPr lang="en-CA" b="1" dirty="0" smtClean="0">
                <a:latin typeface="Arial" panose="020B0604020202020204" pitchFamily="34" charset="0"/>
                <a:cs typeface="Arial" panose="020B0604020202020204" pitchFamily="34" charset="0"/>
              </a:rPr>
              <a:t>Linkage</a:t>
            </a:r>
            <a:r>
              <a:rPr lang="en-CA" dirty="0" smtClean="0">
                <a:latin typeface="Arial" panose="020B0604020202020204" pitchFamily="34" charset="0"/>
                <a:cs typeface="Arial" panose="020B0604020202020204" pitchFamily="34" charset="0"/>
              </a:rPr>
              <a:t>: This takes the distance information, and groups pairs of objects into clusters based on their similarity.</a:t>
            </a:r>
          </a:p>
          <a:p>
            <a:pPr>
              <a:lnSpc>
                <a:spcPct val="150000"/>
              </a:lnSpc>
            </a:pPr>
            <a:r>
              <a:rPr lang="en-CA" dirty="0" smtClean="0">
                <a:latin typeface="Arial" panose="020B0604020202020204" pitchFamily="34" charset="0"/>
                <a:cs typeface="Arial" panose="020B0604020202020204" pitchFamily="34" charset="0"/>
              </a:rPr>
              <a:t>Newly formed clusters are linked iteratively until all objects in the data set are linked together in a tree.</a:t>
            </a:r>
            <a:endParaRPr lang="en-CA" dirty="0">
              <a:latin typeface="Arial" panose="020B0604020202020204" pitchFamily="34" charset="0"/>
              <a:cs typeface="Arial" panose="020B0604020202020204" pitchFamily="34" charset="0"/>
            </a:endParaRPr>
          </a:p>
        </p:txBody>
      </p:sp>
      <p:pic>
        <p:nvPicPr>
          <p:cNvPr id="5" name="Picture 4"/>
          <p:cNvPicPr>
            <a:picLocks noChangeAspect="1"/>
          </p:cNvPicPr>
          <p:nvPr/>
        </p:nvPicPr>
        <p:blipFill>
          <a:blip r:embed="rId2"/>
          <a:stretch>
            <a:fillRect/>
          </a:stretch>
        </p:blipFill>
        <p:spPr>
          <a:xfrm>
            <a:off x="7876903" y="5786845"/>
            <a:ext cx="4302034" cy="1097280"/>
          </a:xfrm>
          <a:prstGeom prst="rect">
            <a:avLst/>
          </a:prstGeom>
        </p:spPr>
      </p:pic>
    </p:spTree>
    <p:extLst>
      <p:ext uri="{BB962C8B-B14F-4D97-AF65-F5344CB8AC3E}">
        <p14:creationId xmlns:p14="http://schemas.microsoft.com/office/powerpoint/2010/main" val="78397913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4000" dirty="0" smtClean="0">
                <a:solidFill>
                  <a:schemeClr val="accent2"/>
                </a:solidFill>
                <a:latin typeface="Arial" panose="020B0604020202020204" pitchFamily="34" charset="0"/>
                <a:cs typeface="Arial" panose="020B0604020202020204" pitchFamily="34" charset="0"/>
              </a:rPr>
              <a:t>Agglomeration (linkage) methods</a:t>
            </a:r>
            <a:endParaRPr lang="en-CA" sz="4000" dirty="0">
              <a:solidFill>
                <a:schemeClr val="accent2"/>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749300" y="1563098"/>
            <a:ext cx="10515600" cy="4223747"/>
          </a:xfrm>
        </p:spPr>
        <p:txBody>
          <a:bodyPr>
            <a:normAutofit fontScale="92500"/>
          </a:bodyPr>
          <a:lstStyle/>
          <a:p>
            <a:pPr>
              <a:lnSpc>
                <a:spcPct val="150000"/>
              </a:lnSpc>
            </a:pPr>
            <a:r>
              <a:rPr lang="en-CA" dirty="0">
                <a:latin typeface="Arial" panose="020B0604020202020204" pitchFamily="34" charset="0"/>
                <a:cs typeface="Arial" panose="020B0604020202020204" pitchFamily="34" charset="0"/>
              </a:rPr>
              <a:t>There are many cluster agglomeration methods (</a:t>
            </a:r>
            <a:r>
              <a:rPr lang="en-CA" dirty="0" smtClean="0">
                <a:latin typeface="Arial" panose="020B0604020202020204" pitchFamily="34" charset="0"/>
                <a:cs typeface="Arial" panose="020B0604020202020204" pitchFamily="34" charset="0"/>
              </a:rPr>
              <a:t>i.e., </a:t>
            </a:r>
            <a:r>
              <a:rPr lang="en-CA" dirty="0">
                <a:latin typeface="Arial" panose="020B0604020202020204" pitchFamily="34" charset="0"/>
                <a:cs typeface="Arial" panose="020B0604020202020204" pitchFamily="34" charset="0"/>
              </a:rPr>
              <a:t>linkage methods). The </a:t>
            </a:r>
            <a:r>
              <a:rPr lang="en-CA" dirty="0" smtClean="0">
                <a:latin typeface="Arial" panose="020B0604020202020204" pitchFamily="34" charset="0"/>
                <a:cs typeface="Arial" panose="020B0604020202020204" pitchFamily="34" charset="0"/>
              </a:rPr>
              <a:t>most common </a:t>
            </a:r>
            <a:r>
              <a:rPr lang="en-CA" dirty="0">
                <a:latin typeface="Arial" panose="020B0604020202020204" pitchFamily="34" charset="0"/>
                <a:cs typeface="Arial" panose="020B0604020202020204" pitchFamily="34" charset="0"/>
              </a:rPr>
              <a:t>linkage methods are described </a:t>
            </a:r>
            <a:r>
              <a:rPr lang="en-CA" dirty="0" smtClean="0">
                <a:latin typeface="Arial" panose="020B0604020202020204" pitchFamily="34" charset="0"/>
                <a:cs typeface="Arial" panose="020B0604020202020204" pitchFamily="34" charset="0"/>
              </a:rPr>
              <a:t>below</a:t>
            </a:r>
            <a:r>
              <a:rPr lang="en-CA" dirty="0">
                <a:latin typeface="Arial" panose="020B0604020202020204" pitchFamily="34" charset="0"/>
                <a:cs typeface="Arial" panose="020B0604020202020204" pitchFamily="34" charset="0"/>
              </a:rPr>
              <a:t>:</a:t>
            </a:r>
            <a:endParaRPr lang="en-CA" dirty="0" smtClean="0">
              <a:latin typeface="Arial" panose="020B0604020202020204" pitchFamily="34" charset="0"/>
              <a:cs typeface="Arial" panose="020B0604020202020204" pitchFamily="34" charset="0"/>
            </a:endParaRPr>
          </a:p>
          <a:p>
            <a:pPr>
              <a:lnSpc>
                <a:spcPct val="150000"/>
              </a:lnSpc>
            </a:pPr>
            <a:r>
              <a:rPr lang="en-CA" b="1" dirty="0">
                <a:latin typeface="Arial" panose="020B0604020202020204" pitchFamily="34" charset="0"/>
                <a:cs typeface="Arial" panose="020B0604020202020204" pitchFamily="34" charset="0"/>
              </a:rPr>
              <a:t>Maximum or </a:t>
            </a:r>
            <a:r>
              <a:rPr lang="en-CA" b="1" i="1" dirty="0">
                <a:latin typeface="Arial" panose="020B0604020202020204" pitchFamily="34" charset="0"/>
                <a:cs typeface="Arial" panose="020B0604020202020204" pitchFamily="34" charset="0"/>
              </a:rPr>
              <a:t>complete linkage</a:t>
            </a:r>
            <a:r>
              <a:rPr lang="en-CA" dirty="0">
                <a:latin typeface="Arial" panose="020B0604020202020204" pitchFamily="34" charset="0"/>
                <a:cs typeface="Arial" panose="020B0604020202020204" pitchFamily="34" charset="0"/>
              </a:rPr>
              <a:t>: The distance between two clusters is defined </a:t>
            </a:r>
            <a:r>
              <a:rPr lang="en-CA" dirty="0" smtClean="0">
                <a:latin typeface="Arial" panose="020B0604020202020204" pitchFamily="34" charset="0"/>
                <a:cs typeface="Arial" panose="020B0604020202020204" pitchFamily="34" charset="0"/>
              </a:rPr>
              <a:t>as the </a:t>
            </a:r>
            <a:r>
              <a:rPr lang="en-CA" dirty="0">
                <a:latin typeface="Arial" panose="020B0604020202020204" pitchFamily="34" charset="0"/>
                <a:cs typeface="Arial" panose="020B0604020202020204" pitchFamily="34" charset="0"/>
              </a:rPr>
              <a:t>maximum value of all pairwise distances between the elements in cluster </a:t>
            </a:r>
            <a:r>
              <a:rPr lang="en-CA" dirty="0" smtClean="0">
                <a:latin typeface="Arial" panose="020B0604020202020204" pitchFamily="34" charset="0"/>
                <a:cs typeface="Arial" panose="020B0604020202020204" pitchFamily="34" charset="0"/>
              </a:rPr>
              <a:t>1 and </a:t>
            </a:r>
            <a:r>
              <a:rPr lang="en-CA" dirty="0">
                <a:latin typeface="Arial" panose="020B0604020202020204" pitchFamily="34" charset="0"/>
                <a:cs typeface="Arial" panose="020B0604020202020204" pitchFamily="34" charset="0"/>
              </a:rPr>
              <a:t>the elements in cluster 2. It tends to produce more compact clusters.</a:t>
            </a:r>
          </a:p>
        </p:txBody>
      </p:sp>
      <p:pic>
        <p:nvPicPr>
          <p:cNvPr id="5" name="Picture 4"/>
          <p:cNvPicPr>
            <a:picLocks noChangeAspect="1"/>
          </p:cNvPicPr>
          <p:nvPr/>
        </p:nvPicPr>
        <p:blipFill>
          <a:blip r:embed="rId2"/>
          <a:stretch>
            <a:fillRect/>
          </a:stretch>
        </p:blipFill>
        <p:spPr>
          <a:xfrm>
            <a:off x="7876903" y="5786845"/>
            <a:ext cx="4302034" cy="1097280"/>
          </a:xfrm>
          <a:prstGeom prst="rect">
            <a:avLst/>
          </a:prstGeom>
        </p:spPr>
      </p:pic>
    </p:spTree>
    <p:extLst>
      <p:ext uri="{BB962C8B-B14F-4D97-AF65-F5344CB8AC3E}">
        <p14:creationId xmlns:p14="http://schemas.microsoft.com/office/powerpoint/2010/main" val="30422006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4000" dirty="0" smtClean="0">
                <a:solidFill>
                  <a:schemeClr val="accent2"/>
                </a:solidFill>
                <a:latin typeface="Arial" panose="020B0604020202020204" pitchFamily="34" charset="0"/>
                <a:cs typeface="Arial" panose="020B0604020202020204" pitchFamily="34" charset="0"/>
              </a:rPr>
              <a:t>Agglomeration (linkage) methods</a:t>
            </a:r>
            <a:endParaRPr lang="en-CA" sz="4000" dirty="0">
              <a:solidFill>
                <a:schemeClr val="accent2"/>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749300" y="1563098"/>
            <a:ext cx="10515600" cy="4223747"/>
          </a:xfrm>
        </p:spPr>
        <p:txBody>
          <a:bodyPr>
            <a:normAutofit fontScale="92500" lnSpcReduction="10000"/>
          </a:bodyPr>
          <a:lstStyle/>
          <a:p>
            <a:pPr>
              <a:lnSpc>
                <a:spcPct val="150000"/>
              </a:lnSpc>
            </a:pPr>
            <a:r>
              <a:rPr lang="en-CA" b="1" dirty="0" smtClean="0">
                <a:latin typeface="Arial" panose="020B0604020202020204" pitchFamily="34" charset="0"/>
                <a:cs typeface="Arial" panose="020B0604020202020204" pitchFamily="34" charset="0"/>
              </a:rPr>
              <a:t>Minimum </a:t>
            </a:r>
            <a:r>
              <a:rPr lang="en-CA" b="1" dirty="0">
                <a:latin typeface="Arial" panose="020B0604020202020204" pitchFamily="34" charset="0"/>
                <a:cs typeface="Arial" panose="020B0604020202020204" pitchFamily="34" charset="0"/>
              </a:rPr>
              <a:t>or </a:t>
            </a:r>
            <a:r>
              <a:rPr lang="en-CA" b="1" i="1" dirty="0">
                <a:latin typeface="Arial" panose="020B0604020202020204" pitchFamily="34" charset="0"/>
                <a:cs typeface="Arial" panose="020B0604020202020204" pitchFamily="34" charset="0"/>
              </a:rPr>
              <a:t>single linkage</a:t>
            </a:r>
            <a:r>
              <a:rPr lang="en-CA" dirty="0">
                <a:latin typeface="Arial" panose="020B0604020202020204" pitchFamily="34" charset="0"/>
                <a:cs typeface="Arial" panose="020B0604020202020204" pitchFamily="34" charset="0"/>
              </a:rPr>
              <a:t>: The distance between two clusters is </a:t>
            </a:r>
            <a:r>
              <a:rPr lang="en-CA" dirty="0" smtClean="0">
                <a:latin typeface="Arial" panose="020B0604020202020204" pitchFamily="34" charset="0"/>
                <a:cs typeface="Arial" panose="020B0604020202020204" pitchFamily="34" charset="0"/>
              </a:rPr>
              <a:t>defined as </a:t>
            </a:r>
            <a:r>
              <a:rPr lang="en-CA" dirty="0">
                <a:latin typeface="Arial" panose="020B0604020202020204" pitchFamily="34" charset="0"/>
                <a:cs typeface="Arial" panose="020B0604020202020204" pitchFamily="34" charset="0"/>
              </a:rPr>
              <a:t>the minimum value of all pairwise distances between the elements </a:t>
            </a:r>
            <a:r>
              <a:rPr lang="en-CA" dirty="0" smtClean="0">
                <a:latin typeface="Arial" panose="020B0604020202020204" pitchFamily="34" charset="0"/>
                <a:cs typeface="Arial" panose="020B0604020202020204" pitchFamily="34" charset="0"/>
              </a:rPr>
              <a:t>in cluster </a:t>
            </a:r>
            <a:r>
              <a:rPr lang="en-CA" dirty="0">
                <a:latin typeface="Arial" panose="020B0604020202020204" pitchFamily="34" charset="0"/>
                <a:cs typeface="Arial" panose="020B0604020202020204" pitchFamily="34" charset="0"/>
              </a:rPr>
              <a:t>1 and the elements in cluster 2. It tends to produce long, "loose" clusters</a:t>
            </a:r>
            <a:r>
              <a:rPr lang="en-CA" dirty="0" smtClean="0">
                <a:latin typeface="Arial" panose="020B0604020202020204" pitchFamily="34" charset="0"/>
                <a:cs typeface="Arial" panose="020B0604020202020204" pitchFamily="34" charset="0"/>
              </a:rPr>
              <a:t>.</a:t>
            </a:r>
          </a:p>
          <a:p>
            <a:pPr>
              <a:lnSpc>
                <a:spcPct val="150000"/>
              </a:lnSpc>
            </a:pPr>
            <a:r>
              <a:rPr lang="en-CA" b="1" dirty="0">
                <a:latin typeface="Arial" panose="020B0604020202020204" pitchFamily="34" charset="0"/>
                <a:cs typeface="Arial" panose="020B0604020202020204" pitchFamily="34" charset="0"/>
              </a:rPr>
              <a:t>Mean or </a:t>
            </a:r>
            <a:r>
              <a:rPr lang="en-CA" b="1" i="1" dirty="0">
                <a:latin typeface="Arial" panose="020B0604020202020204" pitchFamily="34" charset="0"/>
                <a:cs typeface="Arial" panose="020B0604020202020204" pitchFamily="34" charset="0"/>
              </a:rPr>
              <a:t>average linkage</a:t>
            </a:r>
            <a:r>
              <a:rPr lang="en-CA" dirty="0">
                <a:latin typeface="Arial" panose="020B0604020202020204" pitchFamily="34" charset="0"/>
                <a:cs typeface="Arial" panose="020B0604020202020204" pitchFamily="34" charset="0"/>
              </a:rPr>
              <a:t>: The distance between two clusters is defined as </a:t>
            </a:r>
            <a:r>
              <a:rPr lang="en-CA" dirty="0" smtClean="0">
                <a:latin typeface="Arial" panose="020B0604020202020204" pitchFamily="34" charset="0"/>
                <a:cs typeface="Arial" panose="020B0604020202020204" pitchFamily="34" charset="0"/>
              </a:rPr>
              <a:t>the average </a:t>
            </a:r>
            <a:r>
              <a:rPr lang="en-CA" dirty="0">
                <a:latin typeface="Arial" panose="020B0604020202020204" pitchFamily="34" charset="0"/>
                <a:cs typeface="Arial" panose="020B0604020202020204" pitchFamily="34" charset="0"/>
              </a:rPr>
              <a:t>distance between the elements in cluster 1 and the elements in cluster 2.</a:t>
            </a:r>
          </a:p>
        </p:txBody>
      </p:sp>
      <p:pic>
        <p:nvPicPr>
          <p:cNvPr id="5" name="Picture 4"/>
          <p:cNvPicPr>
            <a:picLocks noChangeAspect="1"/>
          </p:cNvPicPr>
          <p:nvPr/>
        </p:nvPicPr>
        <p:blipFill>
          <a:blip r:embed="rId2"/>
          <a:stretch>
            <a:fillRect/>
          </a:stretch>
        </p:blipFill>
        <p:spPr>
          <a:xfrm>
            <a:off x="7876903" y="5786845"/>
            <a:ext cx="4302034" cy="1097280"/>
          </a:xfrm>
          <a:prstGeom prst="rect">
            <a:avLst/>
          </a:prstGeom>
        </p:spPr>
      </p:pic>
    </p:spTree>
    <p:extLst>
      <p:ext uri="{BB962C8B-B14F-4D97-AF65-F5344CB8AC3E}">
        <p14:creationId xmlns:p14="http://schemas.microsoft.com/office/powerpoint/2010/main" val="233071770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4000" dirty="0" smtClean="0">
                <a:solidFill>
                  <a:schemeClr val="accent2"/>
                </a:solidFill>
                <a:latin typeface="Arial" panose="020B0604020202020204" pitchFamily="34" charset="0"/>
                <a:cs typeface="Arial" panose="020B0604020202020204" pitchFamily="34" charset="0"/>
              </a:rPr>
              <a:t>Agglomeration (linkage) methods</a:t>
            </a:r>
            <a:endParaRPr lang="en-CA" sz="4000" dirty="0">
              <a:solidFill>
                <a:schemeClr val="accent2"/>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749300" y="1563098"/>
            <a:ext cx="10515600" cy="4223747"/>
          </a:xfrm>
        </p:spPr>
        <p:txBody>
          <a:bodyPr>
            <a:normAutofit/>
          </a:bodyPr>
          <a:lstStyle/>
          <a:p>
            <a:pPr>
              <a:lnSpc>
                <a:spcPct val="150000"/>
              </a:lnSpc>
            </a:pPr>
            <a:r>
              <a:rPr lang="en-CA" b="1" i="1" dirty="0">
                <a:latin typeface="Arial" panose="020B0604020202020204" pitchFamily="34" charset="0"/>
                <a:cs typeface="Arial" panose="020B0604020202020204" pitchFamily="34" charset="0"/>
              </a:rPr>
              <a:t>Centroid linkage</a:t>
            </a:r>
            <a:r>
              <a:rPr lang="en-CA" dirty="0">
                <a:latin typeface="Arial" panose="020B0604020202020204" pitchFamily="34" charset="0"/>
                <a:cs typeface="Arial" panose="020B0604020202020204" pitchFamily="34" charset="0"/>
              </a:rPr>
              <a:t>: The distance between two clusters is defined as the </a:t>
            </a:r>
            <a:r>
              <a:rPr lang="en-CA" dirty="0" smtClean="0">
                <a:latin typeface="Arial" panose="020B0604020202020204" pitchFamily="34" charset="0"/>
                <a:cs typeface="Arial" panose="020B0604020202020204" pitchFamily="34" charset="0"/>
              </a:rPr>
              <a:t>distance between </a:t>
            </a:r>
            <a:r>
              <a:rPr lang="en-CA" dirty="0">
                <a:latin typeface="Arial" panose="020B0604020202020204" pitchFamily="34" charset="0"/>
                <a:cs typeface="Arial" panose="020B0604020202020204" pitchFamily="34" charset="0"/>
              </a:rPr>
              <a:t>the centroid for cluster 1 (a mean vector of length p variables) </a:t>
            </a:r>
            <a:r>
              <a:rPr lang="en-CA" dirty="0" smtClean="0">
                <a:latin typeface="Arial" panose="020B0604020202020204" pitchFamily="34" charset="0"/>
                <a:cs typeface="Arial" panose="020B0604020202020204" pitchFamily="34" charset="0"/>
              </a:rPr>
              <a:t>and the </a:t>
            </a:r>
            <a:r>
              <a:rPr lang="en-CA" dirty="0">
                <a:latin typeface="Arial" panose="020B0604020202020204" pitchFamily="34" charset="0"/>
                <a:cs typeface="Arial" panose="020B0604020202020204" pitchFamily="34" charset="0"/>
              </a:rPr>
              <a:t>centroid for cluster 2</a:t>
            </a:r>
            <a:r>
              <a:rPr lang="en-CA" dirty="0" smtClean="0">
                <a:latin typeface="Arial" panose="020B0604020202020204" pitchFamily="34" charset="0"/>
                <a:cs typeface="Arial" panose="020B0604020202020204" pitchFamily="34" charset="0"/>
              </a:rPr>
              <a:t>.</a:t>
            </a:r>
          </a:p>
          <a:p>
            <a:pPr>
              <a:lnSpc>
                <a:spcPct val="150000"/>
              </a:lnSpc>
            </a:pPr>
            <a:r>
              <a:rPr lang="en-CA" b="1" i="1" dirty="0">
                <a:latin typeface="Arial" panose="020B0604020202020204" pitchFamily="34" charset="0"/>
                <a:cs typeface="Arial" panose="020B0604020202020204" pitchFamily="34" charset="0"/>
              </a:rPr>
              <a:t>Ward’s minimum variance method</a:t>
            </a:r>
            <a:r>
              <a:rPr lang="en-CA" b="1" dirty="0">
                <a:latin typeface="Arial" panose="020B0604020202020204" pitchFamily="34" charset="0"/>
                <a:cs typeface="Arial" panose="020B0604020202020204" pitchFamily="34" charset="0"/>
              </a:rPr>
              <a:t>: </a:t>
            </a:r>
            <a:r>
              <a:rPr lang="en-CA" dirty="0">
                <a:latin typeface="Arial" panose="020B0604020202020204" pitchFamily="34" charset="0"/>
                <a:cs typeface="Arial" panose="020B0604020202020204" pitchFamily="34" charset="0"/>
              </a:rPr>
              <a:t>It minimizes the total within-cluster </a:t>
            </a:r>
            <a:r>
              <a:rPr lang="en-CA" dirty="0" smtClean="0">
                <a:latin typeface="Arial" panose="020B0604020202020204" pitchFamily="34" charset="0"/>
                <a:cs typeface="Arial" panose="020B0604020202020204" pitchFamily="34" charset="0"/>
              </a:rPr>
              <a:t>variance. At </a:t>
            </a:r>
            <a:r>
              <a:rPr lang="en-CA" dirty="0">
                <a:latin typeface="Arial" panose="020B0604020202020204" pitchFamily="34" charset="0"/>
                <a:cs typeface="Arial" panose="020B0604020202020204" pitchFamily="34" charset="0"/>
              </a:rPr>
              <a:t>each step the pair of clusters with minimum between-cluster </a:t>
            </a:r>
            <a:r>
              <a:rPr lang="en-CA" dirty="0" smtClean="0">
                <a:latin typeface="Arial" panose="020B0604020202020204" pitchFamily="34" charset="0"/>
                <a:cs typeface="Arial" panose="020B0604020202020204" pitchFamily="34" charset="0"/>
              </a:rPr>
              <a:t>distance are merged.</a:t>
            </a:r>
            <a:endParaRPr lang="en-CA" dirty="0">
              <a:latin typeface="Arial" panose="020B0604020202020204" pitchFamily="34" charset="0"/>
              <a:cs typeface="Arial" panose="020B0604020202020204" pitchFamily="34" charset="0"/>
            </a:endParaRPr>
          </a:p>
        </p:txBody>
      </p:sp>
      <p:pic>
        <p:nvPicPr>
          <p:cNvPr id="5" name="Picture 4"/>
          <p:cNvPicPr>
            <a:picLocks noChangeAspect="1"/>
          </p:cNvPicPr>
          <p:nvPr/>
        </p:nvPicPr>
        <p:blipFill>
          <a:blip r:embed="rId2"/>
          <a:stretch>
            <a:fillRect/>
          </a:stretch>
        </p:blipFill>
        <p:spPr>
          <a:xfrm>
            <a:off x="7876903" y="5786845"/>
            <a:ext cx="4302034" cy="1097280"/>
          </a:xfrm>
          <a:prstGeom prst="rect">
            <a:avLst/>
          </a:prstGeom>
        </p:spPr>
      </p:pic>
    </p:spTree>
    <p:extLst>
      <p:ext uri="{BB962C8B-B14F-4D97-AF65-F5344CB8AC3E}">
        <p14:creationId xmlns:p14="http://schemas.microsoft.com/office/powerpoint/2010/main" val="340489005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4000" dirty="0" smtClean="0">
                <a:solidFill>
                  <a:schemeClr val="accent2"/>
                </a:solidFill>
                <a:latin typeface="Arial" panose="020B0604020202020204" pitchFamily="34" charset="0"/>
                <a:cs typeface="Arial" panose="020B0604020202020204" pitchFamily="34" charset="0"/>
              </a:rPr>
              <a:t>Agglomeration (linkage) methods</a:t>
            </a:r>
            <a:endParaRPr lang="en-CA" sz="4000" dirty="0">
              <a:solidFill>
                <a:schemeClr val="accent2"/>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749300" y="1563098"/>
            <a:ext cx="10515600" cy="4223747"/>
          </a:xfrm>
        </p:spPr>
        <p:txBody>
          <a:bodyPr>
            <a:normAutofit/>
          </a:bodyPr>
          <a:lstStyle/>
          <a:p>
            <a:pPr>
              <a:lnSpc>
                <a:spcPct val="150000"/>
              </a:lnSpc>
            </a:pPr>
            <a:r>
              <a:rPr lang="en-CA" dirty="0">
                <a:latin typeface="Arial" panose="020B0604020202020204" pitchFamily="34" charset="0"/>
                <a:cs typeface="Arial" panose="020B0604020202020204" pitchFamily="34" charset="0"/>
              </a:rPr>
              <a:t>Note that, at each stage of the clustering process the two clusters, that have </a:t>
            </a:r>
            <a:r>
              <a:rPr lang="en-CA" dirty="0" smtClean="0">
                <a:latin typeface="Arial" panose="020B0604020202020204" pitchFamily="34" charset="0"/>
                <a:cs typeface="Arial" panose="020B0604020202020204" pitchFamily="34" charset="0"/>
              </a:rPr>
              <a:t>the smallest </a:t>
            </a:r>
            <a:r>
              <a:rPr lang="en-CA" dirty="0">
                <a:latin typeface="Arial" panose="020B0604020202020204" pitchFamily="34" charset="0"/>
                <a:cs typeface="Arial" panose="020B0604020202020204" pitchFamily="34" charset="0"/>
              </a:rPr>
              <a:t>linkage distance, are linked together</a:t>
            </a:r>
            <a:r>
              <a:rPr lang="en-CA" dirty="0" smtClean="0">
                <a:latin typeface="Arial" panose="020B0604020202020204" pitchFamily="34" charset="0"/>
                <a:cs typeface="Arial" panose="020B0604020202020204" pitchFamily="34" charset="0"/>
              </a:rPr>
              <a:t>.</a:t>
            </a:r>
          </a:p>
          <a:p>
            <a:pPr>
              <a:lnSpc>
                <a:spcPct val="150000"/>
              </a:lnSpc>
            </a:pPr>
            <a:r>
              <a:rPr lang="en-CA" dirty="0">
                <a:latin typeface="Arial" panose="020B0604020202020204" pitchFamily="34" charset="0"/>
                <a:cs typeface="Arial" panose="020B0604020202020204" pitchFamily="34" charset="0"/>
              </a:rPr>
              <a:t>Complete linkage and Ward’s method are generally preferred.</a:t>
            </a:r>
          </a:p>
        </p:txBody>
      </p:sp>
      <p:pic>
        <p:nvPicPr>
          <p:cNvPr id="5" name="Picture 4"/>
          <p:cNvPicPr>
            <a:picLocks noChangeAspect="1"/>
          </p:cNvPicPr>
          <p:nvPr/>
        </p:nvPicPr>
        <p:blipFill>
          <a:blip r:embed="rId2"/>
          <a:stretch>
            <a:fillRect/>
          </a:stretch>
        </p:blipFill>
        <p:spPr>
          <a:xfrm>
            <a:off x="7876903" y="5786845"/>
            <a:ext cx="4302034" cy="1097280"/>
          </a:xfrm>
          <a:prstGeom prst="rect">
            <a:avLst/>
          </a:prstGeom>
        </p:spPr>
      </p:pic>
    </p:spTree>
    <p:extLst>
      <p:ext uri="{BB962C8B-B14F-4D97-AF65-F5344CB8AC3E}">
        <p14:creationId xmlns:p14="http://schemas.microsoft.com/office/powerpoint/2010/main" val="235805719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4000" dirty="0" smtClean="0">
                <a:solidFill>
                  <a:schemeClr val="accent2"/>
                </a:solidFill>
                <a:latin typeface="Arial" panose="020B0604020202020204" pitchFamily="34" charset="0"/>
                <a:cs typeface="Arial" panose="020B0604020202020204" pitchFamily="34" charset="0"/>
              </a:rPr>
              <a:t>Dendrogram</a:t>
            </a:r>
            <a:endParaRPr lang="en-CA" sz="4000" dirty="0">
              <a:solidFill>
                <a:schemeClr val="accent2"/>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749300" y="1563098"/>
            <a:ext cx="10515600" cy="4223747"/>
          </a:xfrm>
        </p:spPr>
        <p:txBody>
          <a:bodyPr>
            <a:normAutofit fontScale="92500"/>
          </a:bodyPr>
          <a:lstStyle/>
          <a:p>
            <a:pPr>
              <a:lnSpc>
                <a:spcPct val="150000"/>
              </a:lnSpc>
            </a:pPr>
            <a:r>
              <a:rPr lang="en-CA" dirty="0" err="1">
                <a:latin typeface="Arial" panose="020B0604020202020204" pitchFamily="34" charset="0"/>
                <a:cs typeface="Arial" panose="020B0604020202020204" pitchFamily="34" charset="0"/>
              </a:rPr>
              <a:t>Dendrograms</a:t>
            </a:r>
            <a:r>
              <a:rPr lang="en-CA" dirty="0">
                <a:latin typeface="Arial" panose="020B0604020202020204" pitchFamily="34" charset="0"/>
                <a:cs typeface="Arial" panose="020B0604020202020204" pitchFamily="34" charset="0"/>
              </a:rPr>
              <a:t> correspond to the graphical representation of the hierarchical </a:t>
            </a:r>
            <a:r>
              <a:rPr lang="en-CA" dirty="0" smtClean="0">
                <a:latin typeface="Arial" panose="020B0604020202020204" pitchFamily="34" charset="0"/>
                <a:cs typeface="Arial" panose="020B0604020202020204" pitchFamily="34" charset="0"/>
              </a:rPr>
              <a:t>tree.</a:t>
            </a:r>
            <a:endParaRPr lang="en-CA" dirty="0">
              <a:latin typeface="Arial" panose="020B0604020202020204" pitchFamily="34" charset="0"/>
              <a:cs typeface="Arial" panose="020B0604020202020204" pitchFamily="34" charset="0"/>
            </a:endParaRPr>
          </a:p>
          <a:p>
            <a:pPr>
              <a:lnSpc>
                <a:spcPct val="150000"/>
              </a:lnSpc>
            </a:pPr>
            <a:r>
              <a:rPr lang="en-CA" dirty="0">
                <a:latin typeface="Arial" panose="020B0604020202020204" pitchFamily="34" charset="0"/>
                <a:cs typeface="Arial" panose="020B0604020202020204" pitchFamily="34" charset="0"/>
              </a:rPr>
              <a:t>The height of the fusion, provided on the vertical axis, indicates the (</a:t>
            </a:r>
            <a:r>
              <a:rPr lang="en-CA" dirty="0" smtClean="0">
                <a:latin typeface="Arial" panose="020B0604020202020204" pitchFamily="34" charset="0"/>
                <a:cs typeface="Arial" panose="020B0604020202020204" pitchFamily="34" charset="0"/>
              </a:rPr>
              <a:t>dis)similarity/distance between </a:t>
            </a:r>
            <a:r>
              <a:rPr lang="en-CA" dirty="0">
                <a:latin typeface="Arial" panose="020B0604020202020204" pitchFamily="34" charset="0"/>
                <a:cs typeface="Arial" panose="020B0604020202020204" pitchFamily="34" charset="0"/>
              </a:rPr>
              <a:t>two objects/clusters. The higher the height of the fusion, the less similar </a:t>
            </a:r>
            <a:r>
              <a:rPr lang="en-CA" dirty="0" smtClean="0">
                <a:latin typeface="Arial" panose="020B0604020202020204" pitchFamily="34" charset="0"/>
                <a:cs typeface="Arial" panose="020B0604020202020204" pitchFamily="34" charset="0"/>
              </a:rPr>
              <a:t>the objects </a:t>
            </a:r>
            <a:r>
              <a:rPr lang="en-CA" dirty="0">
                <a:latin typeface="Arial" panose="020B0604020202020204" pitchFamily="34" charset="0"/>
                <a:cs typeface="Arial" panose="020B0604020202020204" pitchFamily="34" charset="0"/>
              </a:rPr>
              <a:t>are. This height is known as the </a:t>
            </a:r>
            <a:r>
              <a:rPr lang="en-CA" b="1" i="1" dirty="0" err="1">
                <a:latin typeface="Arial" panose="020B0604020202020204" pitchFamily="34" charset="0"/>
                <a:cs typeface="Arial" panose="020B0604020202020204" pitchFamily="34" charset="0"/>
              </a:rPr>
              <a:t>cophenetic</a:t>
            </a:r>
            <a:r>
              <a:rPr lang="en-CA" b="1" i="1" dirty="0">
                <a:latin typeface="Arial" panose="020B0604020202020204" pitchFamily="34" charset="0"/>
                <a:cs typeface="Arial" panose="020B0604020202020204" pitchFamily="34" charset="0"/>
              </a:rPr>
              <a:t> distance </a:t>
            </a:r>
            <a:r>
              <a:rPr lang="en-CA" dirty="0">
                <a:latin typeface="Arial" panose="020B0604020202020204" pitchFamily="34" charset="0"/>
                <a:cs typeface="Arial" panose="020B0604020202020204" pitchFamily="34" charset="0"/>
              </a:rPr>
              <a:t>between the two objects.</a:t>
            </a:r>
          </a:p>
        </p:txBody>
      </p:sp>
      <p:pic>
        <p:nvPicPr>
          <p:cNvPr id="5" name="Picture 4"/>
          <p:cNvPicPr>
            <a:picLocks noChangeAspect="1"/>
          </p:cNvPicPr>
          <p:nvPr/>
        </p:nvPicPr>
        <p:blipFill>
          <a:blip r:embed="rId2"/>
          <a:stretch>
            <a:fillRect/>
          </a:stretch>
        </p:blipFill>
        <p:spPr>
          <a:xfrm>
            <a:off x="7876903" y="5786845"/>
            <a:ext cx="4302034" cy="1097280"/>
          </a:xfrm>
          <a:prstGeom prst="rect">
            <a:avLst/>
          </a:prstGeom>
        </p:spPr>
      </p:pic>
    </p:spTree>
    <p:extLst>
      <p:ext uri="{BB962C8B-B14F-4D97-AF65-F5344CB8AC3E}">
        <p14:creationId xmlns:p14="http://schemas.microsoft.com/office/powerpoint/2010/main" val="413771438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2300" y="136525"/>
            <a:ext cx="10515600" cy="1325563"/>
          </a:xfrm>
        </p:spPr>
        <p:txBody>
          <a:bodyPr>
            <a:normAutofit/>
          </a:bodyPr>
          <a:lstStyle/>
          <a:p>
            <a:r>
              <a:rPr lang="en-CA" sz="4000" dirty="0" smtClean="0">
                <a:solidFill>
                  <a:schemeClr val="accent2"/>
                </a:solidFill>
                <a:latin typeface="Arial" panose="020B0604020202020204" pitchFamily="34" charset="0"/>
                <a:cs typeface="Arial" panose="020B0604020202020204" pitchFamily="34" charset="0"/>
              </a:rPr>
              <a:t>Dendrogram</a:t>
            </a:r>
            <a:endParaRPr lang="en-CA" sz="4000" dirty="0">
              <a:solidFill>
                <a:schemeClr val="accent2"/>
              </a:solidFill>
              <a:latin typeface="Arial" panose="020B0604020202020204" pitchFamily="34" charset="0"/>
              <a:cs typeface="Arial" panose="020B0604020202020204" pitchFamily="34" charset="0"/>
            </a:endParaRPr>
          </a:p>
        </p:txBody>
      </p:sp>
      <p:pic>
        <p:nvPicPr>
          <p:cNvPr id="4" name="Content Placeholder 3"/>
          <p:cNvPicPr>
            <a:picLocks noGrp="1" noChangeAspect="1"/>
          </p:cNvPicPr>
          <p:nvPr>
            <p:ph idx="1"/>
          </p:nvPr>
        </p:nvPicPr>
        <p:blipFill>
          <a:blip r:embed="rId2"/>
          <a:stretch>
            <a:fillRect/>
          </a:stretch>
        </p:blipFill>
        <p:spPr>
          <a:xfrm>
            <a:off x="1905000" y="1244599"/>
            <a:ext cx="8127999" cy="4636007"/>
          </a:xfrm>
          <a:prstGeom prst="rect">
            <a:avLst/>
          </a:prstGeom>
        </p:spPr>
      </p:pic>
      <p:pic>
        <p:nvPicPr>
          <p:cNvPr id="5" name="Picture 4"/>
          <p:cNvPicPr>
            <a:picLocks noChangeAspect="1"/>
          </p:cNvPicPr>
          <p:nvPr/>
        </p:nvPicPr>
        <p:blipFill>
          <a:blip r:embed="rId3"/>
          <a:stretch>
            <a:fillRect/>
          </a:stretch>
        </p:blipFill>
        <p:spPr>
          <a:xfrm>
            <a:off x="7876903" y="5786845"/>
            <a:ext cx="4302034" cy="1097280"/>
          </a:xfrm>
          <a:prstGeom prst="rect">
            <a:avLst/>
          </a:prstGeom>
        </p:spPr>
      </p:pic>
    </p:spTree>
    <p:extLst>
      <p:ext uri="{BB962C8B-B14F-4D97-AF65-F5344CB8AC3E}">
        <p14:creationId xmlns:p14="http://schemas.microsoft.com/office/powerpoint/2010/main" val="334964458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4000" dirty="0" smtClean="0">
                <a:solidFill>
                  <a:schemeClr val="accent2"/>
                </a:solidFill>
                <a:latin typeface="Arial" panose="020B0604020202020204" pitchFamily="34" charset="0"/>
                <a:cs typeface="Arial" panose="020B0604020202020204" pitchFamily="34" charset="0"/>
              </a:rPr>
              <a:t>Verify the cluster tree</a:t>
            </a:r>
            <a:endParaRPr lang="en-CA" sz="4000" dirty="0">
              <a:solidFill>
                <a:schemeClr val="accent2"/>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749300" y="1563098"/>
            <a:ext cx="10515600" cy="4223747"/>
          </a:xfrm>
        </p:spPr>
        <p:txBody>
          <a:bodyPr>
            <a:normAutofit/>
          </a:bodyPr>
          <a:lstStyle/>
          <a:p>
            <a:pPr>
              <a:lnSpc>
                <a:spcPct val="150000"/>
              </a:lnSpc>
            </a:pPr>
            <a:r>
              <a:rPr lang="en-CA" dirty="0">
                <a:latin typeface="Arial" panose="020B0604020202020204" pitchFamily="34" charset="0"/>
                <a:cs typeface="Arial" panose="020B0604020202020204" pitchFamily="34" charset="0"/>
              </a:rPr>
              <a:t>After linking the objects in a data set into a hierarchical cluster tree, you might </a:t>
            </a:r>
            <a:r>
              <a:rPr lang="en-CA" dirty="0" smtClean="0">
                <a:latin typeface="Arial" panose="020B0604020202020204" pitchFamily="34" charset="0"/>
                <a:cs typeface="Arial" panose="020B0604020202020204" pitchFamily="34" charset="0"/>
              </a:rPr>
              <a:t>want to </a:t>
            </a:r>
            <a:r>
              <a:rPr lang="en-CA" dirty="0">
                <a:latin typeface="Arial" panose="020B0604020202020204" pitchFamily="34" charset="0"/>
                <a:cs typeface="Arial" panose="020B0604020202020204" pitchFamily="34" charset="0"/>
              </a:rPr>
              <a:t>assess that the distances (i.e., heights) in the tree reflect the original </a:t>
            </a:r>
            <a:r>
              <a:rPr lang="en-CA" dirty="0" smtClean="0">
                <a:latin typeface="Arial" panose="020B0604020202020204" pitchFamily="34" charset="0"/>
                <a:cs typeface="Arial" panose="020B0604020202020204" pitchFamily="34" charset="0"/>
              </a:rPr>
              <a:t>distances accurately.</a:t>
            </a:r>
          </a:p>
          <a:p>
            <a:pPr>
              <a:lnSpc>
                <a:spcPct val="150000"/>
              </a:lnSpc>
            </a:pPr>
            <a:r>
              <a:rPr lang="en-CA" dirty="0" smtClean="0">
                <a:latin typeface="Arial" panose="020B0604020202020204" pitchFamily="34" charset="0"/>
                <a:cs typeface="Arial" panose="020B0604020202020204" pitchFamily="34" charset="0"/>
              </a:rPr>
              <a:t>One way to do this is to compute the correlation between the </a:t>
            </a:r>
            <a:r>
              <a:rPr lang="en-CA" i="1" dirty="0" err="1" smtClean="0">
                <a:latin typeface="Arial" panose="020B0604020202020204" pitchFamily="34" charset="0"/>
                <a:cs typeface="Arial" panose="020B0604020202020204" pitchFamily="34" charset="0"/>
              </a:rPr>
              <a:t>cophenetic</a:t>
            </a:r>
            <a:r>
              <a:rPr lang="en-CA" i="1" dirty="0" smtClean="0">
                <a:latin typeface="Arial" panose="020B0604020202020204" pitchFamily="34" charset="0"/>
                <a:cs typeface="Arial" panose="020B0604020202020204" pitchFamily="34" charset="0"/>
              </a:rPr>
              <a:t> distances </a:t>
            </a:r>
            <a:r>
              <a:rPr lang="en-CA" dirty="0" smtClean="0">
                <a:latin typeface="Arial" panose="020B0604020202020204" pitchFamily="34" charset="0"/>
                <a:cs typeface="Arial" panose="020B0604020202020204" pitchFamily="34" charset="0"/>
              </a:rPr>
              <a:t>and the distances in the distance matrix.</a:t>
            </a:r>
            <a:endParaRPr lang="en-CA" dirty="0">
              <a:latin typeface="Arial" panose="020B0604020202020204" pitchFamily="34" charset="0"/>
              <a:cs typeface="Arial" panose="020B0604020202020204" pitchFamily="34" charset="0"/>
            </a:endParaRPr>
          </a:p>
        </p:txBody>
      </p:sp>
      <p:pic>
        <p:nvPicPr>
          <p:cNvPr id="5" name="Picture 4"/>
          <p:cNvPicPr>
            <a:picLocks noChangeAspect="1"/>
          </p:cNvPicPr>
          <p:nvPr/>
        </p:nvPicPr>
        <p:blipFill>
          <a:blip r:embed="rId2"/>
          <a:stretch>
            <a:fillRect/>
          </a:stretch>
        </p:blipFill>
        <p:spPr>
          <a:xfrm>
            <a:off x="7876903" y="5786845"/>
            <a:ext cx="4302034" cy="1097280"/>
          </a:xfrm>
          <a:prstGeom prst="rect">
            <a:avLst/>
          </a:prstGeom>
        </p:spPr>
      </p:pic>
    </p:spTree>
    <p:extLst>
      <p:ext uri="{BB962C8B-B14F-4D97-AF65-F5344CB8AC3E}">
        <p14:creationId xmlns:p14="http://schemas.microsoft.com/office/powerpoint/2010/main" val="241981515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4000" dirty="0" smtClean="0">
                <a:solidFill>
                  <a:schemeClr val="accent2"/>
                </a:solidFill>
                <a:latin typeface="Arial" panose="020B0604020202020204" pitchFamily="34" charset="0"/>
                <a:cs typeface="Arial" panose="020B0604020202020204" pitchFamily="34" charset="0"/>
              </a:rPr>
              <a:t>Verify the cluster tree</a:t>
            </a:r>
            <a:endParaRPr lang="en-CA" sz="4000" dirty="0">
              <a:solidFill>
                <a:schemeClr val="accent2"/>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749300" y="1563098"/>
            <a:ext cx="10515600" cy="4223747"/>
          </a:xfrm>
        </p:spPr>
        <p:txBody>
          <a:bodyPr>
            <a:normAutofit/>
          </a:bodyPr>
          <a:lstStyle/>
          <a:p>
            <a:pPr>
              <a:lnSpc>
                <a:spcPct val="150000"/>
              </a:lnSpc>
            </a:pPr>
            <a:r>
              <a:rPr lang="en-CA" dirty="0">
                <a:latin typeface="Arial" panose="020B0604020202020204" pitchFamily="34" charset="0"/>
                <a:cs typeface="Arial" panose="020B0604020202020204" pitchFamily="34" charset="0"/>
              </a:rPr>
              <a:t>If the clustering is </a:t>
            </a:r>
            <a:r>
              <a:rPr lang="en-CA" dirty="0" smtClean="0">
                <a:latin typeface="Arial" panose="020B0604020202020204" pitchFamily="34" charset="0"/>
                <a:cs typeface="Arial" panose="020B0604020202020204" pitchFamily="34" charset="0"/>
              </a:rPr>
              <a:t>valid, the </a:t>
            </a:r>
            <a:r>
              <a:rPr lang="en-CA" dirty="0">
                <a:latin typeface="Arial" panose="020B0604020202020204" pitchFamily="34" charset="0"/>
                <a:cs typeface="Arial" panose="020B0604020202020204" pitchFamily="34" charset="0"/>
              </a:rPr>
              <a:t>linking of objects in the cluster tree should have a strong correlation with </a:t>
            </a:r>
            <a:r>
              <a:rPr lang="en-CA" dirty="0" smtClean="0">
                <a:latin typeface="Arial" panose="020B0604020202020204" pitchFamily="34" charset="0"/>
                <a:cs typeface="Arial" panose="020B0604020202020204" pitchFamily="34" charset="0"/>
              </a:rPr>
              <a:t>the distances </a:t>
            </a:r>
            <a:r>
              <a:rPr lang="en-CA" dirty="0">
                <a:latin typeface="Arial" panose="020B0604020202020204" pitchFamily="34" charset="0"/>
                <a:cs typeface="Arial" panose="020B0604020202020204" pitchFamily="34" charset="0"/>
              </a:rPr>
              <a:t>between objects in the original distance matrix</a:t>
            </a:r>
            <a:r>
              <a:rPr lang="en-CA" dirty="0" smtClean="0">
                <a:latin typeface="Arial" panose="020B0604020202020204" pitchFamily="34" charset="0"/>
                <a:cs typeface="Arial" panose="020B0604020202020204" pitchFamily="34" charset="0"/>
              </a:rPr>
              <a:t>.</a:t>
            </a:r>
          </a:p>
          <a:p>
            <a:pPr>
              <a:lnSpc>
                <a:spcPct val="150000"/>
              </a:lnSpc>
            </a:pPr>
            <a:r>
              <a:rPr lang="en-CA" dirty="0">
                <a:latin typeface="Arial" panose="020B0604020202020204" pitchFamily="34" charset="0"/>
                <a:cs typeface="Arial" panose="020B0604020202020204" pitchFamily="34" charset="0"/>
              </a:rPr>
              <a:t>The closer the value of the correlation coefficient is to 1, the more accurately </a:t>
            </a:r>
            <a:r>
              <a:rPr lang="en-CA" dirty="0" smtClean="0">
                <a:latin typeface="Arial" panose="020B0604020202020204" pitchFamily="34" charset="0"/>
                <a:cs typeface="Arial" panose="020B0604020202020204" pitchFamily="34" charset="0"/>
              </a:rPr>
              <a:t>the clustering </a:t>
            </a:r>
            <a:r>
              <a:rPr lang="en-CA" dirty="0">
                <a:latin typeface="Arial" panose="020B0604020202020204" pitchFamily="34" charset="0"/>
                <a:cs typeface="Arial" panose="020B0604020202020204" pitchFamily="34" charset="0"/>
              </a:rPr>
              <a:t>solution reflects your data. Values above 0.75 are felt to be good</a:t>
            </a:r>
            <a:r>
              <a:rPr lang="en-CA" dirty="0" smtClean="0">
                <a:latin typeface="Arial" panose="020B0604020202020204" pitchFamily="34" charset="0"/>
                <a:cs typeface="Arial" panose="020B0604020202020204" pitchFamily="34" charset="0"/>
              </a:rPr>
              <a:t>.</a:t>
            </a:r>
            <a:endParaRPr lang="en-CA" dirty="0">
              <a:latin typeface="Arial" panose="020B0604020202020204" pitchFamily="34" charset="0"/>
              <a:cs typeface="Arial" panose="020B0604020202020204" pitchFamily="34" charset="0"/>
            </a:endParaRPr>
          </a:p>
        </p:txBody>
      </p:sp>
      <p:pic>
        <p:nvPicPr>
          <p:cNvPr id="5" name="Picture 4"/>
          <p:cNvPicPr>
            <a:picLocks noChangeAspect="1"/>
          </p:cNvPicPr>
          <p:nvPr/>
        </p:nvPicPr>
        <p:blipFill>
          <a:blip r:embed="rId2"/>
          <a:stretch>
            <a:fillRect/>
          </a:stretch>
        </p:blipFill>
        <p:spPr>
          <a:xfrm>
            <a:off x="7876903" y="5786845"/>
            <a:ext cx="4302034" cy="1097280"/>
          </a:xfrm>
          <a:prstGeom prst="rect">
            <a:avLst/>
          </a:prstGeom>
        </p:spPr>
      </p:pic>
    </p:spTree>
    <p:extLst>
      <p:ext uri="{BB962C8B-B14F-4D97-AF65-F5344CB8AC3E}">
        <p14:creationId xmlns:p14="http://schemas.microsoft.com/office/powerpoint/2010/main" val="218912122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4000" dirty="0" smtClean="0">
                <a:solidFill>
                  <a:schemeClr val="accent2"/>
                </a:solidFill>
                <a:latin typeface="Arial" panose="020B0604020202020204" pitchFamily="34" charset="0"/>
                <a:cs typeface="Arial" panose="020B0604020202020204" pitchFamily="34" charset="0"/>
              </a:rPr>
              <a:t>Cut the dendrogram into different groups</a:t>
            </a:r>
            <a:endParaRPr lang="en-CA" sz="4000" dirty="0">
              <a:solidFill>
                <a:schemeClr val="accent2"/>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736237" y="1563098"/>
            <a:ext cx="10515600" cy="4223747"/>
          </a:xfrm>
        </p:spPr>
        <p:txBody>
          <a:bodyPr>
            <a:normAutofit/>
          </a:bodyPr>
          <a:lstStyle/>
          <a:p>
            <a:pPr>
              <a:lnSpc>
                <a:spcPct val="150000"/>
              </a:lnSpc>
            </a:pPr>
            <a:r>
              <a:rPr lang="en-CA" dirty="0">
                <a:latin typeface="Arial" panose="020B0604020202020204" pitchFamily="34" charset="0"/>
                <a:cs typeface="Arial" panose="020B0604020202020204" pitchFamily="34" charset="0"/>
              </a:rPr>
              <a:t>One of the problems with hierarchical clustering is that, it does not tell us how </a:t>
            </a:r>
            <a:r>
              <a:rPr lang="en-CA" dirty="0" smtClean="0">
                <a:latin typeface="Arial" panose="020B0604020202020204" pitchFamily="34" charset="0"/>
                <a:cs typeface="Arial" panose="020B0604020202020204" pitchFamily="34" charset="0"/>
              </a:rPr>
              <a:t>many clusters </a:t>
            </a:r>
            <a:r>
              <a:rPr lang="en-CA" dirty="0">
                <a:latin typeface="Arial" panose="020B0604020202020204" pitchFamily="34" charset="0"/>
                <a:cs typeface="Arial" panose="020B0604020202020204" pitchFamily="34" charset="0"/>
              </a:rPr>
              <a:t>there are, or where to cut the dendrogram to form clusters</a:t>
            </a:r>
            <a:r>
              <a:rPr lang="en-CA" dirty="0" smtClean="0">
                <a:latin typeface="Arial" panose="020B0604020202020204" pitchFamily="34" charset="0"/>
                <a:cs typeface="Arial" panose="020B0604020202020204" pitchFamily="34" charset="0"/>
              </a:rPr>
              <a:t>.</a:t>
            </a:r>
          </a:p>
          <a:p>
            <a:pPr>
              <a:lnSpc>
                <a:spcPct val="150000"/>
              </a:lnSpc>
            </a:pPr>
            <a:r>
              <a:rPr lang="en-CA" dirty="0">
                <a:latin typeface="Arial" panose="020B0604020202020204" pitchFamily="34" charset="0"/>
                <a:cs typeface="Arial" panose="020B0604020202020204" pitchFamily="34" charset="0"/>
              </a:rPr>
              <a:t>You can cut the hierarchical tree at a given height in order to partition your </a:t>
            </a:r>
            <a:r>
              <a:rPr lang="en-CA" dirty="0" smtClean="0">
                <a:latin typeface="Arial" panose="020B0604020202020204" pitchFamily="34" charset="0"/>
                <a:cs typeface="Arial" panose="020B0604020202020204" pitchFamily="34" charset="0"/>
              </a:rPr>
              <a:t>data into </a:t>
            </a:r>
            <a:r>
              <a:rPr lang="en-CA" dirty="0">
                <a:latin typeface="Arial" panose="020B0604020202020204" pitchFamily="34" charset="0"/>
                <a:cs typeface="Arial" panose="020B0604020202020204" pitchFamily="34" charset="0"/>
              </a:rPr>
              <a:t>clusters.</a:t>
            </a:r>
          </a:p>
        </p:txBody>
      </p:sp>
      <p:pic>
        <p:nvPicPr>
          <p:cNvPr id="5" name="Picture 4"/>
          <p:cNvPicPr>
            <a:picLocks noChangeAspect="1"/>
          </p:cNvPicPr>
          <p:nvPr/>
        </p:nvPicPr>
        <p:blipFill>
          <a:blip r:embed="rId2"/>
          <a:stretch>
            <a:fillRect/>
          </a:stretch>
        </p:blipFill>
        <p:spPr>
          <a:xfrm>
            <a:off x="7876903" y="5786845"/>
            <a:ext cx="4302034" cy="1097280"/>
          </a:xfrm>
          <a:prstGeom prst="rect">
            <a:avLst/>
          </a:prstGeom>
        </p:spPr>
      </p:pic>
    </p:spTree>
    <p:extLst>
      <p:ext uri="{BB962C8B-B14F-4D97-AF65-F5344CB8AC3E}">
        <p14:creationId xmlns:p14="http://schemas.microsoft.com/office/powerpoint/2010/main" val="190750274"/>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4000" dirty="0" smtClean="0">
                <a:solidFill>
                  <a:schemeClr val="accent2"/>
                </a:solidFill>
                <a:latin typeface="Arial" panose="020B0604020202020204" pitchFamily="34" charset="0"/>
                <a:cs typeface="Arial" panose="020B0604020202020204" pitchFamily="34" charset="0"/>
              </a:rPr>
              <a:t>Cut the dendrogram into different groups</a:t>
            </a:r>
            <a:endParaRPr lang="en-CA" sz="4000" dirty="0">
              <a:solidFill>
                <a:schemeClr val="accent2"/>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736237" y="1563098"/>
            <a:ext cx="10515600" cy="4223747"/>
          </a:xfrm>
        </p:spPr>
        <p:txBody>
          <a:bodyPr>
            <a:normAutofit/>
          </a:bodyPr>
          <a:lstStyle/>
          <a:p>
            <a:pPr>
              <a:lnSpc>
                <a:spcPct val="150000"/>
              </a:lnSpc>
            </a:pPr>
            <a:r>
              <a:rPr lang="en-CA" dirty="0">
                <a:latin typeface="Arial" panose="020B0604020202020204" pitchFamily="34" charset="0"/>
                <a:cs typeface="Arial" panose="020B0604020202020204" pitchFamily="34" charset="0"/>
              </a:rPr>
              <a:t>One of the problems with hierarchical clustering is that, it does not tell us how </a:t>
            </a:r>
            <a:r>
              <a:rPr lang="en-CA" dirty="0" smtClean="0">
                <a:latin typeface="Arial" panose="020B0604020202020204" pitchFamily="34" charset="0"/>
                <a:cs typeface="Arial" panose="020B0604020202020204" pitchFamily="34" charset="0"/>
              </a:rPr>
              <a:t>many clusters </a:t>
            </a:r>
            <a:r>
              <a:rPr lang="en-CA" dirty="0">
                <a:latin typeface="Arial" panose="020B0604020202020204" pitchFamily="34" charset="0"/>
                <a:cs typeface="Arial" panose="020B0604020202020204" pitchFamily="34" charset="0"/>
              </a:rPr>
              <a:t>there are, or where to cut the dendrogram to form clusters</a:t>
            </a:r>
            <a:r>
              <a:rPr lang="en-CA" dirty="0" smtClean="0">
                <a:latin typeface="Arial" panose="020B0604020202020204" pitchFamily="34" charset="0"/>
                <a:cs typeface="Arial" panose="020B0604020202020204" pitchFamily="34" charset="0"/>
              </a:rPr>
              <a:t>.</a:t>
            </a:r>
          </a:p>
          <a:p>
            <a:pPr>
              <a:lnSpc>
                <a:spcPct val="150000"/>
              </a:lnSpc>
            </a:pPr>
            <a:r>
              <a:rPr lang="en-CA" dirty="0">
                <a:latin typeface="Arial" panose="020B0604020202020204" pitchFamily="34" charset="0"/>
                <a:cs typeface="Arial" panose="020B0604020202020204" pitchFamily="34" charset="0"/>
              </a:rPr>
              <a:t>You can cut the hierarchical tree at a given height in order to partition your </a:t>
            </a:r>
            <a:r>
              <a:rPr lang="en-CA" dirty="0" smtClean="0">
                <a:latin typeface="Arial" panose="020B0604020202020204" pitchFamily="34" charset="0"/>
                <a:cs typeface="Arial" panose="020B0604020202020204" pitchFamily="34" charset="0"/>
              </a:rPr>
              <a:t>data into </a:t>
            </a:r>
            <a:r>
              <a:rPr lang="en-CA" dirty="0">
                <a:latin typeface="Arial" panose="020B0604020202020204" pitchFamily="34" charset="0"/>
                <a:cs typeface="Arial" panose="020B0604020202020204" pitchFamily="34" charset="0"/>
              </a:rPr>
              <a:t>clusters.</a:t>
            </a:r>
          </a:p>
        </p:txBody>
      </p:sp>
      <p:pic>
        <p:nvPicPr>
          <p:cNvPr id="5" name="Picture 4"/>
          <p:cNvPicPr>
            <a:picLocks noChangeAspect="1"/>
          </p:cNvPicPr>
          <p:nvPr/>
        </p:nvPicPr>
        <p:blipFill>
          <a:blip r:embed="rId2"/>
          <a:stretch>
            <a:fillRect/>
          </a:stretch>
        </p:blipFill>
        <p:spPr>
          <a:xfrm>
            <a:off x="7876903" y="5786845"/>
            <a:ext cx="4302034" cy="1097280"/>
          </a:xfrm>
          <a:prstGeom prst="rect">
            <a:avLst/>
          </a:prstGeom>
        </p:spPr>
      </p:pic>
    </p:spTree>
    <p:extLst>
      <p:ext uri="{BB962C8B-B14F-4D97-AF65-F5344CB8AC3E}">
        <p14:creationId xmlns:p14="http://schemas.microsoft.com/office/powerpoint/2010/main" val="139246260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4000" dirty="0" smtClean="0">
                <a:solidFill>
                  <a:schemeClr val="accent2"/>
                </a:solidFill>
                <a:latin typeface="Arial" panose="020B0604020202020204" pitchFamily="34" charset="0"/>
                <a:cs typeface="Arial" panose="020B0604020202020204" pitchFamily="34" charset="0"/>
              </a:rPr>
              <a:t>Agglomerative Clustering in R</a:t>
            </a:r>
            <a:endParaRPr lang="en-CA" sz="4000" dirty="0">
              <a:solidFill>
                <a:schemeClr val="accent2"/>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736237" y="1563098"/>
            <a:ext cx="10515600" cy="4223747"/>
          </a:xfrm>
        </p:spPr>
        <p:txBody>
          <a:bodyPr>
            <a:normAutofit/>
          </a:bodyPr>
          <a:lstStyle/>
          <a:p>
            <a:pPr>
              <a:lnSpc>
                <a:spcPct val="150000"/>
              </a:lnSpc>
            </a:pPr>
            <a:r>
              <a:rPr lang="en-CA" dirty="0">
                <a:latin typeface="Arial" panose="020B0604020202020204" pitchFamily="34" charset="0"/>
                <a:cs typeface="Arial" panose="020B0604020202020204" pitchFamily="34" charset="0"/>
              </a:rPr>
              <a:t>To perform hierarchical cluster analysis in R, the first step is to calculate the pairwise distance matrix using the function </a:t>
            </a:r>
            <a:r>
              <a:rPr lang="en-CA" i="1" dirty="0" err="1">
                <a:latin typeface="Arial" panose="020B0604020202020204" pitchFamily="34" charset="0"/>
                <a:cs typeface="Arial" panose="020B0604020202020204" pitchFamily="34" charset="0"/>
              </a:rPr>
              <a:t>dist</a:t>
            </a:r>
            <a:r>
              <a:rPr lang="en-CA" dirty="0">
                <a:latin typeface="Arial" panose="020B0604020202020204" pitchFamily="34" charset="0"/>
                <a:cs typeface="Arial" panose="020B0604020202020204" pitchFamily="34" charset="0"/>
              </a:rPr>
              <a:t>(). Next, the result of this computation is used by the </a:t>
            </a:r>
            <a:r>
              <a:rPr lang="en-CA" i="1" dirty="0" err="1">
                <a:latin typeface="Arial" panose="020B0604020202020204" pitchFamily="34" charset="0"/>
                <a:cs typeface="Arial" panose="020B0604020202020204" pitchFamily="34" charset="0"/>
              </a:rPr>
              <a:t>hclust</a:t>
            </a:r>
            <a:r>
              <a:rPr lang="en-CA" dirty="0">
                <a:latin typeface="Arial" panose="020B0604020202020204" pitchFamily="34" charset="0"/>
                <a:cs typeface="Arial" panose="020B0604020202020204" pitchFamily="34" charset="0"/>
              </a:rPr>
              <a:t>() function to produce the hierarchical tree. </a:t>
            </a:r>
          </a:p>
          <a:p>
            <a:pPr>
              <a:lnSpc>
                <a:spcPct val="150000"/>
              </a:lnSpc>
            </a:pPr>
            <a:r>
              <a:rPr lang="en-CA" dirty="0" smtClean="0">
                <a:latin typeface="Arial" panose="020B0604020202020204" pitchFamily="34" charset="0"/>
                <a:cs typeface="Arial" panose="020B0604020202020204" pitchFamily="34" charset="0"/>
              </a:rPr>
              <a:t>You can </a:t>
            </a:r>
            <a:r>
              <a:rPr lang="en-CA" dirty="0">
                <a:latin typeface="Arial" panose="020B0604020202020204" pitchFamily="34" charset="0"/>
                <a:cs typeface="Arial" panose="020B0604020202020204" pitchFamily="34" charset="0"/>
              </a:rPr>
              <a:t>use the function </a:t>
            </a:r>
            <a:r>
              <a:rPr lang="en-CA" i="1" dirty="0" err="1">
                <a:latin typeface="Arial" panose="020B0604020202020204" pitchFamily="34" charset="0"/>
                <a:cs typeface="Arial" panose="020B0604020202020204" pitchFamily="34" charset="0"/>
              </a:rPr>
              <a:t>fviz_dend</a:t>
            </a:r>
            <a:r>
              <a:rPr lang="en-CA" dirty="0">
                <a:latin typeface="Arial" panose="020B0604020202020204" pitchFamily="34" charset="0"/>
                <a:cs typeface="Arial" panose="020B0604020202020204" pitchFamily="34" charset="0"/>
              </a:rPr>
              <a:t>() [in </a:t>
            </a:r>
            <a:r>
              <a:rPr lang="en-CA" dirty="0" err="1">
                <a:latin typeface="Arial" panose="020B0604020202020204" pitchFamily="34" charset="0"/>
                <a:cs typeface="Arial" panose="020B0604020202020204" pitchFamily="34" charset="0"/>
              </a:rPr>
              <a:t>factoextra</a:t>
            </a:r>
            <a:r>
              <a:rPr lang="en-CA" dirty="0">
                <a:latin typeface="Arial" panose="020B0604020202020204" pitchFamily="34" charset="0"/>
                <a:cs typeface="Arial" panose="020B0604020202020204" pitchFamily="34" charset="0"/>
              </a:rPr>
              <a:t> R package] to plot easily a beautiful dendrogram.</a:t>
            </a:r>
          </a:p>
        </p:txBody>
      </p:sp>
      <p:pic>
        <p:nvPicPr>
          <p:cNvPr id="5" name="Picture 4"/>
          <p:cNvPicPr>
            <a:picLocks noChangeAspect="1"/>
          </p:cNvPicPr>
          <p:nvPr/>
        </p:nvPicPr>
        <p:blipFill>
          <a:blip r:embed="rId2"/>
          <a:stretch>
            <a:fillRect/>
          </a:stretch>
        </p:blipFill>
        <p:spPr>
          <a:xfrm>
            <a:off x="7876903" y="5786845"/>
            <a:ext cx="4302034" cy="1097280"/>
          </a:xfrm>
          <a:prstGeom prst="rect">
            <a:avLst/>
          </a:prstGeom>
        </p:spPr>
      </p:pic>
    </p:spTree>
    <p:extLst>
      <p:ext uri="{BB962C8B-B14F-4D97-AF65-F5344CB8AC3E}">
        <p14:creationId xmlns:p14="http://schemas.microsoft.com/office/powerpoint/2010/main" val="52817489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4000" dirty="0" smtClean="0">
                <a:solidFill>
                  <a:schemeClr val="accent2"/>
                </a:solidFill>
                <a:latin typeface="Arial" panose="020B0604020202020204" pitchFamily="34" charset="0"/>
                <a:cs typeface="Arial" panose="020B0604020202020204" pitchFamily="34" charset="0"/>
              </a:rPr>
              <a:t>Agglomerative Clustering in R</a:t>
            </a:r>
            <a:endParaRPr lang="en-CA" sz="4000" dirty="0">
              <a:solidFill>
                <a:schemeClr val="accent2"/>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736237" y="1563098"/>
            <a:ext cx="10515600" cy="4223747"/>
          </a:xfrm>
        </p:spPr>
        <p:txBody>
          <a:bodyPr>
            <a:normAutofit/>
          </a:bodyPr>
          <a:lstStyle/>
          <a:p>
            <a:pPr>
              <a:lnSpc>
                <a:spcPct val="150000"/>
              </a:lnSpc>
            </a:pPr>
            <a:r>
              <a:rPr lang="en-CA" dirty="0" smtClean="0">
                <a:latin typeface="Arial" panose="020B0604020202020204" pitchFamily="34" charset="0"/>
                <a:cs typeface="Arial" panose="020B0604020202020204" pitchFamily="34" charset="0"/>
              </a:rPr>
              <a:t>The </a:t>
            </a:r>
            <a:r>
              <a:rPr lang="en-CA" i="1" dirty="0" err="1" smtClean="0">
                <a:latin typeface="Arial" panose="020B0604020202020204" pitchFamily="34" charset="0"/>
                <a:cs typeface="Arial" panose="020B0604020202020204" pitchFamily="34" charset="0"/>
              </a:rPr>
              <a:t>cophenetic</a:t>
            </a:r>
            <a:r>
              <a:rPr lang="en-CA" i="1" dirty="0" smtClean="0">
                <a:latin typeface="Arial" panose="020B0604020202020204" pitchFamily="34" charset="0"/>
                <a:cs typeface="Arial" panose="020B0604020202020204" pitchFamily="34" charset="0"/>
              </a:rPr>
              <a:t>()</a:t>
            </a:r>
            <a:r>
              <a:rPr lang="en-CA" dirty="0" smtClean="0">
                <a:latin typeface="Arial" panose="020B0604020202020204" pitchFamily="34" charset="0"/>
                <a:cs typeface="Arial" panose="020B0604020202020204" pitchFamily="34" charset="0"/>
              </a:rPr>
              <a:t> function in R is used to compute the </a:t>
            </a:r>
            <a:r>
              <a:rPr lang="en-CA" dirty="0" err="1" smtClean="0">
                <a:latin typeface="Arial" panose="020B0604020202020204" pitchFamily="34" charset="0"/>
                <a:cs typeface="Arial" panose="020B0604020202020204" pitchFamily="34" charset="0"/>
              </a:rPr>
              <a:t>cophenetic</a:t>
            </a:r>
            <a:r>
              <a:rPr lang="en-CA" dirty="0" smtClean="0">
                <a:latin typeface="Arial" panose="020B0604020202020204" pitchFamily="34" charset="0"/>
                <a:cs typeface="Arial" panose="020B0604020202020204" pitchFamily="34" charset="0"/>
              </a:rPr>
              <a:t> distances.</a:t>
            </a:r>
            <a:endParaRPr lang="en-CA" dirty="0">
              <a:latin typeface="Arial" panose="020B0604020202020204" pitchFamily="34" charset="0"/>
              <a:cs typeface="Arial" panose="020B0604020202020204" pitchFamily="34" charset="0"/>
            </a:endParaRPr>
          </a:p>
          <a:p>
            <a:pPr>
              <a:lnSpc>
                <a:spcPct val="150000"/>
              </a:lnSpc>
            </a:pPr>
            <a:r>
              <a:rPr lang="en-CA" dirty="0" smtClean="0">
                <a:latin typeface="Arial" panose="020B0604020202020204" pitchFamily="34" charset="0"/>
                <a:cs typeface="Arial" panose="020B0604020202020204" pitchFamily="34" charset="0"/>
              </a:rPr>
              <a:t>The </a:t>
            </a:r>
            <a:r>
              <a:rPr lang="en-CA" i="1" dirty="0" err="1" smtClean="0">
                <a:latin typeface="Arial" panose="020B0604020202020204" pitchFamily="34" charset="0"/>
                <a:cs typeface="Arial" panose="020B0604020202020204" pitchFamily="34" charset="0"/>
              </a:rPr>
              <a:t>agnes</a:t>
            </a:r>
            <a:r>
              <a:rPr lang="en-CA" i="1" dirty="0" smtClean="0">
                <a:latin typeface="Arial" panose="020B0604020202020204" pitchFamily="34" charset="0"/>
                <a:cs typeface="Arial" panose="020B0604020202020204" pitchFamily="34" charset="0"/>
              </a:rPr>
              <a:t>() </a:t>
            </a:r>
            <a:r>
              <a:rPr lang="en-CA" dirty="0" smtClean="0">
                <a:latin typeface="Arial" panose="020B0604020202020204" pitchFamily="34" charset="0"/>
                <a:cs typeface="Arial" panose="020B0604020202020204" pitchFamily="34" charset="0"/>
              </a:rPr>
              <a:t>and </a:t>
            </a:r>
            <a:r>
              <a:rPr lang="en-CA" i="1" dirty="0" err="1" smtClean="0">
                <a:latin typeface="Arial" panose="020B0604020202020204" pitchFamily="34" charset="0"/>
                <a:cs typeface="Arial" panose="020B0604020202020204" pitchFamily="34" charset="0"/>
              </a:rPr>
              <a:t>diana</a:t>
            </a:r>
            <a:r>
              <a:rPr lang="en-CA" i="1" dirty="0" smtClean="0">
                <a:latin typeface="Arial" panose="020B0604020202020204" pitchFamily="34" charset="0"/>
                <a:cs typeface="Arial" panose="020B0604020202020204" pitchFamily="34" charset="0"/>
              </a:rPr>
              <a:t>() </a:t>
            </a:r>
            <a:r>
              <a:rPr lang="en-CA" dirty="0" smtClean="0">
                <a:latin typeface="Arial" panose="020B0604020202020204" pitchFamily="34" charset="0"/>
                <a:cs typeface="Arial" panose="020B0604020202020204" pitchFamily="34" charset="0"/>
              </a:rPr>
              <a:t>functions [in cluster package] can be used for the agglomerative and divisive clustering, respectively.</a:t>
            </a:r>
            <a:endParaRPr lang="en-CA" dirty="0">
              <a:latin typeface="Arial" panose="020B0604020202020204" pitchFamily="34" charset="0"/>
              <a:cs typeface="Arial" panose="020B0604020202020204" pitchFamily="34" charset="0"/>
            </a:endParaRPr>
          </a:p>
        </p:txBody>
      </p:sp>
      <p:pic>
        <p:nvPicPr>
          <p:cNvPr id="5" name="Picture 4"/>
          <p:cNvPicPr>
            <a:picLocks noChangeAspect="1"/>
          </p:cNvPicPr>
          <p:nvPr/>
        </p:nvPicPr>
        <p:blipFill>
          <a:blip r:embed="rId2"/>
          <a:stretch>
            <a:fillRect/>
          </a:stretch>
        </p:blipFill>
        <p:spPr>
          <a:xfrm>
            <a:off x="7876903" y="5786845"/>
            <a:ext cx="4302034" cy="1097280"/>
          </a:xfrm>
          <a:prstGeom prst="rect">
            <a:avLst/>
          </a:prstGeom>
        </p:spPr>
      </p:pic>
    </p:spTree>
    <p:extLst>
      <p:ext uri="{BB962C8B-B14F-4D97-AF65-F5344CB8AC3E}">
        <p14:creationId xmlns:p14="http://schemas.microsoft.com/office/powerpoint/2010/main" val="253559954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4000" dirty="0" smtClean="0">
                <a:solidFill>
                  <a:schemeClr val="accent2"/>
                </a:solidFill>
                <a:latin typeface="Arial" panose="020B0604020202020204" pitchFamily="34" charset="0"/>
                <a:cs typeface="Arial" panose="020B0604020202020204" pitchFamily="34" charset="0"/>
              </a:rPr>
              <a:t>Application of hierarchical clustering to gene expression data analysis.</a:t>
            </a:r>
            <a:endParaRPr lang="en-CA" sz="4000" dirty="0">
              <a:solidFill>
                <a:schemeClr val="accent2"/>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351338"/>
          </a:xfrm>
        </p:spPr>
        <p:txBody>
          <a:bodyPr>
            <a:normAutofit fontScale="85000" lnSpcReduction="20000"/>
          </a:bodyPr>
          <a:lstStyle/>
          <a:p>
            <a:pPr>
              <a:lnSpc>
                <a:spcPct val="150000"/>
              </a:lnSpc>
            </a:pPr>
            <a:r>
              <a:rPr lang="en-CA" dirty="0">
                <a:latin typeface="Arial" panose="020B0604020202020204" pitchFamily="34" charset="0"/>
                <a:cs typeface="Arial" panose="020B0604020202020204" pitchFamily="34" charset="0"/>
              </a:rPr>
              <a:t>In </a:t>
            </a:r>
            <a:r>
              <a:rPr lang="en-CA" i="1" dirty="0">
                <a:latin typeface="Arial" panose="020B0604020202020204" pitchFamily="34" charset="0"/>
                <a:cs typeface="Arial" panose="020B0604020202020204" pitchFamily="34" charset="0"/>
              </a:rPr>
              <a:t>gene expression data analysis</a:t>
            </a:r>
            <a:r>
              <a:rPr lang="en-CA" dirty="0">
                <a:latin typeface="Arial" panose="020B0604020202020204" pitchFamily="34" charset="0"/>
                <a:cs typeface="Arial" panose="020B0604020202020204" pitchFamily="34" charset="0"/>
              </a:rPr>
              <a:t>, </a:t>
            </a:r>
            <a:r>
              <a:rPr lang="en-CA" i="1" dirty="0">
                <a:latin typeface="Arial" panose="020B0604020202020204" pitchFamily="34" charset="0"/>
                <a:cs typeface="Arial" panose="020B0604020202020204" pitchFamily="34" charset="0"/>
              </a:rPr>
              <a:t>clustering </a:t>
            </a:r>
            <a:r>
              <a:rPr lang="en-CA" dirty="0">
                <a:latin typeface="Arial" panose="020B0604020202020204" pitchFamily="34" charset="0"/>
                <a:cs typeface="Arial" panose="020B0604020202020204" pitchFamily="34" charset="0"/>
              </a:rPr>
              <a:t>is </a:t>
            </a:r>
            <a:r>
              <a:rPr lang="en-CA" dirty="0" smtClean="0">
                <a:latin typeface="Arial" panose="020B0604020202020204" pitchFamily="34" charset="0"/>
                <a:cs typeface="Arial" panose="020B0604020202020204" pitchFamily="34" charset="0"/>
              </a:rPr>
              <a:t>generally </a:t>
            </a:r>
            <a:r>
              <a:rPr lang="en-CA" dirty="0">
                <a:latin typeface="Arial" panose="020B0604020202020204" pitchFamily="34" charset="0"/>
                <a:cs typeface="Arial" panose="020B0604020202020204" pitchFamily="34" charset="0"/>
              </a:rPr>
              <a:t>used as one of the first step </a:t>
            </a:r>
            <a:r>
              <a:rPr lang="en-CA" dirty="0" smtClean="0">
                <a:latin typeface="Arial" panose="020B0604020202020204" pitchFamily="34" charset="0"/>
                <a:cs typeface="Arial" panose="020B0604020202020204" pitchFamily="34" charset="0"/>
              </a:rPr>
              <a:t>to explore </a:t>
            </a:r>
            <a:r>
              <a:rPr lang="en-CA" dirty="0">
                <a:latin typeface="Arial" panose="020B0604020202020204" pitchFamily="34" charset="0"/>
                <a:cs typeface="Arial" panose="020B0604020202020204" pitchFamily="34" charset="0"/>
              </a:rPr>
              <a:t>the data. We are interested in whether there are groups of genes or groups </a:t>
            </a:r>
            <a:r>
              <a:rPr lang="en-CA" dirty="0" smtClean="0">
                <a:latin typeface="Arial" panose="020B0604020202020204" pitchFamily="34" charset="0"/>
                <a:cs typeface="Arial" panose="020B0604020202020204" pitchFamily="34" charset="0"/>
              </a:rPr>
              <a:t>of samples </a:t>
            </a:r>
            <a:r>
              <a:rPr lang="en-CA" dirty="0">
                <a:latin typeface="Arial" panose="020B0604020202020204" pitchFamily="34" charset="0"/>
                <a:cs typeface="Arial" panose="020B0604020202020204" pitchFamily="34" charset="0"/>
              </a:rPr>
              <a:t>that have similar gene expression patterns.</a:t>
            </a:r>
          </a:p>
          <a:p>
            <a:pPr>
              <a:lnSpc>
                <a:spcPct val="160000"/>
              </a:lnSpc>
            </a:pPr>
            <a:r>
              <a:rPr lang="en-CA" dirty="0">
                <a:latin typeface="Arial" panose="020B0604020202020204" pitchFamily="34" charset="0"/>
                <a:cs typeface="Arial" panose="020B0604020202020204" pitchFamily="34" charset="0"/>
              </a:rPr>
              <a:t>For most common clustering </a:t>
            </a:r>
            <a:r>
              <a:rPr lang="en-CA" dirty="0" smtClean="0">
                <a:latin typeface="Arial" panose="020B0604020202020204" pitchFamily="34" charset="0"/>
                <a:cs typeface="Arial" panose="020B0604020202020204" pitchFamily="34" charset="0"/>
              </a:rPr>
              <a:t>software, </a:t>
            </a:r>
            <a:r>
              <a:rPr lang="en-CA" dirty="0">
                <a:latin typeface="Arial" panose="020B0604020202020204" pitchFamily="34" charset="0"/>
                <a:cs typeface="Arial" panose="020B0604020202020204" pitchFamily="34" charset="0"/>
              </a:rPr>
              <a:t>the default distance measure is the </a:t>
            </a:r>
            <a:r>
              <a:rPr lang="en-CA" dirty="0" smtClean="0">
                <a:latin typeface="Arial" panose="020B0604020202020204" pitchFamily="34" charset="0"/>
                <a:cs typeface="Arial" panose="020B0604020202020204" pitchFamily="34" charset="0"/>
              </a:rPr>
              <a:t>Euclidean distance</a:t>
            </a:r>
            <a:r>
              <a:rPr lang="en-CA" dirty="0">
                <a:latin typeface="Arial" panose="020B0604020202020204" pitchFamily="34" charset="0"/>
                <a:cs typeface="Arial" panose="020B0604020202020204" pitchFamily="34" charset="0"/>
              </a:rPr>
              <a:t>. The most popular methods for gene expression data are to use </a:t>
            </a:r>
            <a:r>
              <a:rPr lang="en-CA" dirty="0" smtClean="0">
                <a:latin typeface="Arial" panose="020B0604020202020204" pitchFamily="34" charset="0"/>
                <a:cs typeface="Arial" panose="020B0604020202020204" pitchFamily="34" charset="0"/>
              </a:rPr>
              <a:t>log2 (expression+ </a:t>
            </a:r>
            <a:r>
              <a:rPr lang="en-CA" dirty="0">
                <a:latin typeface="Arial" panose="020B0604020202020204" pitchFamily="34" charset="0"/>
                <a:cs typeface="Arial" panose="020B0604020202020204" pitchFamily="34" charset="0"/>
              </a:rPr>
              <a:t>0.25), correlation distance and complete linkage clustering agglomerative-clustering.</a:t>
            </a:r>
            <a:endParaRPr lang="en-CA" i="1" dirty="0">
              <a:latin typeface="Arial" panose="020B0604020202020204" pitchFamily="34" charset="0"/>
              <a:cs typeface="Arial" panose="020B0604020202020204" pitchFamily="34" charset="0"/>
            </a:endParaRPr>
          </a:p>
        </p:txBody>
      </p:sp>
      <p:pic>
        <p:nvPicPr>
          <p:cNvPr id="5" name="Picture 4"/>
          <p:cNvPicPr>
            <a:picLocks noChangeAspect="1"/>
          </p:cNvPicPr>
          <p:nvPr/>
        </p:nvPicPr>
        <p:blipFill>
          <a:blip r:embed="rId2"/>
          <a:stretch>
            <a:fillRect/>
          </a:stretch>
        </p:blipFill>
        <p:spPr>
          <a:xfrm>
            <a:off x="7876903" y="5786845"/>
            <a:ext cx="4302034" cy="1097280"/>
          </a:xfrm>
          <a:prstGeom prst="rect">
            <a:avLst/>
          </a:prstGeom>
        </p:spPr>
      </p:pic>
    </p:spTree>
    <p:extLst>
      <p:ext uri="{BB962C8B-B14F-4D97-AF65-F5344CB8AC3E}">
        <p14:creationId xmlns:p14="http://schemas.microsoft.com/office/powerpoint/2010/main" val="410329278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4000" dirty="0" smtClean="0">
                <a:solidFill>
                  <a:schemeClr val="accent2"/>
                </a:solidFill>
                <a:latin typeface="Arial" panose="020B0604020202020204" pitchFamily="34" charset="0"/>
                <a:cs typeface="Arial" panose="020B0604020202020204" pitchFamily="34" charset="0"/>
              </a:rPr>
              <a:t>Application of hierarchical clustering to gene expression data analysis.</a:t>
            </a:r>
            <a:endParaRPr lang="en-CA" sz="4000" dirty="0">
              <a:solidFill>
                <a:schemeClr val="accent2"/>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690688"/>
            <a:ext cx="10515600" cy="4351338"/>
          </a:xfrm>
        </p:spPr>
        <p:txBody>
          <a:bodyPr>
            <a:normAutofit fontScale="85000" lnSpcReduction="20000"/>
          </a:bodyPr>
          <a:lstStyle/>
          <a:p>
            <a:pPr>
              <a:lnSpc>
                <a:spcPct val="150000"/>
              </a:lnSpc>
            </a:pPr>
            <a:r>
              <a:rPr lang="en-CA" dirty="0">
                <a:latin typeface="Arial" panose="020B0604020202020204" pitchFamily="34" charset="0"/>
                <a:cs typeface="Arial" panose="020B0604020202020204" pitchFamily="34" charset="0"/>
              </a:rPr>
              <a:t>In </a:t>
            </a:r>
            <a:r>
              <a:rPr lang="en-CA" i="1" dirty="0">
                <a:latin typeface="Arial" panose="020B0604020202020204" pitchFamily="34" charset="0"/>
                <a:cs typeface="Arial" panose="020B0604020202020204" pitchFamily="34" charset="0"/>
              </a:rPr>
              <a:t>gene expression data analysis</a:t>
            </a:r>
            <a:r>
              <a:rPr lang="en-CA" dirty="0">
                <a:latin typeface="Arial" panose="020B0604020202020204" pitchFamily="34" charset="0"/>
                <a:cs typeface="Arial" panose="020B0604020202020204" pitchFamily="34" charset="0"/>
              </a:rPr>
              <a:t>, </a:t>
            </a:r>
            <a:r>
              <a:rPr lang="en-CA" i="1" dirty="0">
                <a:latin typeface="Arial" panose="020B0604020202020204" pitchFamily="34" charset="0"/>
                <a:cs typeface="Arial" panose="020B0604020202020204" pitchFamily="34" charset="0"/>
              </a:rPr>
              <a:t>clustering </a:t>
            </a:r>
            <a:r>
              <a:rPr lang="en-CA" dirty="0">
                <a:latin typeface="Arial" panose="020B0604020202020204" pitchFamily="34" charset="0"/>
                <a:cs typeface="Arial" panose="020B0604020202020204" pitchFamily="34" charset="0"/>
              </a:rPr>
              <a:t>is </a:t>
            </a:r>
            <a:r>
              <a:rPr lang="en-CA" dirty="0" smtClean="0">
                <a:latin typeface="Arial" panose="020B0604020202020204" pitchFamily="34" charset="0"/>
                <a:cs typeface="Arial" panose="020B0604020202020204" pitchFamily="34" charset="0"/>
              </a:rPr>
              <a:t>generally </a:t>
            </a:r>
            <a:r>
              <a:rPr lang="en-CA" dirty="0">
                <a:latin typeface="Arial" panose="020B0604020202020204" pitchFamily="34" charset="0"/>
                <a:cs typeface="Arial" panose="020B0604020202020204" pitchFamily="34" charset="0"/>
              </a:rPr>
              <a:t>used as one of the first step </a:t>
            </a:r>
            <a:r>
              <a:rPr lang="en-CA" dirty="0" smtClean="0">
                <a:latin typeface="Arial" panose="020B0604020202020204" pitchFamily="34" charset="0"/>
                <a:cs typeface="Arial" panose="020B0604020202020204" pitchFamily="34" charset="0"/>
              </a:rPr>
              <a:t>to explore </a:t>
            </a:r>
            <a:r>
              <a:rPr lang="en-CA" dirty="0">
                <a:latin typeface="Arial" panose="020B0604020202020204" pitchFamily="34" charset="0"/>
                <a:cs typeface="Arial" panose="020B0604020202020204" pitchFamily="34" charset="0"/>
              </a:rPr>
              <a:t>the data. We are interested in whether there are groups of genes or groups </a:t>
            </a:r>
            <a:r>
              <a:rPr lang="en-CA" dirty="0" smtClean="0">
                <a:latin typeface="Arial" panose="020B0604020202020204" pitchFamily="34" charset="0"/>
                <a:cs typeface="Arial" panose="020B0604020202020204" pitchFamily="34" charset="0"/>
              </a:rPr>
              <a:t>of samples </a:t>
            </a:r>
            <a:r>
              <a:rPr lang="en-CA" dirty="0">
                <a:latin typeface="Arial" panose="020B0604020202020204" pitchFamily="34" charset="0"/>
                <a:cs typeface="Arial" panose="020B0604020202020204" pitchFamily="34" charset="0"/>
              </a:rPr>
              <a:t>that have similar gene expression patterns.</a:t>
            </a:r>
          </a:p>
          <a:p>
            <a:pPr>
              <a:lnSpc>
                <a:spcPct val="160000"/>
              </a:lnSpc>
            </a:pPr>
            <a:r>
              <a:rPr lang="en-CA" dirty="0">
                <a:latin typeface="Arial" panose="020B0604020202020204" pitchFamily="34" charset="0"/>
                <a:cs typeface="Arial" panose="020B0604020202020204" pitchFamily="34" charset="0"/>
              </a:rPr>
              <a:t>For most common clustering </a:t>
            </a:r>
            <a:r>
              <a:rPr lang="en-CA" dirty="0" smtClean="0">
                <a:latin typeface="Arial" panose="020B0604020202020204" pitchFamily="34" charset="0"/>
                <a:cs typeface="Arial" panose="020B0604020202020204" pitchFamily="34" charset="0"/>
              </a:rPr>
              <a:t>software, </a:t>
            </a:r>
            <a:r>
              <a:rPr lang="en-CA" dirty="0">
                <a:latin typeface="Arial" panose="020B0604020202020204" pitchFamily="34" charset="0"/>
                <a:cs typeface="Arial" panose="020B0604020202020204" pitchFamily="34" charset="0"/>
              </a:rPr>
              <a:t>the default distance measure is the </a:t>
            </a:r>
            <a:r>
              <a:rPr lang="en-CA" dirty="0" smtClean="0">
                <a:latin typeface="Arial" panose="020B0604020202020204" pitchFamily="34" charset="0"/>
                <a:cs typeface="Arial" panose="020B0604020202020204" pitchFamily="34" charset="0"/>
              </a:rPr>
              <a:t>Euclidean distance</a:t>
            </a:r>
            <a:r>
              <a:rPr lang="en-CA" dirty="0">
                <a:latin typeface="Arial" panose="020B0604020202020204" pitchFamily="34" charset="0"/>
                <a:cs typeface="Arial" panose="020B0604020202020204" pitchFamily="34" charset="0"/>
              </a:rPr>
              <a:t>. The most popular methods for gene expression data are to use </a:t>
            </a:r>
            <a:r>
              <a:rPr lang="en-CA" dirty="0" smtClean="0">
                <a:latin typeface="Arial" panose="020B0604020202020204" pitchFamily="34" charset="0"/>
                <a:cs typeface="Arial" panose="020B0604020202020204" pitchFamily="34" charset="0"/>
              </a:rPr>
              <a:t>log2 (expression+ </a:t>
            </a:r>
            <a:r>
              <a:rPr lang="en-CA" dirty="0">
                <a:latin typeface="Arial" panose="020B0604020202020204" pitchFamily="34" charset="0"/>
                <a:cs typeface="Arial" panose="020B0604020202020204" pitchFamily="34" charset="0"/>
              </a:rPr>
              <a:t>0.25), correlation distance and complete linkage clustering agglomerative-clustering.</a:t>
            </a:r>
            <a:endParaRPr lang="en-CA" i="1" dirty="0">
              <a:latin typeface="Arial" panose="020B0604020202020204" pitchFamily="34" charset="0"/>
              <a:cs typeface="Arial" panose="020B0604020202020204" pitchFamily="34" charset="0"/>
            </a:endParaRPr>
          </a:p>
        </p:txBody>
      </p:sp>
      <p:pic>
        <p:nvPicPr>
          <p:cNvPr id="5" name="Picture 4"/>
          <p:cNvPicPr>
            <a:picLocks noChangeAspect="1"/>
          </p:cNvPicPr>
          <p:nvPr/>
        </p:nvPicPr>
        <p:blipFill>
          <a:blip r:embed="rId2"/>
          <a:stretch>
            <a:fillRect/>
          </a:stretch>
        </p:blipFill>
        <p:spPr>
          <a:xfrm>
            <a:off x="7876903" y="5786845"/>
            <a:ext cx="4302034" cy="1097280"/>
          </a:xfrm>
          <a:prstGeom prst="rect">
            <a:avLst/>
          </a:prstGeom>
        </p:spPr>
      </p:pic>
    </p:spTree>
    <p:extLst>
      <p:ext uri="{BB962C8B-B14F-4D97-AF65-F5344CB8AC3E}">
        <p14:creationId xmlns:p14="http://schemas.microsoft.com/office/powerpoint/2010/main" val="393100566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4000" dirty="0" smtClean="0">
                <a:solidFill>
                  <a:schemeClr val="accent2"/>
                </a:solidFill>
                <a:latin typeface="Arial" panose="020B0604020202020204" pitchFamily="34" charset="0"/>
                <a:cs typeface="Arial" panose="020B0604020202020204" pitchFamily="34" charset="0"/>
              </a:rPr>
              <a:t>Summary</a:t>
            </a:r>
            <a:endParaRPr lang="en-CA" sz="4000" dirty="0">
              <a:solidFill>
                <a:schemeClr val="accent2"/>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283698"/>
            <a:ext cx="10515600" cy="4351338"/>
          </a:xfrm>
        </p:spPr>
        <p:txBody>
          <a:bodyPr>
            <a:noAutofit/>
          </a:bodyPr>
          <a:lstStyle/>
          <a:p>
            <a:pPr>
              <a:lnSpc>
                <a:spcPct val="150000"/>
              </a:lnSpc>
            </a:pPr>
            <a:r>
              <a:rPr lang="en-CA" sz="2400" dirty="0">
                <a:latin typeface="Arial" panose="020B0604020202020204" pitchFamily="34" charset="0"/>
                <a:cs typeface="Arial" panose="020B0604020202020204" pitchFamily="34" charset="0"/>
              </a:rPr>
              <a:t>Hierarchical clustering is a cluster analysis method, which produce a </a:t>
            </a:r>
            <a:r>
              <a:rPr lang="en-CA" sz="2400" dirty="0" smtClean="0">
                <a:latin typeface="Arial" panose="020B0604020202020204" pitchFamily="34" charset="0"/>
                <a:cs typeface="Arial" panose="020B0604020202020204" pitchFamily="34" charset="0"/>
              </a:rPr>
              <a:t>tree-based representation </a:t>
            </a:r>
            <a:r>
              <a:rPr lang="en-CA" sz="2400" dirty="0">
                <a:latin typeface="Arial" panose="020B0604020202020204" pitchFamily="34" charset="0"/>
                <a:cs typeface="Arial" panose="020B0604020202020204" pitchFamily="34" charset="0"/>
              </a:rPr>
              <a:t>(i.e.: dendrogram) of a data. Objects in the dendrogram are </a:t>
            </a:r>
            <a:r>
              <a:rPr lang="en-CA" sz="2400" dirty="0" smtClean="0">
                <a:latin typeface="Arial" panose="020B0604020202020204" pitchFamily="34" charset="0"/>
                <a:cs typeface="Arial" panose="020B0604020202020204" pitchFamily="34" charset="0"/>
              </a:rPr>
              <a:t>linked together </a:t>
            </a:r>
            <a:r>
              <a:rPr lang="en-CA" sz="2400" dirty="0">
                <a:latin typeface="Arial" panose="020B0604020202020204" pitchFamily="34" charset="0"/>
                <a:cs typeface="Arial" panose="020B0604020202020204" pitchFamily="34" charset="0"/>
              </a:rPr>
              <a:t>based on their similarity.</a:t>
            </a:r>
          </a:p>
          <a:p>
            <a:pPr>
              <a:lnSpc>
                <a:spcPct val="150000"/>
              </a:lnSpc>
            </a:pPr>
            <a:r>
              <a:rPr lang="en-CA" sz="2400" dirty="0">
                <a:latin typeface="Arial" panose="020B0604020202020204" pitchFamily="34" charset="0"/>
                <a:cs typeface="Arial" panose="020B0604020202020204" pitchFamily="34" charset="0"/>
              </a:rPr>
              <a:t>To perform hierarchical cluster analysis in R, the first step is to calculate the </a:t>
            </a:r>
            <a:r>
              <a:rPr lang="en-CA" sz="2400" dirty="0" smtClean="0">
                <a:latin typeface="Arial" panose="020B0604020202020204" pitchFamily="34" charset="0"/>
                <a:cs typeface="Arial" panose="020B0604020202020204" pitchFamily="34" charset="0"/>
              </a:rPr>
              <a:t>pairwise distance </a:t>
            </a:r>
            <a:r>
              <a:rPr lang="en-CA" sz="2400" dirty="0">
                <a:latin typeface="Arial" panose="020B0604020202020204" pitchFamily="34" charset="0"/>
                <a:cs typeface="Arial" panose="020B0604020202020204" pitchFamily="34" charset="0"/>
              </a:rPr>
              <a:t>matrix using the function </a:t>
            </a:r>
            <a:r>
              <a:rPr lang="en-CA" sz="2400" i="1" dirty="0" err="1">
                <a:latin typeface="Arial" panose="020B0604020202020204" pitchFamily="34" charset="0"/>
                <a:cs typeface="Arial" panose="020B0604020202020204" pitchFamily="34" charset="0"/>
              </a:rPr>
              <a:t>dist</a:t>
            </a:r>
            <a:r>
              <a:rPr lang="en-CA" sz="2400" dirty="0">
                <a:latin typeface="Arial" panose="020B0604020202020204" pitchFamily="34" charset="0"/>
                <a:cs typeface="Arial" panose="020B0604020202020204" pitchFamily="34" charset="0"/>
              </a:rPr>
              <a:t>(). Next, the result of this computation is </a:t>
            </a:r>
            <a:r>
              <a:rPr lang="en-CA" sz="2400" dirty="0" smtClean="0">
                <a:latin typeface="Arial" panose="020B0604020202020204" pitchFamily="34" charset="0"/>
                <a:cs typeface="Arial" panose="020B0604020202020204" pitchFamily="34" charset="0"/>
              </a:rPr>
              <a:t>used by </a:t>
            </a:r>
            <a:r>
              <a:rPr lang="en-CA" sz="2400" dirty="0">
                <a:latin typeface="Arial" panose="020B0604020202020204" pitchFamily="34" charset="0"/>
                <a:cs typeface="Arial" panose="020B0604020202020204" pitchFamily="34" charset="0"/>
              </a:rPr>
              <a:t>the </a:t>
            </a:r>
            <a:r>
              <a:rPr lang="en-CA" sz="2400" i="1" dirty="0" err="1">
                <a:latin typeface="Arial" panose="020B0604020202020204" pitchFamily="34" charset="0"/>
                <a:cs typeface="Arial" panose="020B0604020202020204" pitchFamily="34" charset="0"/>
              </a:rPr>
              <a:t>hclust</a:t>
            </a:r>
            <a:r>
              <a:rPr lang="en-CA" sz="2400" dirty="0">
                <a:latin typeface="Arial" panose="020B0604020202020204" pitchFamily="34" charset="0"/>
                <a:cs typeface="Arial" panose="020B0604020202020204" pitchFamily="34" charset="0"/>
              </a:rPr>
              <a:t>() function to produce the hierarchical tree. </a:t>
            </a:r>
            <a:endParaRPr lang="en-CA" sz="2400" dirty="0" smtClean="0">
              <a:latin typeface="Arial" panose="020B0604020202020204" pitchFamily="34" charset="0"/>
              <a:cs typeface="Arial" panose="020B0604020202020204" pitchFamily="34" charset="0"/>
            </a:endParaRPr>
          </a:p>
        </p:txBody>
      </p:sp>
      <p:pic>
        <p:nvPicPr>
          <p:cNvPr id="5" name="Picture 4"/>
          <p:cNvPicPr>
            <a:picLocks noChangeAspect="1"/>
          </p:cNvPicPr>
          <p:nvPr/>
        </p:nvPicPr>
        <p:blipFill>
          <a:blip r:embed="rId2"/>
          <a:stretch>
            <a:fillRect/>
          </a:stretch>
        </p:blipFill>
        <p:spPr>
          <a:xfrm>
            <a:off x="7876903" y="5786845"/>
            <a:ext cx="4302034" cy="1097280"/>
          </a:xfrm>
          <a:prstGeom prst="rect">
            <a:avLst/>
          </a:prstGeom>
        </p:spPr>
      </p:pic>
    </p:spTree>
    <p:extLst>
      <p:ext uri="{BB962C8B-B14F-4D97-AF65-F5344CB8AC3E}">
        <p14:creationId xmlns:p14="http://schemas.microsoft.com/office/powerpoint/2010/main" val="425038481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4000" dirty="0" smtClean="0">
                <a:solidFill>
                  <a:schemeClr val="accent2"/>
                </a:solidFill>
                <a:latin typeface="Arial" panose="020B0604020202020204" pitchFamily="34" charset="0"/>
                <a:cs typeface="Arial" panose="020B0604020202020204" pitchFamily="34" charset="0"/>
              </a:rPr>
              <a:t>Summary</a:t>
            </a:r>
            <a:endParaRPr lang="en-CA" sz="4000" dirty="0">
              <a:solidFill>
                <a:schemeClr val="accent2"/>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838200" y="1283698"/>
            <a:ext cx="10515600" cy="4351338"/>
          </a:xfrm>
        </p:spPr>
        <p:txBody>
          <a:bodyPr>
            <a:noAutofit/>
          </a:bodyPr>
          <a:lstStyle/>
          <a:p>
            <a:pPr>
              <a:lnSpc>
                <a:spcPct val="150000"/>
              </a:lnSpc>
            </a:pPr>
            <a:r>
              <a:rPr lang="en-CA" dirty="0">
                <a:latin typeface="Arial" panose="020B0604020202020204" pitchFamily="34" charset="0"/>
                <a:cs typeface="Arial" panose="020B0604020202020204" pitchFamily="34" charset="0"/>
              </a:rPr>
              <a:t>Finally, you can use the function </a:t>
            </a:r>
            <a:r>
              <a:rPr lang="en-CA" i="1" dirty="0" err="1">
                <a:latin typeface="Arial" panose="020B0604020202020204" pitchFamily="34" charset="0"/>
                <a:cs typeface="Arial" panose="020B0604020202020204" pitchFamily="34" charset="0"/>
              </a:rPr>
              <a:t>fviz_dend</a:t>
            </a:r>
            <a:r>
              <a:rPr lang="en-CA" dirty="0">
                <a:latin typeface="Arial" panose="020B0604020202020204" pitchFamily="34" charset="0"/>
                <a:cs typeface="Arial" panose="020B0604020202020204" pitchFamily="34" charset="0"/>
              </a:rPr>
              <a:t>() [in </a:t>
            </a:r>
            <a:r>
              <a:rPr lang="en-CA" dirty="0" err="1">
                <a:latin typeface="Arial" panose="020B0604020202020204" pitchFamily="34" charset="0"/>
                <a:cs typeface="Arial" panose="020B0604020202020204" pitchFamily="34" charset="0"/>
              </a:rPr>
              <a:t>factoextra</a:t>
            </a:r>
            <a:r>
              <a:rPr lang="en-CA" dirty="0">
                <a:latin typeface="Arial" panose="020B0604020202020204" pitchFamily="34" charset="0"/>
                <a:cs typeface="Arial" panose="020B0604020202020204" pitchFamily="34" charset="0"/>
              </a:rPr>
              <a:t> R package] to plot easily a beautiful dendrogram.</a:t>
            </a:r>
          </a:p>
          <a:p>
            <a:pPr>
              <a:lnSpc>
                <a:spcPct val="150000"/>
              </a:lnSpc>
            </a:pPr>
            <a:r>
              <a:rPr lang="en-CA" dirty="0">
                <a:latin typeface="Arial" panose="020B0604020202020204" pitchFamily="34" charset="0"/>
                <a:cs typeface="Arial" panose="020B0604020202020204" pitchFamily="34" charset="0"/>
              </a:rPr>
              <a:t>It’s also possible to cut the tree at a given height for partitioning the data into multiple groups (R function </a:t>
            </a:r>
            <a:r>
              <a:rPr lang="en-CA" i="1" dirty="0" err="1">
                <a:latin typeface="Arial" panose="020B0604020202020204" pitchFamily="34" charset="0"/>
                <a:cs typeface="Arial" panose="020B0604020202020204" pitchFamily="34" charset="0"/>
              </a:rPr>
              <a:t>cutree</a:t>
            </a:r>
            <a:r>
              <a:rPr lang="en-CA" dirty="0" smtClean="0">
                <a:latin typeface="Arial" panose="020B0604020202020204" pitchFamily="34" charset="0"/>
                <a:cs typeface="Arial" panose="020B0604020202020204" pitchFamily="34" charset="0"/>
              </a:rPr>
              <a:t>()).</a:t>
            </a:r>
            <a:endParaRPr lang="en-CA" dirty="0">
              <a:latin typeface="Arial" panose="020B0604020202020204" pitchFamily="34" charset="0"/>
              <a:cs typeface="Arial" panose="020B0604020202020204" pitchFamily="34" charset="0"/>
            </a:endParaRPr>
          </a:p>
        </p:txBody>
      </p:sp>
      <p:pic>
        <p:nvPicPr>
          <p:cNvPr id="5" name="Picture 4"/>
          <p:cNvPicPr>
            <a:picLocks noChangeAspect="1"/>
          </p:cNvPicPr>
          <p:nvPr/>
        </p:nvPicPr>
        <p:blipFill>
          <a:blip r:embed="rId2"/>
          <a:stretch>
            <a:fillRect/>
          </a:stretch>
        </p:blipFill>
        <p:spPr>
          <a:xfrm>
            <a:off x="7876903" y="5786845"/>
            <a:ext cx="4302034" cy="1097280"/>
          </a:xfrm>
          <a:prstGeom prst="rect">
            <a:avLst/>
          </a:prstGeom>
        </p:spPr>
      </p:pic>
    </p:spTree>
    <p:extLst>
      <p:ext uri="{BB962C8B-B14F-4D97-AF65-F5344CB8AC3E}">
        <p14:creationId xmlns:p14="http://schemas.microsoft.com/office/powerpoint/2010/main" val="147115367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6067</TotalTime>
  <Words>1398</Words>
  <Application>Microsoft Office PowerPoint</Application>
  <PresentationFormat>Widescreen</PresentationFormat>
  <Paragraphs>79</Paragraphs>
  <Slides>27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Calibri</vt:lpstr>
      <vt:lpstr>Calibri Light</vt:lpstr>
      <vt:lpstr>Office Theme</vt:lpstr>
      <vt:lpstr>Hierarchical Clustering</vt:lpstr>
      <vt:lpstr>Hierarchical Clustering</vt:lpstr>
      <vt:lpstr>Hierarchical Clustering</vt:lpstr>
      <vt:lpstr>Hierarchical Clustering</vt:lpstr>
      <vt:lpstr>Agglomerative Clustering</vt:lpstr>
      <vt:lpstr>Divisive Clustering</vt:lpstr>
      <vt:lpstr>Agglomerative Clustering</vt:lpstr>
      <vt:lpstr>Agglomerative Clustering Algorithm</vt:lpstr>
      <vt:lpstr>Agglomerative Clustering Algorithm</vt:lpstr>
      <vt:lpstr>Agglomerative Clustering Algorithm</vt:lpstr>
      <vt:lpstr>Key points</vt:lpstr>
      <vt:lpstr>Agglomeration (linkage) methods</vt:lpstr>
      <vt:lpstr>Agglomeration (linkage) methods</vt:lpstr>
      <vt:lpstr>Agglomeration (linkage) methods</vt:lpstr>
      <vt:lpstr>Agglomeration (linkage) methods</vt:lpstr>
      <vt:lpstr>Dendrogram</vt:lpstr>
      <vt:lpstr>Dendrogram</vt:lpstr>
      <vt:lpstr>Verify the cluster tree</vt:lpstr>
      <vt:lpstr>Verify the cluster tree</vt:lpstr>
      <vt:lpstr>Cut the dendrogram into different groups</vt:lpstr>
      <vt:lpstr>Cut the dendrogram into different groups</vt:lpstr>
      <vt:lpstr>Agglomerative Clustering in R</vt:lpstr>
      <vt:lpstr>Agglomerative Clustering in R</vt:lpstr>
      <vt:lpstr>Application of hierarchical clustering to gene expression data analysis.</vt:lpstr>
      <vt:lpstr>Application of hierarchical clustering to gene expression data analysis.</vt:lpstr>
      <vt:lpstr>Summary</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Announcements!!!!</dc:title>
  <dc:creator>jagyeman</dc:creator>
  <cp:lastModifiedBy>Yew-Wei Lim</cp:lastModifiedBy>
  <cp:revision>53</cp:revision>
  <dcterms:created xsi:type="dcterms:W3CDTF">2022-09-11T21:24:29Z</dcterms:created>
  <dcterms:modified xsi:type="dcterms:W3CDTF">2023-05-28T19:20:05Z</dcterms:modified>
</cp:coreProperties>
</file>