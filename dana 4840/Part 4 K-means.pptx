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4" r:id="rId5"/>
    <p:sldId id="265" r:id="rId6"/>
    <p:sldId id="266" r:id="rId7"/>
    <p:sldId id="267" r:id="rId8"/>
    <p:sldId id="268" r:id="rId9"/>
    <p:sldId id="269" r:id="rId10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C4ADD-9090-60BA-96B8-A412B21A1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67D1C1-1BBF-7255-DB1F-8D04B71350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C33FD-6560-2D20-0AB0-244EC85EB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81B98-2BD6-7FED-6607-5F67AD2B1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14245-EA64-A824-D791-9F6A34018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856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44987-D91E-E747-8448-3E1B72FF6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ACEB8-BDD9-12BA-72A1-5917E3DC5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CB00E-B236-D878-971A-37D47F343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E0E9A-2B55-84A1-CDA7-F1D75DF20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27AB3-3E68-862F-4001-FC1E69003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649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B96E0-6F0E-5CD0-FF3A-6C37D0D7F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81E52-9962-6990-E97C-516B7DF55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F9010-91FC-387E-387F-5077AD0C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405D0-3C8E-1306-BE60-699AAAAC5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46FB9-1DE1-825A-B56C-A4EA5DE35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266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73E5C-DE36-2129-1514-A60596513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EC802-D4A2-0032-A948-31A659643D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010F45-B9BA-EA3B-0196-552F1B59C3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E9696E-138F-639F-C285-5F68A1FB7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A251A-CAAE-D370-ED67-871A74650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821D36-EBAF-9CA2-DEBD-946760582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96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A5244-C79C-533F-8BD7-CB6F82318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EDE2C-F0A6-CC70-1F74-C33A749AD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A0F0C3-466E-668E-73A7-24D8F8EEF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1009EC-6F60-3C4F-7FFC-EE93AEDC21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CC73FB-7797-7546-C094-635F2C8EB9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CF3982-6118-A403-A19B-F53E36938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E18FF4-6CFF-4AE4-E151-C25669E20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C7255D-C774-BE19-9A13-F4E7B07B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5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42D4E-A1CF-CFEA-5C35-5AA995982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8B2B73-0330-5398-C5A8-CBB3B4EC4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0FC741-0256-B4A3-A44E-192468BB1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FE38FF-E5E0-457A-7F63-6787C8C8E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657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E75D81-570F-BA0A-EA7C-CE2C8CD9C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9AAB19-8090-2B0E-D2F2-ECC1F6976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3087A-A5EE-98FE-8FA0-9A8C956B0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564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B3B78-8A4F-6AEA-0B23-56D8079D6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E3792-260D-5479-4226-C56BF1232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DC5376-C0F1-D663-EDBC-2C9426616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7D6F26-1DD9-91CF-D09F-4F39B52CC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94565-85A8-4DCF-27A0-AD2DBEAA7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52FD0-CAF7-83F1-FC80-A5A45EA1F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101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620A1-2D90-B2D4-275C-6FD596548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C84FFA-4960-92EC-EA1D-016233B4FA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91601-DAC6-F9C7-D732-726BCD93D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C4BD6-090C-7F0E-D575-CAFBD73D6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CC1EC-DB79-DACF-F2ED-14D7ADE4F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D661C-80F4-A05E-D8AC-16FC66020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687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F5811-68C2-1B4E-6E30-F9ED6A9F8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8B0A0-CE66-E863-F980-0BECBC8B7D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BBB67-48FC-904B-147F-B13920D59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8FDFF-40C2-FC1D-B242-DAF421B1E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0EA6E-7907-E3BB-F684-416873475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558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532EFA-9EDE-628F-B6E0-C4B5B0B7F6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15BCDB-CC0C-FF0C-BB8F-901E905BC6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6F464-963F-7B6E-9A5B-546B8AAB9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7FD8B-CDB7-9541-4F79-5267577FC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B8165-8273-1128-ADF4-DB1359C1F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884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EE9FE3-2E4B-3B20-C561-ABC469F7B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BFD7F-ADCF-D6C5-4A36-0EBD26BD6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586C4-2146-D9A5-588F-0EC77FA117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095DA4-6D81-44BE-B2E1-2D492887A84C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C9FA4-9AC4-630D-E2CA-136D8C042C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8D66E-E538-7769-6E8D-53FF2A5B26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621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0B029-0052-6410-09DC-CC9318460A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DANA 4840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1C28D5-50C5-24DB-9611-CA985D8473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Classification II</a:t>
            </a:r>
          </a:p>
          <a:p>
            <a:r>
              <a:rPr lang="en-CA" dirty="0"/>
              <a:t>Part II Partitional Clustering</a:t>
            </a:r>
          </a:p>
          <a:p>
            <a:r>
              <a:rPr lang="en-CA" dirty="0"/>
              <a:t>Part 1 – K-means clustering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47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2EF5F-6B47-AA29-1632-3BFBA2271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K-means algorithm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6738F-C34C-E854-0170-F2A30D3DE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dirty="0"/>
              <a:t>The k-means algorithm seeks k clusters, where the value of k is supplied by the user.</a:t>
            </a:r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US" sz="3200" dirty="0"/>
              <a:t>It is a non-hierarchical method (meaning:  if you have 2 runs k=2 and k=3, the k=2 clusters will not necessarily be formed by merging the k = 3 clusters).</a:t>
            </a:r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US" sz="3200" dirty="0"/>
              <a:t>In practice, we need to try various values of k.  Note that even for the same value of k, running the same program again might produce different results.</a:t>
            </a:r>
            <a:r>
              <a:rPr lang="en-US" sz="32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94573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4CFF2-4BF9-FA4C-271B-9B2A2B92D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K-means algorithm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E5853-32B0-8A93-0649-CB128C690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CA" dirty="0"/>
              <a:t>It is very important to remember that k-means algorithm is intended for quantitative data only.   </a:t>
            </a:r>
          </a:p>
          <a:p>
            <a:endParaRPr lang="en-CA" dirty="0"/>
          </a:p>
          <a:p>
            <a:r>
              <a:rPr lang="en-CA" dirty="0"/>
              <a:t>Algorithm (MacQueen’s approach):</a:t>
            </a:r>
          </a:p>
          <a:p>
            <a:pPr marL="914400" lvl="1" indent="-457200">
              <a:buAutoNum type="arabicPeriod"/>
            </a:pPr>
            <a:r>
              <a:rPr lang="en-CA" dirty="0"/>
              <a:t>Select k centroids (centroid is the “centre” of the cluster)</a:t>
            </a:r>
          </a:p>
          <a:p>
            <a:pPr marL="914400" lvl="1" indent="-457200">
              <a:buAutoNum type="arabicPeriod"/>
            </a:pPr>
            <a:r>
              <a:rPr lang="en-CA" dirty="0"/>
              <a:t>Assign each point to its nearest centroid. (Note:  after step 2, you would have placed every single point to a cluster</a:t>
            </a:r>
            <a:r>
              <a:rPr lang="en-CA"/>
              <a:t>).  </a:t>
            </a:r>
            <a:endParaRPr lang="en-CA" dirty="0"/>
          </a:p>
          <a:p>
            <a:pPr marL="914400" lvl="1" indent="-457200">
              <a:buAutoNum type="arabicPeriod"/>
            </a:pPr>
            <a:r>
              <a:rPr lang="en-CA" dirty="0"/>
              <a:t>Iterate:</a:t>
            </a:r>
          </a:p>
          <a:p>
            <a:pPr marL="457200" lvl="1" indent="0">
              <a:buNone/>
            </a:pPr>
            <a:r>
              <a:rPr lang="en-CA" dirty="0"/>
              <a:t>	a) Recompute the centroids by averaging the points in the cluster.</a:t>
            </a:r>
          </a:p>
          <a:p>
            <a:pPr marL="457200" lvl="1" indent="0">
              <a:buNone/>
            </a:pPr>
            <a:r>
              <a:rPr lang="en-CA" dirty="0"/>
              <a:t>	b)  Assign data points to their nearest centroids until observations are    	      	      not reassigned or maximum number of iterations is reached (R uses ten 	        	      iterations by default).</a:t>
            </a:r>
          </a:p>
          <a:p>
            <a:pPr marL="457200" lvl="1" indent="0">
              <a:buNone/>
            </a:pPr>
            <a:endParaRPr lang="en-CA" dirty="0"/>
          </a:p>
          <a:p>
            <a:pPr marL="457200" lvl="1" indent="0">
              <a:buNone/>
            </a:pPr>
            <a:r>
              <a:rPr lang="en-CA" dirty="0"/>
              <a:t>Important:  The total within-cluster sum of squares measures the compactness  (goodness) of the clusters and we want this value to be as </a:t>
            </a:r>
            <a:r>
              <a:rPr lang="en-CA" b="1" dirty="0"/>
              <a:t>small</a:t>
            </a:r>
            <a:r>
              <a:rPr lang="en-CA" dirty="0"/>
              <a:t> as possible.</a:t>
            </a:r>
          </a:p>
        </p:txBody>
      </p:sp>
    </p:spTree>
    <p:extLst>
      <p:ext uri="{BB962C8B-B14F-4D97-AF65-F5344CB8AC3E}">
        <p14:creationId xmlns:p14="http://schemas.microsoft.com/office/powerpoint/2010/main" val="1451048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4E1A3-CA1E-B682-6039-08AFBD0E7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K-means algorithm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775B8-DB21-7455-541A-3FA368B4F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There are various algorithms for k-means.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The algorithm described in the previous slide is MacQueen’s.   For your worksheets, assignments and examinations, please be familiar with MacQueen’s approach.</a:t>
            </a:r>
          </a:p>
          <a:p>
            <a:endParaRPr lang="en-CA" dirty="0"/>
          </a:p>
          <a:p>
            <a:r>
              <a:rPr lang="en-CA" dirty="0"/>
              <a:t>Other k-means approaches:</a:t>
            </a:r>
          </a:p>
          <a:p>
            <a:pPr lvl="1"/>
            <a:r>
              <a:rPr lang="en-CA" dirty="0"/>
              <a:t>Lloyds</a:t>
            </a:r>
          </a:p>
          <a:p>
            <a:pPr lvl="1"/>
            <a:r>
              <a:rPr lang="en-CA" dirty="0"/>
              <a:t>MacQueen (covered in class)</a:t>
            </a:r>
          </a:p>
          <a:p>
            <a:pPr lvl="1"/>
            <a:r>
              <a:rPr lang="en-CA" dirty="0"/>
              <a:t>Hartigan-Wong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91907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77FED-2937-D504-4701-1A3813A26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K-means algorithm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8D959-78A3-10A9-501E-3B5A8CEAF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Example:  Say we wish to cluster a dataset with only 1 explanatory variable X.    The values of X are:   1, 2, 5, 6.   You </a:t>
            </a:r>
            <a:r>
              <a:rPr lang="en-CA"/>
              <a:t>are to cluster </a:t>
            </a:r>
            <a:r>
              <a:rPr lang="en-CA" dirty="0"/>
              <a:t>the 4 observations into two groups (k = 2).    So that we all obtain the same final answer, start by randomly picking two observations (use 2 and 5) as initial centroids.  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Show all steps of how k-means algorithm places the four observations into two groups.    In addition, calculate the total within-cluster sum of squares.   Verify your answer using R. 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76566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B0024-FE3C-3393-4A3B-A64FA2A19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Estimating the optimal number of clusters (Elbow method):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34629-68DD-92C7-9212-03E7C3B74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Make use of </a:t>
            </a:r>
            <a:r>
              <a:rPr lang="en-CA" dirty="0" err="1"/>
              <a:t>factoextra</a:t>
            </a:r>
            <a:r>
              <a:rPr lang="en-CA" dirty="0"/>
              <a:t> package and be familiar with </a:t>
            </a:r>
            <a:r>
              <a:rPr lang="en-CA" dirty="0" err="1"/>
              <a:t>fviz_nbclust</a:t>
            </a:r>
            <a:r>
              <a:rPr lang="en-CA" dirty="0"/>
              <a:t>() command to find k using elbow method.</a:t>
            </a:r>
          </a:p>
          <a:p>
            <a:endParaRPr lang="en-CA" dirty="0"/>
          </a:p>
          <a:p>
            <a:r>
              <a:rPr lang="en-CA" dirty="0"/>
              <a:t>Draw a graph (elbow method):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602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C4BF6-31F7-062B-8842-932C71C36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Understanding R’s k-means output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1897A-2DCD-933F-334F-65EDAD141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It is worthwhile for you to examine the R output of </a:t>
            </a:r>
            <a:r>
              <a:rPr lang="en-CA" dirty="0" err="1"/>
              <a:t>kmeans</a:t>
            </a:r>
            <a:r>
              <a:rPr lang="en-CA" dirty="0"/>
              <a:t>() command carefully.   It is also very important to understand the purpose of </a:t>
            </a:r>
            <a:r>
              <a:rPr lang="en-CA" dirty="0" err="1"/>
              <a:t>nstart</a:t>
            </a:r>
            <a:r>
              <a:rPr lang="en-CA" dirty="0"/>
              <a:t>= and </a:t>
            </a:r>
            <a:r>
              <a:rPr lang="en-CA" dirty="0" err="1"/>
              <a:t>iter.max</a:t>
            </a:r>
            <a:r>
              <a:rPr lang="en-CA" dirty="0"/>
              <a:t> = parameters.</a:t>
            </a:r>
          </a:p>
          <a:p>
            <a:endParaRPr lang="en-CA" dirty="0"/>
          </a:p>
          <a:p>
            <a:r>
              <a:rPr lang="en-CA" dirty="0"/>
              <a:t>In particular, in the R output, be familiar with </a:t>
            </a:r>
          </a:p>
          <a:p>
            <a:pPr lvl="1"/>
            <a:r>
              <a:rPr lang="en-CA" dirty="0"/>
              <a:t>Cluster</a:t>
            </a:r>
          </a:p>
          <a:p>
            <a:pPr lvl="1"/>
            <a:r>
              <a:rPr lang="en-CA" dirty="0"/>
              <a:t>Centers</a:t>
            </a:r>
          </a:p>
          <a:p>
            <a:pPr lvl="1"/>
            <a:r>
              <a:rPr lang="en-CA" dirty="0" err="1"/>
              <a:t>Totss</a:t>
            </a:r>
            <a:endParaRPr lang="en-CA" dirty="0"/>
          </a:p>
          <a:p>
            <a:pPr lvl="1"/>
            <a:r>
              <a:rPr lang="en-CA" dirty="0" err="1"/>
              <a:t>Withinss</a:t>
            </a:r>
            <a:endParaRPr lang="en-CA" dirty="0"/>
          </a:p>
          <a:p>
            <a:pPr lvl="1"/>
            <a:r>
              <a:rPr lang="en-CA" dirty="0" err="1"/>
              <a:t>Tot.withinss</a:t>
            </a:r>
            <a:endParaRPr lang="en-CA" dirty="0"/>
          </a:p>
          <a:p>
            <a:pPr lvl="1"/>
            <a:r>
              <a:rPr lang="en-CA" dirty="0" err="1"/>
              <a:t>betweenss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657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94BCF-B436-601D-9E28-BF3D1BB49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to visualize k-means clustering output?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BF19A-A3A8-AB1E-FEA4-D8E4918DA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Use </a:t>
            </a:r>
            <a:r>
              <a:rPr lang="en-CA" dirty="0" err="1"/>
              <a:t>fviz_cluster</a:t>
            </a:r>
            <a:r>
              <a:rPr lang="en-CA" dirty="0"/>
              <a:t>() </a:t>
            </a:r>
          </a:p>
          <a:p>
            <a:endParaRPr lang="en-CA" dirty="0"/>
          </a:p>
          <a:p>
            <a:r>
              <a:rPr lang="en-CA" dirty="0"/>
              <a:t>Notice the use of colors to distinguish points belonging to different clusters.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495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B0900-618D-AF9B-747A-FCABD0496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K-means:  Advantages and disadvantages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4512C-9540-3CB7-19F2-17A175A61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Advantage:</a:t>
            </a:r>
          </a:p>
          <a:p>
            <a:r>
              <a:rPr lang="en-CA" dirty="0"/>
              <a:t>Simple and fast algorithm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dirty="0"/>
              <a:t>Disadvantages:</a:t>
            </a:r>
          </a:p>
          <a:p>
            <a:r>
              <a:rPr lang="en-CA" dirty="0"/>
              <a:t>Requires user to choose k in advance</a:t>
            </a:r>
          </a:p>
          <a:p>
            <a:r>
              <a:rPr lang="en-CA" dirty="0"/>
              <a:t>Different clustering results depending on initial random selection of cluster centres.</a:t>
            </a:r>
          </a:p>
          <a:p>
            <a:r>
              <a:rPr lang="en-CA" dirty="0"/>
              <a:t>K-means is sensitive to outliers (use PAM if you are concerned about outliers).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243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569</Words>
  <Application>Microsoft Office PowerPoint</Application>
  <PresentationFormat>Widescreen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DANA 4840</vt:lpstr>
      <vt:lpstr>K-means algorithm</vt:lpstr>
      <vt:lpstr>K-means algorithm</vt:lpstr>
      <vt:lpstr>K-means algorithm</vt:lpstr>
      <vt:lpstr>K-means algorithm</vt:lpstr>
      <vt:lpstr>Estimating the optimal number of clusters (Elbow method):</vt:lpstr>
      <vt:lpstr>Understanding R’s k-means output</vt:lpstr>
      <vt:lpstr>How to visualize k-means clustering output?</vt:lpstr>
      <vt:lpstr>K-means:  Advantages and disadvantages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Yew-Wei Lim</dc:creator>
  <cp:lastModifiedBy>Yew-Wei Lim</cp:lastModifiedBy>
  <cp:revision>15</cp:revision>
  <cp:lastPrinted>2025-09-07T21:02:03Z</cp:lastPrinted>
  <dcterms:created xsi:type="dcterms:W3CDTF">2025-08-31T18:59:20Z</dcterms:created>
  <dcterms:modified xsi:type="dcterms:W3CDTF">2025-09-15T18:52:11Z</dcterms:modified>
</cp:coreProperties>
</file>