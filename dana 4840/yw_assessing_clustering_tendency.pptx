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1" r:id="rId3"/>
    <p:sldId id="297" r:id="rId4"/>
    <p:sldId id="298" r:id="rId5"/>
    <p:sldId id="300" r:id="rId6"/>
    <p:sldId id="301" r:id="rId7"/>
    <p:sldId id="302" r:id="rId8"/>
    <p:sldId id="303" r:id="rId9"/>
    <p:sldId id="304" r:id="rId10"/>
    <p:sldId id="305" r:id="rId11"/>
    <p:sldId id="306" r:id="rId12"/>
    <p:sldId id="307" r:id="rId13"/>
    <p:sldId id="308" r:id="rId14"/>
    <p:sldId id="309" r:id="rId15"/>
    <p:sldId id="3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14" d="100"/>
          <a:sy n="114" d="100"/>
        </p:scale>
        <p:origin x="1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783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7768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4A80508-5317-4CB0-8BF0-F24B753CAFCF}" type="datetimeFigureOut">
              <a:rPr lang="en-CA" smtClean="0"/>
              <a:t>2023-06-15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61655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D4A80508-5317-4CB0-8BF0-F24B753CAFCF}" type="datetimeFigureOut">
              <a:rPr lang="en-CA" smtClean="0"/>
              <a:t>2023-06-15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81206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D4A80508-5317-4CB0-8BF0-F24B753CAFCF}" type="datetimeFigureOut">
              <a:rPr lang="en-CA" smtClean="0"/>
              <a:t>2023-06-15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133582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D4A80508-5317-4CB0-8BF0-F24B753CAFCF}" type="datetimeFigureOut">
              <a:rPr lang="en-CA" smtClean="0"/>
              <a:t>2023-06-15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6266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80508-5317-4CB0-8BF0-F24B753CAFCF}" type="datetimeFigureOut">
              <a:rPr lang="en-CA" smtClean="0"/>
              <a:t>2023-06-15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3046716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2577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2023-06-15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293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52167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2023-06-15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07122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A80508-5317-4CB0-8BF0-F24B753CAFCF}" type="datetimeFigureOut">
              <a:rPr lang="en-CA" smtClean="0"/>
              <a:t>2023-06-15</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0C3AE8-76E1-4D4A-8D26-100D19D5D6B2}" type="slidenum">
              <a:rPr lang="en-CA" smtClean="0"/>
              <a:t>‹#›</a:t>
            </a:fld>
            <a:endParaRPr lang="en-CA"/>
          </a:p>
        </p:txBody>
      </p:sp>
    </p:spTree>
    <p:extLst>
      <p:ext uri="{BB962C8B-B14F-4D97-AF65-F5344CB8AC3E}">
        <p14:creationId xmlns:p14="http://schemas.microsoft.com/office/powerpoint/2010/main" val="670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7691" y="782729"/>
            <a:ext cx="9144000" cy="2387600"/>
          </a:xfrm>
        </p:spPr>
        <p:txBody>
          <a:bodyPr>
            <a:normAutofit/>
          </a:bodyPr>
          <a:lstStyle/>
          <a:p>
            <a:r>
              <a:rPr lang="en-CA" sz="5400" dirty="0">
                <a:solidFill>
                  <a:schemeClr val="accent2"/>
                </a:solidFill>
                <a:latin typeface="Arial" panose="020B0604020202020204" pitchFamily="34" charset="0"/>
                <a:cs typeface="Arial" panose="020B0604020202020204" pitchFamily="34" charset="0"/>
              </a:rPr>
              <a:t>Assessing Clustering Tendency</a:t>
            </a:r>
          </a:p>
        </p:txBody>
      </p:sp>
      <p:pic>
        <p:nvPicPr>
          <p:cNvPr id="4" name="Picture 3"/>
          <p:cNvPicPr>
            <a:picLocks noChangeAspect="1"/>
          </p:cNvPicPr>
          <p:nvPr/>
        </p:nvPicPr>
        <p:blipFill>
          <a:blip r:embed="rId2"/>
          <a:stretch>
            <a:fillRect/>
          </a:stretch>
        </p:blipFill>
        <p:spPr>
          <a:xfrm>
            <a:off x="7889966" y="5784307"/>
            <a:ext cx="4302034" cy="1073693"/>
          </a:xfrm>
          <a:prstGeom prst="rect">
            <a:avLst/>
          </a:prstGeom>
        </p:spPr>
      </p:pic>
    </p:spTree>
    <p:extLst>
      <p:ext uri="{BB962C8B-B14F-4D97-AF65-F5344CB8AC3E}">
        <p14:creationId xmlns:p14="http://schemas.microsoft.com/office/powerpoint/2010/main" val="70370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Assessing Clustering Tendency</a:t>
            </a:r>
          </a:p>
        </p:txBody>
      </p:sp>
      <p:sp>
        <p:nvSpPr>
          <p:cNvPr id="3" name="Content Placeholder 2"/>
          <p:cNvSpPr>
            <a:spLocks noGrp="1"/>
          </p:cNvSpPr>
          <p:nvPr>
            <p:ph idx="1"/>
          </p:nvPr>
        </p:nvSpPr>
        <p:spPr>
          <a:xfrm>
            <a:off x="838200" y="1435507"/>
            <a:ext cx="10515600" cy="4351338"/>
          </a:xfrm>
        </p:spPr>
        <p:txBody>
          <a:bodyPr>
            <a:normAutofit lnSpcReduction="10000"/>
          </a:bodyPr>
          <a:lstStyle/>
          <a:p>
            <a:pPr>
              <a:lnSpc>
                <a:spcPct val="160000"/>
              </a:lnSpc>
            </a:pPr>
            <a:r>
              <a:rPr lang="en-CA" dirty="0">
                <a:latin typeface="Arial" panose="020B0604020202020204" pitchFamily="34" charset="0"/>
                <a:cs typeface="Arial" panose="020B0604020202020204" pitchFamily="34" charset="0"/>
              </a:rPr>
              <a:t>Before applying any clustering algorithm to a data set, the first thing to do is to assess the </a:t>
            </a:r>
            <a:r>
              <a:rPr lang="en-CA" i="1" dirty="0">
                <a:latin typeface="Arial" panose="020B0604020202020204" pitchFamily="34" charset="0"/>
                <a:cs typeface="Arial" panose="020B0604020202020204" pitchFamily="34" charset="0"/>
              </a:rPr>
              <a:t>clustering tendency</a:t>
            </a:r>
            <a:r>
              <a:rPr lang="en-CA" dirty="0">
                <a:latin typeface="Arial" panose="020B0604020202020204" pitchFamily="34" charset="0"/>
                <a:cs typeface="Arial" panose="020B0604020202020204" pitchFamily="34" charset="0"/>
              </a:rPr>
              <a:t>. That is, whether applying clustering is suitable for the data.</a:t>
            </a:r>
          </a:p>
          <a:p>
            <a:pPr>
              <a:lnSpc>
                <a:spcPct val="160000"/>
              </a:lnSpc>
            </a:pPr>
            <a:r>
              <a:rPr lang="en-CA" dirty="0">
                <a:latin typeface="Arial" panose="020B0604020202020204" pitchFamily="34" charset="0"/>
                <a:cs typeface="Arial" panose="020B0604020202020204" pitchFamily="34" charset="0"/>
              </a:rPr>
              <a:t> If yes, then how many clusters are there. </a:t>
            </a:r>
          </a:p>
          <a:p>
            <a:pPr>
              <a:lnSpc>
                <a:spcPct val="160000"/>
              </a:lnSpc>
            </a:pPr>
            <a:r>
              <a:rPr lang="en-CA" dirty="0">
                <a:latin typeface="Arial" panose="020B0604020202020204" pitchFamily="34" charset="0"/>
                <a:cs typeface="Arial" panose="020B0604020202020204" pitchFamily="34" charset="0"/>
              </a:rPr>
              <a:t>Next, you can perform hierarchical clustering or partitioning clustering (with a pre-specified number of clusters</a:t>
            </a:r>
            <a:r>
              <a:rPr lang="en-CA">
                <a:latin typeface="Arial" panose="020B0604020202020204" pitchFamily="34" charset="0"/>
                <a:cs typeface="Arial" panose="020B0604020202020204" pitchFamily="34" charset="0"/>
              </a:rPr>
              <a:t>). </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550409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Assessing Clustering Tendency</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dirty="0">
                <a:latin typeface="Arial" panose="020B0604020202020204" pitchFamily="34" charset="0"/>
                <a:cs typeface="Arial" panose="020B0604020202020204" pitchFamily="34" charset="0"/>
              </a:rPr>
              <a:t>Before applying any clustering method on your data, it’s important to evaluate whether the data sets contains meaningful clusters (i.e.: non-random structures) or not. </a:t>
            </a:r>
          </a:p>
          <a:p>
            <a:pPr>
              <a:lnSpc>
                <a:spcPct val="150000"/>
              </a:lnSpc>
            </a:pPr>
            <a:r>
              <a:rPr lang="en-CA" dirty="0">
                <a:latin typeface="Arial" panose="020B0604020202020204" pitchFamily="34" charset="0"/>
                <a:cs typeface="Arial" panose="020B0604020202020204" pitchFamily="34" charset="0"/>
              </a:rPr>
              <a:t>The process is defined as the assessing of </a:t>
            </a:r>
            <a:r>
              <a:rPr lang="en-CA" b="1" dirty="0">
                <a:latin typeface="Arial" panose="020B0604020202020204" pitchFamily="34" charset="0"/>
                <a:cs typeface="Arial" panose="020B0604020202020204" pitchFamily="34" charset="0"/>
              </a:rPr>
              <a:t>clustering tendency </a:t>
            </a:r>
            <a:r>
              <a:rPr lang="en-CA" dirty="0">
                <a:latin typeface="Arial" panose="020B0604020202020204" pitchFamily="34" charset="0"/>
                <a:cs typeface="Arial" panose="020B0604020202020204" pitchFamily="34" charset="0"/>
              </a:rPr>
              <a:t>or the feasibility of the clustering analysis. </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197762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Assessing Clustering Tendency</a:t>
            </a: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dirty="0">
                <a:latin typeface="Arial" panose="020B0604020202020204" pitchFamily="34" charset="0"/>
                <a:cs typeface="Arial" panose="020B0604020202020204" pitchFamily="34" charset="0"/>
              </a:rPr>
              <a:t>One way to assess whether data contains any meaningful clusters is through visualizations.</a:t>
            </a:r>
          </a:p>
          <a:p>
            <a:pPr>
              <a:lnSpc>
                <a:spcPct val="150000"/>
              </a:lnSpc>
            </a:pPr>
            <a:r>
              <a:rPr lang="en-CA" dirty="0">
                <a:latin typeface="Arial" panose="020B0604020202020204" pitchFamily="34" charset="0"/>
                <a:cs typeface="Arial" panose="020B0604020202020204" pitchFamily="34" charset="0"/>
              </a:rPr>
              <a:t>If the data contain more than two variables, we need to reduce the dimensionality in order to plot a scatter plot.</a:t>
            </a: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02386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Assessing Clustering Tendency</a:t>
            </a:r>
          </a:p>
        </p:txBody>
      </p:sp>
      <p:pic>
        <p:nvPicPr>
          <p:cNvPr id="4" name="Content Placeholder 3"/>
          <p:cNvPicPr>
            <a:picLocks noGrp="1" noChangeAspect="1"/>
          </p:cNvPicPr>
          <p:nvPr>
            <p:ph idx="1"/>
          </p:nvPr>
        </p:nvPicPr>
        <p:blipFill>
          <a:blip r:embed="rId2"/>
          <a:stretch>
            <a:fillRect/>
          </a:stretch>
        </p:blipFill>
        <p:spPr>
          <a:xfrm>
            <a:off x="1345476" y="1418486"/>
            <a:ext cx="8804364" cy="4002599"/>
          </a:xfrm>
          <a:prstGeom prst="rect">
            <a:avLst/>
          </a:prstGeom>
        </p:spPr>
      </p:pic>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363958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Statistical Methods</a:t>
            </a:r>
          </a:p>
        </p:txBody>
      </p:sp>
      <p:sp>
        <p:nvSpPr>
          <p:cNvPr id="3" name="Content Placeholder 2"/>
          <p:cNvSpPr>
            <a:spLocks noGrp="1"/>
          </p:cNvSpPr>
          <p:nvPr>
            <p:ph idx="1"/>
          </p:nvPr>
        </p:nvSpPr>
        <p:spPr>
          <a:xfrm>
            <a:off x="603068" y="1563098"/>
            <a:ext cx="10515600" cy="4351338"/>
          </a:xfrm>
        </p:spPr>
        <p:txBody>
          <a:bodyPr>
            <a:normAutofit/>
          </a:bodyPr>
          <a:lstStyle/>
          <a:p>
            <a:pPr>
              <a:lnSpc>
                <a:spcPct val="150000"/>
              </a:lnSpc>
            </a:pPr>
            <a:r>
              <a:rPr lang="en-CA" dirty="0">
                <a:latin typeface="Arial" panose="020B0604020202020204" pitchFamily="34" charset="0"/>
                <a:cs typeface="Arial" panose="020B0604020202020204" pitchFamily="34" charset="0"/>
              </a:rPr>
              <a:t>We discuss two methods for evaluating the clustering tendency: i) a statistical (</a:t>
            </a:r>
            <a:r>
              <a:rPr lang="en-CA" i="1" dirty="0">
                <a:latin typeface="Arial" panose="020B0604020202020204" pitchFamily="34" charset="0"/>
                <a:cs typeface="Arial" panose="020B0604020202020204" pitchFamily="34" charset="0"/>
              </a:rPr>
              <a:t>Hopkins statistic</a:t>
            </a:r>
            <a:r>
              <a:rPr lang="en-CA" dirty="0">
                <a:latin typeface="Arial" panose="020B0604020202020204" pitchFamily="34" charset="0"/>
                <a:cs typeface="Arial" panose="020B0604020202020204" pitchFamily="34" charset="0"/>
              </a:rPr>
              <a:t>) and ii) a visual methods (</a:t>
            </a:r>
            <a:r>
              <a:rPr lang="en-CA" i="1" dirty="0">
                <a:latin typeface="Arial" panose="020B0604020202020204" pitchFamily="34" charset="0"/>
                <a:cs typeface="Arial" panose="020B0604020202020204" pitchFamily="34" charset="0"/>
              </a:rPr>
              <a:t>Visual Assessment of cluster Tendency </a:t>
            </a:r>
            <a:r>
              <a:rPr lang="en-CA" dirty="0">
                <a:latin typeface="Arial" panose="020B0604020202020204" pitchFamily="34" charset="0"/>
                <a:cs typeface="Arial" panose="020B0604020202020204" pitchFamily="34" charset="0"/>
              </a:rPr>
              <a:t>(VAT) algorithm).</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201134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p:sp>
        <p:nvSpPr>
          <p:cNvPr id="3" name="Content Placeholder 2"/>
          <p:cNvSpPr>
            <a:spLocks noGrp="1"/>
          </p:cNvSpPr>
          <p:nvPr>
            <p:ph idx="1"/>
          </p:nvPr>
        </p:nvSpPr>
        <p:spPr>
          <a:xfrm>
            <a:off x="603068" y="1563098"/>
            <a:ext cx="10515600" cy="4351338"/>
          </a:xfrm>
        </p:spPr>
        <p:txBody>
          <a:bodyPr>
            <a:normAutofit/>
          </a:bodyPr>
          <a:lstStyle/>
          <a:p>
            <a:pPr>
              <a:lnSpc>
                <a:spcPct val="150000"/>
              </a:lnSpc>
            </a:pPr>
            <a:r>
              <a:rPr lang="en-CA" dirty="0">
                <a:latin typeface="Arial" panose="020B0604020202020204" pitchFamily="34" charset="0"/>
                <a:cs typeface="Arial" panose="020B0604020202020204" pitchFamily="34" charset="0"/>
              </a:rPr>
              <a:t>The </a:t>
            </a:r>
            <a:r>
              <a:rPr lang="en-CA" i="1" dirty="0">
                <a:latin typeface="Arial" panose="020B0604020202020204" pitchFamily="34" charset="0"/>
                <a:cs typeface="Arial" panose="020B0604020202020204" pitchFamily="34" charset="0"/>
              </a:rPr>
              <a:t>Hopkins statistic </a:t>
            </a:r>
            <a:r>
              <a:rPr lang="en-CA" dirty="0">
                <a:latin typeface="Arial" panose="020B0604020202020204" pitchFamily="34" charset="0"/>
                <a:cs typeface="Arial" panose="020B0604020202020204" pitchFamily="34" charset="0"/>
              </a:rPr>
              <a:t>is used to assess the clustering tendency of a data set by measuring the probability that a given data set is generated by a uniform data distribution. In other words, it tests the spatial randomness of the data.</a:t>
            </a:r>
          </a:p>
          <a:p>
            <a:pPr>
              <a:lnSpc>
                <a:spcPct val="150000"/>
              </a:lnSpc>
            </a:pPr>
            <a:r>
              <a:rPr lang="en-CA" dirty="0">
                <a:latin typeface="Arial" panose="020B0604020202020204" pitchFamily="34" charset="0"/>
                <a:cs typeface="Arial" panose="020B0604020202020204" pitchFamily="34" charset="0"/>
              </a:rPr>
              <a:t>For example, let </a:t>
            </a:r>
            <a:r>
              <a:rPr lang="en-CA" i="1" dirty="0">
                <a:latin typeface="Arial" panose="020B0604020202020204" pitchFamily="34" charset="0"/>
                <a:cs typeface="Arial" panose="020B0604020202020204" pitchFamily="34" charset="0"/>
              </a:rPr>
              <a:t>D</a:t>
            </a:r>
            <a:r>
              <a:rPr lang="en-CA" dirty="0">
                <a:latin typeface="Arial" panose="020B0604020202020204" pitchFamily="34" charset="0"/>
                <a:cs typeface="Arial" panose="020B0604020202020204" pitchFamily="34" charset="0"/>
              </a:rPr>
              <a:t> be a real data set. The Hopkins statistic can be calculated as follow:</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953243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3068" y="1563098"/>
                <a:ext cx="10515600" cy="4351338"/>
              </a:xfrm>
            </p:spPr>
            <p:txBody>
              <a:bodyPr>
                <a:normAutofit fontScale="92500"/>
              </a:bodyPr>
              <a:lstStyle/>
              <a:p>
                <a:pPr marL="0" indent="0">
                  <a:lnSpc>
                    <a:spcPct val="150000"/>
                  </a:lnSpc>
                  <a:buNone/>
                </a:pPr>
                <a:r>
                  <a:rPr lang="en-CA" dirty="0">
                    <a:latin typeface="Arial" panose="020B0604020202020204" pitchFamily="34" charset="0"/>
                    <a:cs typeface="Arial" panose="020B0604020202020204" pitchFamily="34" charset="0"/>
                  </a:rPr>
                  <a:t>1. Sample uniformly </a:t>
                </a:r>
                <a14:m>
                  <m:oMath xmlns:m="http://schemas.openxmlformats.org/officeDocument/2006/math">
                    <m:r>
                      <a:rPr lang="en-CA" i="1" dirty="0" smtClean="0">
                        <a:latin typeface="Cambria Math" panose="02040503050406030204" pitchFamily="18" charset="0"/>
                        <a:cs typeface="Arial" panose="020B0604020202020204" pitchFamily="34" charset="0"/>
                      </a:rPr>
                      <m:t>𝑛</m:t>
                    </m:r>
                  </m:oMath>
                </a14:m>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points </a:t>
                </a:r>
                <a14:m>
                  <m:oMath xmlns:m="http://schemas.openxmlformats.org/officeDocument/2006/math">
                    <m:r>
                      <a:rPr lang="en-CA" i="1" dirty="0" smtClean="0">
                        <a:latin typeface="Cambria Math" panose="02040503050406030204" pitchFamily="18" charset="0"/>
                        <a:cs typeface="Arial" panose="020B0604020202020204" pitchFamily="34" charset="0"/>
                      </a:rPr>
                      <m:t>(</m:t>
                    </m:r>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𝑝</m:t>
                        </m:r>
                      </m:e>
                      <m:sub>
                        <m:r>
                          <a:rPr lang="en-CA" i="1" dirty="0" smtClean="0">
                            <a:latin typeface="Cambria Math" panose="02040503050406030204" pitchFamily="18" charset="0"/>
                            <a:cs typeface="Arial" panose="020B0604020202020204" pitchFamily="34" charset="0"/>
                          </a:rPr>
                          <m:t>1</m:t>
                        </m:r>
                      </m:sub>
                    </m:sSub>
                    <m:r>
                      <a:rPr lang="en-CA" i="1" dirty="0" smtClean="0">
                        <a:latin typeface="Cambria Math" panose="02040503050406030204" pitchFamily="18" charset="0"/>
                        <a:cs typeface="Arial" panose="020B0604020202020204" pitchFamily="34" charset="0"/>
                      </a:rPr>
                      <m:t>,…, </m:t>
                    </m:r>
                    <m:sSub>
                      <m:sSubPr>
                        <m:ctrlPr>
                          <a:rPr lang="en-CA" b="0" i="1" dirty="0" smtClean="0">
                            <a:latin typeface="Cambria Math" panose="02040503050406030204" pitchFamily="18" charset="0"/>
                            <a:cs typeface="Arial" panose="020B0604020202020204" pitchFamily="34" charset="0"/>
                          </a:rPr>
                        </m:ctrlPr>
                      </m:sSubPr>
                      <m:e>
                        <m:r>
                          <a:rPr lang="en-CA" i="1" dirty="0" err="1">
                            <a:latin typeface="Cambria Math" panose="02040503050406030204" pitchFamily="18" charset="0"/>
                            <a:cs typeface="Arial" panose="020B0604020202020204" pitchFamily="34" charset="0"/>
                          </a:rPr>
                          <m:t>𝑝</m:t>
                        </m:r>
                      </m:e>
                      <m:sub>
                        <m:r>
                          <a:rPr lang="en-CA" i="1" dirty="0" err="1">
                            <a:latin typeface="Cambria Math" panose="02040503050406030204" pitchFamily="18" charset="0"/>
                            <a:cs typeface="Arial" panose="020B0604020202020204" pitchFamily="34" charset="0"/>
                          </a:rPr>
                          <m:t>𝑛</m:t>
                        </m:r>
                      </m:sub>
                    </m:sSub>
                    <m:r>
                      <a:rPr lang="en-CA" i="1" dirty="0">
                        <a:latin typeface="Cambria Math" panose="02040503050406030204" pitchFamily="18" charset="0"/>
                        <a:cs typeface="Arial" panose="020B0604020202020204" pitchFamily="34" charset="0"/>
                      </a:rPr>
                      <m:t>) </m:t>
                    </m:r>
                  </m:oMath>
                </a14:m>
                <a:r>
                  <a:rPr lang="en-CA" dirty="0">
                    <a:latin typeface="Arial" panose="020B0604020202020204" pitchFamily="34" charset="0"/>
                    <a:cs typeface="Arial" panose="020B0604020202020204" pitchFamily="34" charset="0"/>
                  </a:rPr>
                  <a:t>from D.</a:t>
                </a:r>
              </a:p>
              <a:p>
                <a:pPr marL="0" indent="0">
                  <a:lnSpc>
                    <a:spcPct val="150000"/>
                  </a:lnSpc>
                  <a:buNone/>
                </a:pPr>
                <a:r>
                  <a:rPr lang="en-CA" dirty="0">
                    <a:latin typeface="Arial" panose="020B0604020202020204" pitchFamily="34" charset="0"/>
                    <a:cs typeface="Arial" panose="020B0604020202020204" pitchFamily="34" charset="0"/>
                  </a:rPr>
                  <a:t>2. For each point </a:t>
                </a:r>
                <a14:m>
                  <m:oMath xmlns:m="http://schemas.openxmlformats.org/officeDocument/2006/math">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𝑝</m:t>
                        </m:r>
                      </m:e>
                      <m:sub>
                        <m:r>
                          <a:rPr lang="en-CA" i="1" dirty="0" smtClean="0">
                            <a:latin typeface="Cambria Math" panose="02040503050406030204" pitchFamily="18" charset="0"/>
                            <a:cs typeface="Arial" panose="020B0604020202020204" pitchFamily="34" charset="0"/>
                          </a:rPr>
                          <m:t>𝑖</m:t>
                        </m:r>
                      </m:sub>
                    </m:sSub>
                    <m:r>
                      <a:rPr lang="en-CA" i="1" dirty="0" smtClean="0">
                        <a:latin typeface="Cambria Math" panose="02040503050406030204" pitchFamily="18" charset="0"/>
                        <a:cs typeface="Arial" panose="020B0604020202020204" pitchFamily="34" charset="0"/>
                      </a:rPr>
                      <m:t> </m:t>
                    </m:r>
                    <m:r>
                      <a:rPr lang="en-CA" b="0" i="1" smtClean="0">
                        <a:latin typeface="Cambria Math" panose="02040503050406030204" pitchFamily="18" charset="0"/>
                        <a:cs typeface="Arial" panose="020B0604020202020204" pitchFamily="34" charset="0"/>
                      </a:rPr>
                      <m:t>∈</m:t>
                    </m:r>
                  </m:oMath>
                </a14:m>
                <a:r>
                  <a:rPr lang="en-CA" dirty="0">
                    <a:latin typeface="Arial" panose="020B0604020202020204" pitchFamily="34" charset="0"/>
                    <a:cs typeface="Arial" panose="020B0604020202020204" pitchFamily="34" charset="0"/>
                  </a:rPr>
                  <a:t> </a:t>
                </a:r>
                <a14:m>
                  <m:oMath xmlns:m="http://schemas.openxmlformats.org/officeDocument/2006/math">
                    <m:r>
                      <a:rPr lang="en-CA" i="1" dirty="0" smtClean="0">
                        <a:latin typeface="Cambria Math" panose="02040503050406030204" pitchFamily="18" charset="0"/>
                        <a:cs typeface="Arial" panose="020B0604020202020204" pitchFamily="34" charset="0"/>
                      </a:rPr>
                      <m:t>𝐷</m:t>
                    </m:r>
                  </m:oMath>
                </a14:m>
                <a:r>
                  <a:rPr lang="en-CA" dirty="0">
                    <a:latin typeface="Arial" panose="020B0604020202020204" pitchFamily="34" charset="0"/>
                    <a:cs typeface="Arial" panose="020B0604020202020204" pitchFamily="34" charset="0"/>
                  </a:rPr>
                  <a:t>, find it’s nearest neighbor </a:t>
                </a:r>
                <a14:m>
                  <m:oMath xmlns:m="http://schemas.openxmlformats.org/officeDocument/2006/math">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𝑝</m:t>
                        </m:r>
                      </m:e>
                      <m:sub>
                        <m:r>
                          <a:rPr lang="en-CA" i="1" dirty="0" smtClean="0">
                            <a:latin typeface="Cambria Math" panose="02040503050406030204" pitchFamily="18" charset="0"/>
                            <a:cs typeface="Arial" panose="020B0604020202020204" pitchFamily="34" charset="0"/>
                          </a:rPr>
                          <m:t>𝑗</m:t>
                        </m:r>
                      </m:sub>
                    </m:sSub>
                  </m:oMath>
                </a14:m>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 then compute the distance between </a:t>
                </a:r>
                <a14:m>
                  <m:oMath xmlns:m="http://schemas.openxmlformats.org/officeDocument/2006/math">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𝑝</m:t>
                        </m:r>
                      </m:e>
                      <m:sub>
                        <m:r>
                          <a:rPr lang="en-CA" i="1" dirty="0" smtClean="0">
                            <a:latin typeface="Cambria Math" panose="02040503050406030204" pitchFamily="18" charset="0"/>
                            <a:cs typeface="Arial" panose="020B0604020202020204" pitchFamily="34" charset="0"/>
                          </a:rPr>
                          <m:t>𝑖</m:t>
                        </m:r>
                      </m:sub>
                    </m:sSub>
                    <m:r>
                      <a:rPr lang="en-CA" i="1" dirty="0" smtClean="0">
                        <a:latin typeface="Cambria Math" panose="02040503050406030204" pitchFamily="18" charset="0"/>
                        <a:cs typeface="Arial" panose="020B0604020202020204" pitchFamily="34" charset="0"/>
                      </a:rPr>
                      <m:t> </m:t>
                    </m:r>
                  </m:oMath>
                </a14:m>
                <a:r>
                  <a:rPr lang="en-CA" dirty="0">
                    <a:latin typeface="Arial" panose="020B0604020202020204" pitchFamily="34" charset="0"/>
                    <a:cs typeface="Arial" panose="020B0604020202020204" pitchFamily="34" charset="0"/>
                  </a:rPr>
                  <a:t>and </a:t>
                </a:r>
                <a14:m>
                  <m:oMath xmlns:m="http://schemas.openxmlformats.org/officeDocument/2006/math">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𝑝</m:t>
                        </m:r>
                      </m:e>
                      <m:sub>
                        <m:r>
                          <a:rPr lang="en-CA" i="1" dirty="0" smtClean="0">
                            <a:latin typeface="Cambria Math" panose="02040503050406030204" pitchFamily="18" charset="0"/>
                            <a:cs typeface="Arial" panose="020B0604020202020204" pitchFamily="34" charset="0"/>
                          </a:rPr>
                          <m:t>𝑗</m:t>
                        </m:r>
                      </m:sub>
                    </m:sSub>
                  </m:oMath>
                </a14:m>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and denote it as </a:t>
                </a:r>
                <a14:m>
                  <m:oMath xmlns:m="http://schemas.openxmlformats.org/officeDocument/2006/math">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𝑥</m:t>
                        </m:r>
                      </m:e>
                      <m:sub>
                        <m:r>
                          <a:rPr lang="en-CA" i="1" dirty="0" smtClean="0">
                            <a:latin typeface="Cambria Math" panose="02040503050406030204" pitchFamily="18" charset="0"/>
                            <a:cs typeface="Arial" panose="020B0604020202020204" pitchFamily="34" charset="0"/>
                          </a:rPr>
                          <m:t>𝑖</m:t>
                        </m:r>
                      </m:sub>
                    </m:sSub>
                    <m:r>
                      <a:rPr lang="en-CA" i="1" dirty="0" smtClean="0">
                        <a:latin typeface="Cambria Math" panose="02040503050406030204" pitchFamily="18" charset="0"/>
                        <a:cs typeface="Arial" panose="020B0604020202020204" pitchFamily="34" charset="0"/>
                      </a:rPr>
                      <m:t> = </m:t>
                    </m:r>
                    <m:r>
                      <a:rPr lang="en-CA" i="1" dirty="0" err="1">
                        <a:latin typeface="Cambria Math" panose="02040503050406030204" pitchFamily="18" charset="0"/>
                        <a:cs typeface="Arial" panose="020B0604020202020204" pitchFamily="34" charset="0"/>
                      </a:rPr>
                      <m:t>𝑑𝑖𝑠𝑡</m:t>
                    </m:r>
                    <m:r>
                      <a:rPr lang="en-CA" i="1" dirty="0">
                        <a:latin typeface="Cambria Math" panose="02040503050406030204" pitchFamily="18" charset="0"/>
                        <a:cs typeface="Arial" panose="020B0604020202020204" pitchFamily="34" charset="0"/>
                      </a:rPr>
                      <m:t>(</m:t>
                    </m:r>
                    <m:sSub>
                      <m:sSubPr>
                        <m:ctrlPr>
                          <a:rPr lang="en-CA" b="0" i="1" dirty="0" smtClean="0">
                            <a:latin typeface="Cambria Math" panose="02040503050406030204" pitchFamily="18" charset="0"/>
                            <a:cs typeface="Arial" panose="020B0604020202020204" pitchFamily="34" charset="0"/>
                          </a:rPr>
                        </m:ctrlPr>
                      </m:sSubPr>
                      <m:e>
                        <m:r>
                          <a:rPr lang="en-CA" i="1" dirty="0">
                            <a:latin typeface="Cambria Math" panose="02040503050406030204" pitchFamily="18" charset="0"/>
                            <a:cs typeface="Arial" panose="020B0604020202020204" pitchFamily="34" charset="0"/>
                          </a:rPr>
                          <m:t>𝑝</m:t>
                        </m:r>
                      </m:e>
                      <m:sub>
                        <m:r>
                          <a:rPr lang="en-CA" i="1" dirty="0">
                            <a:latin typeface="Cambria Math" panose="02040503050406030204" pitchFamily="18" charset="0"/>
                            <a:cs typeface="Arial" panose="020B0604020202020204" pitchFamily="34" charset="0"/>
                          </a:rPr>
                          <m:t>𝑖</m:t>
                        </m:r>
                      </m:sub>
                    </m:sSub>
                    <m:r>
                      <a:rPr lang="en-CA" i="1" dirty="0">
                        <a:latin typeface="Cambria Math" panose="02040503050406030204" pitchFamily="18" charset="0"/>
                        <a:cs typeface="Arial" panose="020B0604020202020204" pitchFamily="34" charset="0"/>
                      </a:rPr>
                      <m:t>, </m:t>
                    </m:r>
                    <m:sSub>
                      <m:sSubPr>
                        <m:ctrlPr>
                          <a:rPr lang="en-CA" b="0" i="1" dirty="0" smtClean="0">
                            <a:latin typeface="Cambria Math" panose="02040503050406030204" pitchFamily="18" charset="0"/>
                            <a:cs typeface="Arial" panose="020B0604020202020204" pitchFamily="34" charset="0"/>
                          </a:rPr>
                        </m:ctrlPr>
                      </m:sSubPr>
                      <m:e>
                        <m:r>
                          <a:rPr lang="en-CA" i="1" dirty="0" err="1">
                            <a:latin typeface="Cambria Math" panose="02040503050406030204" pitchFamily="18" charset="0"/>
                            <a:cs typeface="Arial" panose="020B0604020202020204" pitchFamily="34" charset="0"/>
                          </a:rPr>
                          <m:t>𝑝</m:t>
                        </m:r>
                      </m:e>
                      <m:sub>
                        <m:r>
                          <a:rPr lang="en-CA" i="1" dirty="0" err="1">
                            <a:latin typeface="Cambria Math" panose="02040503050406030204" pitchFamily="18" charset="0"/>
                            <a:cs typeface="Arial" panose="020B0604020202020204" pitchFamily="34" charset="0"/>
                          </a:rPr>
                          <m:t>𝑗</m:t>
                        </m:r>
                      </m:sub>
                    </m:sSub>
                    <m:r>
                      <a:rPr lang="en-CA" i="1" dirty="0">
                        <a:latin typeface="Cambria Math" panose="02040503050406030204" pitchFamily="18" charset="0"/>
                        <a:cs typeface="Arial" panose="020B0604020202020204" pitchFamily="34" charset="0"/>
                      </a:rPr>
                      <m:t>)</m:t>
                    </m:r>
                  </m:oMath>
                </a14:m>
                <a:endParaRPr lang="en-CA" dirty="0">
                  <a:latin typeface="Arial" panose="020B0604020202020204" pitchFamily="34" charset="0"/>
                  <a:cs typeface="Arial" panose="020B0604020202020204" pitchFamily="34" charset="0"/>
                </a:endParaRPr>
              </a:p>
              <a:p>
                <a:pPr marL="0" indent="0">
                  <a:lnSpc>
                    <a:spcPct val="150000"/>
                  </a:lnSpc>
                  <a:buNone/>
                </a:pPr>
                <a:r>
                  <a:rPr lang="en-CA" dirty="0">
                    <a:latin typeface="Arial" panose="020B0604020202020204" pitchFamily="34" charset="0"/>
                    <a:cs typeface="Arial" panose="020B0604020202020204" pitchFamily="34" charset="0"/>
                  </a:rPr>
                  <a:t>3. Generate a simulated data set </a:t>
                </a:r>
                <a14:m>
                  <m:oMath xmlns:m="http://schemas.openxmlformats.org/officeDocument/2006/math">
                    <m:r>
                      <a:rPr lang="en-CA" i="1" dirty="0" smtClean="0">
                        <a:latin typeface="Cambria Math" panose="02040503050406030204" pitchFamily="18" charset="0"/>
                        <a:cs typeface="Arial" panose="020B0604020202020204" pitchFamily="34" charset="0"/>
                      </a:rPr>
                      <m:t>(</m:t>
                    </m:r>
                    <m:r>
                      <a:rPr lang="en-CA" i="1" dirty="0" err="1">
                        <a:latin typeface="Cambria Math" panose="02040503050406030204" pitchFamily="18" charset="0"/>
                        <a:cs typeface="Arial" panose="020B0604020202020204" pitchFamily="34" charset="0"/>
                      </a:rPr>
                      <m:t>𝑟𝑎𝑛𝑑𝑜</m:t>
                    </m:r>
                    <m:sSub>
                      <m:sSubPr>
                        <m:ctrlPr>
                          <a:rPr lang="en-CA" b="0" i="1" dirty="0" smtClean="0">
                            <a:latin typeface="Cambria Math" panose="02040503050406030204" pitchFamily="18" charset="0"/>
                            <a:cs typeface="Arial" panose="020B0604020202020204" pitchFamily="34" charset="0"/>
                          </a:rPr>
                        </m:ctrlPr>
                      </m:sSubPr>
                      <m:e>
                        <m:r>
                          <a:rPr lang="en-CA" i="1" dirty="0" err="1">
                            <a:latin typeface="Cambria Math" panose="02040503050406030204" pitchFamily="18" charset="0"/>
                            <a:cs typeface="Arial" panose="020B0604020202020204" pitchFamily="34" charset="0"/>
                          </a:rPr>
                          <m:t>𝑚</m:t>
                        </m:r>
                      </m:e>
                      <m:sub>
                        <m:r>
                          <a:rPr lang="en-CA" i="1" dirty="0" err="1">
                            <a:latin typeface="Cambria Math" panose="02040503050406030204" pitchFamily="18" charset="0"/>
                            <a:cs typeface="Arial" panose="020B0604020202020204" pitchFamily="34" charset="0"/>
                          </a:rPr>
                          <m:t>𝐷</m:t>
                        </m:r>
                      </m:sub>
                    </m:sSub>
                  </m:oMath>
                </a14:m>
                <a:r>
                  <a:rPr lang="en-CA" dirty="0">
                    <a:latin typeface="Arial" panose="020B0604020202020204" pitchFamily="34" charset="0"/>
                    <a:cs typeface="Arial" panose="020B0604020202020204" pitchFamily="34" charset="0"/>
                  </a:rPr>
                  <a:t>) drawn from a random uniform distribution with </a:t>
                </a:r>
                <a14:m>
                  <m:oMath xmlns:m="http://schemas.openxmlformats.org/officeDocument/2006/math">
                    <m:r>
                      <a:rPr lang="en-CA" i="1" dirty="0" smtClean="0">
                        <a:latin typeface="Cambria Math" panose="02040503050406030204" pitchFamily="18" charset="0"/>
                        <a:cs typeface="Arial" panose="020B0604020202020204" pitchFamily="34" charset="0"/>
                      </a:rPr>
                      <m:t>𝑛</m:t>
                    </m:r>
                  </m:oMath>
                </a14:m>
                <a:r>
                  <a:rPr lang="en-CA" i="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points </a:t>
                </a:r>
                <a14:m>
                  <m:oMath xmlns:m="http://schemas.openxmlformats.org/officeDocument/2006/math">
                    <m:r>
                      <a:rPr lang="en-CA" i="1" dirty="0" smtClean="0">
                        <a:latin typeface="Cambria Math" panose="02040503050406030204" pitchFamily="18" charset="0"/>
                        <a:cs typeface="Arial" panose="020B0604020202020204" pitchFamily="34" charset="0"/>
                      </a:rPr>
                      <m:t>(</m:t>
                    </m:r>
                    <m:sSub>
                      <m:sSubPr>
                        <m:ctrlPr>
                          <a:rPr lang="en-CA" b="0" i="1" dirty="0" smtClean="0">
                            <a:latin typeface="Cambria Math" panose="02040503050406030204" pitchFamily="18" charset="0"/>
                            <a:cs typeface="Arial" panose="020B0604020202020204" pitchFamily="34" charset="0"/>
                          </a:rPr>
                        </m:ctrlPr>
                      </m:sSubPr>
                      <m:e>
                        <m:r>
                          <a:rPr lang="en-CA" i="1" dirty="0" smtClean="0">
                            <a:latin typeface="Cambria Math" panose="02040503050406030204" pitchFamily="18" charset="0"/>
                            <a:cs typeface="Arial" panose="020B0604020202020204" pitchFamily="34" charset="0"/>
                          </a:rPr>
                          <m:t>𝑞</m:t>
                        </m:r>
                      </m:e>
                      <m:sub>
                        <m:r>
                          <a:rPr lang="en-CA" i="1" dirty="0" smtClean="0">
                            <a:latin typeface="Cambria Math" panose="02040503050406030204" pitchFamily="18" charset="0"/>
                            <a:cs typeface="Arial" panose="020B0604020202020204" pitchFamily="34" charset="0"/>
                          </a:rPr>
                          <m:t>1</m:t>
                        </m:r>
                      </m:sub>
                    </m:sSub>
                    <m:r>
                      <a:rPr lang="en-CA" i="1" dirty="0" smtClean="0">
                        <a:latin typeface="Cambria Math" panose="02040503050406030204" pitchFamily="18" charset="0"/>
                        <a:cs typeface="Arial" panose="020B0604020202020204" pitchFamily="34" charset="0"/>
                      </a:rPr>
                      <m:t>,…, </m:t>
                    </m:r>
                    <m:sSub>
                      <m:sSubPr>
                        <m:ctrlPr>
                          <a:rPr lang="en-CA" b="0" i="1" dirty="0" smtClean="0">
                            <a:latin typeface="Cambria Math" panose="02040503050406030204" pitchFamily="18" charset="0"/>
                            <a:cs typeface="Arial" panose="020B0604020202020204" pitchFamily="34" charset="0"/>
                          </a:rPr>
                        </m:ctrlPr>
                      </m:sSubPr>
                      <m:e>
                        <m:r>
                          <a:rPr lang="en-CA" i="1" dirty="0" err="1">
                            <a:latin typeface="Cambria Math" panose="02040503050406030204" pitchFamily="18" charset="0"/>
                            <a:cs typeface="Arial" panose="020B0604020202020204" pitchFamily="34" charset="0"/>
                          </a:rPr>
                          <m:t>𝑞</m:t>
                        </m:r>
                      </m:e>
                      <m:sub>
                        <m:r>
                          <a:rPr lang="en-CA" i="1" dirty="0" err="1">
                            <a:latin typeface="Cambria Math" panose="02040503050406030204" pitchFamily="18" charset="0"/>
                            <a:cs typeface="Arial" panose="020B0604020202020204" pitchFamily="34" charset="0"/>
                          </a:rPr>
                          <m:t>𝑛</m:t>
                        </m:r>
                      </m:sub>
                    </m:sSub>
                    <m:r>
                      <a:rPr lang="en-CA" i="1" dirty="0">
                        <a:latin typeface="Cambria Math" panose="02040503050406030204" pitchFamily="18" charset="0"/>
                        <a:cs typeface="Arial" panose="020B0604020202020204" pitchFamily="34" charset="0"/>
                      </a:rPr>
                      <m:t>) </m:t>
                    </m:r>
                  </m:oMath>
                </a14:m>
                <a:r>
                  <a:rPr lang="en-CA" dirty="0">
                    <a:latin typeface="Arial" panose="020B0604020202020204" pitchFamily="34" charset="0"/>
                    <a:cs typeface="Arial" panose="020B0604020202020204" pitchFamily="34" charset="0"/>
                  </a:rPr>
                  <a:t>and the same variation as the original real data set 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3068" y="1563098"/>
                <a:ext cx="10515600" cy="4351338"/>
              </a:xfrm>
              <a:blipFill>
                <a:blip r:embed="rId2"/>
                <a:stretch>
                  <a:fillRect l="-1043" r="-406"/>
                </a:stretch>
              </a:blipFill>
            </p:spPr>
            <p:txBody>
              <a:bodyPr/>
              <a:lstStyle/>
              <a:p>
                <a:r>
                  <a:rPr lang="en-CA">
                    <a:noFill/>
                  </a:rPr>
                  <a:t> </a:t>
                </a:r>
              </a:p>
            </p:txBody>
          </p:sp>
        </mc:Fallback>
      </mc:AlternateContent>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946108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3068" y="1563098"/>
                <a:ext cx="10515600" cy="4351338"/>
              </a:xfrm>
            </p:spPr>
            <p:txBody>
              <a:bodyPr>
                <a:noAutofit/>
              </a:bodyPr>
              <a:lstStyle/>
              <a:p>
                <a:pPr marL="0" indent="0">
                  <a:lnSpc>
                    <a:spcPct val="170000"/>
                  </a:lnSpc>
                  <a:buNone/>
                </a:pPr>
                <a:r>
                  <a:rPr lang="en-CA" sz="2400" dirty="0">
                    <a:latin typeface="Arial" panose="020B0604020202020204" pitchFamily="34" charset="0"/>
                    <a:cs typeface="Arial" panose="020B0604020202020204" pitchFamily="34" charset="0"/>
                  </a:rPr>
                  <a:t>4. For each point </a:t>
                </a:r>
                <a14:m>
                  <m:oMath xmlns:m="http://schemas.openxmlformats.org/officeDocument/2006/math">
                    <m:sSub>
                      <m:sSubPr>
                        <m:ctrlPr>
                          <a:rPr lang="en-CA" sz="2400" i="1" dirty="0">
                            <a:latin typeface="Cambria Math" panose="02040503050406030204" pitchFamily="18" charset="0"/>
                            <a:cs typeface="Arial" panose="020B0604020202020204" pitchFamily="34" charset="0"/>
                          </a:rPr>
                        </m:ctrlPr>
                      </m:sSubPr>
                      <m:e>
                        <m:r>
                          <a:rPr lang="en-CA" sz="2400" b="0" i="1" dirty="0" smtClean="0">
                            <a:latin typeface="Cambria Math" panose="02040503050406030204" pitchFamily="18" charset="0"/>
                            <a:cs typeface="Arial" panose="020B0604020202020204" pitchFamily="34" charset="0"/>
                          </a:rPr>
                          <m:t>𝑞</m:t>
                        </m:r>
                      </m:e>
                      <m:sub>
                        <m:r>
                          <a:rPr lang="en-CA" sz="2400" i="1" dirty="0">
                            <a:latin typeface="Cambria Math" panose="02040503050406030204" pitchFamily="18" charset="0"/>
                            <a:cs typeface="Arial" panose="020B0604020202020204" pitchFamily="34" charset="0"/>
                          </a:rPr>
                          <m:t>𝑖</m:t>
                        </m:r>
                      </m:sub>
                    </m:sSub>
                    <m:r>
                      <a:rPr lang="en-CA" sz="2400" i="1" dirty="0">
                        <a:latin typeface="Cambria Math" panose="02040503050406030204" pitchFamily="18" charset="0"/>
                        <a:cs typeface="Arial" panose="020B0604020202020204" pitchFamily="34" charset="0"/>
                      </a:rPr>
                      <m:t> </m:t>
                    </m:r>
                    <m:r>
                      <a:rPr lang="en-CA" sz="2400" i="1">
                        <a:latin typeface="Cambria Math" panose="02040503050406030204" pitchFamily="18" charset="0"/>
                        <a:cs typeface="Arial" panose="020B0604020202020204" pitchFamily="34" charset="0"/>
                      </a:rPr>
                      <m:t>∈</m:t>
                    </m:r>
                  </m:oMath>
                </a14:m>
                <a:r>
                  <a:rPr lang="en-CA" sz="2400" dirty="0">
                    <a:latin typeface="Arial" panose="020B0604020202020204" pitchFamily="34" charset="0"/>
                    <a:cs typeface="Arial" panose="020B0604020202020204" pitchFamily="34" charset="0"/>
                  </a:rPr>
                  <a:t> </a:t>
                </a:r>
                <a14:m>
                  <m:oMath xmlns:m="http://schemas.openxmlformats.org/officeDocument/2006/math">
                    <m:sSub>
                      <m:sSubPr>
                        <m:ctrlPr>
                          <a:rPr lang="en-CA" sz="2400" b="0" i="1" dirty="0" smtClean="0">
                            <a:latin typeface="Cambria Math" panose="02040503050406030204" pitchFamily="18" charset="0"/>
                            <a:cs typeface="Arial" panose="020B0604020202020204" pitchFamily="34" charset="0"/>
                          </a:rPr>
                        </m:ctrlPr>
                      </m:sSubPr>
                      <m:e>
                        <m:r>
                          <m:rPr>
                            <m:sty m:val="p"/>
                          </m:rPr>
                          <a:rPr lang="en-CA" sz="2400" b="0" i="0" dirty="0" smtClean="0">
                            <a:latin typeface="Cambria Math" panose="02040503050406030204" pitchFamily="18" charset="0"/>
                            <a:cs typeface="Arial" panose="020B0604020202020204" pitchFamily="34" charset="0"/>
                          </a:rPr>
                          <m:t>random</m:t>
                        </m:r>
                      </m:e>
                      <m:sub>
                        <m:r>
                          <a:rPr lang="en-CA" sz="2400" i="1" dirty="0">
                            <a:latin typeface="Cambria Math" panose="02040503050406030204" pitchFamily="18" charset="0"/>
                            <a:cs typeface="Arial" panose="020B0604020202020204" pitchFamily="34" charset="0"/>
                          </a:rPr>
                          <m:t>𝐷</m:t>
                        </m:r>
                      </m:sub>
                    </m:sSub>
                  </m:oMath>
                </a14:m>
                <a:r>
                  <a:rPr lang="en-CA" sz="2400" dirty="0">
                    <a:latin typeface="Arial" panose="020B0604020202020204" pitchFamily="34" charset="0"/>
                    <a:cs typeface="Arial" panose="020B0604020202020204" pitchFamily="34" charset="0"/>
                  </a:rPr>
                  <a:t>, find it’s nearest neighbor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𝑞</m:t>
                        </m:r>
                      </m:e>
                      <m:sub>
                        <m:r>
                          <a:rPr lang="en-CA" sz="2400" i="1" dirty="0" smtClean="0">
                            <a:latin typeface="Cambria Math" panose="02040503050406030204" pitchFamily="18" charset="0"/>
                          </a:rPr>
                          <m:t>𝑗</m:t>
                        </m:r>
                      </m:sub>
                    </m:sSub>
                  </m:oMath>
                </a14:m>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in D; then compute the distance between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𝑞</m:t>
                        </m:r>
                      </m:e>
                      <m:sub>
                        <m:r>
                          <a:rPr lang="en-CA" sz="2400" i="1" dirty="0" smtClean="0">
                            <a:latin typeface="Cambria Math" panose="02040503050406030204" pitchFamily="18" charset="0"/>
                          </a:rPr>
                          <m:t>𝑖</m:t>
                        </m:r>
                      </m:sub>
                    </m:sSub>
                  </m:oMath>
                </a14:m>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and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𝑞</m:t>
                        </m:r>
                      </m:e>
                      <m:sub>
                        <m:r>
                          <a:rPr lang="en-CA" sz="2400" i="1" dirty="0" smtClean="0">
                            <a:latin typeface="Cambria Math" panose="02040503050406030204" pitchFamily="18" charset="0"/>
                          </a:rPr>
                          <m:t>𝑗</m:t>
                        </m:r>
                      </m:sub>
                    </m:sSub>
                  </m:oMath>
                </a14:m>
                <a:r>
                  <a:rPr lang="en-CA" sz="2400" i="1" dirty="0">
                    <a:latin typeface="Arial" panose="020B0604020202020204" pitchFamily="34" charset="0"/>
                    <a:cs typeface="Arial" panose="020B0604020202020204" pitchFamily="34" charset="0"/>
                  </a:rPr>
                  <a:t> </a:t>
                </a:r>
                <a:r>
                  <a:rPr lang="en-CA" sz="2400" dirty="0">
                    <a:latin typeface="Arial" panose="020B0604020202020204" pitchFamily="34" charset="0"/>
                    <a:cs typeface="Arial" panose="020B0604020202020204" pitchFamily="34" charset="0"/>
                  </a:rPr>
                  <a:t>and denote it </a:t>
                </a:r>
                <a14:m>
                  <m:oMath xmlns:m="http://schemas.openxmlformats.org/officeDocument/2006/math">
                    <m:sSub>
                      <m:sSubPr>
                        <m:ctrlPr>
                          <a:rPr lang="en-CA" sz="2400" b="0" i="1" dirty="0" smtClean="0">
                            <a:latin typeface="Cambria Math" panose="02040503050406030204" pitchFamily="18" charset="0"/>
                          </a:rPr>
                        </m:ctrlPr>
                      </m:sSubPr>
                      <m:e>
                        <m:r>
                          <a:rPr lang="en-CA" sz="2400" i="1" dirty="0" smtClean="0">
                            <a:latin typeface="Cambria Math" panose="02040503050406030204" pitchFamily="18" charset="0"/>
                          </a:rPr>
                          <m:t>𝑦</m:t>
                        </m:r>
                      </m:e>
                      <m:sub>
                        <m:r>
                          <a:rPr lang="en-CA" sz="2400" i="1" dirty="0" smtClean="0">
                            <a:latin typeface="Cambria Math" panose="02040503050406030204" pitchFamily="18" charset="0"/>
                          </a:rPr>
                          <m:t>𝑖</m:t>
                        </m:r>
                      </m:sub>
                    </m:sSub>
                    <m:r>
                      <a:rPr lang="en-CA" sz="2400" i="1" dirty="0">
                        <a:latin typeface="Cambria Math" panose="02040503050406030204" pitchFamily="18" charset="0"/>
                      </a:rPr>
                      <m:t> = </m:t>
                    </m:r>
                    <m:r>
                      <a:rPr lang="en-CA" sz="2400" i="1" dirty="0" err="1">
                        <a:latin typeface="Cambria Math" panose="02040503050406030204" pitchFamily="18" charset="0"/>
                      </a:rPr>
                      <m:t>𝑑𝑖𝑠𝑡</m:t>
                    </m:r>
                    <m:r>
                      <a:rPr lang="en-CA" sz="2400" i="1" dirty="0">
                        <a:latin typeface="Cambria Math" panose="02040503050406030204" pitchFamily="18" charset="0"/>
                      </a:rPr>
                      <m:t>(</m:t>
                    </m:r>
                    <m:sSub>
                      <m:sSubPr>
                        <m:ctrlPr>
                          <a:rPr lang="en-CA" sz="2400" b="0" i="1" dirty="0" smtClean="0">
                            <a:latin typeface="Cambria Math" panose="02040503050406030204" pitchFamily="18" charset="0"/>
                          </a:rPr>
                        </m:ctrlPr>
                      </m:sSubPr>
                      <m:e>
                        <m:r>
                          <a:rPr lang="en-CA" sz="2400" i="1" dirty="0">
                            <a:latin typeface="Cambria Math" panose="02040503050406030204" pitchFamily="18" charset="0"/>
                          </a:rPr>
                          <m:t>𝑞</m:t>
                        </m:r>
                      </m:e>
                      <m:sub>
                        <m:r>
                          <a:rPr lang="en-CA" sz="2400" i="1" dirty="0">
                            <a:latin typeface="Cambria Math" panose="02040503050406030204" pitchFamily="18" charset="0"/>
                          </a:rPr>
                          <m:t>𝑖</m:t>
                        </m:r>
                      </m:sub>
                    </m:sSub>
                    <m:r>
                      <a:rPr lang="en-CA" sz="2400" i="1" dirty="0">
                        <a:latin typeface="Cambria Math" panose="02040503050406030204" pitchFamily="18" charset="0"/>
                      </a:rPr>
                      <m:t>, </m:t>
                    </m:r>
                    <m:sSub>
                      <m:sSubPr>
                        <m:ctrlPr>
                          <a:rPr lang="en-CA" sz="2400" b="0" i="1" dirty="0" smtClean="0">
                            <a:latin typeface="Cambria Math" panose="02040503050406030204" pitchFamily="18" charset="0"/>
                          </a:rPr>
                        </m:ctrlPr>
                      </m:sSubPr>
                      <m:e>
                        <m:r>
                          <a:rPr lang="en-CA" sz="2400" b="0" i="1" dirty="0" smtClean="0">
                            <a:latin typeface="Cambria Math" panose="02040503050406030204" pitchFamily="18" charset="0"/>
                          </a:rPr>
                          <m:t>𝑞</m:t>
                        </m:r>
                      </m:e>
                      <m:sub>
                        <m:r>
                          <a:rPr lang="en-CA" sz="2400" i="1" dirty="0" err="1">
                            <a:latin typeface="Cambria Math" panose="02040503050406030204" pitchFamily="18" charset="0"/>
                          </a:rPr>
                          <m:t>𝑗</m:t>
                        </m:r>
                      </m:sub>
                    </m:sSub>
                    <m:r>
                      <a:rPr lang="en-CA" sz="2400" i="1" dirty="0" smtClean="0">
                        <a:latin typeface="Cambria Math" panose="02040503050406030204" pitchFamily="18" charset="0"/>
                      </a:rPr>
                      <m:t>)</m:t>
                    </m:r>
                  </m:oMath>
                </a14:m>
                <a:endParaRPr lang="en-CA" sz="2400" dirty="0">
                  <a:latin typeface="Arial" panose="020B0604020202020204" pitchFamily="34" charset="0"/>
                  <a:cs typeface="Arial" panose="020B0604020202020204" pitchFamily="34" charset="0"/>
                </a:endParaRPr>
              </a:p>
              <a:p>
                <a:pPr marL="0" indent="0">
                  <a:buNone/>
                </a:pPr>
                <a:endParaRPr lang="en-CA" sz="2400" dirty="0">
                  <a:latin typeface="Arial" panose="020B0604020202020204" pitchFamily="34" charset="0"/>
                  <a:cs typeface="Arial" panose="020B0604020202020204" pitchFamily="34" charset="0"/>
                </a:endParaRPr>
              </a:p>
              <a:p>
                <a:pPr marL="0" indent="0">
                  <a:lnSpc>
                    <a:spcPct val="160000"/>
                  </a:lnSpc>
                  <a:buNone/>
                </a:pPr>
                <a:r>
                  <a:rPr lang="en-CA" sz="2400" dirty="0">
                    <a:latin typeface="Arial" panose="020B0604020202020204" pitchFamily="34" charset="0"/>
                    <a:cs typeface="Arial" panose="020B0604020202020204" pitchFamily="34" charset="0"/>
                  </a:rPr>
                  <a:t>5. Calculate the Hopkins statistic (H) as the mean nearest neighbor distance in the random data set divided by the sum of the mean nearest neighbor distances in the real and across the simulated data set.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3068" y="1563098"/>
                <a:ext cx="10515600" cy="4351338"/>
              </a:xfrm>
              <a:blipFill>
                <a:blip r:embed="rId3"/>
                <a:stretch>
                  <a:fillRect l="-928" r="-1101"/>
                </a:stretch>
              </a:blipFill>
            </p:spPr>
            <p:txBody>
              <a:bodyPr/>
              <a:lstStyle/>
              <a:p>
                <a:r>
                  <a:rPr lang="en-CA">
                    <a:noFill/>
                  </a:rPr>
                  <a:t> </a:t>
                </a:r>
              </a:p>
            </p:txBody>
          </p:sp>
        </mc:Fallback>
      </mc:AlternateContent>
    </p:spTree>
    <p:extLst>
      <p:ext uri="{BB962C8B-B14F-4D97-AF65-F5344CB8AC3E}">
        <p14:creationId xmlns:p14="http://schemas.microsoft.com/office/powerpoint/2010/main" val="3705384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3068" y="1563098"/>
                <a:ext cx="10515600" cy="4351338"/>
              </a:xfrm>
            </p:spPr>
            <p:txBody>
              <a:bodyPr>
                <a:noAutofit/>
              </a:bodyPr>
              <a:lstStyle/>
              <a:p>
                <a:pPr marL="0" indent="0">
                  <a:lnSpc>
                    <a:spcPct val="170000"/>
                  </a:lnSpc>
                  <a:buNone/>
                </a:pPr>
                <a:r>
                  <a:rPr lang="en-CA" sz="2400" dirty="0">
                    <a:latin typeface="Arial" panose="020B0604020202020204" pitchFamily="34" charset="0"/>
                    <a:cs typeface="Arial" panose="020B0604020202020204" pitchFamily="34" charset="0"/>
                  </a:rPr>
                  <a:t>The formula is defined as follow:</a:t>
                </a:r>
              </a:p>
              <a:p>
                <a:pPr marL="0" indent="0">
                  <a:lnSpc>
                    <a:spcPct val="170000"/>
                  </a:lnSpc>
                  <a:buNone/>
                </a:pPr>
                <a:endParaRPr lang="en-CA" sz="2400" dirty="0">
                  <a:latin typeface="Arial" panose="020B0604020202020204" pitchFamily="34" charset="0"/>
                  <a:cs typeface="Arial" panose="020B0604020202020204" pitchFamily="34" charset="0"/>
                </a:endParaRPr>
              </a:p>
              <a:p>
                <a:pPr marL="0" indent="0">
                  <a:lnSpc>
                    <a:spcPct val="170000"/>
                  </a:lnSpc>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cs typeface="Arial" panose="020B0604020202020204" pitchFamily="34" charset="0"/>
                        </a:rPr>
                        <m:t>𝐻</m:t>
                      </m:r>
                      <m:r>
                        <a:rPr lang="en-CA" sz="2400" b="0" i="1" smtClean="0">
                          <a:latin typeface="Cambria Math" panose="02040503050406030204" pitchFamily="18" charset="0"/>
                          <a:cs typeface="Arial" panose="020B0604020202020204" pitchFamily="34" charset="0"/>
                        </a:rPr>
                        <m:t>=</m:t>
                      </m:r>
                      <m:f>
                        <m:fPr>
                          <m:ctrlPr>
                            <a:rPr lang="en-CA" sz="2400" b="0" i="1" smtClean="0">
                              <a:latin typeface="Cambria Math" panose="02040503050406030204" pitchFamily="18" charset="0"/>
                              <a:cs typeface="Arial" panose="020B0604020202020204" pitchFamily="34" charset="0"/>
                            </a:rPr>
                          </m:ctrlPr>
                        </m:fPr>
                        <m:num>
                          <m:nary>
                            <m:naryPr>
                              <m:chr m:val="∑"/>
                              <m:ctrlPr>
                                <a:rPr lang="en-CA" sz="2400" b="0" i="1" smtClean="0">
                                  <a:latin typeface="Cambria Math" panose="02040503050406030204" pitchFamily="18" charset="0"/>
                                  <a:cs typeface="Arial" panose="020B0604020202020204" pitchFamily="34" charset="0"/>
                                </a:rPr>
                              </m:ctrlPr>
                            </m:naryPr>
                            <m:sub>
                              <m:r>
                                <m:rPr>
                                  <m:brk m:alnAt="23"/>
                                </m:rPr>
                                <a:rPr lang="en-CA" sz="2400" b="0" i="1" smtClean="0">
                                  <a:latin typeface="Cambria Math" panose="02040503050406030204" pitchFamily="18" charset="0"/>
                                  <a:cs typeface="Arial" panose="020B0604020202020204" pitchFamily="34" charset="0"/>
                                </a:rPr>
                                <m:t>𝑖</m:t>
                              </m:r>
                              <m:r>
                                <a:rPr lang="en-CA" sz="2400" b="0" i="1" smtClean="0">
                                  <a:latin typeface="Cambria Math" panose="02040503050406030204" pitchFamily="18" charset="0"/>
                                  <a:cs typeface="Arial" panose="020B0604020202020204" pitchFamily="34" charset="0"/>
                                </a:rPr>
                                <m:t>=1</m:t>
                              </m:r>
                            </m:sub>
                            <m:sup>
                              <m:r>
                                <a:rPr lang="en-CA" sz="2400" b="0" i="1" smtClean="0">
                                  <a:latin typeface="Cambria Math" panose="02040503050406030204" pitchFamily="18" charset="0"/>
                                  <a:cs typeface="Arial" panose="020B0604020202020204" pitchFamily="34" charset="0"/>
                                </a:rPr>
                                <m:t>𝑛</m:t>
                              </m:r>
                            </m:sup>
                            <m:e>
                              <m:sSub>
                                <m:sSubPr>
                                  <m:ctrlPr>
                                    <a:rPr lang="en-CA" sz="2400" b="0" i="1" smtClean="0">
                                      <a:latin typeface="Cambria Math" panose="02040503050406030204" pitchFamily="18" charset="0"/>
                                      <a:cs typeface="Arial" panose="020B0604020202020204" pitchFamily="34" charset="0"/>
                                    </a:rPr>
                                  </m:ctrlPr>
                                </m:sSubPr>
                                <m:e>
                                  <m:r>
                                    <a:rPr lang="en-CA" sz="2400" b="0" i="1" smtClean="0">
                                      <a:latin typeface="Cambria Math" panose="02040503050406030204" pitchFamily="18" charset="0"/>
                                      <a:cs typeface="Arial" panose="020B0604020202020204" pitchFamily="34" charset="0"/>
                                    </a:rPr>
                                    <m:t>𝑦</m:t>
                                  </m:r>
                                </m:e>
                                <m:sub>
                                  <m:r>
                                    <a:rPr lang="en-CA" sz="2400" b="0" i="1" smtClean="0">
                                      <a:latin typeface="Cambria Math" panose="02040503050406030204" pitchFamily="18" charset="0"/>
                                      <a:cs typeface="Arial" panose="020B0604020202020204" pitchFamily="34" charset="0"/>
                                    </a:rPr>
                                    <m:t>𝑖</m:t>
                                  </m:r>
                                </m:sub>
                              </m:sSub>
                            </m:e>
                          </m:nary>
                        </m:num>
                        <m:den>
                          <m:nary>
                            <m:naryPr>
                              <m:chr m:val="∑"/>
                              <m:ctrlPr>
                                <a:rPr lang="en-CA" sz="2400" i="1">
                                  <a:latin typeface="Cambria Math" panose="02040503050406030204" pitchFamily="18" charset="0"/>
                                  <a:cs typeface="Arial" panose="020B0604020202020204" pitchFamily="34" charset="0"/>
                                </a:rPr>
                              </m:ctrlPr>
                            </m:naryPr>
                            <m:sub>
                              <m:r>
                                <m:rPr>
                                  <m:brk m:alnAt="23"/>
                                </m:rPr>
                                <a:rPr lang="en-CA" sz="2400" i="1">
                                  <a:latin typeface="Cambria Math" panose="02040503050406030204" pitchFamily="18" charset="0"/>
                                  <a:cs typeface="Arial" panose="020B0604020202020204" pitchFamily="34" charset="0"/>
                                </a:rPr>
                                <m:t>𝑖</m:t>
                              </m:r>
                              <m:r>
                                <a:rPr lang="en-CA" sz="2400" i="1">
                                  <a:latin typeface="Cambria Math" panose="02040503050406030204" pitchFamily="18" charset="0"/>
                                  <a:cs typeface="Arial" panose="020B0604020202020204" pitchFamily="34" charset="0"/>
                                </a:rPr>
                                <m:t>=1</m:t>
                              </m:r>
                            </m:sub>
                            <m:sup>
                              <m:r>
                                <a:rPr lang="en-CA" sz="2400" i="1">
                                  <a:latin typeface="Cambria Math" panose="02040503050406030204" pitchFamily="18" charset="0"/>
                                  <a:cs typeface="Arial" panose="020B0604020202020204" pitchFamily="34" charset="0"/>
                                </a:rPr>
                                <m:t>𝑛</m:t>
                              </m:r>
                            </m:sup>
                            <m:e>
                              <m:sSub>
                                <m:sSubPr>
                                  <m:ctrlPr>
                                    <a:rPr lang="en-CA" sz="2400" i="1">
                                      <a:latin typeface="Cambria Math" panose="02040503050406030204" pitchFamily="18" charset="0"/>
                                      <a:cs typeface="Arial" panose="020B0604020202020204" pitchFamily="34" charset="0"/>
                                    </a:rPr>
                                  </m:ctrlPr>
                                </m:sSubPr>
                                <m:e>
                                  <m:r>
                                    <a:rPr lang="en-CA" sz="2400" b="0" i="1" smtClean="0">
                                      <a:latin typeface="Cambria Math" panose="02040503050406030204" pitchFamily="18" charset="0"/>
                                      <a:cs typeface="Arial" panose="020B0604020202020204" pitchFamily="34" charset="0"/>
                                    </a:rPr>
                                    <m:t>𝑥</m:t>
                                  </m:r>
                                </m:e>
                                <m:sub>
                                  <m:r>
                                    <a:rPr lang="en-CA" sz="2400" i="1">
                                      <a:latin typeface="Cambria Math" panose="02040503050406030204" pitchFamily="18" charset="0"/>
                                      <a:cs typeface="Arial" panose="020B0604020202020204" pitchFamily="34" charset="0"/>
                                    </a:rPr>
                                    <m:t>𝑖</m:t>
                                  </m:r>
                                </m:sub>
                              </m:sSub>
                            </m:e>
                          </m:nary>
                          <m:r>
                            <a:rPr lang="en-CA" sz="2400" b="0" i="1" smtClean="0">
                              <a:latin typeface="Cambria Math" panose="02040503050406030204" pitchFamily="18" charset="0"/>
                              <a:cs typeface="Arial" panose="020B0604020202020204" pitchFamily="34" charset="0"/>
                            </a:rPr>
                            <m:t>+</m:t>
                          </m:r>
                          <m:nary>
                            <m:naryPr>
                              <m:chr m:val="∑"/>
                              <m:ctrlPr>
                                <a:rPr lang="en-CA" sz="2400" i="1">
                                  <a:latin typeface="Cambria Math" panose="02040503050406030204" pitchFamily="18" charset="0"/>
                                  <a:cs typeface="Arial" panose="020B0604020202020204" pitchFamily="34" charset="0"/>
                                </a:rPr>
                              </m:ctrlPr>
                            </m:naryPr>
                            <m:sub>
                              <m:r>
                                <m:rPr>
                                  <m:brk m:alnAt="23"/>
                                </m:rPr>
                                <a:rPr lang="en-CA" sz="2400" i="1">
                                  <a:latin typeface="Cambria Math" panose="02040503050406030204" pitchFamily="18" charset="0"/>
                                  <a:cs typeface="Arial" panose="020B0604020202020204" pitchFamily="34" charset="0"/>
                                </a:rPr>
                                <m:t>𝑖</m:t>
                              </m:r>
                              <m:r>
                                <a:rPr lang="en-CA" sz="2400" i="1">
                                  <a:latin typeface="Cambria Math" panose="02040503050406030204" pitchFamily="18" charset="0"/>
                                  <a:cs typeface="Arial" panose="020B0604020202020204" pitchFamily="34" charset="0"/>
                                </a:rPr>
                                <m:t>=1</m:t>
                              </m:r>
                            </m:sub>
                            <m:sup>
                              <m:r>
                                <a:rPr lang="en-CA" sz="2400" i="1">
                                  <a:latin typeface="Cambria Math" panose="02040503050406030204" pitchFamily="18" charset="0"/>
                                  <a:cs typeface="Arial" panose="020B0604020202020204" pitchFamily="34" charset="0"/>
                                </a:rPr>
                                <m:t>𝑛</m:t>
                              </m:r>
                            </m:sup>
                            <m:e>
                              <m:sSub>
                                <m:sSubPr>
                                  <m:ctrlPr>
                                    <a:rPr lang="en-CA" sz="2400" i="1">
                                      <a:latin typeface="Cambria Math" panose="02040503050406030204" pitchFamily="18" charset="0"/>
                                      <a:cs typeface="Arial" panose="020B0604020202020204" pitchFamily="34" charset="0"/>
                                    </a:rPr>
                                  </m:ctrlPr>
                                </m:sSubPr>
                                <m:e>
                                  <m:r>
                                    <a:rPr lang="en-CA" sz="2400" i="1">
                                      <a:latin typeface="Cambria Math" panose="02040503050406030204" pitchFamily="18" charset="0"/>
                                      <a:cs typeface="Arial" panose="020B0604020202020204" pitchFamily="34" charset="0"/>
                                    </a:rPr>
                                    <m:t>𝑦</m:t>
                                  </m:r>
                                </m:e>
                                <m:sub>
                                  <m:r>
                                    <a:rPr lang="en-CA" sz="2400" i="1">
                                      <a:latin typeface="Cambria Math" panose="02040503050406030204" pitchFamily="18" charset="0"/>
                                      <a:cs typeface="Arial" panose="020B0604020202020204" pitchFamily="34" charset="0"/>
                                    </a:rPr>
                                    <m:t>𝑖</m:t>
                                  </m:r>
                                </m:sub>
                              </m:sSub>
                            </m:e>
                          </m:nary>
                        </m:den>
                      </m:f>
                    </m:oMath>
                  </m:oMathPara>
                </a14:m>
                <a:endParaRPr lang="en-CA" sz="24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3068" y="1563098"/>
                <a:ext cx="10515600" cy="4351338"/>
              </a:xfrm>
              <a:blipFill>
                <a:blip r:embed="rId3"/>
                <a:stretch>
                  <a:fillRect l="-928"/>
                </a:stretch>
              </a:blipFill>
            </p:spPr>
            <p:txBody>
              <a:bodyPr/>
              <a:lstStyle/>
              <a:p>
                <a:r>
                  <a:rPr lang="en-CA">
                    <a:noFill/>
                  </a:rPr>
                  <a:t> </a:t>
                </a:r>
              </a:p>
            </p:txBody>
          </p:sp>
        </mc:Fallback>
      </mc:AlternateContent>
    </p:spTree>
    <p:extLst>
      <p:ext uri="{BB962C8B-B14F-4D97-AF65-F5344CB8AC3E}">
        <p14:creationId xmlns:p14="http://schemas.microsoft.com/office/powerpoint/2010/main" val="1584333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3068" y="1563098"/>
                <a:ext cx="10515600" cy="4351338"/>
              </a:xfrm>
            </p:spPr>
            <p:txBody>
              <a:bodyPr>
                <a:noAutofit/>
              </a:bodyPr>
              <a:lstStyle/>
              <a:p>
                <a:pPr>
                  <a:lnSpc>
                    <a:spcPct val="150000"/>
                  </a:lnSpc>
                </a:pPr>
                <a:r>
                  <a:rPr lang="en-CA" sz="2400" dirty="0">
                    <a:latin typeface="Arial" panose="020B0604020202020204" pitchFamily="34" charset="0"/>
                    <a:cs typeface="Arial" panose="020B0604020202020204" pitchFamily="34" charset="0"/>
                  </a:rPr>
                  <a:t>A value of H about 0.5 means that </a:t>
                </a:r>
                <a14:m>
                  <m:oMath xmlns:m="http://schemas.openxmlformats.org/officeDocument/2006/math">
                    <m:nary>
                      <m:naryPr>
                        <m:chr m:val="∑"/>
                        <m:ctrlPr>
                          <a:rPr lang="en-CA" sz="2400" i="1">
                            <a:latin typeface="Cambria Math" panose="02040503050406030204" pitchFamily="18" charset="0"/>
                            <a:cs typeface="Arial" panose="020B0604020202020204" pitchFamily="34" charset="0"/>
                          </a:rPr>
                        </m:ctrlPr>
                      </m:naryPr>
                      <m:sub>
                        <m:r>
                          <m:rPr>
                            <m:brk m:alnAt="23"/>
                          </m:rPr>
                          <a:rPr lang="en-CA" sz="2400" i="1">
                            <a:latin typeface="Cambria Math" panose="02040503050406030204" pitchFamily="18" charset="0"/>
                            <a:cs typeface="Arial" panose="020B0604020202020204" pitchFamily="34" charset="0"/>
                          </a:rPr>
                          <m:t>𝑖</m:t>
                        </m:r>
                        <m:r>
                          <a:rPr lang="en-CA" sz="2400" i="1">
                            <a:latin typeface="Cambria Math" panose="02040503050406030204" pitchFamily="18" charset="0"/>
                            <a:cs typeface="Arial" panose="020B0604020202020204" pitchFamily="34" charset="0"/>
                          </a:rPr>
                          <m:t>=1</m:t>
                        </m:r>
                      </m:sub>
                      <m:sup>
                        <m:r>
                          <a:rPr lang="en-CA" sz="2400" i="1">
                            <a:latin typeface="Cambria Math" panose="02040503050406030204" pitchFamily="18" charset="0"/>
                            <a:cs typeface="Arial" panose="020B0604020202020204" pitchFamily="34" charset="0"/>
                          </a:rPr>
                          <m:t>𝑛</m:t>
                        </m:r>
                      </m:sup>
                      <m:e>
                        <m:sSub>
                          <m:sSubPr>
                            <m:ctrlPr>
                              <a:rPr lang="en-CA" sz="2400" i="1">
                                <a:latin typeface="Cambria Math" panose="02040503050406030204" pitchFamily="18" charset="0"/>
                                <a:cs typeface="Arial" panose="020B0604020202020204" pitchFamily="34" charset="0"/>
                              </a:rPr>
                            </m:ctrlPr>
                          </m:sSubPr>
                          <m:e>
                            <m:r>
                              <a:rPr lang="en-CA" sz="2400" i="1">
                                <a:latin typeface="Cambria Math" panose="02040503050406030204" pitchFamily="18" charset="0"/>
                                <a:cs typeface="Arial" panose="020B0604020202020204" pitchFamily="34" charset="0"/>
                              </a:rPr>
                              <m:t>𝑦</m:t>
                            </m:r>
                          </m:e>
                          <m:sub>
                            <m:r>
                              <a:rPr lang="en-CA" sz="2400" i="1">
                                <a:latin typeface="Cambria Math" panose="02040503050406030204" pitchFamily="18" charset="0"/>
                                <a:cs typeface="Arial" panose="020B0604020202020204" pitchFamily="34" charset="0"/>
                              </a:rPr>
                              <m:t>𝑖</m:t>
                            </m:r>
                          </m:sub>
                        </m:sSub>
                        <m:r>
                          <a:rPr lang="en-CA" sz="2400" b="0" i="1" smtClean="0">
                            <a:latin typeface="Cambria Math" panose="02040503050406030204" pitchFamily="18" charset="0"/>
                            <a:cs typeface="Arial" panose="020B0604020202020204" pitchFamily="34" charset="0"/>
                          </a:rPr>
                          <m:t> </m:t>
                        </m:r>
                      </m:e>
                    </m:nary>
                  </m:oMath>
                </a14:m>
                <a:r>
                  <a:rPr lang="en-CA" sz="2400" dirty="0">
                    <a:latin typeface="Arial" panose="020B0604020202020204" pitchFamily="34" charset="0"/>
                    <a:cs typeface="Arial" panose="020B0604020202020204" pitchFamily="34" charset="0"/>
                  </a:rPr>
                  <a:t>and </a:t>
                </a:r>
                <a14:m>
                  <m:oMath xmlns:m="http://schemas.openxmlformats.org/officeDocument/2006/math">
                    <m:nary>
                      <m:naryPr>
                        <m:chr m:val="∑"/>
                        <m:ctrlPr>
                          <a:rPr lang="en-CA" sz="2400" i="1">
                            <a:latin typeface="Cambria Math" panose="02040503050406030204" pitchFamily="18" charset="0"/>
                            <a:cs typeface="Arial" panose="020B0604020202020204" pitchFamily="34" charset="0"/>
                          </a:rPr>
                        </m:ctrlPr>
                      </m:naryPr>
                      <m:sub>
                        <m:r>
                          <m:rPr>
                            <m:brk m:alnAt="23"/>
                          </m:rPr>
                          <a:rPr lang="en-CA" sz="2400" i="1">
                            <a:latin typeface="Cambria Math" panose="02040503050406030204" pitchFamily="18" charset="0"/>
                            <a:cs typeface="Arial" panose="020B0604020202020204" pitchFamily="34" charset="0"/>
                          </a:rPr>
                          <m:t>𝑖</m:t>
                        </m:r>
                        <m:r>
                          <a:rPr lang="en-CA" sz="2400" i="1">
                            <a:latin typeface="Cambria Math" panose="02040503050406030204" pitchFamily="18" charset="0"/>
                            <a:cs typeface="Arial" panose="020B0604020202020204" pitchFamily="34" charset="0"/>
                          </a:rPr>
                          <m:t>=1</m:t>
                        </m:r>
                      </m:sub>
                      <m:sup>
                        <m:r>
                          <a:rPr lang="en-CA" sz="2400" i="1">
                            <a:latin typeface="Cambria Math" panose="02040503050406030204" pitchFamily="18" charset="0"/>
                            <a:cs typeface="Arial" panose="020B0604020202020204" pitchFamily="34" charset="0"/>
                          </a:rPr>
                          <m:t>𝑛</m:t>
                        </m:r>
                      </m:sup>
                      <m:e>
                        <m:sSub>
                          <m:sSubPr>
                            <m:ctrlPr>
                              <a:rPr lang="en-CA" sz="2400" b="0" i="1" smtClean="0">
                                <a:latin typeface="Cambria Math" panose="02040503050406030204" pitchFamily="18" charset="0"/>
                                <a:cs typeface="Arial" panose="020B0604020202020204" pitchFamily="34" charset="0"/>
                              </a:rPr>
                            </m:ctrlPr>
                          </m:sSubPr>
                          <m:e>
                            <m:r>
                              <a:rPr lang="en-CA" sz="2400" b="0" i="1" smtClean="0">
                                <a:latin typeface="Cambria Math" panose="02040503050406030204" pitchFamily="18" charset="0"/>
                                <a:cs typeface="Arial" panose="020B0604020202020204" pitchFamily="34" charset="0"/>
                              </a:rPr>
                              <m:t>𝑥</m:t>
                            </m:r>
                          </m:e>
                          <m:sub>
                            <m:r>
                              <a:rPr lang="en-CA" sz="2400" b="0" i="1" smtClean="0">
                                <a:latin typeface="Cambria Math" panose="02040503050406030204" pitchFamily="18" charset="0"/>
                                <a:cs typeface="Arial" panose="020B0604020202020204" pitchFamily="34" charset="0"/>
                              </a:rPr>
                              <m:t>𝑖</m:t>
                            </m:r>
                          </m:sub>
                        </m:sSub>
                      </m:e>
                    </m:nary>
                  </m:oMath>
                </a14:m>
                <a:r>
                  <a:rPr lang="en-CA" sz="2400" dirty="0">
                    <a:latin typeface="Arial" panose="020B0604020202020204" pitchFamily="34" charset="0"/>
                    <a:cs typeface="Arial" panose="020B0604020202020204" pitchFamily="34" charset="0"/>
                  </a:rPr>
                  <a:t> are close to each other, and thus the data D is uniformly distributed.</a:t>
                </a:r>
              </a:p>
              <a:p>
                <a:pPr>
                  <a:lnSpc>
                    <a:spcPct val="150000"/>
                  </a:lnSpc>
                </a:pPr>
                <a:r>
                  <a:rPr lang="en-CA" sz="2400" dirty="0">
                    <a:latin typeface="Arial" panose="020B0604020202020204" pitchFamily="34" charset="0"/>
                    <a:cs typeface="Arial" panose="020B0604020202020204" pitchFamily="34" charset="0"/>
                  </a:rPr>
                  <a:t>The null and the alternative hypotheses are defined as follow:</a:t>
                </a:r>
              </a:p>
              <a:p>
                <a:pPr marL="0" indent="0">
                  <a:lnSpc>
                    <a:spcPct val="150000"/>
                  </a:lnSpc>
                  <a:buNone/>
                </a:pPr>
                <a:r>
                  <a:rPr lang="en-CA" sz="2400" dirty="0">
                    <a:latin typeface="Arial" panose="020B0604020202020204" pitchFamily="34" charset="0"/>
                    <a:cs typeface="Arial" panose="020B0604020202020204" pitchFamily="34" charset="0"/>
                  </a:rPr>
                  <a:t>• </a:t>
                </a:r>
                <a:r>
                  <a:rPr lang="en-CA" sz="2400" b="1" dirty="0">
                    <a:latin typeface="Arial" panose="020B0604020202020204" pitchFamily="34" charset="0"/>
                    <a:cs typeface="Arial" panose="020B0604020202020204" pitchFamily="34" charset="0"/>
                  </a:rPr>
                  <a:t>Null hypothesis</a:t>
                </a:r>
                <a:r>
                  <a:rPr lang="en-CA" sz="2400" dirty="0">
                    <a:latin typeface="Arial" panose="020B0604020202020204" pitchFamily="34" charset="0"/>
                    <a:cs typeface="Arial" panose="020B0604020202020204" pitchFamily="34" charset="0"/>
                  </a:rPr>
                  <a:t>: the data set D is uniformly distributed (i.e., no meaningful clusters)</a:t>
                </a:r>
              </a:p>
              <a:p>
                <a:pPr marL="0" indent="0">
                  <a:lnSpc>
                    <a:spcPct val="150000"/>
                  </a:lnSpc>
                  <a:buNone/>
                </a:pPr>
                <a:r>
                  <a:rPr lang="en-CA" sz="2400" dirty="0">
                    <a:latin typeface="Arial" panose="020B0604020202020204" pitchFamily="34" charset="0"/>
                    <a:cs typeface="Arial" panose="020B0604020202020204" pitchFamily="34" charset="0"/>
                  </a:rPr>
                  <a:t>• </a:t>
                </a:r>
                <a:r>
                  <a:rPr lang="en-CA" sz="2400" b="1" dirty="0">
                    <a:latin typeface="Arial" panose="020B0604020202020204" pitchFamily="34" charset="0"/>
                    <a:cs typeface="Arial" panose="020B0604020202020204" pitchFamily="34" charset="0"/>
                  </a:rPr>
                  <a:t>Alternative hypothesis</a:t>
                </a:r>
                <a:r>
                  <a:rPr lang="en-CA" sz="2400" dirty="0">
                    <a:latin typeface="Arial" panose="020B0604020202020204" pitchFamily="34" charset="0"/>
                    <a:cs typeface="Arial" panose="020B0604020202020204" pitchFamily="34" charset="0"/>
                  </a:rPr>
                  <a:t>: the data set D is not uniformly distributed (i.e., contains meaningful clusters)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3068" y="1563098"/>
                <a:ext cx="10515600" cy="4351338"/>
              </a:xfrm>
              <a:blipFill>
                <a:blip r:embed="rId3"/>
                <a:stretch>
                  <a:fillRect l="-928" t="-10924" r="-1565" b="-840"/>
                </a:stretch>
              </a:blipFill>
            </p:spPr>
            <p:txBody>
              <a:bodyPr/>
              <a:lstStyle/>
              <a:p>
                <a:r>
                  <a:rPr lang="en-CA">
                    <a:noFill/>
                  </a:rPr>
                  <a:t> </a:t>
                </a:r>
              </a:p>
            </p:txBody>
          </p:sp>
        </mc:Fallback>
      </mc:AlternateContent>
    </p:spTree>
    <p:extLst>
      <p:ext uri="{BB962C8B-B14F-4D97-AF65-F5344CB8AC3E}">
        <p14:creationId xmlns:p14="http://schemas.microsoft.com/office/powerpoint/2010/main" val="4273934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Hopkins Statistic</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
        <p:nvSpPr>
          <p:cNvPr id="3" name="Content Placeholder 2"/>
          <p:cNvSpPr>
            <a:spLocks noGrp="1"/>
          </p:cNvSpPr>
          <p:nvPr>
            <p:ph idx="1"/>
          </p:nvPr>
        </p:nvSpPr>
        <p:spPr>
          <a:xfrm>
            <a:off x="603068" y="1563098"/>
            <a:ext cx="10515600" cy="4351338"/>
          </a:xfrm>
        </p:spPr>
        <p:txBody>
          <a:bodyPr>
            <a:noAutofit/>
          </a:bodyPr>
          <a:lstStyle/>
          <a:p>
            <a:pPr>
              <a:lnSpc>
                <a:spcPct val="150000"/>
              </a:lnSpc>
            </a:pPr>
            <a:r>
              <a:rPr lang="en-CA" sz="2000" dirty="0">
                <a:latin typeface="Arial" panose="020B0604020202020204" pitchFamily="34" charset="0"/>
                <a:cs typeface="Arial" panose="020B0604020202020204" pitchFamily="34" charset="0"/>
              </a:rPr>
              <a:t>If the value of Hopkins statistic is close to zero, then we can reject the null hypothesis and conclude that the data set D is significantly a clusterable data. (Update 15 June 2023 YW:  This is actually incorrect and it is a result of </a:t>
            </a:r>
            <a:r>
              <a:rPr lang="en-CA" sz="2000" dirty="0" err="1">
                <a:latin typeface="Arial" panose="020B0604020202020204" pitchFamily="34" charset="0"/>
                <a:cs typeface="Arial" panose="020B0604020202020204" pitchFamily="34" charset="0"/>
              </a:rPr>
              <a:t>clustertend</a:t>
            </a:r>
            <a:r>
              <a:rPr lang="en-CA" sz="2000" dirty="0">
                <a:latin typeface="Arial" panose="020B0604020202020204" pitchFamily="34" charset="0"/>
                <a:cs typeface="Arial" panose="020B0604020202020204" pitchFamily="34" charset="0"/>
              </a:rPr>
              <a:t> package calculating 1 – H and reporting it as Hopkins statistic.   If the value of Hopkins statistic (use another package) is close to 1, we conclude the data set D is highly </a:t>
            </a:r>
            <a:r>
              <a:rPr lang="en-CA" sz="2000" dirty="0" err="1">
                <a:latin typeface="Arial" panose="020B0604020202020204" pitchFamily="34" charset="0"/>
                <a:cs typeface="Arial" panose="020B0604020202020204" pitchFamily="34" charset="0"/>
              </a:rPr>
              <a:t>clusterable</a:t>
            </a:r>
            <a:r>
              <a:rPr lang="en-CA" sz="2000" dirty="0">
                <a:latin typeface="Arial" panose="020B0604020202020204" pitchFamily="34" charset="0"/>
                <a:cs typeface="Arial" panose="020B0604020202020204" pitchFamily="34" charset="0"/>
              </a:rPr>
              <a:t>.)</a:t>
            </a:r>
          </a:p>
          <a:p>
            <a:pPr>
              <a:lnSpc>
                <a:spcPct val="150000"/>
              </a:lnSpc>
            </a:pPr>
            <a:r>
              <a:rPr lang="en-CA" sz="2000" dirty="0">
                <a:latin typeface="Arial" panose="020B0604020202020204" pitchFamily="34" charset="0"/>
                <a:cs typeface="Arial" panose="020B0604020202020204" pitchFamily="34" charset="0"/>
              </a:rPr>
              <a:t>The R function </a:t>
            </a:r>
            <a:r>
              <a:rPr lang="en-CA" sz="2000" i="1" dirty="0" err="1">
                <a:latin typeface="Arial" panose="020B0604020202020204" pitchFamily="34" charset="0"/>
                <a:cs typeface="Arial" panose="020B0604020202020204" pitchFamily="34" charset="0"/>
              </a:rPr>
              <a:t>hopkins</a:t>
            </a:r>
            <a:r>
              <a:rPr lang="en-CA" sz="2000" dirty="0">
                <a:latin typeface="Arial" panose="020B0604020202020204" pitchFamily="34" charset="0"/>
                <a:cs typeface="Arial" panose="020B0604020202020204" pitchFamily="34" charset="0"/>
              </a:rPr>
              <a:t>() [in </a:t>
            </a:r>
            <a:r>
              <a:rPr lang="en-CA" sz="2000" i="1" dirty="0" err="1">
                <a:latin typeface="Arial" panose="020B0604020202020204" pitchFamily="34" charset="0"/>
                <a:cs typeface="Arial" panose="020B0604020202020204" pitchFamily="34" charset="0"/>
              </a:rPr>
              <a:t>clustertend</a:t>
            </a:r>
            <a:r>
              <a:rPr lang="en-CA" sz="2000" i="1"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package] can be used to statistically evaluate clustering tendency in </a:t>
            </a:r>
            <a:r>
              <a:rPr lang="en-CA" sz="2000" b="1" dirty="0">
                <a:latin typeface="Arial" panose="020B0604020202020204" pitchFamily="34" charset="0"/>
                <a:cs typeface="Arial" panose="020B0604020202020204" pitchFamily="34" charset="0"/>
              </a:rPr>
              <a:t>R</a:t>
            </a:r>
            <a:r>
              <a:rPr lang="en-CA" sz="2000" dirty="0">
                <a:latin typeface="Arial" panose="020B0604020202020204" pitchFamily="34" charset="0"/>
                <a:cs typeface="Arial" panose="020B0604020202020204" pitchFamily="34" charset="0"/>
              </a:rPr>
              <a:t>.  (Update 15 June 2023 YW:   It is not advisable to use </a:t>
            </a:r>
            <a:r>
              <a:rPr lang="en-CA" sz="2000" dirty="0" err="1">
                <a:latin typeface="Arial" panose="020B0604020202020204" pitchFamily="34" charset="0"/>
                <a:cs typeface="Arial" panose="020B0604020202020204" pitchFamily="34" charset="0"/>
              </a:rPr>
              <a:t>clustertend’s</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hopkins</a:t>
            </a:r>
            <a:r>
              <a:rPr lang="en-CA" sz="2000" dirty="0">
                <a:latin typeface="Arial" panose="020B0604020202020204" pitchFamily="34" charset="0"/>
                <a:cs typeface="Arial" panose="020B0604020202020204" pitchFamily="34" charset="0"/>
              </a:rPr>
              <a:t>() as it erroneously reports 1 – H as Hopkins statistic when it should be reporting H.  We should use </a:t>
            </a:r>
            <a:r>
              <a:rPr lang="en-CA" sz="2000" dirty="0" err="1">
                <a:latin typeface="Arial" panose="020B0604020202020204" pitchFamily="34" charset="0"/>
                <a:cs typeface="Arial" panose="020B0604020202020204" pitchFamily="34" charset="0"/>
              </a:rPr>
              <a:t>hopkins</a:t>
            </a:r>
            <a:r>
              <a:rPr lang="en-CA" sz="2000" dirty="0">
                <a:latin typeface="Arial" panose="020B0604020202020204" pitchFamily="34" charset="0"/>
                <a:cs typeface="Arial" panose="020B0604020202020204" pitchFamily="34" charset="0"/>
              </a:rPr>
              <a:t>()  in </a:t>
            </a:r>
            <a:r>
              <a:rPr lang="en-CA" sz="2000" b="1" dirty="0">
                <a:latin typeface="Arial" panose="020B0604020202020204" pitchFamily="34" charset="0"/>
                <a:cs typeface="Arial" panose="020B0604020202020204" pitchFamily="34" charset="0"/>
              </a:rPr>
              <a:t>Hopkins package </a:t>
            </a:r>
            <a:r>
              <a:rPr lang="en-CA" sz="2000" dirty="0">
                <a:latin typeface="Arial" panose="020B0604020202020204" pitchFamily="34" charset="0"/>
                <a:cs typeface="Arial" panose="020B0604020202020204" pitchFamily="34" charset="0"/>
              </a:rPr>
              <a:t>instead.)</a:t>
            </a:r>
          </a:p>
        </p:txBody>
      </p:sp>
    </p:spTree>
    <p:extLst>
      <p:ext uri="{BB962C8B-B14F-4D97-AF65-F5344CB8AC3E}">
        <p14:creationId xmlns:p14="http://schemas.microsoft.com/office/powerpoint/2010/main" val="3335773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Visual methods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
        <p:nvSpPr>
          <p:cNvPr id="3" name="Content Placeholder 2"/>
          <p:cNvSpPr>
            <a:spLocks noGrp="1"/>
          </p:cNvSpPr>
          <p:nvPr>
            <p:ph idx="1"/>
          </p:nvPr>
        </p:nvSpPr>
        <p:spPr>
          <a:xfrm>
            <a:off x="603068" y="1563098"/>
            <a:ext cx="10515600" cy="4351338"/>
          </a:xfrm>
        </p:spPr>
        <p:txBody>
          <a:bodyPr>
            <a:noAutofit/>
          </a:bodyPr>
          <a:lstStyle/>
          <a:p>
            <a:pPr>
              <a:lnSpc>
                <a:spcPct val="150000"/>
              </a:lnSpc>
            </a:pPr>
            <a:r>
              <a:rPr lang="en-CA" dirty="0">
                <a:latin typeface="Arial" panose="020B0604020202020204" pitchFamily="34" charset="0"/>
                <a:cs typeface="Arial" panose="020B0604020202020204" pitchFamily="34" charset="0"/>
              </a:rPr>
              <a:t>The algorithm of the visual assessment of cluster tendency (VAT) approach (</a:t>
            </a:r>
            <a:r>
              <a:rPr lang="en-CA" dirty="0" err="1">
                <a:latin typeface="Arial" panose="020B0604020202020204" pitchFamily="34" charset="0"/>
                <a:cs typeface="Arial" panose="020B0604020202020204" pitchFamily="34" charset="0"/>
              </a:rPr>
              <a:t>Bezdek</a:t>
            </a:r>
            <a:r>
              <a:rPr lang="en-CA" dirty="0">
                <a:latin typeface="Arial" panose="020B0604020202020204" pitchFamily="34" charset="0"/>
                <a:cs typeface="Arial" panose="020B0604020202020204" pitchFamily="34" charset="0"/>
              </a:rPr>
              <a:t> and Hathaway, 2002) is as follow:</a:t>
            </a:r>
          </a:p>
          <a:p>
            <a:pPr>
              <a:lnSpc>
                <a:spcPct val="150000"/>
              </a:lnSpc>
            </a:pPr>
            <a:r>
              <a:rPr lang="en-CA" dirty="0">
                <a:latin typeface="Arial" panose="020B0604020202020204" pitchFamily="34" charset="0"/>
                <a:cs typeface="Arial" panose="020B0604020202020204" pitchFamily="34" charset="0"/>
              </a:rPr>
              <a:t>The algorithm of VAT is as follow:</a:t>
            </a:r>
          </a:p>
        </p:txBody>
      </p:sp>
    </p:spTree>
    <p:extLst>
      <p:ext uri="{BB962C8B-B14F-4D97-AF65-F5344CB8AC3E}">
        <p14:creationId xmlns:p14="http://schemas.microsoft.com/office/powerpoint/2010/main" val="2522460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Visual methods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
        <p:nvSpPr>
          <p:cNvPr id="3" name="Content Placeholder 2"/>
          <p:cNvSpPr>
            <a:spLocks noGrp="1"/>
          </p:cNvSpPr>
          <p:nvPr>
            <p:ph idx="1"/>
          </p:nvPr>
        </p:nvSpPr>
        <p:spPr>
          <a:xfrm>
            <a:off x="603068" y="1563098"/>
            <a:ext cx="10515600" cy="4027806"/>
          </a:xfrm>
        </p:spPr>
        <p:txBody>
          <a:bodyPr>
            <a:noAutofit/>
          </a:bodyPr>
          <a:lstStyle/>
          <a:p>
            <a:pPr marL="457200" indent="-457200">
              <a:lnSpc>
                <a:spcPct val="150000"/>
              </a:lnSpc>
              <a:buAutoNum type="arabicPeriod"/>
            </a:pPr>
            <a:r>
              <a:rPr lang="en-CA" sz="2400" dirty="0">
                <a:latin typeface="Arial" panose="020B0604020202020204" pitchFamily="34" charset="0"/>
                <a:cs typeface="Arial" panose="020B0604020202020204" pitchFamily="34" charset="0"/>
              </a:rPr>
              <a:t>Compute the dissimilarity (DM) matrix between the objects in the data set using the Euclidean distance measure </a:t>
            </a:r>
          </a:p>
          <a:p>
            <a:pPr marL="457200" indent="-457200">
              <a:lnSpc>
                <a:spcPct val="150000"/>
              </a:lnSpc>
              <a:buAutoNum type="arabicPeriod"/>
            </a:pPr>
            <a:r>
              <a:rPr lang="en-CA" sz="2400" dirty="0">
                <a:latin typeface="Arial" panose="020B0604020202020204" pitchFamily="34" charset="0"/>
                <a:cs typeface="Arial" panose="020B0604020202020204" pitchFamily="34" charset="0"/>
              </a:rPr>
              <a:t>Reorder the DM so that similar objects are close to one another. This process create an ordered dissimilarity matrix (ODM)</a:t>
            </a:r>
          </a:p>
          <a:p>
            <a:pPr marL="0" indent="0">
              <a:lnSpc>
                <a:spcPct val="150000"/>
              </a:lnSpc>
              <a:buNone/>
            </a:pPr>
            <a:r>
              <a:rPr lang="en-CA" sz="2400" dirty="0">
                <a:latin typeface="Arial" panose="020B0604020202020204" pitchFamily="34" charset="0"/>
                <a:cs typeface="Arial" panose="020B0604020202020204" pitchFamily="34" charset="0"/>
              </a:rPr>
              <a:t>3. The ODM is displayed as an ordered dissimilarity image (ODI), which is the visual output of VAT</a:t>
            </a:r>
          </a:p>
        </p:txBody>
      </p:sp>
    </p:spTree>
    <p:extLst>
      <p:ext uri="{BB962C8B-B14F-4D97-AF65-F5344CB8AC3E}">
        <p14:creationId xmlns:p14="http://schemas.microsoft.com/office/powerpoint/2010/main" val="684093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068" y="338999"/>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Summary</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
        <p:nvSpPr>
          <p:cNvPr id="3" name="Content Placeholder 2"/>
          <p:cNvSpPr>
            <a:spLocks noGrp="1"/>
          </p:cNvSpPr>
          <p:nvPr>
            <p:ph idx="1"/>
          </p:nvPr>
        </p:nvSpPr>
        <p:spPr>
          <a:xfrm>
            <a:off x="603068" y="1563098"/>
            <a:ext cx="10515600" cy="4027806"/>
          </a:xfrm>
        </p:spPr>
        <p:txBody>
          <a:bodyPr>
            <a:noAutofit/>
          </a:bodyPr>
          <a:lstStyle/>
          <a:p>
            <a:pPr marL="0" indent="0">
              <a:lnSpc>
                <a:spcPct val="150000"/>
              </a:lnSpc>
              <a:buNone/>
            </a:pPr>
            <a:r>
              <a:rPr lang="en-CA" dirty="0">
                <a:latin typeface="Arial" panose="020B0604020202020204" pitchFamily="34" charset="0"/>
                <a:cs typeface="Arial" panose="020B0604020202020204" pitchFamily="34" charset="0"/>
              </a:rPr>
              <a:t>We described how to assess clustering tendency using the Hopkins statistics and a visual method. After showing that a data is clusterable, the next step is to determine the number of optimal clusters in the data. This will be described in the next chapter.</a:t>
            </a:r>
            <a:endParaRPr lang="en-CA"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852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7126</TotalTime>
  <Words>826</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Assessing Clustering Tendency</vt:lpstr>
      <vt:lpstr>Assessing Clustering Tendency</vt:lpstr>
      <vt:lpstr>Assessing Clustering Tendency</vt:lpstr>
      <vt:lpstr>Assessing Clustering Tendency</vt:lpstr>
      <vt:lpstr>Assessing Clustering Tendency</vt:lpstr>
      <vt:lpstr>Statistical Methods</vt:lpstr>
      <vt:lpstr>Hopkins Statistic</vt:lpstr>
      <vt:lpstr>Hopkins Statistic</vt:lpstr>
      <vt:lpstr>Hopkins Statistic</vt:lpstr>
      <vt:lpstr>Hopkins Statistic</vt:lpstr>
      <vt:lpstr>Hopkins Statistic</vt:lpstr>
      <vt:lpstr>Hopkins Statistic</vt:lpstr>
      <vt:lpstr>Visual methods</vt:lpstr>
      <vt:lpstr>Visual methods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Announcements!!!!</dc:title>
  <dc:creator>jagyeman</dc:creator>
  <cp:lastModifiedBy>Yew-Wei Lim</cp:lastModifiedBy>
  <cp:revision>63</cp:revision>
  <dcterms:created xsi:type="dcterms:W3CDTF">2022-09-11T21:24:29Z</dcterms:created>
  <dcterms:modified xsi:type="dcterms:W3CDTF">2023-06-15T08:20:47Z</dcterms:modified>
</cp:coreProperties>
</file>