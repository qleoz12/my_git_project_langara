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5" r:id="rId5"/>
    <p:sldId id="264" r:id="rId6"/>
    <p:sldId id="266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II Partitional Clustering</a:t>
            </a:r>
          </a:p>
          <a:p>
            <a:r>
              <a:rPr lang="en-CA" dirty="0"/>
              <a:t>Part 3 – PAM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EF5F-6B47-AA29-1632-3BFBA227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k-medoids clustering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738F-C34C-E854-0170-F2A30D3DE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There are several k-medoids clustering methods.  The most common is PAM (Partitioning Around Medoids).</a:t>
            </a:r>
          </a:p>
          <a:p>
            <a:r>
              <a:rPr lang="en-US" sz="3200" dirty="0"/>
              <a:t>PAM, like k-means, is another method to break up a dataset into k groups (clusters) where users supply the value of k.</a:t>
            </a:r>
          </a:p>
          <a:p>
            <a:r>
              <a:rPr lang="en-US" sz="3200" dirty="0"/>
              <a:t>A medoid is one of the points within a cluster which is most centrally located, whereas in k-means, the </a:t>
            </a:r>
            <a:r>
              <a:rPr lang="en-US" sz="3200" dirty="0" err="1"/>
              <a:t>centre</a:t>
            </a:r>
            <a:r>
              <a:rPr lang="en-US" sz="3200" dirty="0"/>
              <a:t> of the given cluster is the mean value of all the points in the cluster.</a:t>
            </a: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9457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CFF2-4BF9-FA4C-271B-9B2A2B92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k-medoids clustering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E5853-32B0-8A93-0649-CB128C690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K-medoid is a robust alternative to k-means clustering in that the algorithm is </a:t>
            </a:r>
            <a:r>
              <a:rPr lang="en-CA" b="1" dirty="0"/>
              <a:t>less sensitive </a:t>
            </a:r>
            <a:r>
              <a:rPr lang="en-CA" dirty="0"/>
              <a:t>to outliers because it uses medoids as cluster centres instead of means.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Users are required to specify the value of k (number of clusters).   Whereas k-means clustering uses the elbow method to determine the optimal value of clusters, PAM uses </a:t>
            </a:r>
            <a:r>
              <a:rPr lang="en-CA" b="1" dirty="0"/>
              <a:t>silhouette method</a:t>
            </a:r>
            <a:r>
              <a:rPr lang="en-CA" dirty="0"/>
              <a:t> to determine the optimal number of clusters.</a:t>
            </a:r>
          </a:p>
          <a:p>
            <a:pPr marL="0" indent="0" algn="ctr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5104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4D7C-47D8-1D42-AF4D-02111316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B5C3-771C-1517-8430-735ACDAC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Concept of Cost: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EC091-C866-2C9B-A20C-CAFB63FBB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/>
                        <m:t>𝐶𝑜𝑠𝑡</m:t>
                      </m:r>
                      <m:r>
                        <a:rPr lang="en-US" i="1"/>
                        <m:t> 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/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𝐶</m:t>
                              </m:r>
                            </m:e>
                            <m:sub>
                              <m:r>
                                <a:rPr lang="en-US" i="1"/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/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𝑃</m:t>
                                  </m:r>
                                </m:e>
                                <m:sub>
                                  <m:r>
                                    <a:rPr lang="en-US" i="1"/>
                                    <m:t>𝑖</m:t>
                                  </m:r>
                                </m:sub>
                              </m:sSub>
                              <m:r>
                                <a:rPr lang="en-US" i="1"/>
                                <m:t>∊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𝐶</m:t>
                                  </m:r>
                                </m:e>
                                <m:sub>
                                  <m:r>
                                    <a:rPr lang="en-US" i="1"/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i="1"/>
                                <m:t>|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𝑃</m:t>
                                  </m:r>
                                </m:e>
                                <m:sub>
                                  <m:r>
                                    <a:rPr lang="en-US" i="1"/>
                                    <m:t>𝑖</m:t>
                                  </m:r>
                                </m:sub>
                              </m:sSub>
                              <m:r>
                                <a:rPr lang="en-US" i="1"/>
                                <m:t>− </m:t>
                              </m:r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𝐶</m:t>
                                  </m:r>
                                </m:e>
                                <m:sub>
                                  <m:r>
                                    <a:rPr lang="en-US" i="1"/>
                                    <m:t>𝑖</m:t>
                                  </m:r>
                                </m:sub>
                              </m:sSub>
                              <m:r>
                                <a:rPr lang="en-US" i="1"/>
                                <m:t> |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CA" sz="3200" dirty="0"/>
              </a:p>
              <a:p>
                <a:pPr marL="0" indent="0" algn="ctr">
                  <a:buNone/>
                </a:pPr>
                <a:r>
                  <a:rPr lang="en-CA" sz="2000" dirty="0"/>
                  <a:t>                                                        			Distance </a:t>
                </a:r>
              </a:p>
              <a:p>
                <a:pPr marL="0" indent="0" algn="ctr">
                  <a:buNone/>
                </a:pPr>
                <a:r>
                  <a:rPr lang="en-CA" sz="2000" dirty="0"/>
                  <a:t>For every point that is</a:t>
                </a:r>
              </a:p>
              <a:p>
                <a:pPr marL="0" indent="0" algn="ctr">
                  <a:buNone/>
                </a:pPr>
                <a:r>
                  <a:rPr lang="en-CA" sz="2000" dirty="0"/>
                  <a:t>part of cluster </a:t>
                </a:r>
                <a:r>
                  <a:rPr lang="en-US" dirty="0"/>
                  <a:t>C</a:t>
                </a:r>
                <a:r>
                  <a:rPr lang="en-US" baseline="-25000" dirty="0"/>
                  <a:t>i</a:t>
                </a:r>
                <a:endParaRPr lang="en-US" dirty="0"/>
              </a:p>
              <a:p>
                <a:pPr marL="0" indent="0" algn="ctr">
                  <a:buNone/>
                </a:pPr>
                <a:endParaRPr lang="en-CA" sz="2000" dirty="0"/>
              </a:p>
              <a:p>
                <a:pPr marL="0" indent="0" algn="ctr">
                  <a:buNone/>
                </a:pPr>
                <a:endParaRPr lang="en-CA" sz="3200" dirty="0"/>
              </a:p>
              <a:p>
                <a:r>
                  <a:rPr lang="en-CA" dirty="0"/>
                  <a:t>You want cost to be as </a:t>
                </a:r>
                <a:r>
                  <a:rPr lang="en-CA" b="1" dirty="0"/>
                  <a:t>low</a:t>
                </a:r>
                <a:r>
                  <a:rPr lang="en-CA" dirty="0"/>
                  <a:t> as possible.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8EC091-C866-2C9B-A20C-CAFB63FBB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B467CE-1D38-9701-4AC1-B3966970B1DB}"/>
              </a:ext>
            </a:extLst>
          </p:cNvPr>
          <p:cNvCxnSpPr/>
          <p:nvPr/>
        </p:nvCxnSpPr>
        <p:spPr>
          <a:xfrm flipV="1">
            <a:off x="4313682" y="2944368"/>
            <a:ext cx="914400" cy="64008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756960-8204-456F-FD48-FB0FC3A91942}"/>
              </a:ext>
            </a:extLst>
          </p:cNvPr>
          <p:cNvCxnSpPr/>
          <p:nvPr/>
        </p:nvCxnSpPr>
        <p:spPr>
          <a:xfrm flipH="1" flipV="1">
            <a:off x="6221349" y="3159252"/>
            <a:ext cx="109728" cy="66751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CD0D08-39B8-D1ED-66D4-4F05019FE654}"/>
              </a:ext>
            </a:extLst>
          </p:cNvPr>
          <p:cNvCxnSpPr/>
          <p:nvPr/>
        </p:nvCxnSpPr>
        <p:spPr>
          <a:xfrm flipH="1" flipV="1">
            <a:off x="7562088" y="3035808"/>
            <a:ext cx="758952" cy="4572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6E029F-3BBD-A346-3373-6AE7A20CFAA0}"/>
              </a:ext>
            </a:extLst>
          </p:cNvPr>
          <p:cNvSpPr txBox="1"/>
          <p:nvPr/>
        </p:nvSpPr>
        <p:spPr>
          <a:xfrm flipH="1">
            <a:off x="3415284" y="3562382"/>
            <a:ext cx="1545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each cluster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888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E1A3-CA1E-B682-6039-08AFBD0E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Algorithm: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775B8-DB21-7455-541A-3FA368B4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AutoNum type="arabicPeriod"/>
            </a:pPr>
            <a:r>
              <a:rPr lang="en-US" dirty="0"/>
              <a:t>Select k points out of n points as medoids (note that you select one medoid at a time – see worksheet).</a:t>
            </a:r>
          </a:p>
          <a:p>
            <a:pPr marL="514350" indent="-514350">
              <a:buAutoNum type="arabicPeriod"/>
            </a:pPr>
            <a:r>
              <a:rPr lang="en-US" dirty="0"/>
              <a:t>Associate each data point to the closest medoid by using any common distance metric (Manhattan distance metric is more common for PAM since it is less sensitive to outliers).</a:t>
            </a:r>
          </a:p>
          <a:p>
            <a:pPr marL="514350" indent="-514350">
              <a:buAutoNum type="arabicPeriod"/>
            </a:pPr>
            <a:r>
              <a:rPr lang="en-US" dirty="0"/>
              <a:t>While the cost decreases:</a:t>
            </a:r>
          </a:p>
          <a:p>
            <a:pPr marL="0" indent="0">
              <a:buNone/>
            </a:pPr>
            <a:r>
              <a:rPr lang="en-US" dirty="0"/>
              <a:t>	For each medoid m, for each data point q which is not a 	medoid:</a:t>
            </a:r>
          </a:p>
          <a:p>
            <a:pPr marL="0" indent="0">
              <a:buNone/>
            </a:pPr>
            <a:r>
              <a:rPr lang="en-US" dirty="0"/>
              <a:t>	a.  Swap m and q, associate each data point to the closest		       		medoid, recompute the cost</a:t>
            </a:r>
          </a:p>
          <a:p>
            <a:pPr marL="0" indent="0">
              <a:buNone/>
            </a:pPr>
            <a:r>
              <a:rPr lang="en-US" dirty="0"/>
              <a:t>	b.  If total cost is more than previous step, undo the step.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1907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B058-FB6C-48CF-304F-0A37C5B51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 code (see R code notes provided):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9A5-0431-AFEC-320F-F74427E36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Visualizing PAM results:</a:t>
            </a:r>
          </a:p>
          <a:p>
            <a:pPr marL="0" indent="0">
              <a:buNone/>
            </a:pPr>
            <a:r>
              <a:rPr lang="en-CA" dirty="0"/>
              <a:t>	Use </a:t>
            </a:r>
            <a:r>
              <a:rPr lang="en-CA" dirty="0" err="1"/>
              <a:t>fviz_cluster</a:t>
            </a:r>
            <a:r>
              <a:rPr lang="en-CA" dirty="0"/>
              <a:t>() in </a:t>
            </a:r>
            <a:r>
              <a:rPr lang="en-CA" dirty="0" err="1"/>
              <a:t>factoextra</a:t>
            </a:r>
            <a:r>
              <a:rPr lang="en-CA" dirty="0"/>
              <a:t> package</a:t>
            </a:r>
          </a:p>
          <a:p>
            <a:r>
              <a:rPr lang="en-CA" dirty="0"/>
              <a:t>Estimating Optimal Number of Clusters for PAM:</a:t>
            </a:r>
          </a:p>
          <a:p>
            <a:pPr marL="914400" lvl="2" indent="0">
              <a:buNone/>
            </a:pPr>
            <a:r>
              <a:rPr lang="en-US" sz="2800" dirty="0"/>
              <a:t>Contrary to the elbow method used for k-means, PAM uses the silhouette method to determine the optimal number of clusters.</a:t>
            </a:r>
          </a:p>
          <a:p>
            <a:pPr marL="914400" lvl="2" indent="0">
              <a:buNone/>
            </a:pPr>
            <a:r>
              <a:rPr lang="en-US" sz="2800" dirty="0"/>
              <a:t>Use </a:t>
            </a:r>
            <a:r>
              <a:rPr lang="en-US" sz="2800" dirty="0" err="1"/>
              <a:t>fviz_nbclust</a:t>
            </a:r>
            <a:r>
              <a:rPr lang="en-US" sz="2800" dirty="0"/>
              <a:t>() in </a:t>
            </a:r>
            <a:r>
              <a:rPr lang="en-US" sz="2800" dirty="0" err="1"/>
              <a:t>factoextra</a:t>
            </a:r>
            <a:r>
              <a:rPr lang="en-US" sz="2800" dirty="0"/>
              <a:t> package</a:t>
            </a:r>
          </a:p>
          <a:p>
            <a:pPr marL="914400" lvl="2" indent="0">
              <a:buNone/>
            </a:pPr>
            <a:r>
              <a:rPr lang="en-US" sz="2800" dirty="0"/>
              <a:t>(We will cover </a:t>
            </a:r>
            <a:r>
              <a:rPr lang="en-US" sz="2800" b="1" dirty="0"/>
              <a:t>silhouette</a:t>
            </a:r>
            <a:r>
              <a:rPr lang="en-US" sz="2800" dirty="0"/>
              <a:t> scores in greater detail later)</a:t>
            </a:r>
          </a:p>
        </p:txBody>
      </p:sp>
    </p:spTree>
    <p:extLst>
      <p:ext uri="{BB962C8B-B14F-4D97-AF65-F5344CB8AC3E}">
        <p14:creationId xmlns:p14="http://schemas.microsoft.com/office/powerpoint/2010/main" val="2313519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394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DANA 4840</vt:lpstr>
      <vt:lpstr>k-medoids clustering methods</vt:lpstr>
      <vt:lpstr>k-medoids clustering methods</vt:lpstr>
      <vt:lpstr>Concept of Cost:</vt:lpstr>
      <vt:lpstr>Algorithm:</vt:lpstr>
      <vt:lpstr>R code (see R code notes provided):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Yew-Wei Lim</dc:creator>
  <cp:lastModifiedBy>Yew-Wei Lim</cp:lastModifiedBy>
  <cp:revision>21</cp:revision>
  <cp:lastPrinted>2025-09-16T20:04:00Z</cp:lastPrinted>
  <dcterms:created xsi:type="dcterms:W3CDTF">2025-08-31T18:59:20Z</dcterms:created>
  <dcterms:modified xsi:type="dcterms:W3CDTF">2025-09-21T19:56:06Z</dcterms:modified>
</cp:coreProperties>
</file>