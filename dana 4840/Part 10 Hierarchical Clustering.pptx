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6" r:id="rId5"/>
    <p:sldId id="272" r:id="rId6"/>
    <p:sldId id="273" r:id="rId7"/>
    <p:sldId id="267" r:id="rId8"/>
    <p:sldId id="269" r:id="rId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C4ADD-9090-60BA-96B8-A412B21A1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7D1C1-1BBF-7255-DB1F-8D04B7135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C33FD-6560-2D20-0AB0-244EC85EB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81B98-2BD6-7FED-6607-5F67AD2B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4245-EA64-A824-D791-9F6A34018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56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4987-D91E-E747-8448-3E1B72FF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CEB8-BDD9-12BA-72A1-5917E3DC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CB00E-B236-D878-971A-37D47F34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E0E9A-2B55-84A1-CDA7-F1D75DF2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27AB3-3E68-862F-4001-FC1E6900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4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96E0-6F0E-5CD0-FF3A-6C37D0D7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81E52-9962-6990-E97C-516B7DF55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F9010-91FC-387E-387F-5077AD0C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405D0-3C8E-1306-BE60-699AAAAC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46FB9-1DE1-825A-B56C-A4EA5DE3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6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3E5C-DE36-2129-1514-A6059651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EC802-D4A2-0032-A948-31A659643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10F45-B9BA-EA3B-0196-552F1B59C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9696E-138F-639F-C285-5F68A1FB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A251A-CAAE-D370-ED67-871A7465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21D36-EBAF-9CA2-DEBD-946760582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5244-C79C-533F-8BD7-CB6F82318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EDE2C-F0A6-CC70-1F74-C33A749AD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0F0C3-466E-668E-73A7-24D8F8EEF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009EC-6F60-3C4F-7FFC-EE93AEDC2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C73FB-7797-7546-C094-635F2C8EB9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CF3982-6118-A403-A19B-F53E36938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18FF4-6CFF-4AE4-E151-C25669E2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7255D-C774-BE19-9A13-F4E7B07B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2D4E-A1CF-CFEA-5C35-5AA99598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B2B73-0330-5398-C5A8-CBB3B4EC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FC741-0256-B4A3-A44E-192468BB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E38FF-E5E0-457A-7F63-6787C8C8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57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E75D81-570F-BA0A-EA7C-CE2C8CD9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AAB19-8090-2B0E-D2F2-ECC1F6976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3087A-A5EE-98FE-8FA0-9A8C956B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6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3B78-8A4F-6AEA-0B23-56D8079D6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E3792-260D-5479-4226-C56BF1232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C5376-C0F1-D663-EDBC-2C9426616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D6F26-1DD9-91CF-D09F-4F39B52C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94565-85A8-4DCF-27A0-AD2DBEAA7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52FD0-CAF7-83F1-FC80-A5A45EA1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0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20A1-2D90-B2D4-275C-6FD59654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84FFA-4960-92EC-EA1D-016233B4F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91601-DAC6-F9C7-D732-726BCD93D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C4BD6-090C-7F0E-D575-CAFBD73D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C1EC-DB79-DACF-F2ED-14D7ADE4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D661C-80F4-A05E-D8AC-16FC6602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87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5811-68C2-1B4E-6E30-F9ED6A9F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8B0A0-CE66-E863-F980-0BECBC8B7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BBB67-48FC-904B-147F-B13920D5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8FDFF-40C2-FC1D-B242-DAF421B1E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0EA6E-7907-E3BB-F684-41687347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58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532EFA-9EDE-628F-B6E0-C4B5B0B7F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5BCDB-CC0C-FF0C-BB8F-901E905BC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6F464-963F-7B6E-9A5B-546B8AAB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7FD8B-CDB7-9541-4F79-5267577F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B8165-8273-1128-ADF4-DB1359C1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8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E9FE3-2E4B-3B20-C561-ABC469F7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BFD7F-ADCF-D6C5-4A36-0EBD26BD6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86C4-2146-D9A5-588F-0EC77FA11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95DA4-6D81-44BE-B2E1-2D492887A84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C9FA4-9AC4-630D-E2CA-136D8C042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8D66E-E538-7769-6E8D-53FF2A5B2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2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B029-0052-6410-09DC-CC9318460A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DANA 4840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C28D5-50C5-24DB-9611-CA985D8473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Classification II</a:t>
            </a:r>
          </a:p>
          <a:p>
            <a:r>
              <a:rPr lang="en-CA" dirty="0"/>
              <a:t>Part III Hierarchical Clustering</a:t>
            </a:r>
          </a:p>
          <a:p>
            <a:r>
              <a:rPr lang="en-CA" dirty="0"/>
              <a:t>Part 1 – Single linkage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4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EF5F-6B47-AA29-1632-3BFBA227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Recall various algorithms to split data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6738F-C34C-E854-0170-F2A30D3DE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					</a:t>
            </a:r>
          </a:p>
          <a:p>
            <a:pPr marL="0" indent="0" algn="ctr">
              <a:buNone/>
            </a:pPr>
            <a:r>
              <a:rPr lang="en-US" sz="3200" dirty="0"/>
              <a:t>Ways to Split Data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	Partitional 				Hierarchical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    K-means	K-medoids 	Agglomerative	     Divisive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			</a:t>
            </a:r>
            <a:r>
              <a:rPr lang="en-US" sz="2000" b="1" dirty="0"/>
              <a:t>Single linkage      Complete linkage    Average linkage     Ward’s method</a:t>
            </a:r>
          </a:p>
          <a:p>
            <a:pPr marL="0" indent="0">
              <a:buNone/>
            </a:pPr>
            <a:r>
              <a:rPr lang="en-US" sz="2000" b="1" dirty="0"/>
              <a:t>                                          (nearest </a:t>
            </a:r>
            <a:r>
              <a:rPr lang="en-US" sz="2000" b="1" dirty="0" err="1"/>
              <a:t>neighbour</a:t>
            </a:r>
            <a:r>
              <a:rPr lang="en-US" sz="2000" b="1" dirty="0"/>
              <a:t>)   (furthest </a:t>
            </a:r>
            <a:r>
              <a:rPr lang="en-US" sz="2000" b="1" dirty="0" err="1"/>
              <a:t>neighbour</a:t>
            </a:r>
            <a:r>
              <a:rPr lang="en-US" sz="2000" b="1" dirty="0"/>
              <a:t>) </a:t>
            </a:r>
            <a:endParaRPr lang="en-US" sz="3200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60E8C66-8F64-833A-2B64-999B9420B88A}"/>
              </a:ext>
            </a:extLst>
          </p:cNvPr>
          <p:cNvCxnSpPr/>
          <p:nvPr/>
        </p:nvCxnSpPr>
        <p:spPr>
          <a:xfrm flipH="1">
            <a:off x="3831336" y="2825496"/>
            <a:ext cx="758952" cy="37490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835B94D-3C0B-BCCD-BB9D-6391B1AE4176}"/>
              </a:ext>
            </a:extLst>
          </p:cNvPr>
          <p:cNvCxnSpPr/>
          <p:nvPr/>
        </p:nvCxnSpPr>
        <p:spPr>
          <a:xfrm>
            <a:off x="6729984" y="2743200"/>
            <a:ext cx="603504" cy="4572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C4829AF-1118-8B50-5790-FB6D3D88C871}"/>
              </a:ext>
            </a:extLst>
          </p:cNvPr>
          <p:cNvCxnSpPr/>
          <p:nvPr/>
        </p:nvCxnSpPr>
        <p:spPr>
          <a:xfrm flipH="1">
            <a:off x="2048256" y="3758184"/>
            <a:ext cx="301752" cy="44805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76DCE9-6A78-80D4-F478-BE3006E92D6C}"/>
              </a:ext>
            </a:extLst>
          </p:cNvPr>
          <p:cNvCxnSpPr/>
          <p:nvPr/>
        </p:nvCxnSpPr>
        <p:spPr>
          <a:xfrm>
            <a:off x="3493008" y="3758184"/>
            <a:ext cx="246888" cy="37490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710E70F-72BB-68D2-678D-B92237B4891A}"/>
              </a:ext>
            </a:extLst>
          </p:cNvPr>
          <p:cNvCxnSpPr/>
          <p:nvPr/>
        </p:nvCxnSpPr>
        <p:spPr>
          <a:xfrm flipH="1">
            <a:off x="7772400" y="3758184"/>
            <a:ext cx="283464" cy="44805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2DD4E32-A665-D4BE-CA14-41473A3E4349}"/>
              </a:ext>
            </a:extLst>
          </p:cNvPr>
          <p:cNvCxnSpPr/>
          <p:nvPr/>
        </p:nvCxnSpPr>
        <p:spPr>
          <a:xfrm>
            <a:off x="9336024" y="3758184"/>
            <a:ext cx="420624" cy="37490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7BAADD-38E1-A379-93B1-17CB2FEFC60F}"/>
              </a:ext>
            </a:extLst>
          </p:cNvPr>
          <p:cNvCxnSpPr/>
          <p:nvPr/>
        </p:nvCxnSpPr>
        <p:spPr>
          <a:xfrm flipH="1">
            <a:off x="6705600" y="4832604"/>
            <a:ext cx="265176" cy="411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6EF02C6-F0DE-0E7F-0EDE-6796D4C078C1}"/>
              </a:ext>
            </a:extLst>
          </p:cNvPr>
          <p:cNvCxnSpPr/>
          <p:nvPr/>
        </p:nvCxnSpPr>
        <p:spPr>
          <a:xfrm>
            <a:off x="8138160" y="4809744"/>
            <a:ext cx="0" cy="411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7FAA894-68A6-6576-9585-6851D728CFDA}"/>
              </a:ext>
            </a:extLst>
          </p:cNvPr>
          <p:cNvCxnSpPr/>
          <p:nvPr/>
        </p:nvCxnSpPr>
        <p:spPr>
          <a:xfrm>
            <a:off x="9006840" y="4882896"/>
            <a:ext cx="914400" cy="411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02E917-5826-F5C1-9E6C-9A6CCA5B75A5}"/>
              </a:ext>
            </a:extLst>
          </p:cNvPr>
          <p:cNvCxnSpPr/>
          <p:nvPr/>
        </p:nvCxnSpPr>
        <p:spPr>
          <a:xfrm flipH="1">
            <a:off x="4590288" y="4690872"/>
            <a:ext cx="1709928" cy="530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16C02DD-253A-6AD4-F276-9BE1F9CBC340}"/>
              </a:ext>
            </a:extLst>
          </p:cNvPr>
          <p:cNvCxnSpPr/>
          <p:nvPr/>
        </p:nvCxnSpPr>
        <p:spPr>
          <a:xfrm flipV="1">
            <a:off x="4210812" y="5605272"/>
            <a:ext cx="0" cy="137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80E1D95-2CF1-600D-5D36-232878530646}"/>
              </a:ext>
            </a:extLst>
          </p:cNvPr>
          <p:cNvCxnSpPr/>
          <p:nvPr/>
        </p:nvCxnSpPr>
        <p:spPr>
          <a:xfrm flipV="1">
            <a:off x="6217920" y="5605272"/>
            <a:ext cx="0" cy="137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457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4CFF2-4BF9-FA4C-271B-9B2A2B92D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Agglomerative Hierarchical clustering: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9EBDB-93D2-32BB-A63F-522A5745C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There are initially as many clusters as there are objects (that is, each object is a cluster).  </a:t>
            </a:r>
          </a:p>
          <a:p>
            <a:endParaRPr lang="en-CA" dirty="0"/>
          </a:p>
          <a:p>
            <a:r>
              <a:rPr lang="en-CA" dirty="0"/>
              <a:t>The most similar objects are first grouped.</a:t>
            </a:r>
          </a:p>
          <a:p>
            <a:endParaRPr lang="en-CA" dirty="0"/>
          </a:p>
          <a:p>
            <a:r>
              <a:rPr lang="en-CA" dirty="0"/>
              <a:t>The results of agglomerative clustering (and divisive clustering) methods may be displayed in the form of a 2-dimensional diagram known as a </a:t>
            </a:r>
            <a:r>
              <a:rPr lang="en-CA" b="1" dirty="0"/>
              <a:t>dendrogram</a:t>
            </a:r>
            <a:r>
              <a:rPr lang="en-CA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04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AB058-FB6C-48CF-304F-0A37C5B51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Measuring distance between 2 </a:t>
            </a:r>
            <a:r>
              <a:rPr lang="en-CA" b="1" dirty="0"/>
              <a:t>clusters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98C619B-6135-2824-5100-97B7A98C7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several ways to measure distance between two clusters:</a:t>
            </a:r>
          </a:p>
          <a:p>
            <a:pPr marL="571500" indent="-571500">
              <a:buAutoNum type="romanLcParenBoth"/>
            </a:pPr>
            <a:r>
              <a:rPr lang="en-US" dirty="0"/>
              <a:t>Single linkage (nearest </a:t>
            </a:r>
            <a:r>
              <a:rPr lang="en-US" dirty="0" err="1"/>
              <a:t>neighbours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sz="2000" dirty="0"/>
              <a:t>(Students to draw a diagram)</a:t>
            </a:r>
          </a:p>
          <a:p>
            <a:pPr marL="0" indent="0">
              <a:buNone/>
            </a:pPr>
            <a:r>
              <a:rPr lang="en-US" dirty="0"/>
              <a:t>							Uses distance between</a:t>
            </a:r>
          </a:p>
          <a:p>
            <a:pPr marL="0" indent="0">
              <a:buNone/>
            </a:pPr>
            <a:r>
              <a:rPr lang="en-US" dirty="0"/>
              <a:t>       							2 nearest observations</a:t>
            </a:r>
          </a:p>
          <a:p>
            <a:pPr marL="0" indent="0">
              <a:buNone/>
            </a:pPr>
            <a:r>
              <a:rPr lang="en-US" dirty="0"/>
              <a:t>							one from each cluster.</a:t>
            </a:r>
          </a:p>
          <a:p>
            <a:pPr lvl="8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519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A7EB8-5DEF-7E8E-EFC9-EAFDE10E9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607AE-660F-4201-4606-DEF112EA9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Measuring distance between 2 </a:t>
            </a:r>
            <a:r>
              <a:rPr lang="en-CA" b="1" dirty="0"/>
              <a:t>clusters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A686AB7-F1A8-A8BB-F58E-96EF034AE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3200" dirty="0"/>
              <a:t>(ii)    Complete linkage (furthest </a:t>
            </a:r>
            <a:r>
              <a:rPr lang="en-US" sz="3200" dirty="0" err="1"/>
              <a:t>neighbour</a:t>
            </a:r>
            <a:r>
              <a:rPr lang="en-US" sz="3200" dirty="0"/>
              <a:t>)</a:t>
            </a:r>
          </a:p>
          <a:p>
            <a:pPr marL="0" indent="0">
              <a:buNone/>
            </a:pPr>
            <a:r>
              <a:rPr lang="en-US" sz="2000" dirty="0"/>
              <a:t>(Students to draw a diagram)</a:t>
            </a:r>
          </a:p>
          <a:p>
            <a:pPr marL="0" indent="0">
              <a:buNone/>
            </a:pPr>
            <a:r>
              <a:rPr lang="en-US" dirty="0"/>
              <a:t>							Uses distance between</a:t>
            </a:r>
          </a:p>
          <a:p>
            <a:pPr marL="0" indent="0">
              <a:buNone/>
            </a:pPr>
            <a:r>
              <a:rPr lang="en-US" dirty="0"/>
              <a:t>       							2 furthest observations</a:t>
            </a:r>
          </a:p>
          <a:p>
            <a:pPr marL="0" indent="0">
              <a:buNone/>
            </a:pPr>
            <a:r>
              <a:rPr lang="en-US" dirty="0"/>
              <a:t>							one from each cluster.</a:t>
            </a:r>
          </a:p>
          <a:p>
            <a:pPr lvl="8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590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B79F4-7806-863E-2CEA-7DFB389B7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E4C4F-A29C-7067-9593-896BC6DC1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Measuring distance between 2 </a:t>
            </a:r>
            <a:r>
              <a:rPr lang="en-CA" b="1" dirty="0"/>
              <a:t>clusters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F66825F-E93E-1C1F-2D68-474EEEE9D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3200" dirty="0"/>
              <a:t>(iii)    Average linkage</a:t>
            </a:r>
          </a:p>
          <a:p>
            <a:pPr marL="0" indent="0">
              <a:buNone/>
            </a:pPr>
            <a:r>
              <a:rPr lang="en-US" sz="2000" dirty="0"/>
              <a:t>(Students to draw a diagram)</a:t>
            </a:r>
          </a:p>
          <a:p>
            <a:pPr marL="0" indent="0">
              <a:buNone/>
            </a:pPr>
            <a:r>
              <a:rPr lang="en-US" dirty="0"/>
              <a:t>							</a:t>
            </a:r>
            <a:r>
              <a:rPr lang="en-US" sz="2400" dirty="0"/>
              <a:t>Distance between the</a:t>
            </a:r>
          </a:p>
          <a:p>
            <a:pPr marL="0" indent="0">
              <a:buNone/>
            </a:pPr>
            <a:r>
              <a:rPr lang="en-US" sz="2400" dirty="0"/>
              <a:t>       							2 clusters is the average </a:t>
            </a:r>
          </a:p>
          <a:p>
            <a:pPr marL="0" indent="0">
              <a:buNone/>
            </a:pPr>
            <a:r>
              <a:rPr lang="en-US" sz="2400" dirty="0"/>
              <a:t>							of all pairs of observations, 								one observation in the pair 								taken from the first cluster 								and the other from the 									second cluster. </a:t>
            </a:r>
          </a:p>
          <a:p>
            <a:pPr marL="0" indent="0">
              <a:buNone/>
            </a:pPr>
            <a:r>
              <a:rPr lang="en-US" sz="2400" dirty="0"/>
              <a:t>(Ward’s approach will be covered later and is not something you can visualize with a diagram) </a:t>
            </a:r>
          </a:p>
          <a:p>
            <a:pPr lvl="8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260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F06FF-C438-2923-56F9-882924C5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9FBE-3745-8965-2394-D5943EC64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Distances between pairs of 5 objects are shown:</a:t>
            </a:r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A    B    C    D    E</a:t>
            </a:r>
          </a:p>
          <a:p>
            <a:pPr marL="1828800" lvl="4" indent="0">
              <a:buNone/>
            </a:pPr>
            <a:r>
              <a:rPr lang="en-US" dirty="0"/>
              <a:t>           A       </a:t>
            </a:r>
            <a:r>
              <a:rPr lang="en-US" b="1" dirty="0"/>
              <a:t>0</a:t>
            </a:r>
            <a:r>
              <a:rPr lang="en-US" dirty="0"/>
              <a:t> </a:t>
            </a:r>
          </a:p>
          <a:p>
            <a:pPr marL="1828800" lvl="4" indent="0">
              <a:buNone/>
            </a:pPr>
            <a:r>
              <a:rPr lang="en-US" dirty="0"/>
              <a:t>           B       </a:t>
            </a:r>
            <a:r>
              <a:rPr lang="en-US" b="1" dirty="0"/>
              <a:t>9    0</a:t>
            </a:r>
          </a:p>
          <a:p>
            <a:pPr marL="1828800" lvl="4" indent="0">
              <a:buNone/>
            </a:pPr>
            <a:r>
              <a:rPr lang="en-US" dirty="0"/>
              <a:t>           C      </a:t>
            </a:r>
            <a:r>
              <a:rPr lang="en-US" b="1" dirty="0"/>
              <a:t>3     7    0</a:t>
            </a:r>
          </a:p>
          <a:p>
            <a:pPr marL="1828800" lvl="4" indent="0">
              <a:buNone/>
            </a:pPr>
            <a:r>
              <a:rPr lang="en-US" dirty="0"/>
              <a:t>           D      </a:t>
            </a:r>
            <a:r>
              <a:rPr lang="en-US" b="1" dirty="0"/>
              <a:t>6     5    9     0</a:t>
            </a:r>
          </a:p>
          <a:p>
            <a:pPr marL="1828800" lvl="4" indent="0">
              <a:buNone/>
            </a:pPr>
            <a:r>
              <a:rPr lang="en-US" dirty="0"/>
              <a:t>           E     </a:t>
            </a:r>
            <a:r>
              <a:rPr lang="en-US" b="1" dirty="0"/>
              <a:t>11  10   2      8    0</a:t>
            </a:r>
            <a:endParaRPr lang="en-US" dirty="0"/>
          </a:p>
          <a:p>
            <a:pPr marL="1828800" lvl="4" indent="0">
              <a:buNone/>
            </a:pPr>
            <a:endParaRPr lang="en-US" dirty="0"/>
          </a:p>
          <a:p>
            <a:pPr marL="514350" indent="-514350">
              <a:buAutoNum type="alphaLcParenBoth"/>
            </a:pPr>
            <a:r>
              <a:rPr lang="en-US" dirty="0"/>
              <a:t>Apply the </a:t>
            </a:r>
            <a:r>
              <a:rPr lang="en-US" b="1" dirty="0"/>
              <a:t>single</a:t>
            </a:r>
            <a:r>
              <a:rPr lang="en-US" dirty="0"/>
              <a:t> linkage method showing all steps and</a:t>
            </a:r>
          </a:p>
          <a:p>
            <a:pPr marL="514350" indent="-514350">
              <a:buAutoNum type="alphaLcParenBoth"/>
            </a:pPr>
            <a:r>
              <a:rPr lang="en-US" dirty="0"/>
              <a:t>Draw the dendrogram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99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F1BB-3B76-BB9F-D025-73281E5D2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E260D-412F-539B-E921-847B43AA2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Typical steps: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Prepare the data	</a:t>
            </a:r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sz="2400" dirty="0"/>
              <a:t>scale data if variables have different units of measurement</a:t>
            </a:r>
          </a:p>
          <a:p>
            <a:pPr marL="0" indent="0">
              <a:buNone/>
            </a:pPr>
            <a:r>
              <a:rPr lang="en-US" sz="2400" dirty="0"/>
              <a:t>	- </a:t>
            </a:r>
            <a:r>
              <a:rPr lang="en-US" sz="2400" dirty="0" err="1"/>
              <a:t>eg</a:t>
            </a:r>
            <a:r>
              <a:rPr lang="en-US" sz="2400" dirty="0"/>
              <a:t>  </a:t>
            </a:r>
            <a:r>
              <a:rPr lang="en-US" sz="2400" dirty="0" err="1"/>
              <a:t>df</a:t>
            </a:r>
            <a:r>
              <a:rPr lang="en-US" sz="2400" dirty="0"/>
              <a:t>&lt;-scale(….)</a:t>
            </a:r>
          </a:p>
          <a:p>
            <a:pPr marL="514350" indent="-514350">
              <a:buAutoNum type="arabicPeriod" startAt="2"/>
            </a:pPr>
            <a:r>
              <a:rPr lang="en-US" dirty="0"/>
              <a:t>Compute distance matrix: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400" dirty="0"/>
              <a:t>- </a:t>
            </a:r>
            <a:r>
              <a:rPr lang="en-US" sz="2400" dirty="0" err="1"/>
              <a:t>eg</a:t>
            </a:r>
            <a:r>
              <a:rPr lang="en-US" sz="2400" dirty="0"/>
              <a:t> </a:t>
            </a:r>
            <a:r>
              <a:rPr lang="en-US" sz="2400" dirty="0" err="1"/>
              <a:t>res.dist</a:t>
            </a:r>
            <a:r>
              <a:rPr lang="en-US" sz="2400" dirty="0"/>
              <a:t>&lt;-</a:t>
            </a:r>
            <a:r>
              <a:rPr lang="en-US" sz="2400" dirty="0" err="1"/>
              <a:t>dist</a:t>
            </a:r>
            <a:r>
              <a:rPr lang="en-US" sz="2400" dirty="0"/>
              <a:t>(</a:t>
            </a:r>
            <a:r>
              <a:rPr lang="en-US" sz="2400" dirty="0" err="1"/>
              <a:t>df</a:t>
            </a:r>
            <a:r>
              <a:rPr lang="en-US" sz="2400" dirty="0"/>
              <a:t>, method = “</a:t>
            </a:r>
            <a:r>
              <a:rPr lang="en-US" sz="2400" dirty="0" err="1"/>
              <a:t>euclidean</a:t>
            </a:r>
            <a:r>
              <a:rPr lang="en-US" sz="2400"/>
              <a:t>”)</a:t>
            </a:r>
          </a:p>
          <a:p>
            <a:pPr marL="514350" indent="-514350">
              <a:buAutoNum type="arabicPeriod" startAt="3"/>
            </a:pPr>
            <a:r>
              <a:rPr lang="en-US"/>
              <a:t>Perform </a:t>
            </a:r>
            <a:r>
              <a:rPr lang="en-US" dirty="0"/>
              <a:t>hierarchical clustering:</a:t>
            </a:r>
          </a:p>
          <a:p>
            <a:pPr marL="457200" lvl="1" indent="0">
              <a:buNone/>
            </a:pPr>
            <a:r>
              <a:rPr lang="en-US" dirty="0"/>
              <a:t>	-   </a:t>
            </a:r>
            <a:r>
              <a:rPr lang="en-US" dirty="0" err="1"/>
              <a:t>res.hc</a:t>
            </a:r>
            <a:r>
              <a:rPr lang="en-US" dirty="0"/>
              <a:t>&lt;-</a:t>
            </a:r>
            <a:r>
              <a:rPr lang="en-US" dirty="0" err="1"/>
              <a:t>hclust</a:t>
            </a:r>
            <a:r>
              <a:rPr lang="en-US" dirty="0"/>
              <a:t>(d = </a:t>
            </a:r>
            <a:r>
              <a:rPr lang="en-US" dirty="0" err="1"/>
              <a:t>res.dist</a:t>
            </a:r>
            <a:r>
              <a:rPr lang="en-US" dirty="0"/>
              <a:t>, method = “…..”) </a:t>
            </a:r>
          </a:p>
        </p:txBody>
      </p:sp>
    </p:spTree>
    <p:extLst>
      <p:ext uri="{BB962C8B-B14F-4D97-AF65-F5344CB8AC3E}">
        <p14:creationId xmlns:p14="http://schemas.microsoft.com/office/powerpoint/2010/main" val="1136819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482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DANA 4840</vt:lpstr>
      <vt:lpstr>Recall various algorithms to split data</vt:lpstr>
      <vt:lpstr>Agglomerative Hierarchical clustering:</vt:lpstr>
      <vt:lpstr>Measuring distance between 2 clusters</vt:lpstr>
      <vt:lpstr>Measuring distance between 2 clusters</vt:lpstr>
      <vt:lpstr>Measuring distance between 2 clusters</vt:lpstr>
      <vt:lpstr>Example:</vt:lpstr>
      <vt:lpstr>R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DANA 4840</dc:title>
  <dc:creator>Yew-Wei Lim</dc:creator>
  <cp:lastModifiedBy>Yew-Wei Lim</cp:lastModifiedBy>
  <cp:revision>36</cp:revision>
  <cp:lastPrinted>2025-10-06T01:00:42Z</cp:lastPrinted>
  <dcterms:created xsi:type="dcterms:W3CDTF">2025-08-31T18:59:20Z</dcterms:created>
  <dcterms:modified xsi:type="dcterms:W3CDTF">2025-10-06T23:11:31Z</dcterms:modified>
</cp:coreProperties>
</file>