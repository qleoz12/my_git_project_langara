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5" r:id="rId5"/>
    <p:sldId id="264" r:id="rId6"/>
    <p:sldId id="266" r:id="rId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C4ADD-9090-60BA-96B8-A412B21A1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67D1C1-1BBF-7255-DB1F-8D04B7135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C33FD-6560-2D20-0AB0-244EC85EB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81B98-2BD6-7FED-6607-5F67AD2B1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14245-EA64-A824-D791-9F6A34018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56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44987-D91E-E747-8448-3E1B72FF6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ACEB8-BDD9-12BA-72A1-5917E3DC5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CB00E-B236-D878-971A-37D47F343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E0E9A-2B55-84A1-CDA7-F1D75DF20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27AB3-3E68-862F-4001-FC1E6900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49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B96E0-6F0E-5CD0-FF3A-6C37D0D7F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81E52-9962-6990-E97C-516B7DF55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F9010-91FC-387E-387F-5077AD0C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405D0-3C8E-1306-BE60-699AAAAC5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46FB9-1DE1-825A-B56C-A4EA5DE35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66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73E5C-DE36-2129-1514-A60596513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EC802-D4A2-0032-A948-31A659643D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10F45-B9BA-EA3B-0196-552F1B59C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9696E-138F-639F-C285-5F68A1FB7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A251A-CAAE-D370-ED67-871A74650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21D36-EBAF-9CA2-DEBD-946760582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96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A5244-C79C-533F-8BD7-CB6F82318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EDE2C-F0A6-CC70-1F74-C33A749AD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0F0C3-466E-668E-73A7-24D8F8EEF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1009EC-6F60-3C4F-7FFC-EE93AEDC21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CC73FB-7797-7546-C094-635F2C8EB9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CF3982-6118-A403-A19B-F53E36938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E18FF4-6CFF-4AE4-E151-C25669E20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C7255D-C774-BE19-9A13-F4E7B07B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42D4E-A1CF-CFEA-5C35-5AA99598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8B2B73-0330-5398-C5A8-CBB3B4EC4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FC741-0256-B4A3-A44E-192468BB1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FE38FF-E5E0-457A-7F63-6787C8C8E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57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E75D81-570F-BA0A-EA7C-CE2C8CD9C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9AAB19-8090-2B0E-D2F2-ECC1F6976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3087A-A5EE-98FE-8FA0-9A8C956B0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564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3B78-8A4F-6AEA-0B23-56D8079D6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E3792-260D-5479-4226-C56BF1232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C5376-C0F1-D663-EDBC-2C9426616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7D6F26-1DD9-91CF-D09F-4F39B52C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94565-85A8-4DCF-27A0-AD2DBEAA7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52FD0-CAF7-83F1-FC80-A5A45EA1F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101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620A1-2D90-B2D4-275C-6FD596548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84FFA-4960-92EC-EA1D-016233B4F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91601-DAC6-F9C7-D732-726BCD93D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C4BD6-090C-7F0E-D575-CAFBD73D6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CC1EC-DB79-DACF-F2ED-14D7ADE4F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D661C-80F4-A05E-D8AC-16FC6602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87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F5811-68C2-1B4E-6E30-F9ED6A9F8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8B0A0-CE66-E863-F980-0BECBC8B7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BBB67-48FC-904B-147F-B13920D59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8FDFF-40C2-FC1D-B242-DAF421B1E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0EA6E-7907-E3BB-F684-416873475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58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532EFA-9EDE-628F-B6E0-C4B5B0B7F6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5BCDB-CC0C-FF0C-BB8F-901E905BC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6F464-963F-7B6E-9A5B-546B8AAB9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7FD8B-CDB7-9541-4F79-5267577FC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B8165-8273-1128-ADF4-DB1359C1F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84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EE9FE3-2E4B-3B20-C561-ABC469F7B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BFD7F-ADCF-D6C5-4A36-0EBD26BD6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586C4-2146-D9A5-588F-0EC77FA117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095DA4-6D81-44BE-B2E1-2D492887A84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C9FA4-9AC4-630D-E2CA-136D8C042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8D66E-E538-7769-6E8D-53FF2A5B2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21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0B029-0052-6410-09DC-CC9318460A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DANA 4840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C28D5-50C5-24DB-9611-CA985D8473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Classification II</a:t>
            </a:r>
          </a:p>
          <a:p>
            <a:r>
              <a:rPr lang="en-CA" dirty="0"/>
              <a:t>Part II Partitional Clustering</a:t>
            </a:r>
          </a:p>
          <a:p>
            <a:r>
              <a:rPr lang="en-CA" dirty="0"/>
              <a:t>Part 2 – Assessing Cluster Tendency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47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2EF5F-6B47-AA29-1632-3BFBA227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Should we cluster?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6738F-C34C-E854-0170-F2A30D3DE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Before working on a cluster analysis project, we should ask ourselves:   </a:t>
            </a:r>
            <a:r>
              <a:rPr lang="en-US" sz="3200" b="1" dirty="0"/>
              <a:t>Should we cluster?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dirty="0"/>
              <a:t>If the answer is yes, we then ask:  </a:t>
            </a:r>
            <a:r>
              <a:rPr lang="en-US" sz="3200" b="1" dirty="0"/>
              <a:t>How many clusters? </a:t>
            </a:r>
            <a:r>
              <a:rPr lang="en-US" sz="3200" dirty="0"/>
              <a:t>before performing partitional clustering</a:t>
            </a:r>
            <a:r>
              <a:rPr lang="en-US" sz="3200" b="1" dirty="0"/>
              <a:t> </a:t>
            </a:r>
            <a:r>
              <a:rPr lang="en-US" sz="3200" dirty="0"/>
              <a:t>(you will learn that we can find k using elbow method, silhouette approach or gap statistics later this term).</a:t>
            </a:r>
            <a:endParaRPr lang="en-US" sz="3200" b="1" dirty="0"/>
          </a:p>
          <a:p>
            <a:pPr marL="0" indent="0">
              <a:buNone/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994573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4CFF2-4BF9-FA4C-271B-9B2A2B92D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Assessing cluster tendency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E5853-32B0-8A93-0649-CB128C690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To determine if we should cluster (that is, assess cluster tendency), we can make use of two approaches: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 Use of Hopkins statistic</a:t>
            </a:r>
          </a:p>
          <a:p>
            <a:endParaRPr lang="en-CA" dirty="0"/>
          </a:p>
          <a:p>
            <a:r>
              <a:rPr lang="en-CA" dirty="0"/>
              <a:t> Use a visual approach called VAT (which stands for Visual assessment of cluster tendency)</a:t>
            </a:r>
          </a:p>
          <a:p>
            <a:pPr marL="0" indent="0">
              <a:buNone/>
            </a:pPr>
            <a:endParaRPr lang="en-CA" dirty="0"/>
          </a:p>
          <a:p>
            <a:pPr marL="0" indent="0" algn="ctr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51048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04D7C-47D8-1D42-AF4D-02111316C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6B5C3-771C-1517-8430-735ACDAC9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Hopkins statistic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8EC091-C866-2C9B-A20C-CAFB63FBB2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CA" dirty="0"/>
                  <a:t>To determine if we should cluster (that is, assessing cluster tendency), we make use of Hopkins statistic:</a:t>
                </a:r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nary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If H is between 0 – 0.3 regularly spaced data</a:t>
                </a:r>
              </a:p>
              <a:p>
                <a:pPr marL="0" indent="0">
                  <a:buNone/>
                </a:pPr>
                <a:r>
                  <a:rPr lang="en-CA" dirty="0"/>
                  <a:t>                                    0.5    random data</a:t>
                </a:r>
              </a:p>
              <a:p>
                <a:pPr marL="0" indent="0">
                  <a:buNone/>
                </a:pPr>
                <a:r>
                  <a:rPr lang="en-CA" dirty="0"/>
                  <a:t>                                 0.7 – 1 clustered data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8EC091-C866-2C9B-A20C-CAFB63FBB2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b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2888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4E1A3-CA1E-B682-6039-08AFBD0E7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Hopkins statistic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B775B8-DB21-7455-541A-3FA368B4F4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CA" dirty="0"/>
                  <a:t>Students to draw a diagram to illustrate meaning of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CA" sz="2000" dirty="0"/>
                  <a:t>Students should work on the worksheet on Hopkins statistic to understand how to run R commands to obtain Hopkins statistics.  Compare </a:t>
                </a:r>
                <a:r>
                  <a:rPr lang="en-CA" sz="2000" dirty="0" err="1"/>
                  <a:t>hopkins</a:t>
                </a:r>
                <a:r>
                  <a:rPr lang="en-CA" sz="2000" dirty="0"/>
                  <a:t>() command in </a:t>
                </a:r>
                <a:r>
                  <a:rPr lang="en-CA" sz="2000" dirty="0" err="1"/>
                  <a:t>clustertend</a:t>
                </a:r>
                <a:r>
                  <a:rPr lang="en-CA" sz="2000" dirty="0"/>
                  <a:t> package and Hopkins() command in </a:t>
                </a:r>
                <a:r>
                  <a:rPr lang="en-CA" sz="2000" dirty="0" err="1"/>
                  <a:t>hopkins</a:t>
                </a:r>
                <a:r>
                  <a:rPr lang="en-CA" sz="2000" dirty="0"/>
                  <a:t> package (see worksheet).  </a:t>
                </a:r>
                <a:r>
                  <a:rPr lang="en-CA" sz="2000" dirty="0" err="1"/>
                  <a:t>Factoextra</a:t>
                </a:r>
                <a:r>
                  <a:rPr lang="en-CA" sz="2000" dirty="0"/>
                  <a:t> package also has </a:t>
                </a:r>
                <a:r>
                  <a:rPr lang="en-CA" sz="2000" dirty="0" err="1"/>
                  <a:t>get_clust_tendency</a:t>
                </a:r>
                <a:r>
                  <a:rPr lang="en-CA" sz="2000" dirty="0"/>
                  <a:t>() command (see R code notes).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B775B8-DB21-7455-541A-3FA368B4F4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907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AB058-FB6C-48CF-304F-0A37C5B51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VAT (Visual assessment of cluster tendency)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469A5-0431-AFEC-320F-F74427E36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Students should try the command </a:t>
            </a:r>
            <a:r>
              <a:rPr lang="en-CA" dirty="0" err="1"/>
              <a:t>fviz_dist</a:t>
            </a:r>
            <a:r>
              <a:rPr lang="en-CA" dirty="0"/>
              <a:t>() in </a:t>
            </a:r>
            <a:r>
              <a:rPr lang="en-CA" dirty="0" err="1"/>
              <a:t>factoextra</a:t>
            </a:r>
            <a:r>
              <a:rPr lang="en-CA" dirty="0"/>
              <a:t> package (see R code notes) to be aware there is a visual approach to assess cluster tendency.    Students are expected to try both Hopkins statistics approach and visual approach if relevant for projects.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519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295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Office Theme</vt:lpstr>
      <vt:lpstr>DANA 4840</vt:lpstr>
      <vt:lpstr>Should we cluster?</vt:lpstr>
      <vt:lpstr>Assessing cluster tendency</vt:lpstr>
      <vt:lpstr>Hopkins statistic</vt:lpstr>
      <vt:lpstr>Hopkins statistic</vt:lpstr>
      <vt:lpstr>VAT (Visual assessment of cluster tendency)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Yew-Wei Lim</dc:creator>
  <cp:lastModifiedBy>Yew-Wei Lim</cp:lastModifiedBy>
  <cp:revision>19</cp:revision>
  <cp:lastPrinted>2025-09-16T20:04:00Z</cp:lastPrinted>
  <dcterms:created xsi:type="dcterms:W3CDTF">2025-08-31T18:59:20Z</dcterms:created>
  <dcterms:modified xsi:type="dcterms:W3CDTF">2025-09-16T23:56:31Z</dcterms:modified>
</cp:coreProperties>
</file>