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5"/>
  </p:handoutMasterIdLst>
  <p:sldIdLst>
    <p:sldId id="256" r:id="rId2"/>
    <p:sldId id="335" r:id="rId3"/>
    <p:sldId id="336" r:id="rId4"/>
    <p:sldId id="346" r:id="rId5"/>
    <p:sldId id="347" r:id="rId6"/>
    <p:sldId id="348" r:id="rId7"/>
    <p:sldId id="349" r:id="rId8"/>
    <p:sldId id="351" r:id="rId9"/>
    <p:sldId id="350" r:id="rId10"/>
    <p:sldId id="354" r:id="rId11"/>
    <p:sldId id="355" r:id="rId12"/>
    <p:sldId id="357" r:id="rId13"/>
    <p:sldId id="356" r:id="rId1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8C301EA-6279-4B0F-99A8-CCF68523572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D44F6624-3FD4-44B8-9B18-4BA248A32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2030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2025-11-11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83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2025-11-11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7687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2025-11-11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6557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2025-11-11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2060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2025-11-11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3582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2025-11-11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2669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2025-11-11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6716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2025-11-11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779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2025-11-11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9353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2025-11-11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1678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2025-11-11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1227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80508-5317-4CB0-8BF0-F24B753CAFCF}" type="datetimeFigureOut">
              <a:rPr lang="en-CA" smtClean="0"/>
              <a:t>2025-11-11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07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0B029-0052-6410-09DC-CC9318460A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DANA 4840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C28D5-50C5-24DB-9611-CA985D8473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Classification II</a:t>
            </a:r>
          </a:p>
          <a:p>
            <a:r>
              <a:rPr lang="en-CA" dirty="0"/>
              <a:t>Part V Advanced Clustering</a:t>
            </a:r>
          </a:p>
          <a:p>
            <a:r>
              <a:rPr lang="en-CA" dirty="0"/>
              <a:t>Part 1 – DBSCAN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47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7691" y="782729"/>
            <a:ext cx="9144000" cy="2387600"/>
          </a:xfrm>
        </p:spPr>
        <p:txBody>
          <a:bodyPr>
            <a:normAutofit/>
          </a:bodyPr>
          <a:lstStyle/>
          <a:p>
            <a:r>
              <a:rPr lang="en-CA" sz="5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DBSCAN: Density-Based Clustering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9966" y="5784307"/>
            <a:ext cx="4302034" cy="107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762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DBSCAN: Density Based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5507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70000"/>
              </a:lnSpc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DBSCAN is a density based clustering algorithm which can be used to identify clusters of any shape in a data set containing noise and outliers.</a:t>
            </a:r>
          </a:p>
          <a:p>
            <a:pPr>
              <a:lnSpc>
                <a:spcPct val="170000"/>
              </a:lnSpc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The basic idea behind the density-based clustering approach is derived from a human intuitive clustering method.</a:t>
            </a:r>
          </a:p>
          <a:p>
            <a:pPr>
              <a:lnSpc>
                <a:spcPct val="170000"/>
              </a:lnSpc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For instance, by looking at the figure below, one can easily identify four clusters along with several points of noise, because of the differences in the density of points.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545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DBSCAN: Density Based Clustering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950" y="1436234"/>
            <a:ext cx="8416970" cy="401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642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DBSCAN: Density Based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5507"/>
            <a:ext cx="10515600" cy="4351338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Clusters are dense regions in the data space, separated by regions of lower density of points. </a:t>
            </a:r>
          </a:p>
          <a:p>
            <a:pPr>
              <a:lnSpc>
                <a:spcPct val="150000"/>
              </a:lnSpc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The DBSCAN algorithm is based on this intuitive notion of “clusters” and “noise”. </a:t>
            </a:r>
          </a:p>
          <a:p>
            <a:pPr>
              <a:lnSpc>
                <a:spcPct val="150000"/>
              </a:lnSpc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The key idea is that for each point of a cluster, the neighborhood of a given radius has to contain at least a minimum number of points.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080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DBSCAN: Density Based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35506"/>
            <a:ext cx="11340737" cy="47170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Partitioning methods (K-means, PAM clustering) and hierarchical clustering are suitable for finding spherical-shaped clusters or convex clusters.</a:t>
            </a:r>
          </a:p>
          <a:p>
            <a:pPr>
              <a:lnSpc>
                <a:spcPct val="150000"/>
              </a:lnSpc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In other words, they work well only for compact and well separated clusters. Moreover, they are also severely affected by the presence of noise and outliers in the data.</a:t>
            </a:r>
          </a:p>
          <a:p>
            <a:pPr>
              <a:lnSpc>
                <a:spcPct val="150000"/>
              </a:lnSpc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Unfortunately, real life data can contain: i) clusters of arbitrary shape such as those shown in the figure below (oval, linear and “S” shape clusters); ii) many outliers and noise.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654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DBSCAN: Density Based Clustering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42256" y="1528355"/>
                <a:ext cx="11340737" cy="4650376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goal is to identify the dense regions, which can be measured by the number of objects to a given point.</a:t>
                </a:r>
              </a:p>
              <a:p>
                <a:pPr>
                  <a:lnSpc>
                    <a:spcPct val="150000"/>
                  </a:lnSpc>
                </a:pP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Two important parameters are required:</a:t>
                </a:r>
              </a:p>
              <a:p>
                <a:pPr>
                  <a:lnSpc>
                    <a:spcPct val="150000"/>
                  </a:lnSpc>
                </a:pP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Epsilon (“eps”) which defined the neighborhood around point </a:t>
                </a:r>
                <a14:m>
                  <m:oMath xmlns:m="http://schemas.openxmlformats.org/officeDocument/2006/math">
                    <m:r>
                      <a:rPr lang="en-CA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CA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endParaRPr lang="en-CA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Minimum points (“</a:t>
                </a:r>
                <a:r>
                  <a:rPr lang="en-CA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MinPts</a:t>
                </a: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”) which is the minimum number of neighbors within “eps” radius (important to note that </a:t>
                </a:r>
                <a:r>
                  <a:rPr lang="en-CA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MinPts</a:t>
                </a: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CA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include the point X </a:t>
                </a: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as well).</a:t>
                </a:r>
                <a:endParaRPr lang="en-CA" sz="2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256" y="1528355"/>
                <a:ext cx="11340737" cy="4650376"/>
              </a:xfrm>
              <a:blipFill>
                <a:blip r:embed="rId2"/>
                <a:stretch>
                  <a:fillRect l="-699" r="-59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807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DBSCAN: Density Based Clustering Algorithm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76941" y="1685109"/>
                <a:ext cx="11340737" cy="4650376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Any point </a:t>
                </a:r>
                <a14:m>
                  <m:oMath xmlns:m="http://schemas.openxmlformats.org/officeDocument/2006/math">
                    <m:r>
                      <a:rPr lang="en-CA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in the data set, with a neighbor count greater than or equal to the </a:t>
                </a:r>
                <a:r>
                  <a:rPr lang="en-CA" sz="24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MinPts</a:t>
                </a:r>
                <a:r>
                  <a:rPr lang="en-CA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– 1 (minus 1 because point X is included in </a:t>
                </a:r>
                <a:r>
                  <a:rPr lang="en-CA" sz="24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MinPts</a:t>
                </a:r>
                <a:r>
                  <a:rPr lang="en-CA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marked as a </a:t>
                </a:r>
                <a:r>
                  <a:rPr lang="en-CA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core point.  </a:t>
                </a: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[Neighbor count is counting number of neighbors of point X which does not include X.]</a:t>
                </a:r>
              </a:p>
              <a:p>
                <a:pPr>
                  <a:lnSpc>
                    <a:spcPct val="150000"/>
                  </a:lnSpc>
                </a:pP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We say </a:t>
                </a:r>
                <a14:m>
                  <m:oMath xmlns:m="http://schemas.openxmlformats.org/officeDocument/2006/math">
                    <m:r>
                      <a:rPr lang="en-CA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</a:t>
                </a:r>
                <a:r>
                  <a:rPr lang="en-CA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border point, </a:t>
                </a: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if the number of its neighbors is less than </a:t>
                </a:r>
                <a:r>
                  <a:rPr lang="en-CA" sz="24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MinPts</a:t>
                </a:r>
                <a:r>
                  <a:rPr lang="en-CA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– 1</a:t>
                </a: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but it belongs to the </a:t>
                </a:r>
                <a14:m>
                  <m:oMath xmlns:m="http://schemas.openxmlformats.org/officeDocument/2006/math">
                    <m:r>
                      <a:rPr lang="en-CA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𝜖</m:t>
                    </m:r>
                    <m:r>
                      <a:rPr lang="en-CA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 </m:t>
                    </m:r>
                  </m:oMath>
                </a14:m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neighborhood of some core point </a:t>
                </a:r>
                <a14:m>
                  <m:oMath xmlns:m="http://schemas.openxmlformats.org/officeDocument/2006/math">
                    <m:r>
                      <a:rPr lang="en-CA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𝑍</m:t>
                    </m:r>
                    <m:r>
                      <a:rPr lang="en-CA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endParaRPr lang="en-CA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Finally, if a point is neither a </a:t>
                </a:r>
                <a:r>
                  <a:rPr lang="en-CA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core</a:t>
                </a: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nor a </a:t>
                </a:r>
                <a:r>
                  <a:rPr lang="en-CA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border</a:t>
                </a: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point, then it is called a </a:t>
                </a:r>
                <a:r>
                  <a:rPr lang="en-CA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noise point or outlier.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6941" y="1685109"/>
                <a:ext cx="11340737" cy="4650376"/>
              </a:xfrm>
              <a:blipFill>
                <a:blip r:embed="rId3"/>
                <a:stretch>
                  <a:fillRect l="-753" b="-340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4136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DBSCAN: Density Based Clustering Algorithm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39" y="1690688"/>
            <a:ext cx="10645661" cy="244976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15983" y="4086485"/>
                <a:ext cx="11160034" cy="17030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In the figure above, Given that  </a:t>
                </a:r>
                <a:r>
                  <a:rPr lang="en-CA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MinPts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= 6:</a:t>
                </a:r>
              </a:p>
              <a:p>
                <a:pPr>
                  <a:lnSpc>
                    <a:spcPct val="150000"/>
                  </a:lnSpc>
                </a:pP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X is a core point because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𝑛𝑒𝑖𝑔h𝑏𝑜𝑟</m:t>
                    </m:r>
                    <m:sSub>
                      <m:sSubPr>
                        <m:ctrlPr>
                          <a:rPr lang="en-CA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CA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𝜖</m:t>
                        </m:r>
                      </m:sub>
                    </m:sSub>
                    <m:d>
                      <m:dPr>
                        <m:ctrlPr>
                          <a:rPr lang="en-CA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a:rPr lang="en-CA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 6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(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𝑌𝑊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:  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𝑠h𝑜𝑢𝑙𝑑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𝑏𝑒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5)</m:t>
                    </m:r>
                  </m:oMath>
                </a14:m>
                <a:r>
                  <a:rPr lang="en-CA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</a:p>
              <a:p>
                <a:pPr>
                  <a:lnSpc>
                    <a:spcPct val="150000"/>
                  </a:lnSpc>
                </a:pPr>
                <a:r>
                  <a:rPr lang="en-CA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y is a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border point because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𝑛𝑒𝑖𝑔h𝑏𝑜𝑟</m:t>
                    </m:r>
                    <m:sSub>
                      <m:sSubPr>
                        <m:ctrlPr>
                          <a:rPr lang="en-CA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CA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CA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𝜖</m:t>
                        </m:r>
                      </m:sub>
                    </m:sSub>
                    <m:r>
                      <a:rPr lang="en-CA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CA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CA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 </m:t>
                    </m:r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&lt; </a:t>
                </a:r>
                <a:r>
                  <a:rPr lang="en-CA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MinPts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- 1, but it belongs to the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– neighborhood of x</a:t>
                </a:r>
              </a:p>
              <a:p>
                <a:pPr>
                  <a:lnSpc>
                    <a:spcPct val="150000"/>
                  </a:lnSpc>
                </a:pP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Z is a noise point.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83" y="4086485"/>
                <a:ext cx="11160034" cy="1703030"/>
              </a:xfrm>
              <a:prstGeom prst="rect">
                <a:avLst/>
              </a:prstGeom>
              <a:blipFill>
                <a:blip r:embed="rId4"/>
                <a:stretch>
                  <a:fillRect l="-492" b="-464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5600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DBSCAN: Density Based Clustering Algorithm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50815" y="1742940"/>
                <a:ext cx="11340737" cy="4650376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 density-based cluster is defined as a group of density connected points. The algorithm of density-based clustering (DBSCAN) works as follow</a:t>
                </a:r>
                <a:r>
                  <a:rPr lang="en-CA" sz="2400" dirty="0"/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1. For each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sz="24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compute the distance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A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and the other points. Finds all neighbor points within distance </a:t>
                </a:r>
                <a:r>
                  <a:rPr lang="en-CA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eps </a:t>
                </a: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of the starting point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). Each point, with a neighbor count greater than or equal to </a:t>
                </a:r>
                <a:r>
                  <a:rPr lang="en-CA" sz="24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MinPts</a:t>
                </a:r>
                <a:r>
                  <a:rPr lang="en-CA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- 1</a:t>
                </a: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is marked as </a:t>
                </a:r>
                <a:r>
                  <a:rPr lang="en-CA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core point </a:t>
                </a: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or </a:t>
                </a:r>
                <a:r>
                  <a:rPr lang="en-CA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visited</a:t>
                </a:r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0815" y="1742940"/>
                <a:ext cx="11340737" cy="4650376"/>
              </a:xfrm>
              <a:blipFill>
                <a:blip r:embed="rId3"/>
                <a:stretch>
                  <a:fillRect l="-80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6740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DBSCAN: Density Based Clustering Algorithm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815" y="1742940"/>
            <a:ext cx="11340737" cy="465037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2. For each </a:t>
            </a:r>
            <a:r>
              <a:rPr lang="en-CA" sz="2400" i="1" dirty="0">
                <a:latin typeface="Arial" panose="020B0604020202020204" pitchFamily="34" charset="0"/>
                <a:cs typeface="Arial" panose="020B0604020202020204" pitchFamily="34" charset="0"/>
              </a:rPr>
              <a:t>core point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, if it’s not already assigned to a cluster, create a new cluster. Find recursively all its density connected points and assign them to the same cluster as the core point.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3. Iterate through the remaining unvisited points in the data set.</a:t>
            </a:r>
          </a:p>
          <a:p>
            <a:pPr marL="0" indent="0">
              <a:lnSpc>
                <a:spcPct val="150000"/>
              </a:lnSpc>
              <a:buNone/>
            </a:pP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Those points that do not belong to any cluster are treated as outliers or noise.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92215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DBSCAN: Density Based Clustering Parameter Estimation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50815" y="1742940"/>
                <a:ext cx="11340737" cy="4650376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MinPts: The larger the data set, the larger the value of </a:t>
                </a:r>
                <a:r>
                  <a:rPr lang="en-CA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minPts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should be chosen. </a:t>
                </a:r>
                <a:r>
                  <a:rPr lang="en-CA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minPts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must be chosen at least 3.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: The value for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CA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can then be chosen by using a k-distance graph, plotting the distance to the k = </a:t>
                </a:r>
                <a:r>
                  <a:rPr lang="en-CA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minPts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- 1 nearest neighbor. Good values of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are where this plot shows a strong bend.</a:t>
                </a:r>
                <a:endParaRPr lang="en-CA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0815" y="1742940"/>
                <a:ext cx="11340737" cy="4650376"/>
              </a:xfrm>
              <a:blipFill>
                <a:blip r:embed="rId3"/>
                <a:stretch>
                  <a:fillRect l="-967" r="-123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2429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DBSCAN: </a:t>
            </a:r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Density Based Clustering Advantages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815" y="1742940"/>
            <a:ext cx="11340737" cy="465037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1. Unlike K-means, DBSCAN does not require the user to specify the number of clusters to be generated.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2 . DBSCAN can find any shape of clusters. The cluster doesn’t have to be circular.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3. DBSCAN can identify outliers</a:t>
            </a:r>
          </a:p>
        </p:txBody>
      </p:sp>
    </p:spTree>
    <p:extLst>
      <p:ext uri="{BB962C8B-B14F-4D97-AF65-F5344CB8AC3E}">
        <p14:creationId xmlns:p14="http://schemas.microsoft.com/office/powerpoint/2010/main" val="1299199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11231</TotalTime>
  <Words>828</Words>
  <Application>Microsoft Office PowerPoint</Application>
  <PresentationFormat>Widescreen</PresentationFormat>
  <Paragraphs>47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DANA 4840</vt:lpstr>
      <vt:lpstr>DBSCAN: Density-Based Clustering</vt:lpstr>
      <vt:lpstr>DBSCAN: Density Based Clustering</vt:lpstr>
      <vt:lpstr>DBSCAN: Density Based Clustering</vt:lpstr>
      <vt:lpstr>DBSCAN: Density Based Clustering</vt:lpstr>
      <vt:lpstr>DBSCAN: Density Based Clustering</vt:lpstr>
      <vt:lpstr>DBSCAN: Density Based Clustering Algorithm</vt:lpstr>
      <vt:lpstr>DBSCAN: Density Based Clustering Algorithm</vt:lpstr>
      <vt:lpstr>DBSCAN: Density Based Clustering Algorithm</vt:lpstr>
      <vt:lpstr>DBSCAN: Density Based Clustering Algorithm</vt:lpstr>
      <vt:lpstr>DBSCAN: Density Based Clustering Algorithm</vt:lpstr>
      <vt:lpstr>DBSCAN: Density Based Clustering Parameter Estimation</vt:lpstr>
      <vt:lpstr>DBSCAN: Density Based Clustering Advantages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Announcements!!!!</dc:title>
  <dc:creator>jagyeman</dc:creator>
  <cp:lastModifiedBy>Yew-Wei Lim</cp:lastModifiedBy>
  <cp:revision>104</cp:revision>
  <cp:lastPrinted>2025-11-11T21:10:07Z</cp:lastPrinted>
  <dcterms:created xsi:type="dcterms:W3CDTF">2022-09-11T21:24:29Z</dcterms:created>
  <dcterms:modified xsi:type="dcterms:W3CDTF">2025-11-11T21:20:52Z</dcterms:modified>
</cp:coreProperties>
</file>